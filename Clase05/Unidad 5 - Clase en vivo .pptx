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Helvetica Neue"/>
      <p:regular r:id="rId48"/>
      <p:bold r:id="rId49"/>
      <p:italic r:id="rId50"/>
      <p:boldItalic r:id="rId51"/>
    </p:embeddedFont>
    <p:embeddedFont>
      <p:font typeface="Helvetica Neue Light"/>
      <p:regular r:id="rId52"/>
      <p:bold r:id="rId53"/>
      <p:italic r:id="rId54"/>
      <p:boldItalic r:id="rId55"/>
    </p:embeddedFont>
    <p:embeddedFont>
      <p:font typeface="DM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3" Type="http://schemas.openxmlformats.org/officeDocument/2006/relationships/slide" Target="slides/slide38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3" Type="http://schemas.openxmlformats.org/officeDocument/2006/relationships/font" Target="fonts/HelveticaNeueLight-bold.fntdata"/><Relationship Id="rId52" Type="http://schemas.openxmlformats.org/officeDocument/2006/relationships/font" Target="fonts/HelveticaNeueLight-regular.fntdata"/><Relationship Id="rId11" Type="http://schemas.openxmlformats.org/officeDocument/2006/relationships/slide" Target="slides/slide6.xml"/><Relationship Id="rId55" Type="http://schemas.openxmlformats.org/officeDocument/2006/relationships/font" Target="fonts/HelveticaNeue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Light-italic.fntdata"/><Relationship Id="rId13" Type="http://schemas.openxmlformats.org/officeDocument/2006/relationships/slide" Target="slides/slide8.xml"/><Relationship Id="rId57" Type="http://schemas.openxmlformats.org/officeDocument/2006/relationships/font" Target="fonts/DMSans-bold.fntdata"/><Relationship Id="rId12" Type="http://schemas.openxmlformats.org/officeDocument/2006/relationships/slide" Target="slides/slide7.xml"/><Relationship Id="rId56" Type="http://schemas.openxmlformats.org/officeDocument/2006/relationships/font" Target="fonts/DMSans-regular.fntdata"/><Relationship Id="rId15" Type="http://schemas.openxmlformats.org/officeDocument/2006/relationships/slide" Target="slides/slide10.xml"/><Relationship Id="rId59" Type="http://schemas.openxmlformats.org/officeDocument/2006/relationships/font" Target="fonts/DMSans-boldItalic.fntdata"/><Relationship Id="rId14" Type="http://schemas.openxmlformats.org/officeDocument/2006/relationships/slide" Target="slides/slide9.xml"/><Relationship Id="rId58" Type="http://schemas.openxmlformats.org/officeDocument/2006/relationships/font" Target="fonts/DM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1635c457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21635c457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55a413f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55a413f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d8ab2ab7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0d8ab2ab7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Redactar los objetivos en función de los conocimientos y habilidades a desarrollar en la clase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4382b98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254382b98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puede usar para comenzar o finalizar la clase, según sea más conveniente. La información de este slide es de relleno.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Recurso: </a:t>
            </a:r>
            <a:r>
              <a:rPr b="1"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Mapa de conceptos (genérico)</a:t>
            </a:r>
            <a:endParaRPr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Muestra rápidamente los contenidos de la clase y cómo se relacionan. Ayuda a los estudiantes a evitar “perderse” durante la clase, al avanzar en un sentido lineal una diapositiva tras otra. El ejemplo pertenece a la primera clase del curso UX/UI.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Sugerencia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b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-También se pueden mostrar con un menor énfasis o colores apagados, aquellos contenidos de clases anteriores y que se vinculen con la actual.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-Resaltar con color los temas que se abordan en la clase.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Colores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Categorías principales: Pleno en #27282d con texto en blanco.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Categorías secundarias (o a destacar): Pleno en #393b43 con texto en blanco.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Categorías terciarias: Borde en #393b43 con texto en #222222.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4382b98a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4382b98a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3250eb3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3250eb3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3250eb3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3250eb3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3250eb3e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3250eb3e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4382b98a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4382b98a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2ba13cb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2ba13cb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af347af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af347af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slide es para microdesafíos a partir de consignas abiertas (modelo breve)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2ba13cb37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52ba13cb37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2ba13cb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52ba13cb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2ba13cb37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52ba13cb37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2ba13cb37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2ba13cb3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Para profes/tutores: pueden usar el código de ejemplo para facilitar la ejecución.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2ba13cb37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2ba13cb37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2ba13cb37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2ba13cb37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54382b98a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54382b98a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4382b98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4382b98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52ba13cb3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52ba13cb3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4382b98a1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54382b98a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54382b98a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54382b98a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54382b98a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54382b98a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54382b98a1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54382b98a1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0a7a90e5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0a7a90e5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54382b98a1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54382b98a1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54382b98a1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54382b98a1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54382b98a1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54382b98a1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3174edfc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3174edfc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3174edfc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3174edfc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Para profes/tutores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abrir la consigna completa, leerla en detalle y responder dudas que puedan surgir.</a:t>
            </a:r>
            <a:endParaRPr b="1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3ad191e9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3ad191e9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(Probar si se puede hacer con Kahoot y de lo contrario que hagan preguntas activando micrófono o por chat).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afcb18b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25afcb18b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highlight>
                  <a:srgbClr val="E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Para profes/tutores:</a:t>
            </a:r>
            <a:r>
              <a:rPr lang="es"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bien las actividades recomendadas no son obligatorias ni reciben corrección, corresponden a ejercicios que aportan a la construcción de las pre entregas y Proyecto Final. En caso de que den los tiempos, les sugerimos que ingresen a la Guía y lean en conjunto las consignas.</a:t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1635c457e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1635c457e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3bbc910f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3bbc910f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3bbc910f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3bbc910f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3bbc910f2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3bbc910f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3bbc910f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3bbc910f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3bbc910f2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3bbc910f2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 diapo se usa al finalizar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 el curso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Antes no.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hyperlink" Target="https://stackblitz.com/edit/stackblitz-starters-4hw5v5?file=src%2FApp.js" TargetMode="External"/><Relationship Id="rId6" Type="http://schemas.openxmlformats.org/officeDocument/2006/relationships/hyperlink" Target="http://drive.google.com/file/d/1bv8kHBgC4S3msa6Y0kedAN8o_jzczWye/view" TargetMode="External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hyperlink" Target="https://stackblitz.com/edit/stackblitz-starters-bomu6k?file=src%2FApp.j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hyperlink" Target="https://stackblitz.com/edit/stackblitz-starters-lfurr7?file=src%2FApp.j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hyperlink" Target="https://stackblitz.com/" TargetMode="External"/><Relationship Id="rId6" Type="http://schemas.openxmlformats.org/officeDocument/2006/relationships/hyperlink" Target="https://stackblitz.com/edit/react-csuabl?file=src%2FInputComp.jsx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5" Type="http://schemas.openxmlformats.org/officeDocument/2006/relationships/hyperlink" Target="https://docs.google.com/presentation/d/1m6l2FEwyyLYWBIMkoXAFfFjyYhJhm9n7ohix_S9ZPnU/edit?usp=sharing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google.com/presentation/d/1QPPbESR68PrQwlPRNlR9brRPZ-0K8sLJWvPsvfLoix8/edit?usp=sharing" TargetMode="External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4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" name="Google Shape;43;p14"/>
          <p:cNvSpPr txBox="1"/>
          <p:nvPr/>
        </p:nvSpPr>
        <p:spPr>
          <a:xfrm>
            <a:off x="3655975" y="2541075"/>
            <a:ext cx="252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" name="Google Shape;44;p14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/>
        </p:nvSpPr>
        <p:spPr>
          <a:xfrm>
            <a:off x="1185025" y="2252975"/>
            <a:ext cx="677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Navegación y Routing en React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15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5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REACT JS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" name="Google Shape;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3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" name="Google Shape;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6"/>
          <p:cNvSpPr txBox="1"/>
          <p:nvPr/>
        </p:nvSpPr>
        <p:spPr>
          <a:xfrm>
            <a:off x="2690561" y="14516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Organizar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nuestra aplicación.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2690561" y="20547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Configurar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 navegabilidad entre componentes.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83268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/>
        </p:nvSpPr>
        <p:spPr>
          <a:xfrm>
            <a:off x="2690561" y="2734963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sistema de eventos de React y su implementación.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" name="Google Shape;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352333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690550" y="34151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Diseñar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componentes orientados a eventos.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6" name="Google Shape;66;p16"/>
          <p:cNvCxnSpPr>
            <a:stCxn id="58" idx="2"/>
            <a:endCxn id="60" idx="0"/>
          </p:cNvCxnSpPr>
          <p:nvPr/>
        </p:nvCxnSpPr>
        <p:spPr>
          <a:xfrm flipH="1" rot="-5400000">
            <a:off x="2052975" y="1960237"/>
            <a:ext cx="4365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6"/>
          <p:cNvCxnSpPr>
            <a:stCxn id="60" idx="2"/>
            <a:endCxn id="62" idx="0"/>
          </p:cNvCxnSpPr>
          <p:nvPr/>
        </p:nvCxnSpPr>
        <p:spPr>
          <a:xfrm flipH="1" rot="-5400000">
            <a:off x="2042475" y="2603837"/>
            <a:ext cx="456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6"/>
          <p:cNvCxnSpPr>
            <a:stCxn id="62" idx="2"/>
            <a:endCxn id="64" idx="0"/>
          </p:cNvCxnSpPr>
          <p:nvPr/>
        </p:nvCxnSpPr>
        <p:spPr>
          <a:xfrm flipH="1" rot="-5400000">
            <a:off x="2024025" y="3276262"/>
            <a:ext cx="4938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588525" y="701375"/>
            <a:ext cx="296100" cy="1209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884625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MAPA DE CONCEPTOS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588525" y="3108705"/>
            <a:ext cx="1399200" cy="580200"/>
          </a:xfrm>
          <a:prstGeom prst="rect">
            <a:avLst/>
          </a:prstGeom>
          <a:solidFill>
            <a:srgbClr val="2728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React router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88525" y="1453684"/>
            <a:ext cx="1399200" cy="580200"/>
          </a:xfrm>
          <a:prstGeom prst="rect">
            <a:avLst/>
          </a:prstGeom>
          <a:solidFill>
            <a:srgbClr val="2728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Organizando la aplicación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7" name="Google Shape;77;p17"/>
          <p:cNvCxnSpPr>
            <a:stCxn id="75" idx="0"/>
            <a:endCxn id="76" idx="2"/>
          </p:cNvCxnSpPr>
          <p:nvPr/>
        </p:nvCxnSpPr>
        <p:spPr>
          <a:xfrm rot="10800000">
            <a:off x="1288125" y="2033805"/>
            <a:ext cx="0" cy="107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78" name="Google Shape;78;p17"/>
          <p:cNvSpPr/>
          <p:nvPr/>
        </p:nvSpPr>
        <p:spPr>
          <a:xfrm>
            <a:off x="2910948" y="3263550"/>
            <a:ext cx="2074500" cy="27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Instalación y configuración</a:t>
            </a:r>
            <a:endParaRPr b="0" i="0" sz="1200" u="none" cap="none" strike="noStrike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9" name="Google Shape;79;p17"/>
          <p:cNvCxnSpPr>
            <a:stCxn id="75" idx="3"/>
            <a:endCxn id="78" idx="1"/>
          </p:cNvCxnSpPr>
          <p:nvPr/>
        </p:nvCxnSpPr>
        <p:spPr>
          <a:xfrm>
            <a:off x="1987725" y="3398805"/>
            <a:ext cx="923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80" name="Google Shape;80;p17" title="ícono de mapa de contenido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75" y="533519"/>
            <a:ext cx="300599" cy="30061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/>
          <p:nvPr/>
        </p:nvSpPr>
        <p:spPr>
          <a:xfrm>
            <a:off x="2910825" y="3756250"/>
            <a:ext cx="1596900" cy="2706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Navegación</a:t>
            </a:r>
            <a:endParaRPr b="0" i="0" sz="1200" u="none" cap="none" strike="noStrike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82" name="Google Shape;82;p17"/>
          <p:cNvCxnSpPr>
            <a:stCxn id="75" idx="3"/>
            <a:endCxn id="81" idx="1"/>
          </p:cNvCxnSpPr>
          <p:nvPr/>
        </p:nvCxnSpPr>
        <p:spPr>
          <a:xfrm>
            <a:off x="1987725" y="3398805"/>
            <a:ext cx="923100" cy="49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3" name="Google Shape;83;p17"/>
          <p:cNvSpPr/>
          <p:nvPr/>
        </p:nvSpPr>
        <p:spPr>
          <a:xfrm>
            <a:off x="5409000" y="3601450"/>
            <a:ext cx="12846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Navegación con parámetros</a:t>
            </a:r>
            <a:endParaRPr b="0" i="0" sz="1200" u="none" cap="none" strike="noStrike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84" name="Google Shape;84;p17"/>
          <p:cNvCxnSpPr>
            <a:stCxn id="81" idx="3"/>
            <a:endCxn id="83" idx="1"/>
          </p:cNvCxnSpPr>
          <p:nvPr/>
        </p:nvCxnSpPr>
        <p:spPr>
          <a:xfrm>
            <a:off x="4507725" y="3891550"/>
            <a:ext cx="901200" cy="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5" name="Google Shape;85;p17"/>
          <p:cNvSpPr/>
          <p:nvPr/>
        </p:nvSpPr>
        <p:spPr>
          <a:xfrm>
            <a:off x="7594875" y="3601450"/>
            <a:ext cx="12846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Recepción de parámetros</a:t>
            </a:r>
            <a:endParaRPr b="0" i="0" sz="1200" u="none" cap="none" strike="noStrike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86" name="Google Shape;86;p17"/>
          <p:cNvCxnSpPr>
            <a:endCxn id="85" idx="1"/>
          </p:cNvCxnSpPr>
          <p:nvPr/>
        </p:nvCxnSpPr>
        <p:spPr>
          <a:xfrm>
            <a:off x="6693675" y="3890950"/>
            <a:ext cx="9012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588525" y="701375"/>
            <a:ext cx="296100" cy="1209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884625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MAPA DE </a:t>
            </a: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CONCEPTOS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588525" y="3108705"/>
            <a:ext cx="1399200" cy="580200"/>
          </a:xfrm>
          <a:prstGeom prst="rect">
            <a:avLst/>
          </a:prstGeom>
          <a:solidFill>
            <a:srgbClr val="2728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Componentes basados en eventos</a:t>
            </a:r>
            <a:endParaRPr sz="1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4310631" y="1453689"/>
            <a:ext cx="15969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Tipos</a:t>
            </a:r>
            <a:endParaRPr sz="1200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88525" y="1453684"/>
            <a:ext cx="1399200" cy="580200"/>
          </a:xfrm>
          <a:prstGeom prst="rect">
            <a:avLst/>
          </a:prstGeom>
          <a:solidFill>
            <a:srgbClr val="2728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Eventos </a:t>
            </a:r>
            <a:endParaRPr sz="1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96" name="Google Shape;96;p18"/>
          <p:cNvCxnSpPr>
            <a:stCxn id="93" idx="0"/>
            <a:endCxn id="95" idx="2"/>
          </p:cNvCxnSpPr>
          <p:nvPr/>
        </p:nvCxnSpPr>
        <p:spPr>
          <a:xfrm rot="10800000">
            <a:off x="1288125" y="2033805"/>
            <a:ext cx="0" cy="107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7" name="Google Shape;97;p18"/>
          <p:cNvSpPr/>
          <p:nvPr/>
        </p:nvSpPr>
        <p:spPr>
          <a:xfrm>
            <a:off x="4310631" y="746975"/>
            <a:ext cx="15969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¿Qué son?</a:t>
            </a:r>
            <a:endParaRPr sz="1200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310631" y="2160397"/>
            <a:ext cx="15969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DOM Event </a:t>
            </a:r>
            <a:endParaRPr sz="1200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99" name="Google Shape;99;p18"/>
          <p:cNvCxnSpPr>
            <a:stCxn id="95" idx="3"/>
            <a:endCxn id="97" idx="1"/>
          </p:cNvCxnSpPr>
          <p:nvPr/>
        </p:nvCxnSpPr>
        <p:spPr>
          <a:xfrm flipH="1" rot="10800000">
            <a:off x="1987725" y="1036984"/>
            <a:ext cx="2322900" cy="7068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0" name="Google Shape;100;p18"/>
          <p:cNvCxnSpPr>
            <a:stCxn id="95" idx="3"/>
            <a:endCxn id="94" idx="1"/>
          </p:cNvCxnSpPr>
          <p:nvPr/>
        </p:nvCxnSpPr>
        <p:spPr>
          <a:xfrm>
            <a:off x="1987725" y="1743784"/>
            <a:ext cx="2322900" cy="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1" name="Google Shape;101;p18"/>
          <p:cNvCxnSpPr/>
          <p:nvPr/>
        </p:nvCxnSpPr>
        <p:spPr>
          <a:xfrm>
            <a:off x="1987731" y="1743660"/>
            <a:ext cx="2322900" cy="706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102" name="Google Shape;102;p18" title="ícono de mapa de contenido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75" y="533519"/>
            <a:ext cx="300599" cy="30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4310631" y="2867097"/>
            <a:ext cx="15969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Event listener</a:t>
            </a:r>
            <a:endParaRPr sz="1200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310631" y="3688897"/>
            <a:ext cx="1596900" cy="580200"/>
          </a:xfrm>
          <a:prstGeom prst="rect">
            <a:avLst/>
          </a:prstGeom>
          <a:noFill/>
          <a:ln cap="flat" cmpd="sng" w="9525">
            <a:solidFill>
              <a:srgbClr val="39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React y los eventos</a:t>
            </a:r>
            <a:endParaRPr sz="1200">
              <a:solidFill>
                <a:srgbClr val="22222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 flipH="1">
            <a:off x="3145875" y="1754950"/>
            <a:ext cx="9300" cy="2333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8"/>
          <p:cNvCxnSpPr>
            <a:endCxn id="103" idx="1"/>
          </p:cNvCxnSpPr>
          <p:nvPr/>
        </p:nvCxnSpPr>
        <p:spPr>
          <a:xfrm flipH="1" rot="10800000">
            <a:off x="3145731" y="3157197"/>
            <a:ext cx="1164900" cy="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7" name="Google Shape;107;p18"/>
          <p:cNvCxnSpPr/>
          <p:nvPr/>
        </p:nvCxnSpPr>
        <p:spPr>
          <a:xfrm flipH="1" rot="10800000">
            <a:off x="3145731" y="4088647"/>
            <a:ext cx="1164900" cy="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/>
        </p:nvSpPr>
        <p:spPr>
          <a:xfrm>
            <a:off x="475500" y="2515575"/>
            <a:ext cx="508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Navegación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475500" y="2264050"/>
            <a:ext cx="4962900" cy="2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crear una buena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navegación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en React, necesitamos un Enrutador/Router que nos permita definir diferentes rutas o “paths” en nuestra aplicación e indicar qué componente queremos mostrar en cada una de ellas.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facilidad con la que nuestra aplicación permite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agregar funcionalidades y navegarlas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 factor clave en términos de experiencia y escalabilidad.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475500" y="2218650"/>
            <a:ext cx="49629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React Router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es una librería standard para crear rutas en una SPA de React. Una vez instalada en nuestro proyecto, podemos utilizar los componentes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BrowserRouter, Routes, y Route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configurar las distintas rutas que queremos crear en nuestra app. 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También utilizamos el componente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Link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remplazar enlaces internos de nuestra web.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React Router también nos brinda una extensa lista de hooks a utilizar, como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useParams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que nos permite obtener el parámetro URL en el que se encuentra el usuario.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React Router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475500" y="2515575"/>
            <a:ext cx="508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475500" y="2218650"/>
            <a:ext cx="4711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Eventos -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Revemos el patrón de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EventListeners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en JavaScript y sus particularidades en React.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eventos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 sintéticos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 tienen algunas ventajas en lo relativo a compatibilidad entre navegadores y performance. Para utilizarlos solo debemos crear eventos “inline” en los elementos JSX.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/>
        </p:nvSpPr>
        <p:spPr>
          <a:xfrm>
            <a:off x="475500" y="971050"/>
            <a:ext cx="4849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Componentes orientados a Eventos.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475500" y="2515575"/>
            <a:ext cx="508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475500" y="2515575"/>
            <a:ext cx="508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20775" y="2633400"/>
            <a:ext cx="47967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Al crear un componente, puedes dejar algunas tareas a cargo del componente padre que lo renderice.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Este patrón, lo podemos implementar enviando una función a través de Props, y luego en el componente hijo asignarla como handler a un evento de cualquier elemento JSX.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3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53" name="Google Shape;153;p2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4" name="Google Shape;154;p23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3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Homepage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8" name="Google Shape;158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59" name="Google Shape;159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485050" y="3937450"/>
            <a:ext cx="8183700" cy="6534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475500" y="1694775"/>
            <a:ext cx="4315200" cy="21597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/>
        </p:nvSpPr>
        <p:spPr>
          <a:xfrm>
            <a:off x="469200" y="1077850"/>
            <a:ext cx="7353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Homepage</a:t>
            </a:r>
            <a:endParaRPr b="1"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722154" y="3937450"/>
            <a:ext cx="77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Recuerda:</a:t>
            </a:r>
            <a:endParaRPr b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microdesafíos si bien no requieren entrega, en cada clase en vivo se realizará una puesta en común en torno a ellos. Te recomendamos realizarlo para poner en práctica los contenidos pregrabados.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900300" y="455050"/>
            <a:ext cx="332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-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MICRODESAFÍO</a:t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4902500" y="1694775"/>
            <a:ext cx="3759300" cy="21396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5001656" y="1839250"/>
            <a:ext cx="396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Tips</a:t>
            </a:r>
            <a:endParaRPr sz="1200" u="sng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466723" y="2149850"/>
            <a:ext cx="40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4" name="Google Shape;174;p2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5" name="Google Shape;175;p2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7" name="Google Shape;177;p24"/>
          <p:cNvGrpSpPr/>
          <p:nvPr/>
        </p:nvGrpSpPr>
        <p:grpSpPr>
          <a:xfrm>
            <a:off x="475509" y="435709"/>
            <a:ext cx="431100" cy="431100"/>
            <a:chOff x="475509" y="435709"/>
            <a:chExt cx="431100" cy="431100"/>
          </a:xfrm>
        </p:grpSpPr>
        <p:sp>
          <p:nvSpPr>
            <p:cNvPr id="178" name="Google Shape;178;p24"/>
            <p:cNvSpPr/>
            <p:nvPr/>
          </p:nvSpPr>
          <p:spPr>
            <a:xfrm>
              <a:off x="475509" y="435709"/>
              <a:ext cx="431100" cy="431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79" name="Google Shape;179;p24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150" y="499350"/>
              <a:ext cx="303800" cy="30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24"/>
          <p:cNvSpPr txBox="1"/>
          <p:nvPr/>
        </p:nvSpPr>
        <p:spPr>
          <a:xfrm>
            <a:off x="675350" y="2160025"/>
            <a:ext cx="36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668550" y="1839250"/>
            <a:ext cx="39105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DM Sans"/>
                <a:ea typeface="DM Sans"/>
                <a:cs typeface="DM Sans"/>
                <a:sym typeface="DM Sans"/>
              </a:rPr>
              <a:t>Consigna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Utiliza React Router para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ruta de bienvenida a nuestra app y una ruta donde podamos ver el listado de tareas. No olvides agregar navegación para desplazarte de un componente a otro.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Código inicial en stackblitz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4902500" y="2109250"/>
            <a:ext cx="358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✓"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Recuerda que al utilizar react-router no queremos que la página “</a:t>
            </a:r>
            <a:r>
              <a:rPr i="1" lang="es" sz="1200">
                <a:latin typeface="DM Sans"/>
                <a:ea typeface="DM Sans"/>
                <a:cs typeface="DM Sans"/>
                <a:sym typeface="DM Sans"/>
              </a:rPr>
              <a:t>recargue</a:t>
            </a: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”, utiliza el componente Link para generar enlaces.</a:t>
            </a:r>
            <a:br>
              <a:rPr lang="es" sz="1200">
                <a:latin typeface="DM Sans"/>
                <a:ea typeface="DM Sans"/>
                <a:cs typeface="DM Sans"/>
                <a:sym typeface="DM Sans"/>
              </a:rPr>
            </a:b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DM Sans"/>
              <a:buChar char="✓"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react-router-dom ya está instalado en la aplicación de stackblitz: no olvides importar los componentes necesarios.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3" name="Google Shape;183;p24" title="MD 05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0450" y="947863"/>
            <a:ext cx="646500" cy="6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5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189" name="Google Shape;189;p25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25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192" name="Google Shape;192;p25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4" name="Google Shape;194;p25"/>
          <p:cNvCxnSpPr>
            <a:endCxn id="192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2690573" y="17314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Home.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Utilizando el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dos rutas, una para Home y otra para TodoList.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8" name="Google Shape;198;p25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199" name="Google Shape;199;p25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1" name="Google Shape;201;p25"/>
          <p:cNvCxnSpPr>
            <a:endCxn id="199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2" name="Google Shape;202;p25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203" name="Google Shape;203;p25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5" name="Google Shape;205;p25"/>
          <p:cNvCxnSpPr>
            <a:endCxn id="203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5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wrapping de las rutas utilizando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Routes y BrowserRouter.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2690573" y="35878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menú para navegar a ambas rutas, utilizando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/>
        </p:nvSpPr>
        <p:spPr>
          <a:xfrm>
            <a:off x="1905000" y="2202300"/>
            <a:ext cx="53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¡Buen trabajo!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😎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7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18" name="Google Shape;218;p2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9" name="Google Shape;219;p27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27"/>
          <p:cNvSpPr txBox="1"/>
          <p:nvPr/>
        </p:nvSpPr>
        <p:spPr>
          <a:xfrm>
            <a:off x="15389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Agregar un router a tu app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1064900" y="31414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3" name="Google Shape;223;p2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24" name="Google Shape;224;p2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8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231" name="Google Shape;231;p2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2" name="Google Shape;232;p28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" name="Google Shape;233;p28"/>
          <p:cNvSpPr txBox="1"/>
          <p:nvPr/>
        </p:nvSpPr>
        <p:spPr>
          <a:xfrm>
            <a:off x="501450" y="97182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Agregar un router a tu app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4" name="Google Shape;2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/>
        </p:nvSpPr>
        <p:spPr>
          <a:xfrm>
            <a:off x="501450" y="2526175"/>
            <a:ext cx="6466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tu aplicación, instala react-router-dom, agrégala al root de tu app, y configura tus rutas apuntando a tu Home. Si tienes otro nombre, o la organizaste distinta, no hay problema.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aún no tienes creados todos los componentes de tu aplicación puedes practicar con la siguiente app: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Código 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9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43" name="Google Shape;243;p29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9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46" name="Google Shape;246;p29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8" name="Google Shape;248;p29"/>
          <p:cNvCxnSpPr>
            <a:endCxn id="246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2690573" y="17314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Instalamos react router con npm: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npm react-router-dom.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crear ruta al directorio raíz “/” (ItemListContainer)  y al detalle “/item”.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2" name="Google Shape;252;p29"/>
          <p:cNvGrpSpPr/>
          <p:nvPr/>
        </p:nvGrpSpPr>
        <p:grpSpPr>
          <a:xfrm>
            <a:off x="2172088" y="3088228"/>
            <a:ext cx="197100" cy="197100"/>
            <a:chOff x="2172088" y="3058775"/>
            <a:chExt cx="197100" cy="197100"/>
          </a:xfrm>
        </p:grpSpPr>
        <p:sp>
          <p:nvSpPr>
            <p:cNvPr id="253" name="Google Shape;253;p29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5" name="Google Shape;255;p29"/>
          <p:cNvCxnSpPr>
            <a:endCxn id="254" idx="0"/>
          </p:cNvCxnSpPr>
          <p:nvPr/>
        </p:nvCxnSpPr>
        <p:spPr>
          <a:xfrm>
            <a:off x="2270638" y="2391478"/>
            <a:ext cx="0" cy="7518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9"/>
          <p:cNvSpPr txBox="1"/>
          <p:nvPr/>
        </p:nvSpPr>
        <p:spPr>
          <a:xfrm>
            <a:off x="2690573" y="2990566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Modificamos los enlaces de NavBar para utilizar el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 o NavLink.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30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263" name="Google Shape;263;p3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4" name="Google Shape;264;p30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30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475500" y="1474850"/>
            <a:ext cx="7169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Crearemos rutas dinámicas en nuestra app para mostrar diferentes productos y categorías. Utilizaremos useParams() para leer los parámetros url y mostrar los elementos correspondientes.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3" name="Google Shape;273;p31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74" name="Google Shape;274;p31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5" name="Google Shape;275;p31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31"/>
          <p:cNvSpPr txBox="1"/>
          <p:nvPr/>
        </p:nvSpPr>
        <p:spPr>
          <a:xfrm>
            <a:off x="475500" y="3829300"/>
            <a:ext cx="71694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código ejemplo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77" name="Google Shape;277;p3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78" name="Google Shape;278;p3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/>
        </p:nvSpPr>
        <p:spPr>
          <a:xfrm>
            <a:off x="2690575" y="3652775"/>
            <a:ext cx="4575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useParams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leer el parámetro actual de la URL y solicitar los productos.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5" name="Google Shape;285;p32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86" name="Google Shape;286;p32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2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32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89" name="Google Shape;289;p32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2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91" name="Google Shape;291;p32"/>
          <p:cNvCxnSpPr>
            <a:endCxn id="289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2690573" y="1713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Modificamos la ruta de ItemDetail para tomar un valor dinámico: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/item/:id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2690573" y="3002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una nueva ruta para mostrar el listado de items de una única categoría: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/category/:id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5" name="Google Shape;295;p32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296" name="Google Shape;296;p32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98" name="Google Shape;298;p32"/>
          <p:cNvCxnSpPr>
            <a:endCxn id="296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9" name="Google Shape;299;p32"/>
          <p:cNvGrpSpPr/>
          <p:nvPr/>
        </p:nvGrpSpPr>
        <p:grpSpPr>
          <a:xfrm>
            <a:off x="2172088" y="3761675"/>
            <a:ext cx="197100" cy="197100"/>
            <a:chOff x="2172088" y="3661775"/>
            <a:chExt cx="197100" cy="197100"/>
          </a:xfrm>
        </p:grpSpPr>
        <p:sp>
          <p:nvSpPr>
            <p:cNvPr id="300" name="Google Shape;300;p32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2" name="Google Shape;302;p32"/>
          <p:cNvCxnSpPr>
            <a:stCxn id="297" idx="4"/>
            <a:endCxn id="300" idx="0"/>
          </p:cNvCxnSpPr>
          <p:nvPr/>
        </p:nvCxnSpPr>
        <p:spPr>
          <a:xfrm>
            <a:off x="2270638" y="3224400"/>
            <a:ext cx="0" cy="5373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2"/>
          <p:cNvSpPr txBox="1"/>
          <p:nvPr/>
        </p:nvSpPr>
        <p:spPr>
          <a:xfrm>
            <a:off x="2691248" y="229696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Link en el componente Item para navegar a la ruta de su detalle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/item/{id}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5/10 minutos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34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Creamos un input y le asignamos un evento sintético “onChange”, para guardar su valor en el estado del componente. </a:t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16" name="Google Shape;316;p34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317" name="Google Shape;317;p3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8" name="Google Shape;318;p34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" name="Google Shape;319;p34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0" name="Google Shape;320;p3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21" name="Google Shape;321;p3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35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328" name="Google Shape;328;p35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35"/>
          <p:cNvGrpSpPr/>
          <p:nvPr/>
        </p:nvGrpSpPr>
        <p:grpSpPr>
          <a:xfrm>
            <a:off x="2172088" y="2379575"/>
            <a:ext cx="197100" cy="197100"/>
            <a:chOff x="2172088" y="2455775"/>
            <a:chExt cx="197100" cy="197100"/>
          </a:xfrm>
        </p:grpSpPr>
        <p:sp>
          <p:nvSpPr>
            <p:cNvPr id="331" name="Google Shape;331;p35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3" name="Google Shape;333;p35"/>
          <p:cNvCxnSpPr>
            <a:endCxn id="331" idx="0"/>
          </p:cNvCxnSpPr>
          <p:nvPr/>
        </p:nvCxnSpPr>
        <p:spPr>
          <a:xfrm>
            <a:off x="2270638" y="19736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2690573" y="17314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Input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el atributo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onChange.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2690573" y="22583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la función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handleOnChange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la asignamos como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callback del evento onChange.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37" name="Google Shape;337;p35"/>
          <p:cNvGrpSpPr/>
          <p:nvPr/>
        </p:nvGrpSpPr>
        <p:grpSpPr>
          <a:xfrm>
            <a:off x="2172088" y="3006150"/>
            <a:ext cx="197100" cy="197100"/>
            <a:chOff x="2172088" y="3058775"/>
            <a:chExt cx="197100" cy="197100"/>
          </a:xfrm>
        </p:grpSpPr>
        <p:sp>
          <p:nvSpPr>
            <p:cNvPr id="338" name="Google Shape;338;p35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0" name="Google Shape;340;p35"/>
          <p:cNvCxnSpPr>
            <a:endCxn id="338" idx="0"/>
          </p:cNvCxnSpPr>
          <p:nvPr/>
        </p:nvCxnSpPr>
        <p:spPr>
          <a:xfrm>
            <a:off x="2270638" y="26002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35"/>
          <p:cNvGrpSpPr/>
          <p:nvPr/>
        </p:nvGrpSpPr>
        <p:grpSpPr>
          <a:xfrm>
            <a:off x="2172088" y="3609275"/>
            <a:ext cx="197100" cy="197100"/>
            <a:chOff x="2172088" y="3661775"/>
            <a:chExt cx="197100" cy="197100"/>
          </a:xfrm>
        </p:grpSpPr>
        <p:sp>
          <p:nvSpPr>
            <p:cNvPr id="342" name="Google Shape;342;p35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4" name="Google Shape;344;p35"/>
          <p:cNvCxnSpPr>
            <a:endCxn id="342" idx="0"/>
          </p:cNvCxnSpPr>
          <p:nvPr/>
        </p:nvCxnSpPr>
        <p:spPr>
          <a:xfrm>
            <a:off x="2270638" y="32033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5"/>
          <p:cNvSpPr txBox="1"/>
          <p:nvPr/>
        </p:nvSpPr>
        <p:spPr>
          <a:xfrm>
            <a:off x="2690573" y="29084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Recibimos el objeto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parámetro y vemos sus propiedades.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2690573" y="3511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estado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le asignamos el valor del input cada vez que éste cambia.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6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52" name="Google Shape;352;p3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3" name="Google Shape;353;p36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4" name="Google Shape;354;p36"/>
          <p:cNvSpPr txBox="1"/>
          <p:nvPr/>
        </p:nvSpPr>
        <p:spPr>
          <a:xfrm>
            <a:off x="15389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máscara de Input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1064900" y="30999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7" name="Google Shape;357;p3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58" name="Google Shape;358;p3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37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365" name="Google Shape;365;p3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6" name="Google Shape;366;p37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" name="Google Shape;367;p37"/>
          <p:cNvSpPr txBox="1"/>
          <p:nvPr/>
        </p:nvSpPr>
        <p:spPr>
          <a:xfrm>
            <a:off x="501450" y="89937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máscara de Input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8" name="Google Shape;36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7"/>
          <p:cNvSpPr txBox="1"/>
          <p:nvPr/>
        </p:nvSpPr>
        <p:spPr>
          <a:xfrm>
            <a:off x="475500" y="2192375"/>
            <a:ext cx="6786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lang="es" sz="1350" u="sng">
                <a:solidFill>
                  <a:schemeClr val="folHlink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stackblitz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crea un input de texto que no permita el ingreso de vocales, cancelando su evento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onKeyDown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en los keys adecuados.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Pista: el synthetic event de keydown tiene varias propiedades, encuentra cuál te puede dar la información de la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tecla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;)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350" u="sng">
                <a:solidFill>
                  <a:schemeClr val="hlink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  <a:hlinkClick r:id="rId6"/>
              </a:rPr>
              <a:t>Código inicial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0" name="Google Shape;370;p37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1" name="Google Shape;37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38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377" name="Google Shape;377;p38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38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380" name="Google Shape;380;p38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82" name="Google Shape;382;p38"/>
          <p:cNvCxnSpPr>
            <a:endCxn id="380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3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38"/>
          <p:cNvSpPr txBox="1"/>
          <p:nvPr/>
        </p:nvSpPr>
        <p:spPr>
          <a:xfrm>
            <a:off x="2690575" y="1731425"/>
            <a:ext cx="469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función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handleKeyDown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asígnala como callback del evento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onKeyDown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 elemento indicado.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5" name="Google Shape;385;p38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Recibe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de evento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parámetro y accede al valor de la tecla presionada.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86" name="Google Shape;386;p38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387" name="Google Shape;387;p38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89" name="Google Shape;389;p38"/>
          <p:cNvCxnSpPr>
            <a:endCxn id="387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0" name="Google Shape;390;p38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391" name="Google Shape;391;p38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3" name="Google Shape;393;p38"/>
          <p:cNvCxnSpPr>
            <a:endCxn id="391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8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 alguna validación que compruebe si la tecla presionada es una vocal.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38"/>
          <p:cNvSpPr txBox="1"/>
          <p:nvPr/>
        </p:nvSpPr>
        <p:spPr>
          <a:xfrm>
            <a:off x="2690573" y="3587813"/>
            <a:ext cx="4281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caso de que sea vocal, puedes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cancelar la acción predeterminada del evento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lanzar una alerta o mediante consola un mensaje de error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39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402" name="Google Shape;402;p3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3" name="Google Shape;403;p39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4" name="Google Shape;404;p39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5" name="Google Shape;405;p39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/>
          <p:nvPr/>
        </p:nvSpPr>
        <p:spPr>
          <a:xfrm>
            <a:off x="475500" y="1322450"/>
            <a:ext cx="7300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Creamos un componente que responda a un evento, llamando a un callback recibido a través de props. Mediante el callback enviamos información desde el componente hijo hacia el componente donde se creó el callback.</a:t>
            </a:r>
            <a:endParaRPr b="1" sz="2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40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2" name="Google Shape;412;p40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413" name="Google Shape;413;p40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4" name="Google Shape;414;p40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5" name="Google Shape;415;p40"/>
          <p:cNvSpPr txBox="1"/>
          <p:nvPr/>
        </p:nvSpPr>
        <p:spPr>
          <a:xfrm>
            <a:off x="475500" y="39817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6" name="Google Shape;416;p4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417" name="Google Shape;417;p4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8" name="Google Shape;418;p4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41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424" name="Google Shape;424;p41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41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427" name="Google Shape;427;p41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1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29" name="Google Shape;429;p41"/>
          <p:cNvCxnSpPr>
            <a:endCxn id="427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4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1" name="Google Shape;431;p41"/>
          <p:cNvSpPr txBox="1"/>
          <p:nvPr/>
        </p:nvSpPr>
        <p:spPr>
          <a:xfrm>
            <a:off x="2690573" y="17314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componente padre con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 handler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utilizar.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2" name="Google Shape;432;p41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Invocamos al componente hijo, enviando como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prop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event handler.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33" name="Google Shape;433;p41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434" name="Google Shape;434;p41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1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6" name="Google Shape;436;p41"/>
          <p:cNvCxnSpPr>
            <a:endCxn id="434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" name="Google Shape;437;p41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438" name="Google Shape;438;p41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1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0" name="Google Shape;440;p41"/>
          <p:cNvCxnSpPr>
            <a:endCxn id="438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1"/>
          <p:cNvSpPr txBox="1"/>
          <p:nvPr/>
        </p:nvSpPr>
        <p:spPr>
          <a:xfrm>
            <a:off x="2690575" y="2984700"/>
            <a:ext cx="452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Asignamos un evento inline a un elemento dentro del componente hijo, por ejemplo: onClick a un botón.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2" name="Google Shape;442;p41"/>
          <p:cNvSpPr txBox="1"/>
          <p:nvPr/>
        </p:nvSpPr>
        <p:spPr>
          <a:xfrm>
            <a:off x="2690573" y="3587813"/>
            <a:ext cx="4281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respuesta al evento onClick, asignamos el event handler recibido mediante props y enviamos algún parámetro a la función.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2"/>
          <p:cNvGrpSpPr/>
          <p:nvPr/>
        </p:nvGrpSpPr>
        <p:grpSpPr>
          <a:xfrm>
            <a:off x="4202552" y="1088764"/>
            <a:ext cx="738900" cy="738974"/>
            <a:chOff x="3137108" y="2467173"/>
            <a:chExt cx="738900" cy="738900"/>
          </a:xfrm>
        </p:grpSpPr>
        <p:sp>
          <p:nvSpPr>
            <p:cNvPr id="448" name="Google Shape;448;p42"/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42" title="ícono de desafío entregabl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42"/>
          <p:cNvSpPr txBox="1"/>
          <p:nvPr/>
        </p:nvSpPr>
        <p:spPr>
          <a:xfrm>
            <a:off x="1461300" y="21091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N°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2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1" name="Google Shape;451;p42"/>
          <p:cNvSpPr txBox="1"/>
          <p:nvPr/>
        </p:nvSpPr>
        <p:spPr>
          <a:xfrm>
            <a:off x="987300" y="2848075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Navega las rutas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43"/>
          <p:cNvGrpSpPr/>
          <p:nvPr/>
        </p:nvGrpSpPr>
        <p:grpSpPr>
          <a:xfrm>
            <a:off x="475504" y="468259"/>
            <a:ext cx="431074" cy="431148"/>
            <a:chOff x="3137108" y="2467173"/>
            <a:chExt cx="738900" cy="738900"/>
          </a:xfrm>
        </p:grpSpPr>
        <p:sp>
          <p:nvSpPr>
            <p:cNvPr id="457" name="Google Shape;457;p43"/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8" name="Google Shape;458;p43" title="ícono de desafío entregabl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43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Navega las rutas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60" name="Google Shape;46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3"/>
          <p:cNvSpPr txBox="1"/>
          <p:nvPr/>
        </p:nvSpPr>
        <p:spPr>
          <a:xfrm>
            <a:off x="930550" y="468275"/>
            <a:ext cx="41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N° 2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2" name="Google Shape;462;p43"/>
          <p:cNvSpPr txBox="1"/>
          <p:nvPr/>
        </p:nvSpPr>
        <p:spPr>
          <a:xfrm>
            <a:off x="4648500" y="2859000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Formato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Link a último commit de git. Debe tener el nombre “NavegaLasRutas+Apellido”, por ejemplo “NavegaLasRutas+Fernandez” </a:t>
            </a:r>
            <a:endParaRPr sz="135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3" name="Google Shape;463;p43"/>
          <p:cNvSpPr txBox="1"/>
          <p:nvPr/>
        </p:nvSpPr>
        <p:spPr>
          <a:xfrm>
            <a:off x="501450" y="2859000"/>
            <a:ext cx="38346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Objetivos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Implementar la funcionalidad de navegación entre las diferentes vistas utilizando enlaces y rutas.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100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Desarrollar la navegabilidad básica de la aplicación, permitiendo navegar desde el catálogo al detalle de cada item.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4" name="Google Shape;464;p43"/>
          <p:cNvSpPr txBox="1"/>
          <p:nvPr/>
        </p:nvSpPr>
        <p:spPr>
          <a:xfrm>
            <a:off x="660900" y="1580050"/>
            <a:ext cx="7822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tu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segunda</a:t>
            </a: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entrega, debes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implementar una herramienta de routing, la cual permitirá navegar a través de las diferentes vistas para tu tienda: catálogo principal de productos, catálogo de productos filtrados por categorías, y vista en detalle de un producto.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Debes entrar al link para acceder a la </a:t>
            </a: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consigna completa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 txBox="1"/>
          <p:nvPr/>
        </p:nvSpPr>
        <p:spPr>
          <a:xfrm>
            <a:off x="1461300" y="17867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2998200" y="2556375"/>
            <a:ext cx="314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dejar tu pregunta a través del chat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35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#Coderalert</a:t>
            </a:r>
            <a:endParaRPr b="1" i="0" sz="35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6" name="Google Shape;476;p45"/>
          <p:cNvSpPr txBox="1"/>
          <p:nvPr/>
        </p:nvSpPr>
        <p:spPr>
          <a:xfrm>
            <a:off x="1212250" y="149005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Ingresa a la </a:t>
            </a:r>
            <a:r>
              <a:rPr b="1" lang="es" sz="25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Guía de actividades hacia el Proyecto Final</a:t>
            </a:r>
            <a:r>
              <a:rPr b="1"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y realiza la actividad “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Sincronizar Counter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”. </a:t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Ten en cuenta que el desarrollo de la misma será importante para la resolución del Proyecto Final.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77" name="Google Shape;477;p45"/>
          <p:cNvGrpSpPr/>
          <p:nvPr/>
        </p:nvGrpSpPr>
        <p:grpSpPr>
          <a:xfrm>
            <a:off x="543106" y="716450"/>
            <a:ext cx="669148" cy="614370"/>
            <a:chOff x="5855025" y="2172613"/>
            <a:chExt cx="1088400" cy="1057800"/>
          </a:xfrm>
        </p:grpSpPr>
        <p:sp>
          <p:nvSpPr>
            <p:cNvPr id="478" name="Google Shape;478;p45"/>
            <p:cNvSpPr/>
            <p:nvPr/>
          </p:nvSpPr>
          <p:spPr>
            <a:xfrm>
              <a:off x="5855025" y="2172613"/>
              <a:ext cx="1088400" cy="10578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9" name="Google Shape;47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73225" y="2327338"/>
              <a:ext cx="748350" cy="748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 txBox="1"/>
          <p:nvPr/>
        </p:nvSpPr>
        <p:spPr>
          <a:xfrm>
            <a:off x="1461300" y="2216950"/>
            <a:ext cx="622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compartimos los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35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 b="1" sz="35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85" name="Google Shape;485;p46"/>
          <p:cNvGrpSpPr/>
          <p:nvPr/>
        </p:nvGrpSpPr>
        <p:grpSpPr>
          <a:xfrm>
            <a:off x="4202550" y="1322535"/>
            <a:ext cx="738900" cy="738900"/>
            <a:chOff x="4202550" y="994173"/>
            <a:chExt cx="738900" cy="738900"/>
          </a:xfrm>
        </p:grpSpPr>
        <p:sp>
          <p:nvSpPr>
            <p:cNvPr id="486" name="Google Shape;486;p46"/>
            <p:cNvSpPr/>
            <p:nvPr/>
          </p:nvSpPr>
          <p:spPr>
            <a:xfrm>
              <a:off x="4202550" y="994173"/>
              <a:ext cx="738900" cy="738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487" name="Google Shape;487;p46" title="ícono de codertip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6700" y="1138325"/>
              <a:ext cx="450600" cy="45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recomendamos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3" name="Google Shape;493;p47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4" name="Google Shape;494;p47" title="ícono de coderti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5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7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4167750" y="1682450"/>
            <a:ext cx="4243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Helvetica Neue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El uso de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addEventListener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puede ser más complejo que los eventos “inline” ya que debemos utilizar useEffect para comprobar el montaje/desmontaje.</a:t>
            </a:r>
            <a:b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Helvetica Neue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Con el patrón de componentes orientados a eventos, quizá ya estés pensando en crear almacenar en algún componente el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 estado del carrito: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¡espera! La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semana que viene veremos  una mejor forma de trabajarlo.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457350" y="1682450"/>
            <a:ext cx="3710400" cy="30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Hay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diferentes formas de crear “routers”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con React Router; te animo a que investigues en la documentación.</a:t>
            </a:r>
            <a:b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Crea una ruta con path “*” para generar una página de “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Not found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”. Te ayudará a no confundir errores en tus componentes con errores de la navegación.</a:t>
            </a:r>
            <a:br>
              <a:rPr lang="es" sz="1350"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3" name="Google Shape;503;p48"/>
          <p:cNvSpPr txBox="1"/>
          <p:nvPr/>
        </p:nvSpPr>
        <p:spPr>
          <a:xfrm>
            <a:off x="2109143" y="2325013"/>
            <a:ext cx="49257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Organización de navegabilidad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Routing estático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react-router-dom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DOM y Synthetic events.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Diseño de eventos en componentes.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1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¡Gracias por estudiar con nosotros!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✨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