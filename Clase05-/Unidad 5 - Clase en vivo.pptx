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20"/>
  </p:notesMasterIdLst>
  <p:sldIdLst>
    <p:sldId id="273" r:id="rId2"/>
    <p:sldId id="274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5" r:id="rId19"/>
  </p:sldIdLst>
  <p:sldSz cx="9144000" cy="5143500" type="screen16x9"/>
  <p:notesSz cx="6858000" cy="9144000"/>
  <p:embeddedFontLst>
    <p:embeddedFont>
      <p:font typeface="DM Sans" panose="020B0604020202020204" charset="0"/>
      <p:regular r:id="rId21"/>
      <p:bold r:id="rId22"/>
      <p:italic r:id="rId23"/>
      <p:boldItalic r:id="rId24"/>
    </p:embeddedFont>
    <p:embeddedFont>
      <p:font typeface="Didact Gothic" panose="020B0604020202020204" charset="0"/>
      <p:regular r:id="rId25"/>
    </p:embeddedFont>
    <p:embeddedFont>
      <p:font typeface="Helvetica Neue Light" panose="020B060402020202020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95">
          <p15:clr>
            <a:srgbClr val="A4A3A4"/>
          </p15:clr>
        </p15:guide>
        <p15:guide id="2" pos="5460">
          <p15:clr>
            <a:srgbClr val="A4A3A4"/>
          </p15:clr>
        </p15:guide>
        <p15:guide id="3" pos="300">
          <p15:clr>
            <a:srgbClr val="9AA0A6"/>
          </p15:clr>
        </p15:guide>
        <p15:guide id="4" orient="horz" pos="2892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78"/>
      </p:cViewPr>
      <p:guideLst>
        <p:guide orient="horz" pos="295"/>
        <p:guide pos="5460"/>
        <p:guide pos="300"/>
        <p:guide orient="horz" pos="28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3365b5acdf_0_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3365b5acdf_0_3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highlight>
                  <a:schemeClr val="accent4"/>
                </a:highlight>
                <a:latin typeface="DM Sans"/>
                <a:ea typeface="DM Sans"/>
                <a:cs typeface="DM Sans"/>
                <a:sym typeface="DM Sans"/>
              </a:rPr>
              <a:t>LOS VIDEOS DE ONBOARDING ESTÁN DISPONIBLES EN EL ESPACIO DE LA CLASE 1</a:t>
            </a:r>
            <a:endParaRPr>
              <a:highlight>
                <a:schemeClr val="accent4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7349626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13c9d1b815_1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13c9d1b815_1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Colocar todas las clases.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9618151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dcbe1314dd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2dcbe1314dd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Colocar todas las clases.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los módulos más importantes de la clase, donde se introducen conceptos que se ven en varios slides. No hay que usarla para todos los módulos.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38298fd225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g138298fd225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6dc87d769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g26dc87d769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6dc87d769f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g26dc87d769f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6dc87d769f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g26dc87d769f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38298fd225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g138298fd225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9863c3b05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29863c3b05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9863c3b059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g29863c3b059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9863c3b059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29863c3b059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d9a9b08d17_0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d9a9b08d17_0_2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los subtemas de un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d9a9b08d17_0_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d9a9b08d17_0_2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d9a9b08d17_0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d9a9b08d17_0_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d9a9b08d17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d9a9b08d17_0_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d9a9b08d17_0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d9a9b08d17_0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13c9d1b815_1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13c9d1b815_1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Colocar todas las clases.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3243373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ndo blanco">
  <p:cSld name="SECTION_HEADER_1_1_1_1_1_1_1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logo coderhous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 imagen">
  <p:cSld name="SECTION_HEADER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3;p3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">
  <p:cSld name="SECTION_HEADER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4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A">
  <p:cSld name="SECTION_HEADER_1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5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B">
  <p:cSld name="SECTION_HEADER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6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A">
  <p:cSld name="SECTION_HEADER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7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1">
  <p:cSld name="SECTION_HEADER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8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2">
  <p:cSld name="SECTION_HEADER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9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3">
  <p:cSld name="SECTION_HEADER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10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adro">
  <p:cSld name="SECTION_HEADER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1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 5">
  <p:cSld name="SECTION_HEADER_1_1_1_1_1_1_1_1_1_8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12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co 1" type="title">
  <p:cSld name="TITLE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DM Sans"/>
              <a:buNone/>
              <a:defRPr sz="4000" b="1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elvetica Neue Light"/>
              <a:buNone/>
              <a:defRPr sz="20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35" name="Google Shape;35;p13" title="logo CoderHous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julioavantt/teacher_js_events" TargetMode="External"/><Relationship Id="rId5" Type="http://schemas.openxmlformats.org/officeDocument/2006/relationships/image" Target="../media/image22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6;p16"/>
          <p:cNvSpPr txBox="1"/>
          <p:nvPr/>
        </p:nvSpPr>
        <p:spPr>
          <a:xfrm>
            <a:off x="723014" y="927149"/>
            <a:ext cx="6959674" cy="3453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200" b="1" u="sng" dirty="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React</a:t>
            </a:r>
            <a:endParaRPr sz="7200" b="1" u="sng" dirty="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6000" b="1" u="sng" dirty="0" smtClean="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Flex 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6000" b="1" u="sng" dirty="0" smtClean="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Clase 5</a:t>
            </a:r>
            <a:r>
              <a:rPr lang="es" sz="6000" b="1" u="sng" dirty="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/>
            </a:r>
            <a:br>
              <a:rPr lang="es" sz="6000" b="1" u="sng" dirty="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600" b="1" u="sng" dirty="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 b="1" u="sng" dirty="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 u="sng" dirty="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u="sng" dirty="0" smtClean="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Curso dictado por Arturo Grottoli</a:t>
            </a:r>
            <a:endParaRPr sz="1600" b="1" u="sng" dirty="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2316988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8"/>
          <p:cNvSpPr txBox="1"/>
          <p:nvPr/>
        </p:nvSpPr>
        <p:spPr>
          <a:xfrm>
            <a:off x="666200" y="825988"/>
            <a:ext cx="6957344" cy="4348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 b="1" dirty="0" smtClean="0">
                <a:solidFill>
                  <a:schemeClr val="accent6"/>
                </a:solidFill>
                <a:latin typeface="DM Sans"/>
                <a:ea typeface="DM Sans"/>
                <a:cs typeface="DM Sans"/>
                <a:sym typeface="DM Sans"/>
              </a:rPr>
              <a:t>¿Estamos bien para arrancar?</a:t>
            </a:r>
            <a:endParaRPr sz="3600" b="1" dirty="0">
              <a:solidFill>
                <a:schemeClr val="accent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dirty="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438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DM Sans"/>
              <a:buChar char="●"/>
            </a:pPr>
            <a:r>
              <a:rPr lang="es-MX" sz="3300" dirty="0" smtClean="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Sonido e imagen ok</a:t>
            </a:r>
            <a:endParaRPr sz="3300" dirty="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438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Font typeface="DM Sans"/>
              <a:buChar char="●"/>
            </a:pPr>
            <a:r>
              <a:rPr lang="es" sz="3300" dirty="0" smtClean="0">
                <a:solidFill>
                  <a:schemeClr val="accent6"/>
                </a:solidFill>
                <a:latin typeface="DM Sans"/>
                <a:ea typeface="DM Sans"/>
                <a:cs typeface="DM Sans"/>
                <a:sym typeface="DM Sans"/>
              </a:rPr>
              <a:t>Diapositivas y tamaño texto</a:t>
            </a:r>
            <a:endParaRPr sz="3300" dirty="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438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Font typeface="DM Sans"/>
              <a:buChar char="●"/>
            </a:pPr>
            <a:r>
              <a:rPr lang="es" sz="3300" dirty="0" smtClean="0">
                <a:solidFill>
                  <a:schemeClr val="accent6"/>
                </a:solidFill>
                <a:latin typeface="DM Sans"/>
                <a:ea typeface="DM Sans"/>
                <a:cs typeface="DM Sans"/>
                <a:sym typeface="DM Sans"/>
              </a:rPr>
              <a:t>Recordar chequear que esté grabando.</a:t>
            </a:r>
            <a:endParaRPr sz="3300" dirty="0">
              <a:solidFill>
                <a:schemeClr val="accent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1" dirty="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3797273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/>
        </p:nvSpPr>
        <p:spPr>
          <a:xfrm>
            <a:off x="652350" y="625438"/>
            <a:ext cx="6221400" cy="4422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 b="1" dirty="0">
                <a:solidFill>
                  <a:schemeClr val="accent6"/>
                </a:solidFill>
                <a:latin typeface="DM Sans"/>
                <a:ea typeface="DM Sans"/>
                <a:cs typeface="DM Sans"/>
                <a:sym typeface="DM Sans"/>
              </a:rPr>
              <a:t>Importante </a:t>
            </a:r>
            <a:r>
              <a:rPr lang="es" sz="3600" b="1" dirty="0" smtClean="0">
                <a:solidFill>
                  <a:schemeClr val="accent6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 sz="3600" b="1" dirty="0">
              <a:solidFill>
                <a:schemeClr val="accent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 dirty="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Son temas nuevos y complejos</a:t>
            </a:r>
            <a:r>
              <a:rPr lang="es" sz="2200" dirty="0" smtClean="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" sz="2200" dirty="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r>
              <a:rPr lang="es-MX" sz="2200" dirty="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Vean la clase al menos 3 veces</a:t>
            </a:r>
            <a:r>
              <a:rPr lang="es-MX" sz="2200" dirty="0" smtClean="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2200" dirty="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 dirty="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Real, en el primer intento es raro que salga.</a:t>
            </a:r>
            <a:endParaRPr sz="2200" dirty="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 dirty="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No tiene que ver con cómo enseño, creanme.</a:t>
            </a:r>
            <a:endParaRPr sz="2200" dirty="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1" dirty="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8"/>
          <p:cNvSpPr txBox="1"/>
          <p:nvPr/>
        </p:nvSpPr>
        <p:spPr>
          <a:xfrm>
            <a:off x="1461300" y="1940700"/>
            <a:ext cx="62214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>
                <a:solidFill>
                  <a:schemeClr val="accent6"/>
                </a:solidFill>
                <a:latin typeface="DM Sans"/>
                <a:ea typeface="DM Sans"/>
                <a:cs typeface="DM Sans"/>
                <a:sym typeface="DM Sans"/>
              </a:rPr>
              <a:t>React</a:t>
            </a:r>
            <a:r>
              <a:rPr lang="es" sz="4000" b="1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 Router Dom</a:t>
            </a:r>
            <a:endParaRPr sz="4000" b="1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30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(rutas y navegación)</a:t>
            </a:r>
            <a:endParaRPr sz="3000" b="1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/>
          <p:nvPr/>
        </p:nvSpPr>
        <p:spPr>
          <a:xfrm>
            <a:off x="647400" y="1189150"/>
            <a:ext cx="7849200" cy="33174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9"/>
          <p:cNvSpPr txBox="1"/>
          <p:nvPr/>
        </p:nvSpPr>
        <p:spPr>
          <a:xfrm>
            <a:off x="1461300" y="345975"/>
            <a:ext cx="62214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s" sz="3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Instalación</a:t>
            </a:r>
            <a:endParaRPr sz="350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8" name="Google Shape;68;p19"/>
          <p:cNvSpPr txBox="1"/>
          <p:nvPr/>
        </p:nvSpPr>
        <p:spPr>
          <a:xfrm>
            <a:off x="842997" y="1610460"/>
            <a:ext cx="3293067" cy="2446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s-MX" sz="1200" dirty="0" err="1"/>
              <a:t>React</a:t>
            </a:r>
            <a:r>
              <a:rPr lang="es-MX" sz="1200" dirty="0"/>
              <a:t> no incluye navegación por defecto</a:t>
            </a:r>
            <a:r>
              <a:rPr lang="es-MX" sz="1200" dirty="0" smtClean="0"/>
              <a:t>.</a:t>
            </a:r>
          </a:p>
          <a:p>
            <a:r>
              <a:rPr lang="es-MX" sz="1200" dirty="0"/>
              <a:t/>
            </a:r>
            <a:br>
              <a:rPr lang="es-MX" sz="1200" dirty="0"/>
            </a:br>
            <a:r>
              <a:rPr lang="es-MX" sz="1200" dirty="0"/>
              <a:t>Esto es así para mantenerlo liviano, ya que no todos los proyectos la necesitan</a:t>
            </a:r>
            <a:r>
              <a:rPr lang="es-MX" sz="1200" dirty="0" smtClean="0"/>
              <a:t>.</a:t>
            </a:r>
          </a:p>
          <a:p>
            <a:endParaRPr lang="es-MX" sz="1200" dirty="0"/>
          </a:p>
          <a:p>
            <a:r>
              <a:rPr lang="es-MX" sz="1200" dirty="0"/>
              <a:t>Si </a:t>
            </a:r>
            <a:r>
              <a:rPr lang="es-MX" sz="1200" dirty="0" err="1"/>
              <a:t>querés</a:t>
            </a:r>
            <a:r>
              <a:rPr lang="es-MX" sz="1200" dirty="0"/>
              <a:t> agregar rutas o cambiar de página dentro de tu app, </a:t>
            </a:r>
            <a:r>
              <a:rPr lang="es-MX" sz="1200" dirty="0" err="1"/>
              <a:t>tenés</a:t>
            </a:r>
            <a:r>
              <a:rPr lang="es-MX" sz="1200" dirty="0"/>
              <a:t> que instalar una librería aparte</a:t>
            </a:r>
            <a:r>
              <a:rPr lang="es-MX" sz="1200" dirty="0" smtClean="0"/>
              <a:t>.</a:t>
            </a:r>
          </a:p>
          <a:p>
            <a:r>
              <a:rPr lang="es-MX" sz="1200" dirty="0"/>
              <a:t/>
            </a:r>
            <a:br>
              <a:rPr lang="es-MX" sz="1200" dirty="0"/>
            </a:br>
            <a:r>
              <a:rPr lang="es-MX" sz="1200" dirty="0"/>
              <a:t>La más usada es </a:t>
            </a:r>
            <a:r>
              <a:rPr lang="es-MX" sz="1200" b="1" dirty="0" err="1"/>
              <a:t>react</a:t>
            </a:r>
            <a:r>
              <a:rPr lang="es-MX" sz="1200" b="1" dirty="0"/>
              <a:t>-</a:t>
            </a:r>
            <a:r>
              <a:rPr lang="es-MX" sz="1200" b="1" dirty="0" err="1"/>
              <a:t>router</a:t>
            </a:r>
            <a:r>
              <a:rPr lang="es-MX" sz="1200" b="1" dirty="0"/>
              <a:t>-dom</a:t>
            </a:r>
            <a:r>
              <a:rPr lang="es-MX" sz="1200" dirty="0"/>
              <a:t>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 dirty="0"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dirty="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9" name="Google Shape;69;p19"/>
          <p:cNvSpPr txBox="1"/>
          <p:nvPr/>
        </p:nvSpPr>
        <p:spPr>
          <a:xfrm>
            <a:off x="4294368" y="2370849"/>
            <a:ext cx="3949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 dirty="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npm install  react-router-dom</a:t>
            </a:r>
            <a:endParaRPr b="1" dirty="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/>
        </p:nvSpPr>
        <p:spPr>
          <a:xfrm>
            <a:off x="473350" y="619525"/>
            <a:ext cx="81411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40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Importación</a:t>
            </a:r>
            <a:endParaRPr sz="4000" b="1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76" name="Google Shape;7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18775"/>
            <a:ext cx="8839202" cy="21479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 txBox="1"/>
          <p:nvPr/>
        </p:nvSpPr>
        <p:spPr>
          <a:xfrm>
            <a:off x="351250" y="337175"/>
            <a:ext cx="81411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Implementación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82" name="Google Shape;8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63" y="1005025"/>
            <a:ext cx="6132687" cy="413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/>
        </p:nvSpPr>
        <p:spPr>
          <a:xfrm>
            <a:off x="419725" y="1839000"/>
            <a:ext cx="8386800" cy="15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33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50"/>
              <a:buFont typeface="DM Sans"/>
              <a:buChar char="✓"/>
            </a:pPr>
            <a:r>
              <a:rPr lang="es" sz="16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Wrappear (envolver) la aplicación en un </a:t>
            </a:r>
            <a:r>
              <a:rPr lang="es" sz="1650" b="1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rPr>
              <a:t>BrowserRouter</a:t>
            </a:r>
            <a:r>
              <a:rPr lang="es" sz="16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6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333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50"/>
              <a:buFont typeface="DM Sans"/>
              <a:buChar char="✓"/>
            </a:pPr>
            <a:r>
              <a:rPr lang="es" sz="16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Crear un</a:t>
            </a:r>
            <a:r>
              <a:rPr lang="es" sz="1650" b="1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 Routes</a:t>
            </a:r>
            <a:r>
              <a:rPr lang="es" sz="16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(funciona como un switch de rutas).</a:t>
            </a:r>
            <a:endParaRPr sz="16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333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50"/>
              <a:buFont typeface="DM Sans"/>
              <a:buChar char="✓"/>
            </a:pPr>
            <a:r>
              <a:rPr lang="es" sz="16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Crear los </a:t>
            </a:r>
            <a:r>
              <a:rPr lang="es" sz="1650" b="1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rPr>
              <a:t>Route</a:t>
            </a:r>
            <a:r>
              <a:rPr lang="es" sz="16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de las distintas navegaciones con sus componentes asociados.</a:t>
            </a:r>
            <a:endParaRPr sz="16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" name="Google Shape;75;p20"/>
          <p:cNvSpPr txBox="1"/>
          <p:nvPr/>
        </p:nvSpPr>
        <p:spPr>
          <a:xfrm>
            <a:off x="473350" y="619525"/>
            <a:ext cx="81411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4000" b="1" dirty="0" smtClean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Como lo hacemos?</a:t>
            </a:r>
            <a:endParaRPr sz="4000" b="1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3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Navegar a una ruta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3" name="Google Shape;93;p23"/>
          <p:cNvSpPr txBox="1"/>
          <p:nvPr/>
        </p:nvSpPr>
        <p:spPr>
          <a:xfrm>
            <a:off x="473350" y="1908175"/>
            <a:ext cx="3834600" cy="25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Ahora que tenemos todo configurado, podemos importar un </a:t>
            </a:r>
            <a:r>
              <a:rPr lang="es" sz="1350">
                <a:highlight>
                  <a:schemeClr val="accent6"/>
                </a:highlight>
                <a:latin typeface="DM Sans"/>
                <a:ea typeface="DM Sans"/>
                <a:cs typeface="DM Sans"/>
                <a:sym typeface="DM Sans"/>
              </a:rPr>
              <a:t>link</a:t>
            </a: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 perteneciente a react-router-dom, en </a:t>
            </a:r>
            <a:r>
              <a:rPr lang="es" sz="1350">
                <a:highlight>
                  <a:schemeClr val="accent6"/>
                </a:highlight>
                <a:latin typeface="DM Sans"/>
                <a:ea typeface="DM Sans"/>
                <a:cs typeface="DM Sans"/>
                <a:sym typeface="DM Sans"/>
              </a:rPr>
              <a:t>cualquier componente</a:t>
            </a: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 del sub-árbol del </a:t>
            </a:r>
            <a:r>
              <a:rPr lang="es" sz="1350">
                <a:highlight>
                  <a:schemeClr val="accent6"/>
                </a:highlight>
                <a:latin typeface="DM Sans"/>
                <a:ea typeface="DM Sans"/>
                <a:cs typeface="DM Sans"/>
                <a:sym typeface="DM Sans"/>
              </a:rPr>
              <a:t>&lt;BrowserRouter&gt;,</a:t>
            </a:r>
            <a:endParaRPr sz="1350">
              <a:highlight>
                <a:schemeClr val="accent6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Usarlo para que al clickear, el </a:t>
            </a:r>
            <a:r>
              <a:rPr lang="es" sz="1350">
                <a:highlight>
                  <a:schemeClr val="accent6"/>
                </a:highlight>
                <a:latin typeface="DM Sans"/>
                <a:ea typeface="DM Sans"/>
                <a:cs typeface="DM Sans"/>
                <a:sym typeface="DM Sans"/>
              </a:rPr>
              <a:t>BrowserRouter</a:t>
            </a: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 renderice ese </a:t>
            </a:r>
            <a:r>
              <a:rPr lang="es" sz="1350">
                <a:highlight>
                  <a:schemeClr val="accent6"/>
                </a:highlight>
                <a:latin typeface="DM Sans"/>
                <a:ea typeface="DM Sans"/>
                <a:cs typeface="DM Sans"/>
                <a:sym typeface="DM Sans"/>
              </a:rPr>
              <a:t>Route</a:t>
            </a: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 que habíamos declarado dentro de Routes</a:t>
            </a:r>
            <a:r>
              <a:rPr lang="es" sz="1350">
                <a:highlight>
                  <a:schemeClr val="accent6"/>
                </a:highlight>
                <a:latin typeface="DM Sans"/>
                <a:ea typeface="DM Sans"/>
                <a:cs typeface="DM Sans"/>
                <a:sym typeface="DM Sans"/>
              </a:rPr>
              <a:t>.</a:t>
            </a:r>
            <a:endParaRPr sz="1350">
              <a:highlight>
                <a:schemeClr val="accent6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94" name="Google Shape;9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7550" y="3189151"/>
            <a:ext cx="3882673" cy="386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23"/>
          <p:cNvPicPr preferRelativeResize="0"/>
          <p:nvPr/>
        </p:nvPicPr>
        <p:blipFill rotWithShape="1">
          <a:blip r:embed="rId4">
            <a:alphaModFix/>
          </a:blip>
          <a:srcRect l="9812"/>
          <a:stretch/>
        </p:blipFill>
        <p:spPr>
          <a:xfrm>
            <a:off x="4917550" y="2045575"/>
            <a:ext cx="3882675" cy="713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/>
          <p:nvPr/>
        </p:nvSpPr>
        <p:spPr>
          <a:xfrm>
            <a:off x="351250" y="337175"/>
            <a:ext cx="8141100" cy="29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Ruta (con parámetros)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01" name="Google Shape;10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87480"/>
            <a:ext cx="9144001" cy="2368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188" y="1422625"/>
            <a:ext cx="8307625" cy="324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5"/>
          <p:cNvSpPr txBox="1"/>
          <p:nvPr/>
        </p:nvSpPr>
        <p:spPr>
          <a:xfrm>
            <a:off x="351250" y="337175"/>
            <a:ext cx="8141100" cy="31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Navegar a una ruta con NavLink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Un NavLink es cómo link, pero detecta la ruta actual. Si esta coincide con la suya el NavLink mostrará la case </a:t>
            </a:r>
            <a:r>
              <a:rPr lang="es" sz="1350" b="1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active</a:t>
            </a: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.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6"/>
          <p:cNvSpPr txBox="1"/>
          <p:nvPr/>
        </p:nvSpPr>
        <p:spPr>
          <a:xfrm>
            <a:off x="351250" y="337175"/>
            <a:ext cx="81411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Recibir parámetros por ruta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476250" y="1408675"/>
            <a:ext cx="3438600" cy="24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React router provee integración con Hooks.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useParams: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43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Lo podemos utilizar para leer en js los parámetros de la ruta.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43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combinación con un useEffect, nos sirve para obtener actualizaciones sobre los parámetros.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14" name="Google Shape;11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9650" y="1680075"/>
            <a:ext cx="4924350" cy="2207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/>
          <p:cNvSpPr txBox="1"/>
          <p:nvPr/>
        </p:nvSpPr>
        <p:spPr>
          <a:xfrm>
            <a:off x="1461300" y="2202300"/>
            <a:ext cx="6221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Eventos en React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6650" y="0"/>
            <a:ext cx="329737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8"/>
          <p:cNvSpPr txBox="1"/>
          <p:nvPr/>
        </p:nvSpPr>
        <p:spPr>
          <a:xfrm>
            <a:off x="6652806" y="2264828"/>
            <a:ext cx="16851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6" name="Google Shape;126;p28"/>
          <p:cNvSpPr txBox="1"/>
          <p:nvPr/>
        </p:nvSpPr>
        <p:spPr>
          <a:xfrm>
            <a:off x="501450" y="929350"/>
            <a:ext cx="4987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Synthetic events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27" name="Google Shape;12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8"/>
          <p:cNvSpPr txBox="1"/>
          <p:nvPr/>
        </p:nvSpPr>
        <p:spPr>
          <a:xfrm>
            <a:off x="512890" y="1888088"/>
            <a:ext cx="4987200" cy="20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Los </a:t>
            </a:r>
            <a:r>
              <a:rPr lang="es" sz="1350" b="1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distintos browsers </a:t>
            </a:r>
            <a:r>
              <a:rPr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suelen tener algunas </a:t>
            </a:r>
            <a:r>
              <a:rPr lang="es" sz="1350" b="1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variaciones </a:t>
            </a:r>
            <a:r>
              <a:rPr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en el contenido de los eventos.</a:t>
            </a:r>
            <a:endParaRPr sz="1350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Esto haría difícil utilizarlos de manera uniforme en cada plataforma. </a:t>
            </a:r>
            <a:endParaRPr sz="1350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React es consciente de esto, y nos ayuda proveyendo esta </a:t>
            </a:r>
            <a:r>
              <a:rPr lang="es" sz="1350" b="1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abstracción.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29" name="Google Shape;129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30863" y="1415624"/>
            <a:ext cx="3128950" cy="231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8"/>
          <p:cNvSpPr txBox="1"/>
          <p:nvPr/>
        </p:nvSpPr>
        <p:spPr>
          <a:xfrm>
            <a:off x="464815" y="4122900"/>
            <a:ext cx="7584300" cy="6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Repo JS: </a:t>
            </a:r>
            <a:r>
              <a:rPr lang="es" sz="1350">
                <a:solidFill>
                  <a:schemeClr val="dk1"/>
                </a:solidFill>
                <a:highlight>
                  <a:schemeClr val="lt1"/>
                </a:highlight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6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https://github.com/julioavantt/teacher_js_events</a:t>
            </a:r>
            <a:r>
              <a:rPr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 (no es parte del curso)</a:t>
            </a:r>
            <a:endParaRPr sz="1350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Repo React: https://github.com/julioavantt/teacher_react_events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Synthetic events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6" name="Google Shape;136;p29"/>
          <p:cNvSpPr txBox="1"/>
          <p:nvPr/>
        </p:nvSpPr>
        <p:spPr>
          <a:xfrm>
            <a:off x="529475" y="1684125"/>
            <a:ext cx="3998100" cy="20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43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50"/>
              <a:buFont typeface="Didact Gothic"/>
              <a:buChar char="✓"/>
            </a:pPr>
            <a:r>
              <a:rPr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Sirven para </a:t>
            </a:r>
            <a:r>
              <a:rPr lang="es" sz="1350" b="1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normalizar/estandarizar</a:t>
            </a:r>
            <a:r>
              <a:rPr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 eventos entre browsers.</a:t>
            </a:r>
            <a:endParaRPr sz="1350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43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50"/>
              <a:buFont typeface="Didact Gothic"/>
              <a:buChar char="✓"/>
            </a:pPr>
            <a:r>
              <a:rPr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Siempre que registre un evento vía React/Jsx con </a:t>
            </a:r>
            <a:r>
              <a:rPr lang="es" sz="1350" b="1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onClick</a:t>
            </a:r>
            <a:r>
              <a:rPr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, no obtendré el evento nativo, sino uno sintético.</a:t>
            </a:r>
            <a:endParaRPr sz="1350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43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50"/>
              <a:buFont typeface="Didact Gothic"/>
              <a:buChar char="✓"/>
            </a:pPr>
            <a:r>
              <a:rPr lang="es" sz="1350" b="1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Se destruyen</a:t>
            </a:r>
            <a:r>
              <a:rPr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 al terminar la ejecución de la función vinculada (por performance).</a:t>
            </a:r>
            <a:endParaRPr sz="1350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7" name="Google Shape;137;p29"/>
          <p:cNvSpPr txBox="1"/>
          <p:nvPr/>
        </p:nvSpPr>
        <p:spPr>
          <a:xfrm>
            <a:off x="4527575" y="1908175"/>
            <a:ext cx="3834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38" name="Google Shape;13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750" y="4067878"/>
            <a:ext cx="5923500" cy="550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0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Declarando un evento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4" name="Google Shape;144;p30"/>
          <p:cNvSpPr txBox="1"/>
          <p:nvPr/>
        </p:nvSpPr>
        <p:spPr>
          <a:xfrm>
            <a:off x="4527575" y="1908175"/>
            <a:ext cx="3834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45" name="Google Shape;14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26075"/>
            <a:ext cx="6819899" cy="3297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1"/>
          <p:cNvSpPr/>
          <p:nvPr/>
        </p:nvSpPr>
        <p:spPr>
          <a:xfrm>
            <a:off x="647400" y="1114450"/>
            <a:ext cx="7849200" cy="33174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31"/>
          <p:cNvSpPr txBox="1"/>
          <p:nvPr/>
        </p:nvSpPr>
        <p:spPr>
          <a:xfrm>
            <a:off x="1461300" y="345975"/>
            <a:ext cx="62214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Declarando un evento</a:t>
            </a:r>
            <a:endParaRPr sz="3500" b="1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2" name="Google Shape;152;p31"/>
          <p:cNvSpPr txBox="1"/>
          <p:nvPr/>
        </p:nvSpPr>
        <p:spPr>
          <a:xfrm>
            <a:off x="5949025" y="1871600"/>
            <a:ext cx="2166300" cy="18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Algunos eventos como onKeyDown son cancelables, por ejemplo: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   </a:t>
            </a:r>
            <a:r>
              <a:rPr lang="es" sz="1350" b="1">
                <a:latin typeface="DM Sans"/>
                <a:ea typeface="DM Sans"/>
                <a:cs typeface="DM Sans"/>
                <a:sym typeface="DM Sans"/>
              </a:rPr>
              <a:t>evt.preventDefault()</a:t>
            </a:r>
            <a:endParaRPr sz="1350" b="1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3" name="Google Shape;153;p31"/>
          <p:cNvSpPr txBox="1"/>
          <p:nvPr/>
        </p:nvSpPr>
        <p:spPr>
          <a:xfrm>
            <a:off x="5949025" y="1471400"/>
            <a:ext cx="2166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54" name="Google Shape;15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6100" y="1269425"/>
            <a:ext cx="4715475" cy="3007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5" name="Google Shape;155;p31"/>
          <p:cNvCxnSpPr/>
          <p:nvPr/>
        </p:nvCxnSpPr>
        <p:spPr>
          <a:xfrm>
            <a:off x="3183175" y="2175025"/>
            <a:ext cx="2940600" cy="11109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8"/>
          <p:cNvSpPr txBox="1"/>
          <p:nvPr/>
        </p:nvSpPr>
        <p:spPr>
          <a:xfrm>
            <a:off x="2484368" y="2133793"/>
            <a:ext cx="6957344" cy="1375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 b="1" dirty="0" smtClean="0">
                <a:solidFill>
                  <a:schemeClr val="accent6"/>
                </a:solidFill>
                <a:latin typeface="DM Sans"/>
                <a:ea typeface="DM Sans"/>
                <a:cs typeface="DM Sans"/>
                <a:sym typeface="DM Sans"/>
              </a:rPr>
              <a:t>¿Dudas, consultas?</a:t>
            </a:r>
            <a:endParaRPr sz="3600" b="1" dirty="0">
              <a:solidFill>
                <a:schemeClr val="accent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1" dirty="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75942071"/>
      </p:ext>
    </p:extLst>
  </p:cSld>
  <p:clrMapOvr>
    <a:masterClrMapping/>
  </p:clrMapOvr>
</p:sld>
</file>

<file path=ppt/theme/theme1.xml><?xml version="1.0" encoding="utf-8"?>
<a:theme xmlns:a="http://schemas.openxmlformats.org/drawingml/2006/main" name="Cod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9DF4E2"/>
      </a:accent1>
      <a:accent2>
        <a:srgbClr val="212121"/>
      </a:accent2>
      <a:accent3>
        <a:srgbClr val="78909C"/>
      </a:accent3>
      <a:accent4>
        <a:srgbClr val="EA90FF"/>
      </a:accent4>
      <a:accent5>
        <a:srgbClr val="83AEFB"/>
      </a:accent5>
      <a:accent6>
        <a:srgbClr val="EAFF6A"/>
      </a:accent6>
      <a:hlink>
        <a:srgbClr val="83AEF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487</Words>
  <Application>Microsoft Office PowerPoint</Application>
  <PresentationFormat>Presentación en pantalla (16:9)</PresentationFormat>
  <Paragraphs>79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3" baseType="lpstr">
      <vt:lpstr>Arial</vt:lpstr>
      <vt:lpstr>DM Sans</vt:lpstr>
      <vt:lpstr>Didact Gothic</vt:lpstr>
      <vt:lpstr>Helvetica Neue Light</vt:lpstr>
      <vt:lpstr>Coder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Turi</cp:lastModifiedBy>
  <cp:revision>7</cp:revision>
  <dcterms:modified xsi:type="dcterms:W3CDTF">2025-11-26T23:14:59Z</dcterms:modified>
</cp:coreProperties>
</file>