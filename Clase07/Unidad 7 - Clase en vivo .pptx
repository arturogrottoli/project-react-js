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y="5143500" cx="9144000"/>
  <p:notesSz cx="6858000" cy="9144000"/>
  <p:embeddedFontLst>
    <p:embeddedFont>
      <p:font typeface="DM Sans Medium"/>
      <p:regular r:id="rId43"/>
      <p:bold r:id="rId44"/>
      <p:italic r:id="rId45"/>
      <p:boldItalic r:id="rId46"/>
    </p:embeddedFont>
    <p:embeddedFont>
      <p:font typeface="Roboto"/>
      <p:regular r:id="rId47"/>
      <p:bold r:id="rId48"/>
      <p:italic r:id="rId49"/>
      <p:boldItalic r:id="rId50"/>
    </p:embeddedFont>
    <p:embeddedFont>
      <p:font typeface="Helvetica Neue"/>
      <p:regular r:id="rId51"/>
      <p:bold r:id="rId52"/>
      <p:italic r:id="rId53"/>
      <p:boldItalic r:id="rId54"/>
    </p:embeddedFont>
    <p:embeddedFont>
      <p:font typeface="Ubuntu Mono"/>
      <p:regular r:id="rId55"/>
      <p:bold r:id="rId56"/>
      <p:italic r:id="rId57"/>
      <p:boldItalic r:id="rId58"/>
    </p:embeddedFont>
    <p:embeddedFont>
      <p:font typeface="Helvetica Neue Light"/>
      <p:regular r:id="rId59"/>
      <p:bold r:id="rId60"/>
      <p:italic r:id="rId61"/>
      <p:boldItalic r:id="rId62"/>
    </p:embeddedFont>
    <p:embeddedFont>
      <p:font typeface="DM Sans"/>
      <p:regular r:id="rId63"/>
      <p:bold r:id="rId64"/>
      <p:italic r:id="rId65"/>
      <p:boldItalic r:id="rId6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324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E0DBB4-1B29-44FF-A56C-026888322DDB}">
  <a:tblStyle styleId="{15E0DBB4-1B29-44FF-A56C-026888322DD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95" orient="horz"/>
        <p:guide pos="5460"/>
        <p:guide pos="300"/>
        <p:guide pos="324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font" Target="fonts/DMSansMedium-bold.fntdata"/><Relationship Id="rId43" Type="http://schemas.openxmlformats.org/officeDocument/2006/relationships/font" Target="fonts/DMSansMedium-regular.fntdata"/><Relationship Id="rId46" Type="http://schemas.openxmlformats.org/officeDocument/2006/relationships/font" Target="fonts/DMSansMedium-boldItalic.fntdata"/><Relationship Id="rId45" Type="http://schemas.openxmlformats.org/officeDocument/2006/relationships/font" Target="fonts/DMSansMedium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Roboto-bold.fntdata"/><Relationship Id="rId47" Type="http://schemas.openxmlformats.org/officeDocument/2006/relationships/font" Target="fonts/Roboto-regular.fntdata"/><Relationship Id="rId49" Type="http://schemas.openxmlformats.org/officeDocument/2006/relationships/font" Target="fonts/Robo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font" Target="fonts/HelveticaNeueLight-boldItalic.fntdata"/><Relationship Id="rId61" Type="http://schemas.openxmlformats.org/officeDocument/2006/relationships/font" Target="fonts/HelveticaNeueLight-italic.fntdata"/><Relationship Id="rId20" Type="http://schemas.openxmlformats.org/officeDocument/2006/relationships/slide" Target="slides/slide14.xml"/><Relationship Id="rId64" Type="http://schemas.openxmlformats.org/officeDocument/2006/relationships/font" Target="fonts/DMSans-bold.fntdata"/><Relationship Id="rId63" Type="http://schemas.openxmlformats.org/officeDocument/2006/relationships/font" Target="fonts/DMSans-regular.fntdata"/><Relationship Id="rId22" Type="http://schemas.openxmlformats.org/officeDocument/2006/relationships/slide" Target="slides/slide16.xml"/><Relationship Id="rId66" Type="http://schemas.openxmlformats.org/officeDocument/2006/relationships/font" Target="fonts/DMSans-boldItalic.fntdata"/><Relationship Id="rId21" Type="http://schemas.openxmlformats.org/officeDocument/2006/relationships/slide" Target="slides/slide15.xml"/><Relationship Id="rId65" Type="http://schemas.openxmlformats.org/officeDocument/2006/relationships/font" Target="fonts/DMSans-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font" Target="fonts/HelveticaNeueLight-bold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HelveticaNeue-regular.fntdata"/><Relationship Id="rId50" Type="http://schemas.openxmlformats.org/officeDocument/2006/relationships/font" Target="fonts/Roboto-boldItalic.fntdata"/><Relationship Id="rId53" Type="http://schemas.openxmlformats.org/officeDocument/2006/relationships/font" Target="fonts/HelveticaNeue-italic.fntdata"/><Relationship Id="rId52" Type="http://schemas.openxmlformats.org/officeDocument/2006/relationships/font" Target="fonts/HelveticaNeue-bold.fntdata"/><Relationship Id="rId11" Type="http://schemas.openxmlformats.org/officeDocument/2006/relationships/slide" Target="slides/slide5.xml"/><Relationship Id="rId55" Type="http://schemas.openxmlformats.org/officeDocument/2006/relationships/font" Target="fonts/UbuntuMono-regular.fntdata"/><Relationship Id="rId10" Type="http://schemas.openxmlformats.org/officeDocument/2006/relationships/slide" Target="slides/slide4.xml"/><Relationship Id="rId54" Type="http://schemas.openxmlformats.org/officeDocument/2006/relationships/font" Target="fonts/HelveticaNeue-boldItalic.fntdata"/><Relationship Id="rId13" Type="http://schemas.openxmlformats.org/officeDocument/2006/relationships/slide" Target="slides/slide7.xml"/><Relationship Id="rId57" Type="http://schemas.openxmlformats.org/officeDocument/2006/relationships/font" Target="fonts/UbuntuMono-italic.fntdata"/><Relationship Id="rId12" Type="http://schemas.openxmlformats.org/officeDocument/2006/relationships/slide" Target="slides/slide6.xml"/><Relationship Id="rId56" Type="http://schemas.openxmlformats.org/officeDocument/2006/relationships/font" Target="fonts/UbuntuMono-bold.fntdata"/><Relationship Id="rId15" Type="http://schemas.openxmlformats.org/officeDocument/2006/relationships/slide" Target="slides/slide9.xml"/><Relationship Id="rId59" Type="http://schemas.openxmlformats.org/officeDocument/2006/relationships/font" Target="fonts/HelveticaNeueLight-regular.fntdata"/><Relationship Id="rId14" Type="http://schemas.openxmlformats.org/officeDocument/2006/relationships/slide" Target="slides/slide8.xml"/><Relationship Id="rId58" Type="http://schemas.openxmlformats.org/officeDocument/2006/relationships/font" Target="fonts/UbuntuMon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113c9d1b815_1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" name="Google Shape;39;g113c9d1b815_1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1635c457ec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1635c457ec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155a413f55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155a413f55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0d8ab2ab78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0d8ab2ab78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Redactar los objetivos en función de los conocimientos y habilidades a desarrollar en la clase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5443d79ec9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5443d79ec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 La información de este slide es de relleno.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</a:t>
            </a:r>
            <a:r>
              <a:rPr b="1" lang="es">
                <a:solidFill>
                  <a:schemeClr val="dk1"/>
                </a:solidFill>
                <a:highlight>
                  <a:srgbClr val="EAFF6A"/>
                </a:highlight>
                <a:latin typeface="DM Sans"/>
                <a:ea typeface="DM Sans"/>
                <a:cs typeface="DM Sans"/>
                <a:sym typeface="DM Sans"/>
              </a:rPr>
              <a:t>Mapa de conceptos (genérico)</a:t>
            </a:r>
            <a:endParaRPr b="1">
              <a:solidFill>
                <a:schemeClr val="dk1"/>
              </a:solidFill>
              <a:highlight>
                <a:srgbClr val="EAFF6A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Muestra rápidamente los contenidos de la clase y cómo se relacionan. Ayuda a los estudiantes a evitar “perderse” durante la clase, al avanzar en un sentido lineal una diapositiva tras otra. El ejemplo pertenece a la primera clase del curso UX/UI.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: </a:t>
            </a:r>
            <a:b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-También se pueden mostrar con un menor énfasis o colores apagados, aquellos contenidos de clases anteriores y que se vinculen con la actual.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-Resaltar con color los temas que se abordan en la clase.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Colores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Categorías principales: Pleno en #27282d con texto en blanco.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Categorías secundarias (o a destacar): Pleno en #393b43 con texto en blanco.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Categorías terciarias: Borde en #393b43 con texto en #222222.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5443d79ec9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25443d79ec9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53250eb3e8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53250eb3e8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esta slide se retoma sobre un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tema en específico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algún contenido pregrabado </a:t>
            </a:r>
            <a:r>
              <a:rPr lang="es">
                <a:solidFill>
                  <a:schemeClr val="dk1"/>
                </a:solidFill>
                <a:highlight>
                  <a:srgbClr val="EAFF6A"/>
                </a:highlight>
                <a:latin typeface="DM Sans"/>
                <a:ea typeface="DM Sans"/>
                <a:cs typeface="DM Sans"/>
                <a:sym typeface="DM Sans"/>
              </a:rPr>
              <a:t>en caso de que sea necesario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Señalar en “Notas al orador” la duración (en minutos) que se sugiere para el momento de repaso teniendo en cuenta que el foco de las clases es la práctica. 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3250eb3e8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53250eb3e8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esta slide se retoma sobre un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tema en específico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algún contenido pregrabado </a:t>
            </a:r>
            <a:r>
              <a:rPr lang="es">
                <a:solidFill>
                  <a:schemeClr val="dk1"/>
                </a:solidFill>
                <a:highlight>
                  <a:srgbClr val="EAFF6A"/>
                </a:highlight>
                <a:latin typeface="DM Sans"/>
                <a:ea typeface="DM Sans"/>
                <a:cs typeface="DM Sans"/>
                <a:sym typeface="DM Sans"/>
              </a:rPr>
              <a:t>en caso de que sea necesario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Señalar en “Notas al orador” la duración (en minutos) que se sugiere para el momento de repaso teniendo en cuenta que el foco de las clases es la práctica. 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253250eb3e8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253250eb3e8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esta slide se retoma sobre un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tema en específico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algún contenido pregrabado </a:t>
            </a:r>
            <a:r>
              <a:rPr lang="es">
                <a:solidFill>
                  <a:schemeClr val="dk1"/>
                </a:solidFill>
                <a:highlight>
                  <a:srgbClr val="EAFF6A"/>
                </a:highlight>
                <a:latin typeface="DM Sans"/>
                <a:ea typeface="DM Sans"/>
                <a:cs typeface="DM Sans"/>
                <a:sym typeface="DM Sans"/>
              </a:rPr>
              <a:t>en caso de que sea necesario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Señalar en “Notas al orador” la duración (en minutos) que se sugiere para el momento de repaso teniendo en cuenta que el foco de las clases es la práctica. 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5443d79ec9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5443d79ec9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5443d79ec9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5443d79ec9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esta slide se retoma sobre un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tema en específico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algún contenido pregrabado </a:t>
            </a:r>
            <a:r>
              <a:rPr lang="es">
                <a:solidFill>
                  <a:schemeClr val="dk1"/>
                </a:solidFill>
                <a:highlight>
                  <a:srgbClr val="EAFF6A"/>
                </a:highlight>
                <a:latin typeface="DM Sans"/>
                <a:ea typeface="DM Sans"/>
                <a:cs typeface="DM Sans"/>
                <a:sym typeface="DM Sans"/>
              </a:rPr>
              <a:t>en caso de que sea necesario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Señalar en “Notas al orador” la duración (en minutos) que se sugiere para el momento de repaso teniendo en cuenta que el foco de las clases es la práctica. 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52ba13cb37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52ba13cb37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highlight>
                  <a:srgbClr val="DEFC52"/>
                </a:highlight>
                <a:latin typeface="DM Sans"/>
                <a:ea typeface="DM Sans"/>
                <a:cs typeface="DM Sans"/>
                <a:sym typeface="DM Sans"/>
              </a:rPr>
              <a:t>(OPCIÓN DASH)</a:t>
            </a:r>
            <a:endParaRPr>
              <a:highlight>
                <a:srgbClr val="DEFC52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5af6e793bd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5af6e793bd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Esta slide es para microdesafíos a partir de consignas abiertas (modelo breve)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25443d79ec9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25443d79ec9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5443d79ec9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25443d79ec9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52ba13cb37_1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52ba13cb37_1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532aada7ff_0_4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2532aada7ff_0_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2532aada7ff_0_5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2532aada7ff_0_5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532aada7ff_0_5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532aada7ff_0_5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Utilizar esta slide para hacer un repaso de visto en el ejemplo en vivo.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52ba13cb37_1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252ba13cb37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256db0ccf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256db0ccf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chemeClr val="dk1"/>
                </a:solidFill>
                <a:highlight>
                  <a:srgbClr val="EA90FF"/>
                </a:highlight>
                <a:latin typeface="DM Sans"/>
                <a:ea typeface="DM Sans"/>
                <a:cs typeface="DM Sans"/>
                <a:sym typeface="DM Sans"/>
              </a:rPr>
              <a:t>Para profes/tutores: </a:t>
            </a: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esta actividad es secundaria, realizarla si llegan con los tiempos y darle más prioridad a la anterior.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56db0ccf2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5" name="Google Shape;335;g256db0ccf2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las subsiguientes slides de Actividades en clase.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56db0ccf2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7" name="Google Shape;347;g256db0ccf2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las subsiguientes slides de Actividades en clase.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256db0ccf2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256db0ccf2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532aada7ff_0_5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2532aada7ff_0_5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chemeClr val="dk1"/>
                </a:solidFill>
                <a:highlight>
                  <a:srgbClr val="EA90FF"/>
                </a:highlight>
                <a:latin typeface="DM Sans"/>
                <a:ea typeface="DM Sans"/>
                <a:cs typeface="DM Sans"/>
                <a:sym typeface="DM Sans"/>
              </a:rPr>
              <a:t>Para profes/tutores: </a:t>
            </a: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esta actividad es secundaria, realizarla si llegan con los tiempos y darle más prioridad a la anterior.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532aada7ff_0_5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532aada7ff_0_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>
                <a:solidFill>
                  <a:schemeClr val="dk1"/>
                </a:solidFill>
                <a:highlight>
                  <a:srgbClr val="DEFC52"/>
                </a:highlight>
                <a:latin typeface="DM Sans"/>
                <a:ea typeface="DM Sans"/>
                <a:cs typeface="DM Sans"/>
                <a:sym typeface="DM Sans"/>
              </a:rPr>
              <a:t>PARA PROFES/TUTORES: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esta actividad deben retomar lo trabajado en la actividad extra Clase 6 - actividad 2 de la guía de ejercicios complementarios para poder hacerlo en el tiempo establecido. No hacerlo desde cero.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5443d79ec9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5443d79ec9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sólo texto con instancias a destacar.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5443d79ec9_0_3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5443d79ec9_0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13ad191e9b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13ad191e9b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highlight>
                  <a:srgbClr val="EA90FF"/>
                </a:highlight>
                <a:latin typeface="DM Sans"/>
                <a:ea typeface="DM Sans"/>
                <a:cs typeface="DM Sans"/>
                <a:sym typeface="DM Sans"/>
              </a:rPr>
              <a:t>(Probar si se puede hacer con Kahoot y de lo contrario que hagan preguntas activando micrófono o por chat).</a:t>
            </a:r>
            <a:endParaRPr>
              <a:highlight>
                <a:srgbClr val="EA90FF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1635c457ec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1635c457ec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13bbc910f2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13bbc910f2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3bbc910f27_0_2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3bbc910f27_0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 Completar el resumen con palabras claves de lo visto. En caso de cerrar con el “mapa de conceptos” se puede sacar. 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25aeca67d3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0" name="Google Shape;470;g25aeca67d3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250">
                <a:solidFill>
                  <a:schemeClr val="dk1"/>
                </a:solidFill>
                <a:highlight>
                  <a:srgbClr val="E0FF00"/>
                </a:highlight>
                <a:latin typeface="Helvetica Neue"/>
                <a:ea typeface="Helvetica Neue"/>
                <a:cs typeface="Helvetica Neue"/>
                <a:sym typeface="Helvetica Neue"/>
              </a:rPr>
              <a:t>Para profes/tutores:</a:t>
            </a:r>
            <a:r>
              <a:rPr lang="es"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Si bien las actividades recomendadas no son obligatorias ni reciben corrección, corresponden a ejercicios que aportan a la construcción de las pre entregas y Proyecto Final. En caso de que den los tiempos, les sugerimos que ingresen a la Guía y lean en conjunto las consignas.</a:t>
            </a:r>
            <a:endParaRPr sz="125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5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2532d6354c3_1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2532d6354c3_1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>
                <a:highlight>
                  <a:srgbClr val="E0FF00"/>
                </a:highlight>
                <a:latin typeface="DM Sans"/>
                <a:ea typeface="DM Sans"/>
                <a:cs typeface="DM Sans"/>
                <a:sym typeface="DM Sans"/>
              </a:rPr>
              <a:t>Para profes/tutores: </a:t>
            </a:r>
            <a:r>
              <a:rPr lang="es">
                <a:latin typeface="DM Sans"/>
                <a:ea typeface="DM Sans"/>
                <a:cs typeface="DM Sans"/>
                <a:sym typeface="DM Sans"/>
              </a:rPr>
              <a:t>si les da el tiempo, les recomendamos que aprovechen esta instancia para responder dudas sobre el Proyecto Final.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13bbc910f27_0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13bbc910f27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13bbc910f27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13bbc910f27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Todas las clases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1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co 1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b="1" sz="4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4"/>
          <p:cNvSpPr/>
          <p:nvPr/>
        </p:nvSpPr>
        <p:spPr>
          <a:xfrm>
            <a:off x="1089900" y="995400"/>
            <a:ext cx="6964200" cy="3152700"/>
          </a:xfrm>
          <a:prstGeom prst="rect">
            <a:avLst/>
          </a:prstGeom>
          <a:solidFill>
            <a:srgbClr val="B5B5B5">
              <a:alpha val="102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A 1">
  <p:cSld name="SECTION_HEADER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" name="Google Shape;24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ndo blanco">
  <p:cSld name="SECTION_HEADER_1_1_1_1_1_1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0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B 1">
  <p:cSld name="SECTION_HEADER_1_2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1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 1">
  <p:cSld name="SECTION_HEADER_1_1_1_1_1_1_1_1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13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hyperlink" Target="https://stackblitz.com/edit/stackblitz-starters-xjc8jd?file=src%2FApp.js" TargetMode="External"/><Relationship Id="rId6" Type="http://schemas.openxmlformats.org/officeDocument/2006/relationships/hyperlink" Target="http://drive.google.com/file/d/1d_KOqEMV7tTXCA7CCBMZg6zYCkXiZ1xj/view" TargetMode="External"/><Relationship Id="rId7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firebase.google.com/docs/firestore/manage-data/add-data" TargetMode="External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9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6.png"/><Relationship Id="rId4" Type="http://schemas.openxmlformats.org/officeDocument/2006/relationships/hyperlink" Target="https://firebase.google.com/docs/firestore/query-data/query-cursors?hl=es-419" TargetMode="External"/><Relationship Id="rId5" Type="http://schemas.openxmlformats.org/officeDocument/2006/relationships/hyperlink" Target="https://firebase.google.com/docs/firestore?hl=es-419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docs.google.com/presentation/d/1QPPbESR68PrQwlPRNlR9brRPZ-0K8sLJWvPsvfLoix8/edit?usp=sharing" TargetMode="External"/><Relationship Id="rId4" Type="http://schemas.openxmlformats.org/officeDocument/2006/relationships/image" Target="../media/image3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1.gif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/>
        </p:nvSpPr>
        <p:spPr>
          <a:xfrm>
            <a:off x="1461300" y="1925250"/>
            <a:ext cx="6221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¡Les damos la bienvenida!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2" name="Google Shape;42;p14"/>
          <p:cNvSpPr txBox="1"/>
          <p:nvPr/>
        </p:nvSpPr>
        <p:spPr>
          <a:xfrm>
            <a:off x="3315900" y="3421350"/>
            <a:ext cx="2512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¿Comenzamos?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Man Dancing on Apple iOS 12.2" id="43" name="Google Shape;4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33900" y="808750"/>
            <a:ext cx="876200" cy="8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5100" y="3654844"/>
            <a:ext cx="3933794" cy="162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/>
          <p:nvPr/>
        </p:nvSpPr>
        <p:spPr>
          <a:xfrm>
            <a:off x="3080700" y="2547525"/>
            <a:ext cx="2982600" cy="7938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5"/>
          <p:cNvSpPr txBox="1"/>
          <p:nvPr/>
        </p:nvSpPr>
        <p:spPr>
          <a:xfrm>
            <a:off x="1461300" y="1802163"/>
            <a:ext cx="622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Esta clase va a ser</a:t>
            </a:r>
            <a:endParaRPr b="1" sz="4000">
              <a:solidFill>
                <a:srgbClr val="DEFC5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1" name="Google Shape;51;p15"/>
          <p:cNvSpPr txBox="1"/>
          <p:nvPr/>
        </p:nvSpPr>
        <p:spPr>
          <a:xfrm>
            <a:off x="3655975" y="2541075"/>
            <a:ext cx="2477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grabada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2" name="Google Shape;52;p15"/>
          <p:cNvSpPr/>
          <p:nvPr/>
        </p:nvSpPr>
        <p:spPr>
          <a:xfrm>
            <a:off x="3293875" y="2844525"/>
            <a:ext cx="199800" cy="19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/>
        </p:nvSpPr>
        <p:spPr>
          <a:xfrm>
            <a:off x="1185025" y="2252975"/>
            <a:ext cx="6773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Firebase 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8" name="Google Shape;58;p16"/>
          <p:cNvSpPr txBox="1"/>
          <p:nvPr/>
        </p:nvSpPr>
        <p:spPr>
          <a:xfrm>
            <a:off x="1461300" y="1665250"/>
            <a:ext cx="622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Unidad 7</a:t>
            </a:r>
            <a:r>
              <a:rPr b="1" lang="es" sz="18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r>
              <a:rPr lang="es" sz="18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REACT JS</a:t>
            </a:r>
            <a:endParaRPr sz="16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9" name="Google Shape;5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100" y="3654844"/>
            <a:ext cx="3933794" cy="162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/>
        </p:nvSpPr>
        <p:spPr>
          <a:xfrm>
            <a:off x="501450" y="468275"/>
            <a:ext cx="8141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Objetivos de la clase</a:t>
            </a:r>
            <a:r>
              <a:rPr b="1" lang="es" sz="3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b="1" sz="3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5" name="Google Shape;6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2438" y="1545313"/>
            <a:ext cx="196975" cy="1969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7"/>
          <p:cNvSpPr txBox="1"/>
          <p:nvPr/>
        </p:nvSpPr>
        <p:spPr>
          <a:xfrm>
            <a:off x="2690561" y="1451613"/>
            <a:ext cx="4281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Diferenciar</a:t>
            </a: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el modelo de serverless-computing de un modelo tradicional.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7" name="Google Shape;6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2138" y="2178713"/>
            <a:ext cx="196975" cy="1969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7"/>
          <p:cNvSpPr txBox="1"/>
          <p:nvPr/>
        </p:nvSpPr>
        <p:spPr>
          <a:xfrm>
            <a:off x="2690561" y="2054738"/>
            <a:ext cx="4281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Configurar </a:t>
            </a: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un storage, sus colecciones y acceder a la información. 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2138" y="2832688"/>
            <a:ext cx="196975" cy="19697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7"/>
          <p:cNvSpPr txBox="1"/>
          <p:nvPr/>
        </p:nvSpPr>
        <p:spPr>
          <a:xfrm>
            <a:off x="2690561" y="2734963"/>
            <a:ext cx="4281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Insertar y actualizar</a:t>
            </a: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información usando Firestore.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2138" y="3523338"/>
            <a:ext cx="196975" cy="1969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7"/>
          <p:cNvSpPr txBox="1"/>
          <p:nvPr/>
        </p:nvSpPr>
        <p:spPr>
          <a:xfrm>
            <a:off x="2690550" y="341518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Comprender</a:t>
            </a: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los flujos de control.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73" name="Google Shape;73;p17"/>
          <p:cNvCxnSpPr>
            <a:stCxn id="65" idx="2"/>
            <a:endCxn id="67" idx="0"/>
          </p:cNvCxnSpPr>
          <p:nvPr/>
        </p:nvCxnSpPr>
        <p:spPr>
          <a:xfrm flipH="1" rot="-5400000">
            <a:off x="2052975" y="1960237"/>
            <a:ext cx="436500" cy="600"/>
          </a:xfrm>
          <a:prstGeom prst="bentConnector3">
            <a:avLst>
              <a:gd fmla="val 49991" name="adj1"/>
            </a:avLst>
          </a:prstGeom>
          <a:noFill/>
          <a:ln cap="flat" cmpd="sng" w="9525">
            <a:solidFill>
              <a:srgbClr val="EAFF6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" name="Google Shape;74;p17"/>
          <p:cNvCxnSpPr>
            <a:stCxn id="67" idx="2"/>
            <a:endCxn id="69" idx="0"/>
          </p:cNvCxnSpPr>
          <p:nvPr/>
        </p:nvCxnSpPr>
        <p:spPr>
          <a:xfrm flipH="1" rot="-5400000">
            <a:off x="2042475" y="2603837"/>
            <a:ext cx="456900" cy="600"/>
          </a:xfrm>
          <a:prstGeom prst="bentConnector3">
            <a:avLst>
              <a:gd fmla="val 50011" name="adj1"/>
            </a:avLst>
          </a:prstGeom>
          <a:noFill/>
          <a:ln cap="flat" cmpd="sng" w="9525">
            <a:solidFill>
              <a:srgbClr val="EAFF6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" name="Google Shape;75;p17"/>
          <p:cNvCxnSpPr>
            <a:stCxn id="69" idx="2"/>
            <a:endCxn id="71" idx="0"/>
          </p:cNvCxnSpPr>
          <p:nvPr/>
        </p:nvCxnSpPr>
        <p:spPr>
          <a:xfrm flipH="1" rot="-5400000">
            <a:off x="2024025" y="3276262"/>
            <a:ext cx="493800" cy="600"/>
          </a:xfrm>
          <a:prstGeom prst="bentConnector3">
            <a:avLst>
              <a:gd fmla="val 49987" name="adj1"/>
            </a:avLst>
          </a:prstGeom>
          <a:noFill/>
          <a:ln cap="flat" cmpd="sng" w="9525">
            <a:solidFill>
              <a:srgbClr val="EAFF6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/>
          <p:nvPr/>
        </p:nvSpPr>
        <p:spPr>
          <a:xfrm>
            <a:off x="588525" y="701375"/>
            <a:ext cx="296100" cy="1209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8"/>
          <p:cNvSpPr txBox="1"/>
          <p:nvPr/>
        </p:nvSpPr>
        <p:spPr>
          <a:xfrm>
            <a:off x="884625" y="468275"/>
            <a:ext cx="2461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MAPA DE </a:t>
            </a: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CONCEPTOS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2" name="Google Shape;82;p18" title="ícono de mapa de contenido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275" y="533519"/>
            <a:ext cx="300599" cy="30061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" name="Google Shape;83;p18"/>
          <p:cNvCxnSpPr>
            <a:stCxn id="84" idx="3"/>
            <a:endCxn id="85" idx="1"/>
          </p:cNvCxnSpPr>
          <p:nvPr/>
        </p:nvCxnSpPr>
        <p:spPr>
          <a:xfrm>
            <a:off x="2513100" y="2144625"/>
            <a:ext cx="1615800" cy="264300"/>
          </a:xfrm>
          <a:prstGeom prst="bentConnector3">
            <a:avLst>
              <a:gd fmla="val 49999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86" name="Google Shape;86;p18"/>
          <p:cNvCxnSpPr>
            <a:stCxn id="87" idx="3"/>
            <a:endCxn id="88" idx="1"/>
          </p:cNvCxnSpPr>
          <p:nvPr/>
        </p:nvCxnSpPr>
        <p:spPr>
          <a:xfrm flipH="1" rot="10800000">
            <a:off x="2521500" y="2859063"/>
            <a:ext cx="1607400" cy="93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89" name="Google Shape;89;p18"/>
          <p:cNvCxnSpPr>
            <a:stCxn id="87" idx="3"/>
            <a:endCxn id="90" idx="1"/>
          </p:cNvCxnSpPr>
          <p:nvPr/>
        </p:nvCxnSpPr>
        <p:spPr>
          <a:xfrm>
            <a:off x="2521500" y="2868363"/>
            <a:ext cx="1599000" cy="304500"/>
          </a:xfrm>
          <a:prstGeom prst="bentConnector3">
            <a:avLst>
              <a:gd fmla="val 50053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91" name="Google Shape;91;p18"/>
          <p:cNvCxnSpPr>
            <a:stCxn id="92" idx="3"/>
            <a:endCxn id="93" idx="1"/>
          </p:cNvCxnSpPr>
          <p:nvPr/>
        </p:nvCxnSpPr>
        <p:spPr>
          <a:xfrm>
            <a:off x="2513075" y="1272775"/>
            <a:ext cx="1607400" cy="30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94" name="Google Shape;94;p18"/>
          <p:cNvCxnSpPr>
            <a:stCxn id="92" idx="3"/>
            <a:endCxn id="95" idx="1"/>
          </p:cNvCxnSpPr>
          <p:nvPr/>
        </p:nvCxnSpPr>
        <p:spPr>
          <a:xfrm>
            <a:off x="2513075" y="1272775"/>
            <a:ext cx="1619400" cy="336000"/>
          </a:xfrm>
          <a:prstGeom prst="bentConnector3">
            <a:avLst>
              <a:gd fmla="val 50002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96" name="Google Shape;96;p18"/>
          <p:cNvCxnSpPr>
            <a:stCxn id="97" idx="3"/>
            <a:endCxn id="98" idx="1"/>
          </p:cNvCxnSpPr>
          <p:nvPr/>
        </p:nvCxnSpPr>
        <p:spPr>
          <a:xfrm>
            <a:off x="2513088" y="3692025"/>
            <a:ext cx="1607400" cy="322800"/>
          </a:xfrm>
          <a:prstGeom prst="bentConnector3">
            <a:avLst>
              <a:gd fmla="val 49999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99" name="Google Shape;99;p18"/>
          <p:cNvCxnSpPr>
            <a:stCxn id="97" idx="3"/>
            <a:endCxn id="100" idx="1"/>
          </p:cNvCxnSpPr>
          <p:nvPr/>
        </p:nvCxnSpPr>
        <p:spPr>
          <a:xfrm>
            <a:off x="2513088" y="3692025"/>
            <a:ext cx="1622100" cy="716700"/>
          </a:xfrm>
          <a:prstGeom prst="bentConnector3">
            <a:avLst>
              <a:gd fmla="val 50003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92" name="Google Shape;92;p18"/>
          <p:cNvSpPr/>
          <p:nvPr/>
        </p:nvSpPr>
        <p:spPr>
          <a:xfrm>
            <a:off x="1109075" y="997525"/>
            <a:ext cx="1404000" cy="5505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Firebase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18"/>
          <p:cNvSpPr/>
          <p:nvPr/>
        </p:nvSpPr>
        <p:spPr>
          <a:xfrm>
            <a:off x="4132538" y="868713"/>
            <a:ext cx="1535700" cy="239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WHYW?</a:t>
            </a:r>
            <a:endParaRPr sz="11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8"/>
          <p:cNvSpPr/>
          <p:nvPr/>
        </p:nvSpPr>
        <p:spPr>
          <a:xfrm>
            <a:off x="4120463" y="1156138"/>
            <a:ext cx="1548600" cy="239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Arquitecturas</a:t>
            </a:r>
            <a:endParaRPr i="0" sz="1100" u="none" cap="none" strike="noStrike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4132538" y="1443563"/>
            <a:ext cx="1535700" cy="33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¿Qué es entonces Firebase?</a:t>
            </a:r>
            <a:endParaRPr i="0" sz="1100" u="none" cap="none" strike="noStrike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4128863" y="1906925"/>
            <a:ext cx="1548600" cy="33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Creando un proyecto en Firebase</a:t>
            </a:r>
            <a:endParaRPr sz="11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8"/>
          <p:cNvSpPr/>
          <p:nvPr/>
        </p:nvSpPr>
        <p:spPr>
          <a:xfrm>
            <a:off x="4128863" y="2289375"/>
            <a:ext cx="1548600" cy="239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Panel de control</a:t>
            </a:r>
            <a:endParaRPr i="0" sz="1100" u="none" cap="none" strike="noStrike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8"/>
          <p:cNvSpPr/>
          <p:nvPr/>
        </p:nvSpPr>
        <p:spPr>
          <a:xfrm>
            <a:off x="4128863" y="2739485"/>
            <a:ext cx="1548600" cy="239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Creación</a:t>
            </a:r>
            <a:endParaRPr sz="1100">
              <a:solidFill>
                <a:srgbClr val="22222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4120463" y="3053338"/>
            <a:ext cx="1548600" cy="239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Arquitecturas</a:t>
            </a:r>
            <a:endParaRPr i="0" sz="1100" u="none" cap="none" strike="noStrike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4128863" y="3477425"/>
            <a:ext cx="1548600" cy="33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Inicializa Firebase</a:t>
            </a:r>
            <a:endParaRPr sz="11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8" name="Google Shape;98;p18"/>
          <p:cNvSpPr/>
          <p:nvPr/>
        </p:nvSpPr>
        <p:spPr>
          <a:xfrm>
            <a:off x="4120450" y="3849525"/>
            <a:ext cx="1548600" cy="33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Accede a un documento</a:t>
            </a:r>
            <a:endParaRPr i="0" sz="1100" u="none" cap="none" strike="noStrike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0" name="Google Shape;100;p18"/>
          <p:cNvSpPr/>
          <p:nvPr/>
        </p:nvSpPr>
        <p:spPr>
          <a:xfrm>
            <a:off x="4135300" y="4243375"/>
            <a:ext cx="1535700" cy="33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" sz="11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Accede a una colección</a:t>
            </a:r>
            <a:endParaRPr i="0" sz="1100" u="none" cap="none" strike="noStrike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04" name="Google Shape;104;p18"/>
          <p:cNvCxnSpPr>
            <a:stCxn id="92" idx="2"/>
            <a:endCxn id="84" idx="0"/>
          </p:cNvCxnSpPr>
          <p:nvPr/>
        </p:nvCxnSpPr>
        <p:spPr>
          <a:xfrm>
            <a:off x="1811075" y="1548025"/>
            <a:ext cx="0" cy="3213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84" name="Google Shape;84;p18"/>
          <p:cNvSpPr/>
          <p:nvPr/>
        </p:nvSpPr>
        <p:spPr>
          <a:xfrm>
            <a:off x="1109100" y="1869375"/>
            <a:ext cx="1404000" cy="5505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¿Por dónde empiezo?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8"/>
          <p:cNvSpPr/>
          <p:nvPr/>
        </p:nvSpPr>
        <p:spPr>
          <a:xfrm>
            <a:off x="1109100" y="2652813"/>
            <a:ext cx="1412400" cy="4311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Firestore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8"/>
          <p:cNvSpPr/>
          <p:nvPr/>
        </p:nvSpPr>
        <p:spPr>
          <a:xfrm>
            <a:off x="1109088" y="3416775"/>
            <a:ext cx="1404000" cy="5505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Configurando nuestra app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05" name="Google Shape;105;p18"/>
          <p:cNvCxnSpPr>
            <a:stCxn id="87" idx="2"/>
            <a:endCxn id="97" idx="0"/>
          </p:cNvCxnSpPr>
          <p:nvPr/>
        </p:nvCxnSpPr>
        <p:spPr>
          <a:xfrm flipH="1">
            <a:off x="1811100" y="3083913"/>
            <a:ext cx="4200" cy="3330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06" name="Google Shape;106;p18"/>
          <p:cNvCxnSpPr>
            <a:stCxn id="84" idx="2"/>
            <a:endCxn id="87" idx="0"/>
          </p:cNvCxnSpPr>
          <p:nvPr/>
        </p:nvCxnSpPr>
        <p:spPr>
          <a:xfrm>
            <a:off x="1811100" y="2419875"/>
            <a:ext cx="4200" cy="2328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07" name="Google Shape;107;p18"/>
          <p:cNvCxnSpPr>
            <a:stCxn id="101" idx="1"/>
            <a:endCxn id="92" idx="3"/>
          </p:cNvCxnSpPr>
          <p:nvPr/>
        </p:nvCxnSpPr>
        <p:spPr>
          <a:xfrm flipH="1">
            <a:off x="2513138" y="988263"/>
            <a:ext cx="1619400" cy="284400"/>
          </a:xfrm>
          <a:prstGeom prst="bentConnector3">
            <a:avLst>
              <a:gd fmla="val 50002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none"/>
          </a:ln>
        </p:spPr>
      </p:cxnSp>
      <p:cxnSp>
        <p:nvCxnSpPr>
          <p:cNvPr id="108" name="Google Shape;108;p18"/>
          <p:cNvCxnSpPr>
            <a:stCxn id="84" idx="3"/>
            <a:endCxn id="102" idx="1"/>
          </p:cNvCxnSpPr>
          <p:nvPr/>
        </p:nvCxnSpPr>
        <p:spPr>
          <a:xfrm flipH="1" rot="10800000">
            <a:off x="2513100" y="2072325"/>
            <a:ext cx="1615800" cy="72300"/>
          </a:xfrm>
          <a:prstGeom prst="bentConnector3">
            <a:avLst>
              <a:gd fmla="val 49999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09" name="Google Shape;109;p18"/>
          <p:cNvCxnSpPr>
            <a:stCxn id="97" idx="3"/>
            <a:endCxn id="103" idx="1"/>
          </p:cNvCxnSpPr>
          <p:nvPr/>
        </p:nvCxnSpPr>
        <p:spPr>
          <a:xfrm flipH="1" rot="10800000">
            <a:off x="2513088" y="3642825"/>
            <a:ext cx="1615800" cy="49200"/>
          </a:xfrm>
          <a:prstGeom prst="bentConnector3">
            <a:avLst>
              <a:gd fmla="val 50053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/>
          <p:nvPr/>
        </p:nvSpPr>
        <p:spPr>
          <a:xfrm>
            <a:off x="588525" y="701375"/>
            <a:ext cx="296100" cy="1209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9"/>
          <p:cNvSpPr txBox="1"/>
          <p:nvPr/>
        </p:nvSpPr>
        <p:spPr>
          <a:xfrm>
            <a:off x="884625" y="468275"/>
            <a:ext cx="3511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MAPA DE </a:t>
            </a: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CONCEPTOS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6" name="Google Shape;116;p19"/>
          <p:cNvSpPr/>
          <p:nvPr/>
        </p:nvSpPr>
        <p:spPr>
          <a:xfrm>
            <a:off x="588525" y="2242380"/>
            <a:ext cx="1399200" cy="5802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Almacenamiento en Firestore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9"/>
          <p:cNvSpPr/>
          <p:nvPr/>
        </p:nvSpPr>
        <p:spPr>
          <a:xfrm>
            <a:off x="4386831" y="1221514"/>
            <a:ext cx="1596900" cy="580200"/>
          </a:xfrm>
          <a:prstGeom prst="rect">
            <a:avLst/>
          </a:prstGeom>
          <a:noFill/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Recapitulación de arquitecturas</a:t>
            </a:r>
            <a:endParaRPr sz="12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19"/>
          <p:cNvSpPr/>
          <p:nvPr/>
        </p:nvSpPr>
        <p:spPr>
          <a:xfrm>
            <a:off x="588525" y="1225084"/>
            <a:ext cx="1399200" cy="5802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Firebase II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9" name="Google Shape;119;p19"/>
          <p:cNvSpPr/>
          <p:nvPr/>
        </p:nvSpPr>
        <p:spPr>
          <a:xfrm>
            <a:off x="569475" y="3213572"/>
            <a:ext cx="1399200" cy="580200"/>
          </a:xfrm>
          <a:prstGeom prst="rect">
            <a:avLst/>
          </a:prstGeom>
          <a:solidFill>
            <a:srgbClr val="272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Modificando y creando</a:t>
            </a:r>
            <a:endParaRPr sz="12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0" name="Google Shape;120;p19"/>
          <p:cNvCxnSpPr>
            <a:endCxn id="118" idx="2"/>
          </p:cNvCxnSpPr>
          <p:nvPr/>
        </p:nvCxnSpPr>
        <p:spPr>
          <a:xfrm rot="10800000">
            <a:off x="1288125" y="1805284"/>
            <a:ext cx="3600" cy="4371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oval"/>
          </a:ln>
        </p:spPr>
      </p:cxnSp>
      <p:sp>
        <p:nvSpPr>
          <p:cNvPr id="121" name="Google Shape;121;p19"/>
          <p:cNvSpPr/>
          <p:nvPr/>
        </p:nvSpPr>
        <p:spPr>
          <a:xfrm>
            <a:off x="4349243" y="2352475"/>
            <a:ext cx="1634400" cy="27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Organización</a:t>
            </a:r>
            <a:endParaRPr sz="12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9"/>
          <p:cNvSpPr/>
          <p:nvPr/>
        </p:nvSpPr>
        <p:spPr>
          <a:xfrm>
            <a:off x="4349227" y="2738665"/>
            <a:ext cx="1634400" cy="27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Tipo de datos</a:t>
            </a:r>
            <a:endParaRPr sz="12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3" name="Google Shape;123;p19"/>
          <p:cNvSpPr/>
          <p:nvPr/>
        </p:nvSpPr>
        <p:spPr>
          <a:xfrm>
            <a:off x="4349239" y="3365986"/>
            <a:ext cx="1634400" cy="27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Creación</a:t>
            </a:r>
            <a:endParaRPr sz="12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4" name="Google Shape;124;p19"/>
          <p:cNvCxnSpPr>
            <a:stCxn id="118" idx="3"/>
            <a:endCxn id="117" idx="1"/>
          </p:cNvCxnSpPr>
          <p:nvPr/>
        </p:nvCxnSpPr>
        <p:spPr>
          <a:xfrm flipH="1" rot="10800000">
            <a:off x="1987725" y="1511584"/>
            <a:ext cx="2399100" cy="3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25" name="Google Shape;125;p19"/>
          <p:cNvCxnSpPr>
            <a:stCxn id="116" idx="3"/>
          </p:cNvCxnSpPr>
          <p:nvPr/>
        </p:nvCxnSpPr>
        <p:spPr>
          <a:xfrm>
            <a:off x="1987725" y="2532480"/>
            <a:ext cx="23520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  <p:pic>
        <p:nvPicPr>
          <p:cNvPr id="126" name="Google Shape;126;p19" title="ícono de mapa de contenido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275" y="533519"/>
            <a:ext cx="300599" cy="300618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9"/>
          <p:cNvSpPr/>
          <p:nvPr/>
        </p:nvSpPr>
        <p:spPr>
          <a:xfrm>
            <a:off x="4349250" y="3759550"/>
            <a:ext cx="2456400" cy="27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Actualizando un documento</a:t>
            </a:r>
            <a:endParaRPr sz="12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8" name="Google Shape;128;p19"/>
          <p:cNvSpPr/>
          <p:nvPr/>
        </p:nvSpPr>
        <p:spPr>
          <a:xfrm>
            <a:off x="4349249" y="4153125"/>
            <a:ext cx="3036600" cy="270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393B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222222"/>
                </a:solidFill>
                <a:latin typeface="DM Sans"/>
                <a:ea typeface="DM Sans"/>
                <a:cs typeface="DM Sans"/>
                <a:sym typeface="DM Sans"/>
              </a:rPr>
              <a:t>Batch Update (lotes de escritura)</a:t>
            </a:r>
            <a:endParaRPr sz="1200">
              <a:solidFill>
                <a:srgbClr val="22222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9" name="Google Shape;129;p19"/>
          <p:cNvCxnSpPr>
            <a:endCxn id="116" idx="2"/>
          </p:cNvCxnSpPr>
          <p:nvPr/>
        </p:nvCxnSpPr>
        <p:spPr>
          <a:xfrm rot="10800000">
            <a:off x="1288125" y="2822580"/>
            <a:ext cx="3600" cy="3909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oval"/>
            <a:tailEnd len="med" w="med" type="oval"/>
          </a:ln>
        </p:spPr>
      </p:cxnSp>
      <p:cxnSp>
        <p:nvCxnSpPr>
          <p:cNvPr id="130" name="Google Shape;130;p19"/>
          <p:cNvCxnSpPr/>
          <p:nvPr/>
        </p:nvCxnSpPr>
        <p:spPr>
          <a:xfrm flipH="1" rot="10800000">
            <a:off x="1968675" y="3503380"/>
            <a:ext cx="2355600" cy="30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31" name="Google Shape;131;p19"/>
          <p:cNvCxnSpPr>
            <a:stCxn id="119" idx="3"/>
            <a:endCxn id="127" idx="1"/>
          </p:cNvCxnSpPr>
          <p:nvPr/>
        </p:nvCxnSpPr>
        <p:spPr>
          <a:xfrm>
            <a:off x="1968675" y="3503672"/>
            <a:ext cx="2380500" cy="391200"/>
          </a:xfrm>
          <a:prstGeom prst="bentConnector3">
            <a:avLst>
              <a:gd fmla="val 50002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32" name="Google Shape;132;p19"/>
          <p:cNvCxnSpPr>
            <a:stCxn id="119" idx="3"/>
            <a:endCxn id="128" idx="1"/>
          </p:cNvCxnSpPr>
          <p:nvPr/>
        </p:nvCxnSpPr>
        <p:spPr>
          <a:xfrm>
            <a:off x="1968675" y="3503672"/>
            <a:ext cx="2380500" cy="784800"/>
          </a:xfrm>
          <a:prstGeom prst="bentConnector3">
            <a:avLst>
              <a:gd fmla="val 50002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133" name="Google Shape;133;p19"/>
          <p:cNvCxnSpPr>
            <a:stCxn id="116" idx="3"/>
            <a:endCxn id="122" idx="1"/>
          </p:cNvCxnSpPr>
          <p:nvPr/>
        </p:nvCxnSpPr>
        <p:spPr>
          <a:xfrm>
            <a:off x="1987725" y="2532480"/>
            <a:ext cx="2361600" cy="341400"/>
          </a:xfrm>
          <a:prstGeom prst="bentConnector3">
            <a:avLst>
              <a:gd fmla="val 49998" name="adj1"/>
            </a:avLst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0"/>
          <p:cNvSpPr txBox="1"/>
          <p:nvPr/>
        </p:nvSpPr>
        <p:spPr>
          <a:xfrm>
            <a:off x="475500" y="2515575"/>
            <a:ext cx="5088600" cy="21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Implementar y configurar un Back-End propio puede ser costoso en términos económicos y de tiempo. </a:t>
            </a:r>
            <a:br>
              <a:rPr lang="es">
                <a:latin typeface="DM Sans"/>
                <a:ea typeface="DM Sans"/>
                <a:cs typeface="DM Sans"/>
                <a:sym typeface="DM Sans"/>
              </a:rPr>
            </a:br>
            <a:r>
              <a:rPr b="1" lang="es">
                <a:latin typeface="DM Sans"/>
                <a:ea typeface="DM Sans"/>
                <a:cs typeface="DM Sans"/>
                <a:sym typeface="DM Sans"/>
              </a:rPr>
              <a:t>Firebase </a:t>
            </a:r>
            <a:r>
              <a:rPr lang="es">
                <a:latin typeface="DM Sans"/>
                <a:ea typeface="DM Sans"/>
                <a:cs typeface="DM Sans"/>
                <a:sym typeface="DM Sans"/>
              </a:rPr>
              <a:t>es una plataforma de cloud services para el desarrollo de aplicaciones que provee un plan gratuito para aplicaciones pequeñas y no requiere extensos conocimientos de infraestructura o mantenimiento.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475500" y="971050"/>
            <a:ext cx="484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 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0" name="Google Shape;14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3600" y="0"/>
            <a:ext cx="347040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/>
          <p:nvPr/>
        </p:nvSpPr>
        <p:spPr>
          <a:xfrm>
            <a:off x="475500" y="971050"/>
            <a:ext cx="48495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Configura tu app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8" name="Google Shape;14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 txBox="1"/>
          <p:nvPr/>
        </p:nvSpPr>
        <p:spPr>
          <a:xfrm>
            <a:off x="481150" y="2264050"/>
            <a:ext cx="5088600" cy="22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Vimos </a:t>
            </a:r>
            <a:r>
              <a:rPr b="1" lang="es" sz="1300">
                <a:latin typeface="DM Sans"/>
                <a:ea typeface="DM Sans"/>
                <a:cs typeface="DM Sans"/>
                <a:sym typeface="DM Sans"/>
              </a:rPr>
              <a:t>cómo integrar una base de datos de Firebase a una aplicación de React</a:t>
            </a: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Creamos una nueva "web app" en Firebase </a:t>
            </a: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para obtener las credenciales y luego instalamos de forma local </a:t>
            </a: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el cliente de Firebase vía NPM. También utilizamos: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DM Sans"/>
              <a:buChar char="●"/>
            </a:pPr>
            <a:r>
              <a:rPr b="1" lang="es" sz="1300">
                <a:latin typeface="Ubuntu Mono"/>
                <a:ea typeface="Ubuntu Mono"/>
                <a:cs typeface="Ubuntu Mono"/>
                <a:sym typeface="Ubuntu Mono"/>
              </a:rPr>
              <a:t>doc </a:t>
            </a: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y </a:t>
            </a:r>
            <a:r>
              <a:rPr b="1" lang="es" sz="1300">
                <a:latin typeface="Ubuntu Mono"/>
                <a:ea typeface="Ubuntu Mono"/>
                <a:cs typeface="Ubuntu Mono"/>
                <a:sym typeface="Ubuntu Mono"/>
              </a:rPr>
              <a:t>collection </a:t>
            </a: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para crear referencias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DM Sans"/>
              <a:buChar char="●"/>
            </a:pPr>
            <a:r>
              <a:rPr b="1" lang="es" sz="1300">
                <a:solidFill>
                  <a:schemeClr val="dk1"/>
                </a:solidFill>
                <a:latin typeface="Ubuntu Mono"/>
                <a:ea typeface="Ubuntu Mono"/>
                <a:cs typeface="Ubuntu Mono"/>
                <a:sym typeface="Ubuntu Mono"/>
              </a:rPr>
              <a:t>getDoc </a:t>
            </a:r>
            <a:r>
              <a:rPr lang="e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y </a:t>
            </a:r>
            <a:r>
              <a:rPr b="1" lang="es" sz="1300">
                <a:solidFill>
                  <a:schemeClr val="dk1"/>
                </a:solidFill>
                <a:latin typeface="Ubuntu Mono"/>
                <a:ea typeface="Ubuntu Mono"/>
                <a:cs typeface="Ubuntu Mono"/>
                <a:sym typeface="Ubuntu Mono"/>
              </a:rPr>
              <a:t>getDocs </a:t>
            </a:r>
            <a:r>
              <a:rPr lang="e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recibir de forma asíncrona el estado o “snapshot” actual de un documento/colección</a:t>
            </a:r>
            <a:endParaRPr sz="13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DM Sans"/>
              <a:buChar char="●"/>
            </a:pPr>
            <a:r>
              <a:rPr b="1" lang="es" sz="1300">
                <a:solidFill>
                  <a:schemeClr val="dk1"/>
                </a:solidFill>
                <a:latin typeface="Ubuntu Mono"/>
                <a:ea typeface="Ubuntu Mono"/>
                <a:cs typeface="Ubuntu Mono"/>
                <a:sym typeface="Ubuntu Mono"/>
              </a:rPr>
              <a:t>query </a:t>
            </a:r>
            <a:r>
              <a:rPr lang="e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y </a:t>
            </a:r>
            <a:r>
              <a:rPr b="1" lang="es" sz="1300">
                <a:solidFill>
                  <a:schemeClr val="dk1"/>
                </a:solidFill>
                <a:latin typeface="Ubuntu Mono"/>
                <a:ea typeface="Ubuntu Mono"/>
                <a:cs typeface="Ubuntu Mono"/>
                <a:sym typeface="Ubuntu Mono"/>
              </a:rPr>
              <a:t>where </a:t>
            </a:r>
            <a:r>
              <a:rPr lang="e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crear consultas personalizadas.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0" name="Google Shape;15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3600" y="0"/>
            <a:ext cx="347040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 txBox="1"/>
          <p:nvPr/>
        </p:nvSpPr>
        <p:spPr>
          <a:xfrm>
            <a:off x="475500" y="971050"/>
            <a:ext cx="48495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Almacenamiento en Firestore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7" name="Google Shape;15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2"/>
          <p:cNvSpPr txBox="1"/>
          <p:nvPr/>
        </p:nvSpPr>
        <p:spPr>
          <a:xfrm>
            <a:off x="475500" y="2515575"/>
            <a:ext cx="5088600" cy="18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datos se almacenan en colecciones de documentos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, los cuales pueden contener información compleja como objetos anidados, fechas, strings y números. Es recomendable experimentar con el editor online para descubrir más sobre Firestore. En resumen, Firestore es un sistema muy completo y flexible que permite almacenar y organizar datos de manera eficiente.</a:t>
            </a:r>
            <a:endParaRPr b="1" sz="12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3600" y="0"/>
            <a:ext cx="347040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 txBox="1"/>
          <p:nvPr/>
        </p:nvSpPr>
        <p:spPr>
          <a:xfrm>
            <a:off x="386700" y="4311063"/>
            <a:ext cx="6662700" cy="5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Cuidado: arrays no pueden tener sub-arrays entre sus elementos</a:t>
            </a:r>
            <a:endParaRPr sz="1200">
              <a:solidFill>
                <a:srgbClr val="000000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6" name="Google Shape;166;p23"/>
          <p:cNvSpPr txBox="1"/>
          <p:nvPr/>
        </p:nvSpPr>
        <p:spPr>
          <a:xfrm>
            <a:off x="403175" y="487375"/>
            <a:ext cx="7483500" cy="9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s" sz="4000">
                <a:solidFill>
                  <a:srgbClr val="000000"/>
                </a:solidFill>
                <a:highlight>
                  <a:srgbClr val="FFFFFF"/>
                </a:highlight>
                <a:latin typeface="DM Sans"/>
                <a:ea typeface="DM Sans"/>
                <a:cs typeface="DM Sans"/>
                <a:sym typeface="DM Sans"/>
              </a:rPr>
              <a:t>F</a:t>
            </a:r>
            <a:r>
              <a:rPr b="1" lang="es" sz="4000">
                <a:highlight>
                  <a:srgbClr val="FFFFFF"/>
                </a:highlight>
                <a:latin typeface="DM Sans"/>
                <a:ea typeface="DM Sans"/>
                <a:cs typeface="DM Sans"/>
                <a:sym typeface="DM Sans"/>
              </a:rPr>
              <a:t>irestore</a:t>
            </a:r>
            <a:r>
              <a:rPr b="1" lang="es" sz="4000">
                <a:solidFill>
                  <a:srgbClr val="000000"/>
                </a:solidFill>
                <a:highlight>
                  <a:srgbClr val="FFFFFF"/>
                </a:highlight>
                <a:latin typeface="DM Sans"/>
                <a:ea typeface="DM Sans"/>
                <a:cs typeface="DM Sans"/>
                <a:sym typeface="DM Sans"/>
              </a:rPr>
              <a:t>: </a:t>
            </a:r>
            <a:r>
              <a:rPr b="1" lang="es" sz="4000">
                <a:highlight>
                  <a:srgbClr val="FFFFFF"/>
                </a:highlight>
                <a:latin typeface="DM Sans"/>
                <a:ea typeface="DM Sans"/>
                <a:cs typeface="DM Sans"/>
                <a:sym typeface="DM Sans"/>
              </a:rPr>
              <a:t>tipos de datos</a:t>
            </a:r>
            <a:endParaRPr b="1" sz="3800">
              <a:solidFill>
                <a:srgbClr val="000000"/>
              </a:solidFill>
              <a:highlight>
                <a:srgbClr val="FFFFFF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graphicFrame>
        <p:nvGraphicFramePr>
          <p:cNvPr id="167" name="Google Shape;167;p23"/>
          <p:cNvGraphicFramePr/>
          <p:nvPr/>
        </p:nvGraphicFramePr>
        <p:xfrm>
          <a:off x="2417950" y="1723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{15E0DBB4-1B29-44FF-A56C-026888322DDB}</a:tableStyleId>
              </a:tblPr>
              <a:tblGrid>
                <a:gridCol w="17563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string</a:t>
                      </a:r>
                      <a:endParaRPr b="1"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>
                    <a:solidFill>
                      <a:srgbClr val="EAFF6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number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boolean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>
                    <a:solidFill>
                      <a:srgbClr val="EAFF6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map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68" name="Google Shape;168;p23"/>
          <p:cNvGraphicFramePr/>
          <p:nvPr/>
        </p:nvGraphicFramePr>
        <p:xfrm>
          <a:off x="5027175" y="1723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{15E0DBB4-1B29-44FF-A56C-026888322DDB}</a:tableStyleId>
              </a:tblPr>
              <a:tblGrid>
                <a:gridCol w="17563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array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null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timestamp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800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geopoint</a:t>
                      </a:r>
                      <a:endParaRPr sz="1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/>
        </p:nvSpPr>
        <p:spPr>
          <a:xfrm>
            <a:off x="475500" y="971050"/>
            <a:ext cx="484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addDoc 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4" name="Google Shape;17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3600" y="0"/>
            <a:ext cx="347040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4"/>
          <p:cNvSpPr txBox="1"/>
          <p:nvPr/>
        </p:nvSpPr>
        <p:spPr>
          <a:xfrm>
            <a:off x="475500" y="2439375"/>
            <a:ext cx="5088600" cy="23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función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addDoc 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creará un nuevo documento, solo debemos pasarle instancia de Firestore y colección en la que será creado.</a:t>
            </a:r>
            <a:b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actualizar un documento, podemos emplear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updateDoc, 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proporcionando una referencia al documento y un objeto con los campos y valores a actualizar.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actualizar varios documentos, se puede usar un objeto batch con </a:t>
            </a:r>
            <a:r>
              <a:rPr b="1"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writeBatch 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reducir la cantidad de operaciones de escritura en la base de datos.</a:t>
            </a:r>
            <a:endParaRPr b="1" sz="12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oogle Shape;182;p25"/>
          <p:cNvGrpSpPr/>
          <p:nvPr/>
        </p:nvGrpSpPr>
        <p:grpSpPr>
          <a:xfrm>
            <a:off x="4202551" y="1088764"/>
            <a:ext cx="738900" cy="738974"/>
            <a:chOff x="974706" y="2467173"/>
            <a:chExt cx="738900" cy="738900"/>
          </a:xfrm>
        </p:grpSpPr>
        <p:sp>
          <p:nvSpPr>
            <p:cNvPr id="183" name="Google Shape;183;p25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84" name="Google Shape;184;p25" title="ícono de actividad en clase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5" name="Google Shape;185;p25"/>
          <p:cNvSpPr txBox="1"/>
          <p:nvPr/>
        </p:nvSpPr>
        <p:spPr>
          <a:xfrm>
            <a:off x="1547025" y="1925250"/>
            <a:ext cx="6221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 tu Item Collection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6" name="Google Shape;186;p25"/>
          <p:cNvSpPr txBox="1"/>
          <p:nvPr/>
        </p:nvSpPr>
        <p:spPr>
          <a:xfrm>
            <a:off x="987300" y="3287388"/>
            <a:ext cx="716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99999"/>
                </a:solidFill>
                <a:latin typeface="DM Sans"/>
                <a:ea typeface="DM Sans"/>
                <a:cs typeface="DM Sans"/>
                <a:sym typeface="DM Sans"/>
              </a:rPr>
              <a:t>¡Vamos a recuperar lo trabajado durante la semana! </a:t>
            </a:r>
            <a:endParaRPr sz="2000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7" name="Google Shape;187;p25"/>
          <p:cNvSpPr txBox="1"/>
          <p:nvPr/>
        </p:nvSpPr>
        <p:spPr>
          <a:xfrm>
            <a:off x="987300" y="3849138"/>
            <a:ext cx="716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Duración: </a:t>
            </a:r>
            <a:r>
              <a:rPr b="1"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  <a:r>
              <a:rPr b="1"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minutos</a:t>
            </a:r>
            <a:r>
              <a:rPr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sz="1800">
              <a:solidFill>
                <a:srgbClr val="83AEF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88" name="Google Shape;188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89" name="Google Shape;189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0" name="Google Shape;190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6"/>
          <p:cNvSpPr/>
          <p:nvPr/>
        </p:nvSpPr>
        <p:spPr>
          <a:xfrm>
            <a:off x="485050" y="3730700"/>
            <a:ext cx="8183700" cy="762000"/>
          </a:xfrm>
          <a:prstGeom prst="rect">
            <a:avLst/>
          </a:prstGeom>
          <a:solidFill>
            <a:srgbClr val="F0F7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6"/>
          <p:cNvSpPr/>
          <p:nvPr/>
        </p:nvSpPr>
        <p:spPr>
          <a:xfrm>
            <a:off x="475500" y="1694775"/>
            <a:ext cx="5003700" cy="1925100"/>
          </a:xfrm>
          <a:prstGeom prst="rect">
            <a:avLst/>
          </a:prstGeom>
          <a:solidFill>
            <a:srgbClr val="F0F7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7" name="Google Shape;19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6"/>
          <p:cNvSpPr txBox="1"/>
          <p:nvPr/>
        </p:nvSpPr>
        <p:spPr>
          <a:xfrm>
            <a:off x="469200" y="1077850"/>
            <a:ext cx="73533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 tu Item Collection</a:t>
            </a:r>
            <a:endParaRPr b="1" sz="2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675350" y="1839250"/>
            <a:ext cx="27750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>
                <a:latin typeface="DM Sans"/>
                <a:ea typeface="DM Sans"/>
                <a:cs typeface="DM Sans"/>
                <a:sym typeface="DM Sans"/>
              </a:rPr>
              <a:t>Consigna</a:t>
            </a:r>
            <a:endParaRPr b="1"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0" name="Google Shape;200;p26"/>
          <p:cNvSpPr txBox="1"/>
          <p:nvPr/>
        </p:nvSpPr>
        <p:spPr>
          <a:xfrm>
            <a:off x="900300" y="455050"/>
            <a:ext cx="30000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MICRODESAFÍO</a:t>
            </a:r>
            <a:endParaRPr/>
          </a:p>
        </p:txBody>
      </p:sp>
      <p:sp>
        <p:nvSpPr>
          <p:cNvPr id="201" name="Google Shape;201;p26"/>
          <p:cNvSpPr/>
          <p:nvPr/>
        </p:nvSpPr>
        <p:spPr>
          <a:xfrm>
            <a:off x="5573600" y="1694775"/>
            <a:ext cx="3094800" cy="1925100"/>
          </a:xfrm>
          <a:prstGeom prst="rect">
            <a:avLst/>
          </a:prstGeom>
          <a:solidFill>
            <a:srgbClr val="F0F7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5795428" y="1839250"/>
            <a:ext cx="27750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>
                <a:latin typeface="DM Sans"/>
                <a:ea typeface="DM Sans"/>
                <a:cs typeface="DM Sans"/>
                <a:sym typeface="DM Sans"/>
              </a:rPr>
              <a:t>Tips</a:t>
            </a:r>
            <a:endParaRPr sz="1200" u="sng">
              <a:solidFill>
                <a:srgbClr val="83AEF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5573600" y="2109250"/>
            <a:ext cx="29565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✓"/>
            </a:pPr>
            <a:r>
              <a:rPr lang="es"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Más adelante veremos maneras automatizadas de exportar grandes cantidades de datos a Firebase</a:t>
            </a:r>
            <a:endParaRPr sz="1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✓"/>
            </a:pPr>
            <a:r>
              <a:rPr lang="es"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Tener tu base de datos y colección listas te permitirá trabajar mejor en la clase en vivo.</a:t>
            </a:r>
            <a:endParaRPr sz="1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04" name="Google Shape;204;p2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05" name="Google Shape;205;p2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7" name="Google Shape;207;p26"/>
          <p:cNvGrpSpPr/>
          <p:nvPr/>
        </p:nvGrpSpPr>
        <p:grpSpPr>
          <a:xfrm>
            <a:off x="475509" y="435709"/>
            <a:ext cx="431100" cy="431100"/>
            <a:chOff x="475509" y="435709"/>
            <a:chExt cx="431100" cy="431100"/>
          </a:xfrm>
        </p:grpSpPr>
        <p:sp>
          <p:nvSpPr>
            <p:cNvPr id="208" name="Google Shape;208;p26"/>
            <p:cNvSpPr/>
            <p:nvPr/>
          </p:nvSpPr>
          <p:spPr>
            <a:xfrm>
              <a:off x="475509" y="435709"/>
              <a:ext cx="431100" cy="4311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09" name="Google Shape;209;p26" title="ícono de actividad en clase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39150" y="499350"/>
              <a:ext cx="303800" cy="303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0" name="Google Shape;210;p26"/>
          <p:cNvSpPr txBox="1"/>
          <p:nvPr/>
        </p:nvSpPr>
        <p:spPr>
          <a:xfrm>
            <a:off x="824100" y="2205550"/>
            <a:ext cx="44961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Configura tu </a:t>
            </a:r>
            <a:r>
              <a:rPr b="1"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cuenta de Firebase</a:t>
            </a:r>
            <a:r>
              <a:rPr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, y crea una base de datos con </a:t>
            </a:r>
            <a:r>
              <a:rPr b="1"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 </a:t>
            </a:r>
            <a:r>
              <a:rPr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 una nueva colección “items”.</a:t>
            </a:r>
            <a:endParaRPr sz="11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Carga de forma manual al menos 2 productos de tu tienda.</a:t>
            </a:r>
            <a:endParaRPr sz="11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 una aplicación web y guarda las credenciales para utilizar en tu proyecto. Puedes utilizar tus keys de Firebase en este </a:t>
            </a:r>
            <a:r>
              <a:rPr b="1" lang="es" sz="11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5"/>
              </a:rPr>
              <a:t>stackblitz</a:t>
            </a:r>
            <a:r>
              <a:rPr lang="es" sz="11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para testear tu colección.</a:t>
            </a:r>
            <a:endParaRPr sz="11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26" title=" MD 7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71225" y="866800"/>
            <a:ext cx="639600" cy="63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 txBox="1"/>
          <p:nvPr/>
        </p:nvSpPr>
        <p:spPr>
          <a:xfrm>
            <a:off x="987300" y="3849138"/>
            <a:ext cx="716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Duración: </a:t>
            </a:r>
            <a:r>
              <a:rPr b="1"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15 </a:t>
            </a:r>
            <a:r>
              <a:rPr b="1"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minutos</a:t>
            </a:r>
            <a:r>
              <a:rPr lang="es" sz="1800">
                <a:solidFill>
                  <a:srgbClr val="83AEFB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sz="1800">
              <a:solidFill>
                <a:srgbClr val="83AEF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/>
          <p:cNvSpPr txBox="1"/>
          <p:nvPr/>
        </p:nvSpPr>
        <p:spPr>
          <a:xfrm>
            <a:off x="444900" y="422738"/>
            <a:ext cx="4987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Firestore: checklist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18" name="Google Shape;218;p27"/>
          <p:cNvGrpSpPr/>
          <p:nvPr/>
        </p:nvGrpSpPr>
        <p:grpSpPr>
          <a:xfrm>
            <a:off x="2890038" y="1788350"/>
            <a:ext cx="197100" cy="197100"/>
            <a:chOff x="2172088" y="1852650"/>
            <a:chExt cx="197100" cy="197100"/>
          </a:xfrm>
        </p:grpSpPr>
        <p:sp>
          <p:nvSpPr>
            <p:cNvPr id="219" name="Google Shape;219;p27"/>
            <p:cNvSpPr/>
            <p:nvPr/>
          </p:nvSpPr>
          <p:spPr>
            <a:xfrm>
              <a:off x="2172088" y="1852650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7"/>
            <p:cNvSpPr/>
            <p:nvPr/>
          </p:nvSpPr>
          <p:spPr>
            <a:xfrm>
              <a:off x="2227138" y="1907700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1" name="Google Shape;221;p27"/>
          <p:cNvGrpSpPr/>
          <p:nvPr/>
        </p:nvGrpSpPr>
        <p:grpSpPr>
          <a:xfrm>
            <a:off x="2890038" y="2391475"/>
            <a:ext cx="197100" cy="197100"/>
            <a:chOff x="2172088" y="2455775"/>
            <a:chExt cx="197100" cy="197100"/>
          </a:xfrm>
        </p:grpSpPr>
        <p:sp>
          <p:nvSpPr>
            <p:cNvPr id="222" name="Google Shape;222;p27"/>
            <p:cNvSpPr/>
            <p:nvPr/>
          </p:nvSpPr>
          <p:spPr>
            <a:xfrm>
              <a:off x="2172088" y="2455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7"/>
            <p:cNvSpPr/>
            <p:nvPr/>
          </p:nvSpPr>
          <p:spPr>
            <a:xfrm>
              <a:off x="2227138" y="2510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24" name="Google Shape;224;p27"/>
          <p:cNvCxnSpPr>
            <a:endCxn id="222" idx="0"/>
          </p:cNvCxnSpPr>
          <p:nvPr/>
        </p:nvCxnSpPr>
        <p:spPr>
          <a:xfrm>
            <a:off x="2988588" y="198557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7"/>
          <p:cNvSpPr txBox="1"/>
          <p:nvPr/>
        </p:nvSpPr>
        <p:spPr>
          <a:xfrm>
            <a:off x="3408523" y="1667113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Te has registrado en Firebase.</a:t>
            </a:r>
            <a:endParaRPr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27"/>
          <p:cNvSpPr txBox="1"/>
          <p:nvPr/>
        </p:nvSpPr>
        <p:spPr>
          <a:xfrm>
            <a:off x="3408523" y="227023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Has creado un nuevo proyecto.</a:t>
            </a:r>
            <a:endParaRPr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27" name="Google Shape;227;p27"/>
          <p:cNvGrpSpPr/>
          <p:nvPr/>
        </p:nvGrpSpPr>
        <p:grpSpPr>
          <a:xfrm>
            <a:off x="2890038" y="3018050"/>
            <a:ext cx="197100" cy="197100"/>
            <a:chOff x="2172088" y="3058775"/>
            <a:chExt cx="197100" cy="197100"/>
          </a:xfrm>
        </p:grpSpPr>
        <p:sp>
          <p:nvSpPr>
            <p:cNvPr id="228" name="Google Shape;228;p27"/>
            <p:cNvSpPr/>
            <p:nvPr/>
          </p:nvSpPr>
          <p:spPr>
            <a:xfrm>
              <a:off x="2172088" y="3058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27"/>
            <p:cNvSpPr/>
            <p:nvPr/>
          </p:nvSpPr>
          <p:spPr>
            <a:xfrm>
              <a:off x="2227138" y="3113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30" name="Google Shape;230;p27"/>
          <p:cNvCxnSpPr>
            <a:endCxn id="228" idx="0"/>
          </p:cNvCxnSpPr>
          <p:nvPr/>
        </p:nvCxnSpPr>
        <p:spPr>
          <a:xfrm>
            <a:off x="2988588" y="2612150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31" name="Google Shape;231;p27"/>
          <p:cNvGrpSpPr/>
          <p:nvPr/>
        </p:nvGrpSpPr>
        <p:grpSpPr>
          <a:xfrm>
            <a:off x="2890038" y="3621175"/>
            <a:ext cx="197100" cy="197100"/>
            <a:chOff x="2172088" y="3661775"/>
            <a:chExt cx="197100" cy="197100"/>
          </a:xfrm>
        </p:grpSpPr>
        <p:sp>
          <p:nvSpPr>
            <p:cNvPr id="232" name="Google Shape;232;p27"/>
            <p:cNvSpPr/>
            <p:nvPr/>
          </p:nvSpPr>
          <p:spPr>
            <a:xfrm>
              <a:off x="2172088" y="3661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27"/>
            <p:cNvSpPr/>
            <p:nvPr/>
          </p:nvSpPr>
          <p:spPr>
            <a:xfrm>
              <a:off x="2227138" y="3716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34" name="Google Shape;234;p27"/>
          <p:cNvCxnSpPr>
            <a:endCxn id="232" idx="0"/>
          </p:cNvCxnSpPr>
          <p:nvPr/>
        </p:nvCxnSpPr>
        <p:spPr>
          <a:xfrm>
            <a:off x="2988588" y="321527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5" name="Google Shape;235;p27"/>
          <p:cNvSpPr txBox="1"/>
          <p:nvPr/>
        </p:nvSpPr>
        <p:spPr>
          <a:xfrm>
            <a:off x="3408523" y="292038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Creación de un </a:t>
            </a:r>
            <a:r>
              <a:rPr b="1" lang="es" sz="1350">
                <a:latin typeface="DM Sans"/>
                <a:ea typeface="DM Sans"/>
                <a:cs typeface="DM Sans"/>
                <a:sym typeface="DM Sans"/>
              </a:rPr>
              <a:t>Firestore.</a:t>
            </a:r>
            <a:endParaRPr b="1"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6" name="Google Shape;236;p27"/>
          <p:cNvSpPr txBox="1"/>
          <p:nvPr/>
        </p:nvSpPr>
        <p:spPr>
          <a:xfrm>
            <a:off x="3408523" y="3523513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Inicialización de la primera colección (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ítems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)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7" name="Google Shape;237;p27"/>
          <p:cNvSpPr txBox="1"/>
          <p:nvPr/>
        </p:nvSpPr>
        <p:spPr>
          <a:xfrm>
            <a:off x="3408523" y="412663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Creaste tu primer documento en la colección.</a:t>
            </a:r>
            <a:endParaRPr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238" name="Google Shape;238;p27"/>
          <p:cNvCxnSpPr/>
          <p:nvPr/>
        </p:nvCxnSpPr>
        <p:spPr>
          <a:xfrm>
            <a:off x="2988588" y="3818400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39" name="Google Shape;239;p27"/>
          <p:cNvGrpSpPr/>
          <p:nvPr/>
        </p:nvGrpSpPr>
        <p:grpSpPr>
          <a:xfrm>
            <a:off x="2890038" y="4224425"/>
            <a:ext cx="197100" cy="197100"/>
            <a:chOff x="2172088" y="3058775"/>
            <a:chExt cx="197100" cy="197100"/>
          </a:xfrm>
        </p:grpSpPr>
        <p:sp>
          <p:nvSpPr>
            <p:cNvPr id="240" name="Google Shape;240;p27"/>
            <p:cNvSpPr/>
            <p:nvPr/>
          </p:nvSpPr>
          <p:spPr>
            <a:xfrm>
              <a:off x="2172088" y="3058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2227138" y="3113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/>
        </p:nvSpPr>
        <p:spPr>
          <a:xfrm>
            <a:off x="524925" y="218400"/>
            <a:ext cx="8315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Firestore: checklist para conectar nuestra react- app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47" name="Google Shape;247;p28"/>
          <p:cNvGrpSpPr/>
          <p:nvPr/>
        </p:nvGrpSpPr>
        <p:grpSpPr>
          <a:xfrm>
            <a:off x="2280438" y="2016950"/>
            <a:ext cx="197100" cy="197100"/>
            <a:chOff x="2172088" y="1852650"/>
            <a:chExt cx="197100" cy="197100"/>
          </a:xfrm>
        </p:grpSpPr>
        <p:sp>
          <p:nvSpPr>
            <p:cNvPr id="248" name="Google Shape;248;p28"/>
            <p:cNvSpPr/>
            <p:nvPr/>
          </p:nvSpPr>
          <p:spPr>
            <a:xfrm>
              <a:off x="2172088" y="1852650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8"/>
            <p:cNvSpPr/>
            <p:nvPr/>
          </p:nvSpPr>
          <p:spPr>
            <a:xfrm>
              <a:off x="2227138" y="1907700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0" name="Google Shape;250;p28"/>
          <p:cNvGrpSpPr/>
          <p:nvPr/>
        </p:nvGrpSpPr>
        <p:grpSpPr>
          <a:xfrm>
            <a:off x="2280438" y="2543875"/>
            <a:ext cx="197100" cy="197100"/>
            <a:chOff x="2172088" y="2455775"/>
            <a:chExt cx="197100" cy="197100"/>
          </a:xfrm>
        </p:grpSpPr>
        <p:sp>
          <p:nvSpPr>
            <p:cNvPr id="251" name="Google Shape;251;p28"/>
            <p:cNvSpPr/>
            <p:nvPr/>
          </p:nvSpPr>
          <p:spPr>
            <a:xfrm>
              <a:off x="2172088" y="2455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8"/>
            <p:cNvSpPr/>
            <p:nvPr/>
          </p:nvSpPr>
          <p:spPr>
            <a:xfrm>
              <a:off x="2227138" y="2510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53" name="Google Shape;253;p28"/>
          <p:cNvCxnSpPr>
            <a:endCxn id="251" idx="0"/>
          </p:cNvCxnSpPr>
          <p:nvPr/>
        </p:nvCxnSpPr>
        <p:spPr>
          <a:xfrm>
            <a:off x="2378988" y="213797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4" name="Google Shape;254;p28"/>
          <p:cNvSpPr txBox="1"/>
          <p:nvPr/>
        </p:nvSpPr>
        <p:spPr>
          <a:xfrm>
            <a:off x="2798923" y="1819513"/>
            <a:ext cx="4281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Configura tu integración con una webapp</a:t>
            </a:r>
            <a:r>
              <a:rPr lang="es" sz="2000">
                <a:solidFill>
                  <a:schemeClr val="dk1"/>
                </a:solidFill>
                <a:highlight>
                  <a:schemeClr val="lt1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rPr>
              <a:t>.</a:t>
            </a:r>
            <a:endParaRPr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8"/>
          <p:cNvSpPr txBox="1"/>
          <p:nvPr/>
        </p:nvSpPr>
        <p:spPr>
          <a:xfrm>
            <a:off x="2798923" y="2422638"/>
            <a:ext cx="4281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Instalar firebase en el proyecto vía </a:t>
            </a:r>
            <a:r>
              <a:rPr b="1" lang="es" sz="13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NPM</a:t>
            </a:r>
            <a:r>
              <a:rPr b="1" lang="es" sz="2000">
                <a:solidFill>
                  <a:schemeClr val="dk1"/>
                </a:solidFill>
                <a:highlight>
                  <a:schemeClr val="lt1"/>
                </a:highlight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56" name="Google Shape;256;p28"/>
          <p:cNvGrpSpPr/>
          <p:nvPr/>
        </p:nvGrpSpPr>
        <p:grpSpPr>
          <a:xfrm>
            <a:off x="2280438" y="3170450"/>
            <a:ext cx="197100" cy="197100"/>
            <a:chOff x="2172088" y="3058775"/>
            <a:chExt cx="197100" cy="197100"/>
          </a:xfrm>
        </p:grpSpPr>
        <p:sp>
          <p:nvSpPr>
            <p:cNvPr id="257" name="Google Shape;257;p28"/>
            <p:cNvSpPr/>
            <p:nvPr/>
          </p:nvSpPr>
          <p:spPr>
            <a:xfrm>
              <a:off x="2172088" y="3058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28"/>
            <p:cNvSpPr/>
            <p:nvPr/>
          </p:nvSpPr>
          <p:spPr>
            <a:xfrm>
              <a:off x="2227138" y="3113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59" name="Google Shape;259;p28"/>
          <p:cNvCxnSpPr>
            <a:endCxn id="257" idx="0"/>
          </p:cNvCxnSpPr>
          <p:nvPr/>
        </p:nvCxnSpPr>
        <p:spPr>
          <a:xfrm>
            <a:off x="2378988" y="2764550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60" name="Google Shape;260;p28"/>
          <p:cNvGrpSpPr/>
          <p:nvPr/>
        </p:nvGrpSpPr>
        <p:grpSpPr>
          <a:xfrm>
            <a:off x="2280438" y="3773575"/>
            <a:ext cx="197100" cy="197100"/>
            <a:chOff x="2172088" y="3661775"/>
            <a:chExt cx="197100" cy="197100"/>
          </a:xfrm>
        </p:grpSpPr>
        <p:sp>
          <p:nvSpPr>
            <p:cNvPr id="261" name="Google Shape;261;p28"/>
            <p:cNvSpPr/>
            <p:nvPr/>
          </p:nvSpPr>
          <p:spPr>
            <a:xfrm>
              <a:off x="2172088" y="3661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8"/>
            <p:cNvSpPr/>
            <p:nvPr/>
          </p:nvSpPr>
          <p:spPr>
            <a:xfrm>
              <a:off x="2227138" y="3716825"/>
              <a:ext cx="87000" cy="87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63" name="Google Shape;263;p28"/>
          <p:cNvCxnSpPr>
            <a:endCxn id="261" idx="0"/>
          </p:cNvCxnSpPr>
          <p:nvPr/>
        </p:nvCxnSpPr>
        <p:spPr>
          <a:xfrm>
            <a:off x="2378988" y="336767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4" name="Google Shape;264;p28"/>
          <p:cNvSpPr txBox="1"/>
          <p:nvPr/>
        </p:nvSpPr>
        <p:spPr>
          <a:xfrm>
            <a:off x="2798923" y="307278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Configurar el client con tu api key.</a:t>
            </a:r>
            <a:endParaRPr b="1"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28"/>
          <p:cNvSpPr txBox="1"/>
          <p:nvPr/>
        </p:nvSpPr>
        <p:spPr>
          <a:xfrm>
            <a:off x="2798923" y="3675913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Configurar un client factory.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28"/>
          <p:cNvSpPr txBox="1"/>
          <p:nvPr/>
        </p:nvSpPr>
        <p:spPr>
          <a:xfrm>
            <a:off x="2798923" y="427903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 txBox="1"/>
          <p:nvPr/>
        </p:nvSpPr>
        <p:spPr>
          <a:xfrm>
            <a:off x="1905000" y="2202300"/>
            <a:ext cx="537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¡Buen trabajo! </a:t>
            </a:r>
            <a:r>
              <a:rPr b="1" lang="es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😎</a:t>
            </a:r>
            <a:endParaRPr sz="3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0"/>
          <p:cNvSpPr txBox="1"/>
          <p:nvPr/>
        </p:nvSpPr>
        <p:spPr>
          <a:xfrm>
            <a:off x="1513013" y="1371150"/>
            <a:ext cx="62214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Accede a una 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colección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1"/>
          <p:cNvSpPr txBox="1"/>
          <p:nvPr/>
        </p:nvSpPr>
        <p:spPr>
          <a:xfrm>
            <a:off x="1447300" y="537575"/>
            <a:ext cx="71694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Ejemplo en vivo</a:t>
            </a:r>
            <a:endParaRPr b="1" sz="3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2" name="Google Shape;282;p31"/>
          <p:cNvSpPr txBox="1"/>
          <p:nvPr/>
        </p:nvSpPr>
        <p:spPr>
          <a:xfrm>
            <a:off x="475500" y="1474850"/>
            <a:ext cx="7169400" cy="21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rgbClr val="B7B7B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5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Utilizamos las funciones de Firestore para acceder a nuestra base de datos y mostrar los ítems en la interfaz de React.</a:t>
            </a:r>
            <a:endParaRPr b="1" sz="25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rgbClr val="B7B7B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283" name="Google Shape;283;p31"/>
          <p:cNvGrpSpPr/>
          <p:nvPr/>
        </p:nvGrpSpPr>
        <p:grpSpPr>
          <a:xfrm>
            <a:off x="475501" y="468273"/>
            <a:ext cx="738900" cy="738900"/>
            <a:chOff x="473351" y="619523"/>
            <a:chExt cx="738900" cy="738900"/>
          </a:xfrm>
        </p:grpSpPr>
        <p:sp>
          <p:nvSpPr>
            <p:cNvPr id="284" name="Google Shape;284;p31"/>
            <p:cNvSpPr/>
            <p:nvPr/>
          </p:nvSpPr>
          <p:spPr>
            <a:xfrm>
              <a:off x="473351" y="619523"/>
              <a:ext cx="738900" cy="73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85" name="Google Shape;285;p31" title="ícono de ejemplo en vivo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16475" y="762650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6" name="Google Shape;286;p31"/>
          <p:cNvSpPr txBox="1"/>
          <p:nvPr/>
        </p:nvSpPr>
        <p:spPr>
          <a:xfrm>
            <a:off x="475500" y="3829300"/>
            <a:ext cx="716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Duración: </a:t>
            </a:r>
            <a:r>
              <a:rPr b="1"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25 minutos</a:t>
            </a:r>
            <a:endParaRPr b="1" sz="2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87" name="Google Shape;287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88" name="Google Shape;288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89" name="Google Shape;289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4" name="Google Shape;294;p32"/>
          <p:cNvGrpSpPr/>
          <p:nvPr/>
        </p:nvGrpSpPr>
        <p:grpSpPr>
          <a:xfrm>
            <a:off x="1943488" y="1928850"/>
            <a:ext cx="197100" cy="197100"/>
            <a:chOff x="2172088" y="1852650"/>
            <a:chExt cx="197100" cy="197100"/>
          </a:xfrm>
        </p:grpSpPr>
        <p:sp>
          <p:nvSpPr>
            <p:cNvPr id="295" name="Google Shape;295;p32"/>
            <p:cNvSpPr/>
            <p:nvPr/>
          </p:nvSpPr>
          <p:spPr>
            <a:xfrm>
              <a:off x="2172088" y="1852650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32"/>
            <p:cNvSpPr/>
            <p:nvPr/>
          </p:nvSpPr>
          <p:spPr>
            <a:xfrm>
              <a:off x="2227138" y="1907700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7" name="Google Shape;297;p32"/>
          <p:cNvGrpSpPr/>
          <p:nvPr/>
        </p:nvGrpSpPr>
        <p:grpSpPr>
          <a:xfrm>
            <a:off x="1943488" y="2531975"/>
            <a:ext cx="197100" cy="197100"/>
            <a:chOff x="2172088" y="2455775"/>
            <a:chExt cx="197100" cy="197100"/>
          </a:xfrm>
        </p:grpSpPr>
        <p:sp>
          <p:nvSpPr>
            <p:cNvPr id="298" name="Google Shape;298;p32"/>
            <p:cNvSpPr/>
            <p:nvPr/>
          </p:nvSpPr>
          <p:spPr>
            <a:xfrm>
              <a:off x="2172088" y="2455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32"/>
            <p:cNvSpPr/>
            <p:nvPr/>
          </p:nvSpPr>
          <p:spPr>
            <a:xfrm>
              <a:off x="2227138" y="2510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300" name="Google Shape;300;p32"/>
          <p:cNvCxnSpPr>
            <a:endCxn id="298" idx="0"/>
          </p:cNvCxnSpPr>
          <p:nvPr/>
        </p:nvCxnSpPr>
        <p:spPr>
          <a:xfrm>
            <a:off x="2042038" y="212607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1" name="Google Shape;301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Resumen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2461975" y="1807625"/>
            <a:ext cx="4797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collection y getDocs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-&gt;</a:t>
            </a: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Obtener docs de una colección.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2461975" y="2410750"/>
            <a:ext cx="46851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query y where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-&gt; Obtener un listado de docs filtrados.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304" name="Google Shape;304;p32"/>
          <p:cNvGrpSpPr/>
          <p:nvPr/>
        </p:nvGrpSpPr>
        <p:grpSpPr>
          <a:xfrm>
            <a:off x="1943488" y="3158550"/>
            <a:ext cx="197100" cy="197100"/>
            <a:chOff x="2172088" y="3058775"/>
            <a:chExt cx="197100" cy="197100"/>
          </a:xfrm>
        </p:grpSpPr>
        <p:sp>
          <p:nvSpPr>
            <p:cNvPr id="305" name="Google Shape;305;p32"/>
            <p:cNvSpPr/>
            <p:nvPr/>
          </p:nvSpPr>
          <p:spPr>
            <a:xfrm>
              <a:off x="2172088" y="3058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32"/>
            <p:cNvSpPr/>
            <p:nvPr/>
          </p:nvSpPr>
          <p:spPr>
            <a:xfrm>
              <a:off x="2227138" y="3113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307" name="Google Shape;307;p32"/>
          <p:cNvCxnSpPr>
            <a:endCxn id="305" idx="0"/>
          </p:cNvCxnSpPr>
          <p:nvPr/>
        </p:nvCxnSpPr>
        <p:spPr>
          <a:xfrm>
            <a:off x="2042038" y="2752650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8" name="Google Shape;308;p32"/>
          <p:cNvSpPr txBox="1"/>
          <p:nvPr/>
        </p:nvSpPr>
        <p:spPr>
          <a:xfrm>
            <a:off x="2461975" y="3060900"/>
            <a:ext cx="46380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doc y getDoc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-&gt; Referenciar y obtener un único doc.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309" name="Google Shape;309;p32"/>
          <p:cNvGrpSpPr/>
          <p:nvPr/>
        </p:nvGrpSpPr>
        <p:grpSpPr>
          <a:xfrm>
            <a:off x="1965650" y="3705525"/>
            <a:ext cx="197100" cy="197100"/>
            <a:chOff x="2172088" y="3058775"/>
            <a:chExt cx="197100" cy="197100"/>
          </a:xfrm>
        </p:grpSpPr>
        <p:sp>
          <p:nvSpPr>
            <p:cNvPr id="310" name="Google Shape;310;p32"/>
            <p:cNvSpPr/>
            <p:nvPr/>
          </p:nvSpPr>
          <p:spPr>
            <a:xfrm>
              <a:off x="2172088" y="3058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32"/>
            <p:cNvSpPr/>
            <p:nvPr/>
          </p:nvSpPr>
          <p:spPr>
            <a:xfrm>
              <a:off x="2227138" y="3113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312" name="Google Shape;312;p32"/>
          <p:cNvCxnSpPr>
            <a:endCxn id="310" idx="0"/>
          </p:cNvCxnSpPr>
          <p:nvPr/>
        </p:nvCxnSpPr>
        <p:spPr>
          <a:xfrm>
            <a:off x="2064200" y="329962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3" name="Google Shape;313;p32"/>
          <p:cNvSpPr txBox="1"/>
          <p:nvPr/>
        </p:nvSpPr>
        <p:spPr>
          <a:xfrm>
            <a:off x="2484138" y="3607875"/>
            <a:ext cx="4638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 u="sng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Recuerda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: reemplaza tus </a:t>
            </a:r>
            <a:r>
              <a:rPr b="1" i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mocks promises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creadas en la semana 3 por llamados a tu base de datos.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3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b="1" sz="4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19" name="Google Shape;319;p33"/>
          <p:cNvSpPr txBox="1"/>
          <p:nvPr/>
        </p:nvSpPr>
        <p:spPr>
          <a:xfrm>
            <a:off x="2809200" y="2971950"/>
            <a:ext cx="3525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¡En 10 minutos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34"/>
          <p:cNvGrpSpPr/>
          <p:nvPr/>
        </p:nvGrpSpPr>
        <p:grpSpPr>
          <a:xfrm>
            <a:off x="4202556" y="994173"/>
            <a:ext cx="738900" cy="738900"/>
            <a:chOff x="974706" y="2467173"/>
            <a:chExt cx="738900" cy="738900"/>
          </a:xfrm>
        </p:grpSpPr>
        <p:sp>
          <p:nvSpPr>
            <p:cNvPr id="325" name="Google Shape;325;p34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26" name="Google Shape;326;p34" title="ícono de actividad en clase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7" name="Google Shape;327;p34"/>
          <p:cNvSpPr txBox="1"/>
          <p:nvPr/>
        </p:nvSpPr>
        <p:spPr>
          <a:xfrm>
            <a:off x="1538900" y="1925250"/>
            <a:ext cx="622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Item Collection II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28" name="Google Shape;328;p34"/>
          <p:cNvSpPr txBox="1"/>
          <p:nvPr/>
        </p:nvSpPr>
        <p:spPr>
          <a:xfrm>
            <a:off x="987263" y="3818588"/>
            <a:ext cx="716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Duración: 15</a:t>
            </a:r>
            <a:r>
              <a:rPr b="1"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 minutos</a:t>
            </a:r>
            <a:endParaRPr b="1" sz="2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29" name="Google Shape;329;p34"/>
          <p:cNvSpPr txBox="1"/>
          <p:nvPr/>
        </p:nvSpPr>
        <p:spPr>
          <a:xfrm>
            <a:off x="1064900" y="2947513"/>
            <a:ext cx="716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99999"/>
                </a:solidFill>
                <a:latin typeface="DM Sans"/>
                <a:ea typeface="DM Sans"/>
                <a:cs typeface="DM Sans"/>
                <a:sym typeface="DM Sans"/>
              </a:rPr>
              <a:t>Vamos a practicar lo visto</a:t>
            </a:r>
            <a:endParaRPr sz="2000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330" name="Google Shape;330;p3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31" name="Google Shape;331;p3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32" name="Google Shape;332;p3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5"/>
          <p:cNvSpPr txBox="1"/>
          <p:nvPr/>
        </p:nvSpPr>
        <p:spPr>
          <a:xfrm>
            <a:off x="540125" y="926475"/>
            <a:ext cx="7001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Item Collection II</a:t>
            </a:r>
            <a:endParaRPr b="1" i="0" sz="40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38" name="Google Shape;33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35"/>
          <p:cNvSpPr txBox="1"/>
          <p:nvPr/>
        </p:nvSpPr>
        <p:spPr>
          <a:xfrm>
            <a:off x="607000" y="1787825"/>
            <a:ext cx="7473300" cy="25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" sz="135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Descripción de la actividad. </a:t>
            </a:r>
            <a:endParaRPr b="1" i="0" sz="135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1" sz="1350">
              <a:latin typeface="DM Sans"/>
              <a:ea typeface="DM Sans"/>
              <a:cs typeface="DM Sans"/>
              <a:sym typeface="DM Sans"/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250"/>
              <a:buFont typeface="DM Sans"/>
              <a:buChar char="✓"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Crea tu colección de órdenes.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Recomendaciones</a:t>
            </a:r>
            <a:endParaRPr b="1"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250"/>
              <a:buFont typeface="DM Sans"/>
              <a:buChar char="✓"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 las operaciones de inserción para insertar tu orden en la colección y dale al user el id del documento auto-generado.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250"/>
              <a:buFont typeface="DM Sans"/>
              <a:buChar char="✓"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</a:t>
            </a: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los mappings para poder crear un objeto con los datos apropiados para generar la orden de compra con el formato:</a:t>
            </a:r>
            <a:b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{ buyer: { name, phone, email }, items: [{id, title, quantity, price}], date, total  }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79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250"/>
              <a:buFont typeface="DM Sans"/>
              <a:buChar char="✓"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Pista: Puedes controlar los stocks con multi-gets utilizando los itemId de tu cart.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930550" y="468275"/>
            <a:ext cx="2461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341" name="Google Shape;341;p35"/>
          <p:cNvGrpSpPr/>
          <p:nvPr/>
        </p:nvGrpSpPr>
        <p:grpSpPr>
          <a:xfrm>
            <a:off x="457347" y="468297"/>
            <a:ext cx="431074" cy="431074"/>
            <a:chOff x="974706" y="2467173"/>
            <a:chExt cx="738900" cy="738900"/>
          </a:xfrm>
        </p:grpSpPr>
        <p:sp>
          <p:nvSpPr>
            <p:cNvPr id="342" name="Google Shape;342;p35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43" name="Google Shape;343;p35" title="ícono de actividad en clase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4" name="Google Shape;344;p35"/>
          <p:cNvSpPr/>
          <p:nvPr/>
        </p:nvSpPr>
        <p:spPr>
          <a:xfrm>
            <a:off x="1046225" y="533975"/>
            <a:ext cx="3447600" cy="365400"/>
          </a:xfrm>
          <a:prstGeom prst="roundRect">
            <a:avLst>
              <a:gd fmla="val 16667" name="adj"/>
            </a:avLst>
          </a:prstGeom>
          <a:solidFill>
            <a:srgbClr val="EAFF6A"/>
          </a:solidFill>
          <a:ln>
            <a:noFill/>
          </a:ln>
          <a:effectLst>
            <a:outerShdw blurRad="57150" rotWithShape="0" algn="bl" dir="5400000" dist="19050">
              <a:srgbClr val="000000">
                <a:alpha val="498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" sz="1500">
                <a:latin typeface="DM Sans Medium"/>
                <a:ea typeface="DM Sans Medium"/>
                <a:cs typeface="DM Sans Medium"/>
                <a:sym typeface="DM Sans Medium"/>
              </a:rPr>
              <a:t>ACTIVIDAD DEL PROYECTO FINAL</a:t>
            </a:r>
            <a:endParaRPr b="0" i="0" sz="1500" u="none" cap="none" strike="noStrike"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 txBox="1"/>
          <p:nvPr/>
        </p:nvSpPr>
        <p:spPr>
          <a:xfrm>
            <a:off x="359275" y="806900"/>
            <a:ext cx="5071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Item Collection II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50" name="Google Shape;350;p36"/>
          <p:cNvSpPr txBox="1"/>
          <p:nvPr/>
        </p:nvSpPr>
        <p:spPr>
          <a:xfrm>
            <a:off x="262950" y="1435950"/>
            <a:ext cx="8458200" cy="3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lang="es" sz="1350">
                <a:latin typeface="DM Sans"/>
                <a:ea typeface="DM Sans"/>
                <a:cs typeface="DM Sans"/>
                <a:sym typeface="DM Sans"/>
              </a:rPr>
              <a:t>Ejemplo inicial. </a:t>
            </a:r>
            <a:endParaRPr b="1"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👀 Crea el objeto ORDER con la información solicitada: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let order = {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buyer: {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name: "An Ecommerce Client",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email: "client@coderhouse.com",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phone: "123456789"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},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total: //utiliza una función global para calcular el importe total de la orden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items: //mapea tu carrito para agregar aquí solo los datos solicitados de cada producto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date: serverTimestamp()	//método de firebase para asignar la fecha y hora del servidor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};</a:t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👀 Luego deberás crear una función que agregue ese objeto a un documento en una collección ORDERS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Guíate de la documentación de Firestore 👉 </a:t>
            </a:r>
            <a:r>
              <a:rPr lang="es" sz="12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https://firebase.google.com/docs/firestore/manage-data/add-data</a:t>
            </a:r>
            <a:r>
              <a:rPr lang="es" sz="12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51" name="Google Shape;351;p36"/>
          <p:cNvSpPr txBox="1"/>
          <p:nvPr/>
        </p:nvSpPr>
        <p:spPr>
          <a:xfrm>
            <a:off x="909100" y="296825"/>
            <a:ext cx="2461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352" name="Google Shape;352;p36"/>
          <p:cNvGrpSpPr/>
          <p:nvPr/>
        </p:nvGrpSpPr>
        <p:grpSpPr>
          <a:xfrm>
            <a:off x="475497" y="335872"/>
            <a:ext cx="431074" cy="431074"/>
            <a:chOff x="974706" y="2467173"/>
            <a:chExt cx="738900" cy="738900"/>
          </a:xfrm>
        </p:grpSpPr>
        <p:sp>
          <p:nvSpPr>
            <p:cNvPr id="353" name="Google Shape;353;p36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54" name="Google Shape;354;p36" title="ícono de actividad en clase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55" name="Google Shape;355;p36"/>
          <p:cNvSpPr/>
          <p:nvPr/>
        </p:nvSpPr>
        <p:spPr>
          <a:xfrm>
            <a:off x="1064375" y="401550"/>
            <a:ext cx="3447600" cy="365400"/>
          </a:xfrm>
          <a:prstGeom prst="roundRect">
            <a:avLst>
              <a:gd fmla="val 16667" name="adj"/>
            </a:avLst>
          </a:prstGeom>
          <a:solidFill>
            <a:srgbClr val="EAFF6A"/>
          </a:solidFill>
          <a:ln>
            <a:noFill/>
          </a:ln>
          <a:effectLst>
            <a:outerShdw blurRad="57150" rotWithShape="0" algn="bl" dir="5400000" dist="19050">
              <a:srgbClr val="000000">
                <a:alpha val="498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" sz="1500">
                <a:latin typeface="DM Sans Medium"/>
                <a:ea typeface="DM Sans Medium"/>
                <a:cs typeface="DM Sans Medium"/>
                <a:sym typeface="DM Sans Medium"/>
              </a:rPr>
              <a:t>ACTIVIDAD DEL PROYECTO FINAL</a:t>
            </a:r>
            <a:endParaRPr b="0" i="0" sz="1500" u="none" cap="none" strike="noStrike"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1" name="Google Shape;361;p37"/>
          <p:cNvGrpSpPr/>
          <p:nvPr/>
        </p:nvGrpSpPr>
        <p:grpSpPr>
          <a:xfrm>
            <a:off x="4243306" y="1320073"/>
            <a:ext cx="738900" cy="738900"/>
            <a:chOff x="974706" y="2467173"/>
            <a:chExt cx="738900" cy="738900"/>
          </a:xfrm>
        </p:grpSpPr>
        <p:sp>
          <p:nvSpPr>
            <p:cNvPr id="362" name="Google Shape;362;p37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63" name="Google Shape;363;p37" title="ícono de actividad en clase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64" name="Google Shape;364;p37"/>
          <p:cNvSpPr txBox="1"/>
          <p:nvPr/>
        </p:nvSpPr>
        <p:spPr>
          <a:xfrm>
            <a:off x="1502050" y="2406788"/>
            <a:ext cx="622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Puesta en común</a:t>
            </a:r>
            <a:endParaRPr b="1" sz="4000">
              <a:solidFill>
                <a:schemeClr val="dk1"/>
              </a:solidFill>
              <a:highlight>
                <a:srgbClr val="EAFF6A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65" name="Google Shape;365;p37"/>
          <p:cNvSpPr txBox="1"/>
          <p:nvPr/>
        </p:nvSpPr>
        <p:spPr>
          <a:xfrm>
            <a:off x="2179625" y="3493500"/>
            <a:ext cx="5061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Duración:</a:t>
            </a:r>
            <a:r>
              <a:rPr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 15/20 minutos</a:t>
            </a:r>
            <a:endParaRPr b="1" sz="2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0" name="Google Shape;370;p38"/>
          <p:cNvGrpSpPr/>
          <p:nvPr/>
        </p:nvGrpSpPr>
        <p:grpSpPr>
          <a:xfrm>
            <a:off x="4202556" y="994173"/>
            <a:ext cx="738900" cy="738900"/>
            <a:chOff x="974706" y="2467173"/>
            <a:chExt cx="738900" cy="738900"/>
          </a:xfrm>
        </p:grpSpPr>
        <p:sp>
          <p:nvSpPr>
            <p:cNvPr id="371" name="Google Shape;371;p38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72" name="Google Shape;372;p38" title="ícono de actividad en clase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3" name="Google Shape;373;p38"/>
          <p:cNvSpPr txBox="1"/>
          <p:nvPr/>
        </p:nvSpPr>
        <p:spPr>
          <a:xfrm>
            <a:off x="1538900" y="1925250"/>
            <a:ext cx="622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Modera tus orders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74" name="Google Shape;374;p38"/>
          <p:cNvSpPr txBox="1"/>
          <p:nvPr/>
        </p:nvSpPr>
        <p:spPr>
          <a:xfrm>
            <a:off x="987263" y="3818588"/>
            <a:ext cx="716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Duración: </a:t>
            </a:r>
            <a:r>
              <a:rPr b="1"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30</a:t>
            </a:r>
            <a:r>
              <a:rPr b="1" lang="es" sz="2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rPr>
              <a:t> minutos</a:t>
            </a:r>
            <a:endParaRPr b="1" sz="2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75" name="Google Shape;375;p38"/>
          <p:cNvSpPr txBox="1"/>
          <p:nvPr/>
        </p:nvSpPr>
        <p:spPr>
          <a:xfrm>
            <a:off x="1064900" y="2947513"/>
            <a:ext cx="716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99999"/>
                </a:solidFill>
                <a:latin typeface="DM Sans"/>
                <a:ea typeface="DM Sans"/>
                <a:cs typeface="DM Sans"/>
                <a:sym typeface="DM Sans"/>
              </a:rPr>
              <a:t>Vamos a practicar lo visto</a:t>
            </a:r>
            <a:endParaRPr sz="2000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376" name="Google Shape;376;p3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77" name="Google Shape;377;p3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78" name="Google Shape;378;p3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oogle Shape;383;p39"/>
          <p:cNvGrpSpPr/>
          <p:nvPr/>
        </p:nvGrpSpPr>
        <p:grpSpPr>
          <a:xfrm>
            <a:off x="457347" y="468297"/>
            <a:ext cx="431074" cy="431074"/>
            <a:chOff x="974706" y="2467173"/>
            <a:chExt cx="738900" cy="738900"/>
          </a:xfrm>
        </p:grpSpPr>
        <p:sp>
          <p:nvSpPr>
            <p:cNvPr id="384" name="Google Shape;384;p39"/>
            <p:cNvSpPr/>
            <p:nvPr/>
          </p:nvSpPr>
          <p:spPr>
            <a:xfrm>
              <a:off x="974706" y="2467173"/>
              <a:ext cx="738900" cy="73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85" name="Google Shape;385;p39" title="ícono de actividad en clase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09750" y="2610275"/>
              <a:ext cx="452650" cy="452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6" name="Google Shape;386;p39"/>
          <p:cNvSpPr txBox="1"/>
          <p:nvPr/>
        </p:nvSpPr>
        <p:spPr>
          <a:xfrm>
            <a:off x="457350" y="971825"/>
            <a:ext cx="5250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Modera tus orders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87" name="Google Shape;387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9"/>
          <p:cNvSpPr txBox="1"/>
          <p:nvPr/>
        </p:nvSpPr>
        <p:spPr>
          <a:xfrm>
            <a:off x="412775" y="2073838"/>
            <a:ext cx="4987200" cy="24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>
                <a:latin typeface="DM Sans"/>
                <a:ea typeface="DM Sans"/>
                <a:cs typeface="DM Sans"/>
                <a:sym typeface="DM Sans"/>
              </a:rPr>
              <a:t>Descripción de la actividad. </a:t>
            </a:r>
            <a:endParaRPr b="1"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 tu tus ítems del cart para modelar tu orden al siguiente formato: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{ buyer: { name, phone, email }, items: [{id, title, price}], total  }, si todavía no creaste el formulario de compra puedes usar un objeto hardcodeado de tipo { name, phone, email }.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89" name="Google Shape;389;p39"/>
          <p:cNvSpPr txBox="1"/>
          <p:nvPr/>
        </p:nvSpPr>
        <p:spPr>
          <a:xfrm>
            <a:off x="930550" y="468275"/>
            <a:ext cx="2461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ACTIVIDAD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90" name="Google Shape;390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5" name="Google Shape;395;p40"/>
          <p:cNvGrpSpPr/>
          <p:nvPr/>
        </p:nvGrpSpPr>
        <p:grpSpPr>
          <a:xfrm>
            <a:off x="749388" y="1359575"/>
            <a:ext cx="197100" cy="197100"/>
            <a:chOff x="2172088" y="1852650"/>
            <a:chExt cx="197100" cy="197100"/>
          </a:xfrm>
        </p:grpSpPr>
        <p:sp>
          <p:nvSpPr>
            <p:cNvPr id="396" name="Google Shape;396;p40"/>
            <p:cNvSpPr/>
            <p:nvPr/>
          </p:nvSpPr>
          <p:spPr>
            <a:xfrm>
              <a:off x="2172088" y="1852650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40"/>
            <p:cNvSpPr/>
            <p:nvPr/>
          </p:nvSpPr>
          <p:spPr>
            <a:xfrm>
              <a:off x="2227138" y="1907700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98" name="Google Shape;398;p40"/>
          <p:cNvGrpSpPr/>
          <p:nvPr/>
        </p:nvGrpSpPr>
        <p:grpSpPr>
          <a:xfrm>
            <a:off x="749388" y="1944713"/>
            <a:ext cx="197100" cy="197100"/>
            <a:chOff x="2172088" y="2455775"/>
            <a:chExt cx="197100" cy="197100"/>
          </a:xfrm>
        </p:grpSpPr>
        <p:sp>
          <p:nvSpPr>
            <p:cNvPr id="399" name="Google Shape;399;p40"/>
            <p:cNvSpPr/>
            <p:nvPr/>
          </p:nvSpPr>
          <p:spPr>
            <a:xfrm>
              <a:off x="2172088" y="2455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40"/>
            <p:cNvSpPr/>
            <p:nvPr/>
          </p:nvSpPr>
          <p:spPr>
            <a:xfrm>
              <a:off x="2227138" y="2510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01" name="Google Shape;401;p40"/>
          <p:cNvSpPr txBox="1"/>
          <p:nvPr/>
        </p:nvSpPr>
        <p:spPr>
          <a:xfrm>
            <a:off x="436025" y="4682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Firestore: checklist challenge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2" name="Google Shape;402;p40"/>
          <p:cNvSpPr txBox="1"/>
          <p:nvPr/>
        </p:nvSpPr>
        <p:spPr>
          <a:xfrm>
            <a:off x="1215673" y="1278563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Tienes tu Cart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Context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y Provider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3" name="Google Shape;403;p40"/>
          <p:cNvSpPr txBox="1"/>
          <p:nvPr/>
        </p:nvSpPr>
        <p:spPr>
          <a:xfrm>
            <a:off x="1215673" y="180548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Puedes agregar items a tu Cart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404" name="Google Shape;404;p40"/>
          <p:cNvGrpSpPr/>
          <p:nvPr/>
        </p:nvGrpSpPr>
        <p:grpSpPr>
          <a:xfrm>
            <a:off x="749388" y="2486950"/>
            <a:ext cx="197100" cy="197100"/>
            <a:chOff x="2172088" y="3058775"/>
            <a:chExt cx="197100" cy="197100"/>
          </a:xfrm>
        </p:grpSpPr>
        <p:sp>
          <p:nvSpPr>
            <p:cNvPr id="405" name="Google Shape;405;p40"/>
            <p:cNvSpPr/>
            <p:nvPr/>
          </p:nvSpPr>
          <p:spPr>
            <a:xfrm>
              <a:off x="2172088" y="3058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40"/>
            <p:cNvSpPr/>
            <p:nvPr/>
          </p:nvSpPr>
          <p:spPr>
            <a:xfrm>
              <a:off x="2227138" y="3113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407" name="Google Shape;407;p40"/>
          <p:cNvCxnSpPr/>
          <p:nvPr/>
        </p:nvCxnSpPr>
        <p:spPr>
          <a:xfrm>
            <a:off x="847938" y="373522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408" name="Google Shape;408;p40"/>
          <p:cNvGrpSpPr/>
          <p:nvPr/>
        </p:nvGrpSpPr>
        <p:grpSpPr>
          <a:xfrm>
            <a:off x="749388" y="3029175"/>
            <a:ext cx="197100" cy="197100"/>
            <a:chOff x="2172088" y="3661775"/>
            <a:chExt cx="197100" cy="197100"/>
          </a:xfrm>
        </p:grpSpPr>
        <p:sp>
          <p:nvSpPr>
            <p:cNvPr id="409" name="Google Shape;409;p40"/>
            <p:cNvSpPr/>
            <p:nvPr/>
          </p:nvSpPr>
          <p:spPr>
            <a:xfrm>
              <a:off x="2172088" y="3661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40"/>
            <p:cNvSpPr/>
            <p:nvPr/>
          </p:nvSpPr>
          <p:spPr>
            <a:xfrm>
              <a:off x="2227138" y="3716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411" name="Google Shape;411;p40"/>
          <p:cNvCxnSpPr/>
          <p:nvPr/>
        </p:nvCxnSpPr>
        <p:spPr>
          <a:xfrm>
            <a:off x="847938" y="2622550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12" name="Google Shape;412;p40"/>
          <p:cNvSpPr txBox="1"/>
          <p:nvPr/>
        </p:nvSpPr>
        <p:spPr>
          <a:xfrm>
            <a:off x="1215673" y="2379438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Puedes navegar de tu List a tu Detail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13" name="Google Shape;413;p40"/>
          <p:cNvSpPr txBox="1"/>
          <p:nvPr/>
        </p:nvSpPr>
        <p:spPr>
          <a:xfrm>
            <a:off x="1215673" y="3472163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Conectaste el listado y el detalle a Firestore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414" name="Google Shape;414;p40"/>
          <p:cNvGrpSpPr/>
          <p:nvPr/>
        </p:nvGrpSpPr>
        <p:grpSpPr>
          <a:xfrm>
            <a:off x="749388" y="4141125"/>
            <a:ext cx="197100" cy="197100"/>
            <a:chOff x="2172088" y="3661775"/>
            <a:chExt cx="197100" cy="197100"/>
          </a:xfrm>
        </p:grpSpPr>
        <p:sp>
          <p:nvSpPr>
            <p:cNvPr id="415" name="Google Shape;415;p40"/>
            <p:cNvSpPr/>
            <p:nvPr/>
          </p:nvSpPr>
          <p:spPr>
            <a:xfrm>
              <a:off x="2172088" y="3661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40"/>
            <p:cNvSpPr/>
            <p:nvPr/>
          </p:nvSpPr>
          <p:spPr>
            <a:xfrm>
              <a:off x="2227138" y="3716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417" name="Google Shape;417;p40"/>
          <p:cNvCxnSpPr/>
          <p:nvPr/>
        </p:nvCxnSpPr>
        <p:spPr>
          <a:xfrm>
            <a:off x="847938" y="212382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418" name="Google Shape;418;p40"/>
          <p:cNvGrpSpPr/>
          <p:nvPr/>
        </p:nvGrpSpPr>
        <p:grpSpPr>
          <a:xfrm>
            <a:off x="749400" y="3548375"/>
            <a:ext cx="197100" cy="197100"/>
            <a:chOff x="2172088" y="3661775"/>
            <a:chExt cx="197100" cy="197100"/>
          </a:xfrm>
        </p:grpSpPr>
        <p:sp>
          <p:nvSpPr>
            <p:cNvPr id="419" name="Google Shape;419;p40"/>
            <p:cNvSpPr/>
            <p:nvPr/>
          </p:nvSpPr>
          <p:spPr>
            <a:xfrm>
              <a:off x="2172088" y="3661775"/>
              <a:ext cx="197100" cy="197100"/>
            </a:xfrm>
            <a:prstGeom prst="ellipse">
              <a:avLst/>
            </a:prstGeom>
            <a:solidFill>
              <a:srgbClr val="DEFC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40"/>
            <p:cNvSpPr/>
            <p:nvPr/>
          </p:nvSpPr>
          <p:spPr>
            <a:xfrm>
              <a:off x="2227138" y="3716825"/>
              <a:ext cx="87000" cy="8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421" name="Google Shape;421;p40"/>
          <p:cNvCxnSpPr/>
          <p:nvPr/>
        </p:nvCxnSpPr>
        <p:spPr>
          <a:xfrm>
            <a:off x="847938" y="318192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22" name="Google Shape;422;p40"/>
          <p:cNvCxnSpPr/>
          <p:nvPr/>
        </p:nvCxnSpPr>
        <p:spPr>
          <a:xfrm>
            <a:off x="847938" y="1514225"/>
            <a:ext cx="0" cy="405900"/>
          </a:xfrm>
          <a:prstGeom prst="straightConnector1">
            <a:avLst/>
          </a:prstGeom>
          <a:noFill/>
          <a:ln cap="flat" cmpd="sng" w="9525">
            <a:solidFill>
              <a:srgbClr val="DEFC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3" name="Google Shape;423;p40"/>
          <p:cNvSpPr txBox="1"/>
          <p:nvPr/>
        </p:nvSpPr>
        <p:spPr>
          <a:xfrm>
            <a:off x="1198523" y="2925800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Puedes ver el contenido del Cart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24" name="Google Shape;424;p40"/>
          <p:cNvSpPr txBox="1"/>
          <p:nvPr/>
        </p:nvSpPr>
        <p:spPr>
          <a:xfrm>
            <a:off x="1215673" y="4005563"/>
            <a:ext cx="428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¡Conectemos la compra y generemos la orden!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25" name="Google Shape;42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9100" y="1619234"/>
            <a:ext cx="2010275" cy="201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41"/>
          <p:cNvSpPr txBox="1"/>
          <p:nvPr/>
        </p:nvSpPr>
        <p:spPr>
          <a:xfrm>
            <a:off x="403175" y="487375"/>
            <a:ext cx="7483500" cy="9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s" sz="3500">
                <a:highlight>
                  <a:srgbClr val="FFFFFF"/>
                </a:highlight>
                <a:latin typeface="DM Sans"/>
                <a:ea typeface="DM Sans"/>
                <a:cs typeface="DM Sans"/>
                <a:sym typeface="DM Sans"/>
              </a:rPr>
              <a:t>Modificar</a:t>
            </a:r>
            <a:endParaRPr b="1" sz="3500">
              <a:highlight>
                <a:srgbClr val="FFFFFF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s" sz="3500">
                <a:highlight>
                  <a:srgbClr val="FFFFFF"/>
                </a:highlight>
                <a:latin typeface="DM Sans"/>
                <a:ea typeface="DM Sans"/>
                <a:cs typeface="DM Sans"/>
                <a:sym typeface="DM Sans"/>
              </a:rPr>
              <a:t>Reglas</a:t>
            </a:r>
            <a:endParaRPr b="1" sz="3500">
              <a:highlight>
                <a:srgbClr val="FFFFFF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31" name="Google Shape;431;p41"/>
          <p:cNvSpPr txBox="1"/>
          <p:nvPr/>
        </p:nvSpPr>
        <p:spPr>
          <a:xfrm>
            <a:off x="412775" y="2077725"/>
            <a:ext cx="24330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250">
                <a:latin typeface="DM Sans"/>
                <a:ea typeface="DM Sans"/>
                <a:cs typeface="DM Sans"/>
                <a:sym typeface="DM Sans"/>
              </a:rPr>
              <a:t>Recuerda: </a:t>
            </a:r>
            <a:r>
              <a:rPr lang="es" sz="1250">
                <a:latin typeface="DM Sans"/>
                <a:ea typeface="DM Sans"/>
                <a:cs typeface="DM Sans"/>
                <a:sym typeface="DM Sans"/>
              </a:rPr>
              <a:t>si creaste tu base de datos en </a:t>
            </a:r>
            <a:r>
              <a:rPr b="1" lang="es" sz="1250">
                <a:latin typeface="DM Sans"/>
                <a:ea typeface="DM Sans"/>
                <a:cs typeface="DM Sans"/>
                <a:sym typeface="DM Sans"/>
              </a:rPr>
              <a:t>modo prueba</a:t>
            </a:r>
            <a:r>
              <a:rPr lang="es" sz="1250"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b="1" lang="es" sz="1250">
                <a:latin typeface="DM Sans"/>
                <a:ea typeface="DM Sans"/>
                <a:cs typeface="DM Sans"/>
                <a:sym typeface="DM Sans"/>
              </a:rPr>
              <a:t>solo podrás conectarte desde React durante 30 días.</a:t>
            </a:r>
            <a:r>
              <a:rPr lang="es" sz="1250">
                <a:latin typeface="DM Sans"/>
                <a:ea typeface="DM Sans"/>
                <a:cs typeface="DM Sans"/>
                <a:sym typeface="DM Sans"/>
              </a:rPr>
              <a:t> Para solucionarlo, solo debes cambiar la fecha límite en la pestaña “Reglas” dentro del panel de tu base de datos Firestore.</a:t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2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32" name="Google Shape;43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2825" y="740300"/>
            <a:ext cx="2169725" cy="37662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78575" y="706050"/>
            <a:ext cx="3259699" cy="180268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4" name="Google Shape;434;p41"/>
          <p:cNvCxnSpPr/>
          <p:nvPr/>
        </p:nvCxnSpPr>
        <p:spPr>
          <a:xfrm flipH="1" rot="10800000">
            <a:off x="4619125" y="1093750"/>
            <a:ext cx="1154700" cy="75420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stealth"/>
          </a:ln>
        </p:spPr>
      </p:cxnSp>
      <p:pic>
        <p:nvPicPr>
          <p:cNvPr id="435" name="Google Shape;435;p41"/>
          <p:cNvPicPr preferRelativeResize="0"/>
          <p:nvPr/>
        </p:nvPicPr>
        <p:blipFill rotWithShape="1">
          <a:blip r:embed="rId5">
            <a:alphaModFix/>
          </a:blip>
          <a:srcRect b="0" l="35629" r="0" t="18613"/>
          <a:stretch/>
        </p:blipFill>
        <p:spPr>
          <a:xfrm>
            <a:off x="5652350" y="2843650"/>
            <a:ext cx="3016150" cy="1541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6" name="Google Shape;436;p41"/>
          <p:cNvCxnSpPr/>
          <p:nvPr/>
        </p:nvCxnSpPr>
        <p:spPr>
          <a:xfrm>
            <a:off x="6021375" y="1070225"/>
            <a:ext cx="1119300" cy="190890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"/>
          <p:cNvSpPr txBox="1"/>
          <p:nvPr/>
        </p:nvSpPr>
        <p:spPr>
          <a:xfrm>
            <a:off x="1461300" y="1786725"/>
            <a:ext cx="622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¿Preguntas?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42" name="Google Shape;442;p42"/>
          <p:cNvSpPr txBox="1"/>
          <p:nvPr/>
        </p:nvSpPr>
        <p:spPr>
          <a:xfrm>
            <a:off x="2998200" y="2556375"/>
            <a:ext cx="3147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s" sz="2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Te invitamos a dejar tu pregunta a través del chat</a:t>
            </a:r>
            <a:endParaRPr b="0" i="0" sz="2000" u="sng" cap="none" strike="noStrike">
              <a:solidFill>
                <a:srgbClr val="83AEF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3"/>
          <p:cNvSpPr txBox="1"/>
          <p:nvPr/>
        </p:nvSpPr>
        <p:spPr>
          <a:xfrm>
            <a:off x="1461300" y="2216950"/>
            <a:ext cx="62214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 compartimos los </a:t>
            </a:r>
            <a:r>
              <a:rPr b="1" lang="es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siguientes</a:t>
            </a:r>
            <a:r>
              <a:rPr b="1" lang="es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s" sz="3500">
                <a:solidFill>
                  <a:schemeClr val="dk1"/>
                </a:solidFill>
                <a:highlight>
                  <a:srgbClr val="EAFF6A"/>
                </a:highlight>
                <a:latin typeface="DM Sans"/>
                <a:ea typeface="DM Sans"/>
                <a:cs typeface="DM Sans"/>
                <a:sym typeface="DM Sans"/>
              </a:rPr>
              <a:t>CoderTips</a:t>
            </a:r>
            <a:endParaRPr b="1" sz="3500">
              <a:solidFill>
                <a:schemeClr val="dk1"/>
              </a:solidFill>
              <a:highlight>
                <a:srgbClr val="EAFF6A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448" name="Google Shape;448;p43"/>
          <p:cNvGrpSpPr/>
          <p:nvPr/>
        </p:nvGrpSpPr>
        <p:grpSpPr>
          <a:xfrm>
            <a:off x="4202550" y="1322535"/>
            <a:ext cx="738900" cy="738900"/>
            <a:chOff x="4202550" y="994173"/>
            <a:chExt cx="738900" cy="738900"/>
          </a:xfrm>
        </p:grpSpPr>
        <p:sp>
          <p:nvSpPr>
            <p:cNvPr id="449" name="Google Shape;449;p43"/>
            <p:cNvSpPr/>
            <p:nvPr/>
          </p:nvSpPr>
          <p:spPr>
            <a:xfrm>
              <a:off x="4202550" y="994173"/>
              <a:ext cx="738900" cy="7389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FFFFFF"/>
                </a:solidFill>
              </a:endParaRPr>
            </a:p>
          </p:txBody>
        </p:sp>
        <p:pic>
          <p:nvPicPr>
            <p:cNvPr id="450" name="Google Shape;450;p43" title="ícono de codertips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346700" y="1138325"/>
              <a:ext cx="450600" cy="450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4"/>
          <p:cNvSpPr txBox="1"/>
          <p:nvPr/>
        </p:nvSpPr>
        <p:spPr>
          <a:xfrm>
            <a:off x="501450" y="899375"/>
            <a:ext cx="731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Te recomendamos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56" name="Google Shape;456;p44"/>
          <p:cNvSpPr/>
          <p:nvPr/>
        </p:nvSpPr>
        <p:spPr>
          <a:xfrm>
            <a:off x="457358" y="468285"/>
            <a:ext cx="431074" cy="43107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457" name="Google Shape;457;p44" title="ícono de codertip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455" y="552384"/>
            <a:ext cx="262880" cy="26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44"/>
          <p:cNvSpPr txBox="1"/>
          <p:nvPr/>
        </p:nvSpPr>
        <p:spPr>
          <a:xfrm>
            <a:off x="930550" y="468275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CODERTIPS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59" name="Google Shape;459;p44"/>
          <p:cNvSpPr txBox="1"/>
          <p:nvPr/>
        </p:nvSpPr>
        <p:spPr>
          <a:xfrm>
            <a:off x="4106950" y="2241775"/>
            <a:ext cx="4106400" cy="24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432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uedes guardarlos en una colección mediante una función de JavaScript que cree un “batch” y mediante un bucle agregue un documento por cada uno de tus productos.</a:t>
            </a:r>
            <a:b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432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Helvetica Neue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Puedes utilizar las funcionalidades de Firestore para crear un sistema de </a:t>
            </a:r>
            <a:r>
              <a:rPr b="1"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4"/>
              </a:rPr>
              <a:t>paginación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tu catálogo.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rtl="0" algn="l">
              <a:lnSpc>
                <a:spcPct val="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0" name="Google Shape;460;p44"/>
          <p:cNvSpPr txBox="1"/>
          <p:nvPr/>
        </p:nvSpPr>
        <p:spPr>
          <a:xfrm>
            <a:off x="457350" y="1682450"/>
            <a:ext cx="3501900" cy="26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432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Dimos solo un pequeño vistazo a Firestore: existen muchas otras funcionalidades que puedes descubrir leyendo la </a:t>
            </a:r>
            <a:r>
              <a:rPr b="1"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5"/>
              </a:rPr>
              <a:t>documentación oficial</a:t>
            </a: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1"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rtl="0" algn="l">
              <a:lnSpc>
                <a:spcPct val="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4325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350"/>
              <a:buFont typeface="Helvetica Neue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cambios de estado generan una nueva ejecución de todo el código en un componente: utiliza </a:t>
            </a: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useEffect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asegurarte que realizas llamados a Firestore solo cuando sea necesario.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1" name="Google Shape;461;p44"/>
          <p:cNvSpPr txBox="1"/>
          <p:nvPr/>
        </p:nvSpPr>
        <p:spPr>
          <a:xfrm>
            <a:off x="4282788" y="1714475"/>
            <a:ext cx="3842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b="1"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tu ecommerce cuenta con un gran listado de productos:</a:t>
            </a:r>
            <a:endParaRPr b="1"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5"/>
          <p:cNvSpPr txBox="1"/>
          <p:nvPr/>
        </p:nvSpPr>
        <p:spPr>
          <a:xfrm>
            <a:off x="1339500" y="693075"/>
            <a:ext cx="64650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Resumen</a:t>
            </a:r>
            <a:r>
              <a:rPr b="1" lang="es" sz="4000">
                <a:solidFill>
                  <a:srgbClr val="DEFC52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b="1" sz="4000">
              <a:solidFill>
                <a:srgbClr val="DEFC5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de la clase hoy</a:t>
            </a:r>
            <a:endParaRPr sz="4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5"/>
          <p:cNvSpPr txBox="1"/>
          <p:nvPr/>
        </p:nvSpPr>
        <p:spPr>
          <a:xfrm>
            <a:off x="2109143" y="2325013"/>
            <a:ext cx="4925700" cy="14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Firebase.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4325" lvl="0" marL="457200" rtl="0" algn="l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Firestore.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4325" lvl="0" marL="457200" rtl="0" algn="l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Queries.</a:t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135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46"/>
          <p:cNvSpPr txBox="1"/>
          <p:nvPr/>
        </p:nvSpPr>
        <p:spPr>
          <a:xfrm>
            <a:off x="1431550" y="688825"/>
            <a:ext cx="71694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lang="es" sz="35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#Coderalert</a:t>
            </a:r>
            <a:endParaRPr b="1" i="0" sz="3500" u="none" cap="none" strike="noStrike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3" name="Google Shape;473;p46"/>
          <p:cNvSpPr txBox="1"/>
          <p:nvPr/>
        </p:nvSpPr>
        <p:spPr>
          <a:xfrm>
            <a:off x="1212250" y="1490050"/>
            <a:ext cx="7169400" cy="28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s" sz="2500">
                <a:solidFill>
                  <a:srgbClr val="9E9E9E"/>
                </a:solidFill>
                <a:latin typeface="DM Sans"/>
                <a:ea typeface="DM Sans"/>
                <a:cs typeface="DM Sans"/>
                <a:sym typeface="DM Sans"/>
              </a:rPr>
              <a:t>Ingresa a la </a:t>
            </a:r>
            <a:r>
              <a:rPr b="1" lang="es" sz="250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Guía de actividades hacia el Proyecto Final</a:t>
            </a:r>
            <a:r>
              <a:rPr b="1" lang="es" sz="2500">
                <a:solidFill>
                  <a:srgbClr val="9E9E9E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" sz="2500">
                <a:solidFill>
                  <a:srgbClr val="9E9E9E"/>
                </a:solidFill>
                <a:latin typeface="DM Sans"/>
                <a:ea typeface="DM Sans"/>
                <a:cs typeface="DM Sans"/>
                <a:sym typeface="DM Sans"/>
              </a:rPr>
              <a:t> y realiza la actividad “</a:t>
            </a:r>
            <a:r>
              <a:rPr lang="es" sz="2500">
                <a:solidFill>
                  <a:srgbClr val="9E9E9E"/>
                </a:solidFill>
                <a:latin typeface="DM Sans"/>
                <a:ea typeface="DM Sans"/>
                <a:cs typeface="DM Sans"/>
                <a:sym typeface="DM Sans"/>
              </a:rPr>
              <a:t>Item Collection I</a:t>
            </a:r>
            <a:r>
              <a:rPr lang="es" sz="2500">
                <a:solidFill>
                  <a:srgbClr val="9E9E9E"/>
                </a:solidFill>
                <a:latin typeface="DM Sans"/>
                <a:ea typeface="DM Sans"/>
                <a:cs typeface="DM Sans"/>
                <a:sym typeface="DM Sans"/>
              </a:rPr>
              <a:t>”. </a:t>
            </a:r>
            <a:endParaRPr sz="2500">
              <a:solidFill>
                <a:srgbClr val="9E9E9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500">
              <a:solidFill>
                <a:srgbClr val="9E9E9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s" sz="2500">
                <a:solidFill>
                  <a:srgbClr val="9E9E9E"/>
                </a:solidFill>
                <a:latin typeface="DM Sans"/>
                <a:ea typeface="DM Sans"/>
                <a:cs typeface="DM Sans"/>
                <a:sym typeface="DM Sans"/>
              </a:rPr>
              <a:t>Ten en cuenta que el desarrollo de la misma será importante para la resolución del Proyecto Final.</a:t>
            </a:r>
            <a:endParaRPr sz="2500">
              <a:solidFill>
                <a:srgbClr val="B7B7B7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474" name="Google Shape;474;p46"/>
          <p:cNvGrpSpPr/>
          <p:nvPr/>
        </p:nvGrpSpPr>
        <p:grpSpPr>
          <a:xfrm>
            <a:off x="543106" y="716450"/>
            <a:ext cx="669148" cy="614370"/>
            <a:chOff x="5855025" y="2172613"/>
            <a:chExt cx="1088400" cy="1057800"/>
          </a:xfrm>
        </p:grpSpPr>
        <p:sp>
          <p:nvSpPr>
            <p:cNvPr id="475" name="Google Shape;475;p46"/>
            <p:cNvSpPr/>
            <p:nvPr/>
          </p:nvSpPr>
          <p:spPr>
            <a:xfrm>
              <a:off x="5855025" y="2172613"/>
              <a:ext cx="1088400" cy="1057800"/>
            </a:xfrm>
            <a:prstGeom prst="ellipse">
              <a:avLst/>
            </a:prstGeom>
            <a:solidFill>
              <a:srgbClr val="EEEEEE"/>
            </a:solidFill>
            <a:ln cap="flat" cmpd="sng" w="9525">
              <a:solidFill>
                <a:srgbClr val="EEEEE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76" name="Google Shape;476;p4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073225" y="2327338"/>
              <a:ext cx="748350" cy="748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47"/>
          <p:cNvSpPr txBox="1"/>
          <p:nvPr/>
        </p:nvSpPr>
        <p:spPr>
          <a:xfrm>
            <a:off x="508200" y="468275"/>
            <a:ext cx="8127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¡Para no olvidarse!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82" name="Google Shape;482;p47"/>
          <p:cNvSpPr txBox="1"/>
          <p:nvPr/>
        </p:nvSpPr>
        <p:spPr>
          <a:xfrm>
            <a:off x="508200" y="1300425"/>
            <a:ext cx="81276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La próxima semana se encuentra pautada la </a:t>
            </a:r>
            <a:endParaRPr b="1"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00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consigna del Proyecto Final</a:t>
            </a:r>
            <a:r>
              <a:rPr b="1"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1"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Una vez visto el contenido pregrabado de dicha semana, les recomendamos empezar a trabajar en ella.</a:t>
            </a:r>
            <a:endParaRPr b="1" sz="2000">
              <a:solidFill>
                <a:srgbClr val="DEFC5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83" name="Google Shape;483;p47" title="gif de persona escribiendo códig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6509" y="2979112"/>
            <a:ext cx="2230974" cy="12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48"/>
          <p:cNvSpPr txBox="1"/>
          <p:nvPr/>
        </p:nvSpPr>
        <p:spPr>
          <a:xfrm>
            <a:off x="1461300" y="1925250"/>
            <a:ext cx="6221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Opina y valora</a:t>
            </a:r>
            <a:r>
              <a:rPr b="1" lang="es" sz="4000">
                <a:solidFill>
                  <a:srgbClr val="DEFC52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b="1" sz="4000">
              <a:solidFill>
                <a:srgbClr val="DEFC5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esta clase</a:t>
            </a:r>
            <a:endParaRPr b="1" sz="4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9"/>
          <p:cNvSpPr txBox="1"/>
          <p:nvPr/>
        </p:nvSpPr>
        <p:spPr>
          <a:xfrm>
            <a:off x="2382900" y="2171550"/>
            <a:ext cx="4378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Muchas gracias</a:t>
            </a: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