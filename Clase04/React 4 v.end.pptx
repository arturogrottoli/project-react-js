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26"/>
  </p:notesMasterIdLst>
  <p:sldIdLst>
    <p:sldId id="279" r:id="rId2"/>
    <p:sldId id="280"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81" r:id="rId25"/>
  </p:sldIdLst>
  <p:sldSz cx="9144000" cy="5143500" type="screen16x9"/>
  <p:notesSz cx="6858000" cy="9144000"/>
  <p:embeddedFontLst>
    <p:embeddedFont>
      <p:font typeface="DM Sans" panose="020B0604020202020204" charset="0"/>
      <p:regular r:id="rId27"/>
      <p:bold r:id="rId28"/>
      <p:italic r:id="rId29"/>
      <p:boldItalic r:id="rId30"/>
    </p:embeddedFont>
    <p:embeddedFont>
      <p:font typeface="Helvetica Neue" panose="020B0604020202020204" charset="0"/>
      <p:regular r:id="rId31"/>
      <p:bold r:id="rId32"/>
      <p:italic r:id="rId33"/>
      <p:boldItalic r:id="rId34"/>
    </p:embeddedFont>
    <p:embeddedFont>
      <p:font typeface="Helvetica Neue Light" panose="020B0604020202020204" charset="0"/>
      <p:regular r:id="rId35"/>
      <p:bold r:id="rId36"/>
      <p:italic r:id="rId37"/>
      <p:boldItalic r:id="rId38"/>
    </p:embeddedFont>
    <p:embeddedFont>
      <p:font typeface="Didact Gothic" panose="020B0604020202020204" charset="0"/>
      <p:regular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95">
          <p15:clr>
            <a:srgbClr val="A4A3A4"/>
          </p15:clr>
        </p15:guide>
        <p15:guide id="2" pos="5460">
          <p15:clr>
            <a:srgbClr val="A4A3A4"/>
          </p15:clr>
        </p15:guide>
        <p15:guide id="3" pos="300">
          <p15:clr>
            <a:srgbClr val="9AA0A6"/>
          </p15:clr>
        </p15:guide>
        <p15:guide id="4" orient="horz" pos="2892">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B3616F2-456C-40B4-B490-66DFA2D3AB3A}">
  <a:tblStyle styleId="{8B3616F2-456C-40B4-B490-66DFA2D3AB3A}"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816" y="78"/>
      </p:cViewPr>
      <p:guideLst>
        <p:guide orient="horz" pos="295"/>
        <p:guide pos="5460"/>
        <p:guide pos="300"/>
        <p:guide orient="horz" pos="289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3365b5acdf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33365b5acdf_0_3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419">
                <a:solidFill>
                  <a:schemeClr val="dk1"/>
                </a:solidFill>
                <a:highlight>
                  <a:schemeClr val="accent4"/>
                </a:highlight>
                <a:latin typeface="DM Sans"/>
                <a:ea typeface="DM Sans"/>
                <a:cs typeface="DM Sans"/>
                <a:sym typeface="DM Sans"/>
              </a:rPr>
              <a:t>LOS VIDEOS DE ONBOARDING ESTÁN DISPONIBLES EN EL ESPACIO DE LA CLASE 1</a:t>
            </a:r>
            <a:endParaRPr>
              <a:highlight>
                <a:schemeClr val="accent4"/>
              </a:highlight>
              <a:latin typeface="DM Sans"/>
              <a:ea typeface="DM Sans"/>
              <a:cs typeface="DM Sans"/>
              <a:sym typeface="DM Sans"/>
            </a:endParaRPr>
          </a:p>
        </p:txBody>
      </p:sp>
    </p:spTree>
    <p:extLst>
      <p:ext uri="{BB962C8B-B14F-4D97-AF65-F5344CB8AC3E}">
        <p14:creationId xmlns:p14="http://schemas.microsoft.com/office/powerpoint/2010/main" val="30265302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113c9d1b815_1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113c9d1b815_1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Colocar todas las clases.</a:t>
            </a:r>
            <a:endParaRPr>
              <a:latin typeface="DM Sans"/>
              <a:ea typeface="DM Sans"/>
              <a:cs typeface="DM Sans"/>
              <a:sym typeface="DM Sans"/>
            </a:endParaRPr>
          </a:p>
        </p:txBody>
      </p:sp>
    </p:spTree>
    <p:extLst>
      <p:ext uri="{BB962C8B-B14F-4D97-AF65-F5344CB8AC3E}">
        <p14:creationId xmlns:p14="http://schemas.microsoft.com/office/powerpoint/2010/main" val="35166069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1460791e6b3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g1460791e6b3_0_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texto e imagen.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238cec8b235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 name="Google Shape;59;g238cec8b235_0_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texto e imagen.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21bb842cdf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5" name="Google Shape;65;g21bb842cdf8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texto e imagen.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1460791e6b3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1460791e6b3_0_7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13824b992ef_1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8" name="Google Shape;78;g13824b992ef_1_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texto e imagen.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 name="Google Shape;85;p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los módulos más importantes de la clase, donde se introducen conceptos que se ven en varios slides. No hay que usarla para todos los módulos.</a:t>
            </a:r>
            <a:endParaRPr>
              <a:latin typeface="DM Sans"/>
              <a:ea typeface="DM Sans"/>
              <a:cs typeface="DM Sans"/>
              <a:sym typeface="DM San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28e1c96883a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g28e1c96883a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13824b992ef_1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5" name="Google Shape;95;g13824b992ef_1_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texto e imagen.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13824b992ef_1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2" name="Google Shape;102;g13824b992ef_1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texto e imagen.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13824b992ef_1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0" name="Google Shape;110;g13824b992ef_1_7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texto e imagen.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138272f95ae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7" name="Google Shape;117;g138272f95ae_0_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138272f95ae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4" name="Google Shape;124;g138272f95ae_0_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13824b992ef_1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2" name="Google Shape;132;g13824b992ef_1_8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138272f95a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0" name="Google Shape;140;g138272f95ae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138272f95ae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6" name="Google Shape;146;g138272f95ae_0_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138272f95ae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3" name="Google Shape;153;g138272f95ae_0_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texto e imagen.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138272f95ae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0" name="Google Shape;160;g138272f95ae_0_6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imagen completa.</a:t>
            </a:r>
            <a:endParaRPr>
              <a:latin typeface="DM Sans"/>
              <a:ea typeface="DM Sans"/>
              <a:cs typeface="DM Sans"/>
              <a:sym typeface="DM San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138272f95ae_0_1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8" name="Google Shape;168;g138272f95ae_0_1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s" b="1">
                <a:solidFill>
                  <a:schemeClr val="dk1"/>
                </a:solidFill>
                <a:latin typeface="DM Sans"/>
                <a:ea typeface="DM Sans"/>
                <a:cs typeface="DM Sans"/>
                <a:sym typeface="DM Sans"/>
              </a:rPr>
              <a:t>Obligatoria siempre.</a:t>
            </a:r>
            <a:r>
              <a:rPr lang="es">
                <a:solidFill>
                  <a:schemeClr val="dk1"/>
                </a:solidFill>
                <a:latin typeface="DM Sans"/>
                <a:ea typeface="DM Sans"/>
                <a:cs typeface="DM Sans"/>
                <a:sym typeface="DM Sans"/>
              </a:rPr>
              <a:t> A la hora del Break, entre 5 y 10 minutos. Considerar ubicar este espacio en un momento adecuado de la clase. Al volver, mostrar los resultados de la pregunta del anterior slide y generar un breve intercambio.</a:t>
            </a:r>
            <a:endParaRPr>
              <a:latin typeface="DM Sans"/>
              <a:ea typeface="DM Sans"/>
              <a:cs typeface="DM Sans"/>
              <a:sym typeface="DM San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38272f95ae_0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4" name="Google Shape;174;g138272f95ae_0_7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los módulos más importantes de la clase, donde se introducen conceptos que se ven en varios slides. No hay que usarla para todos los módulos.</a:t>
            </a:r>
            <a:endParaRPr>
              <a:latin typeface="DM Sans"/>
              <a:ea typeface="DM Sans"/>
              <a:cs typeface="DM Sans"/>
              <a:sym typeface="DM San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138272f95ae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9" name="Google Shape;179;g138272f95ae_0_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138272f95ae_0_1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8" name="Google Shape;188;g138272f95ae_0_1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33365b5acdf_0_1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33365b5acdf_0_1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latin typeface="DM Sans"/>
              <a:ea typeface="DM Sans"/>
              <a:cs typeface="DM Sans"/>
              <a:sym typeface="DM Sans"/>
            </a:endParaRPr>
          </a:p>
        </p:txBody>
      </p:sp>
    </p:spTree>
    <p:extLst>
      <p:ext uri="{BB962C8B-B14F-4D97-AF65-F5344CB8AC3E}">
        <p14:creationId xmlns:p14="http://schemas.microsoft.com/office/powerpoint/2010/main" val="351154453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Fondo blanco">
  <p:cSld name="SECTION_HEADER_1_1_1_1_1_1_1_1">
    <p:spTree>
      <p:nvGrpSpPr>
        <p:cNvPr id="1" name="Shape 9"/>
        <p:cNvGrpSpPr/>
        <p:nvPr/>
      </p:nvGrpSpPr>
      <p:grpSpPr>
        <a:xfrm>
          <a:off x="0" y="0"/>
          <a:ext cx="0" cy="0"/>
          <a:chOff x="0" y="0"/>
          <a:chExt cx="0" cy="0"/>
        </a:xfrm>
      </p:grpSpPr>
      <p:pic>
        <p:nvPicPr>
          <p:cNvPr id="10" name="Google Shape;10;p2" title="logo coderhouse"/>
          <p:cNvPicPr preferRelativeResize="0"/>
          <p:nvPr/>
        </p:nvPicPr>
        <p:blipFill rotWithShape="1">
          <a:blip r:embed="rId2">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n imagen">
  <p:cSld name="SECTION_HEADER_1_1_1_1_1_1_1">
    <p:bg>
      <p:bgPr>
        <a:blipFill>
          <a:blip r:embed="rId2">
            <a:alphaModFix/>
          </a:blip>
          <a:stretch>
            <a:fillRect/>
          </a:stretch>
        </a:blipFill>
        <a:effectLst/>
      </p:bgPr>
    </p:bg>
    <p:spTree>
      <p:nvGrpSpPr>
        <p:cNvPr id="1" name="Shape 11"/>
        <p:cNvGrpSpPr/>
        <p:nvPr/>
      </p:nvGrpSpPr>
      <p:grpSpPr>
        <a:xfrm>
          <a:off x="0" y="0"/>
          <a:ext cx="0" cy="0"/>
          <a:chOff x="0" y="0"/>
          <a:chExt cx="0" cy="0"/>
        </a:xfrm>
      </p:grpSpPr>
      <p:sp>
        <p:nvSpPr>
          <p:cNvPr id="12" name="Google Shape;12;p3"/>
          <p:cNvSpPr/>
          <p:nvPr/>
        </p:nvSpPr>
        <p:spPr>
          <a:xfrm>
            <a:off x="6592475" y="0"/>
            <a:ext cx="2551500" cy="5143500"/>
          </a:xfrm>
          <a:prstGeom prst="rect">
            <a:avLst/>
          </a:prstGeom>
          <a:solidFill>
            <a:srgbClr val="EAFF6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3" name="Google Shape;13;p3"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03-B">
  <p:cSld name="SECTION_HEADER_1_1_1_1_1_1_1_1_1">
    <p:bg>
      <p:bgPr>
        <a:blipFill>
          <a:blip r:embed="rId2">
            <a:alphaModFix/>
          </a:blip>
          <a:stretch>
            <a:fillRect/>
          </a:stretch>
        </a:blipFill>
        <a:effectLst/>
      </p:bgPr>
    </p:bg>
    <p:spTree>
      <p:nvGrpSpPr>
        <p:cNvPr id="1" name="Shape 14"/>
        <p:cNvGrpSpPr/>
        <p:nvPr/>
      </p:nvGrpSpPr>
      <p:grpSpPr>
        <a:xfrm>
          <a:off x="0" y="0"/>
          <a:ext cx="0" cy="0"/>
          <a:chOff x="0" y="0"/>
          <a:chExt cx="0" cy="0"/>
        </a:xfrm>
      </p:grpSpPr>
      <p:pic>
        <p:nvPicPr>
          <p:cNvPr id="15" name="Google Shape;15;p4"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02-A">
  <p:cSld name="SECTION_HEADER_1_1_1_1_1_1_1_1_1_1">
    <p:bg>
      <p:bgPr>
        <a:blipFill>
          <a:blip r:embed="rId2">
            <a:alphaModFix/>
          </a:blip>
          <a:stretch>
            <a:fillRect/>
          </a:stretch>
        </a:blipFill>
        <a:effectLst/>
      </p:bgPr>
    </p:bg>
    <p:spTree>
      <p:nvGrpSpPr>
        <p:cNvPr id="1" name="Shape 16"/>
        <p:cNvGrpSpPr/>
        <p:nvPr/>
      </p:nvGrpSpPr>
      <p:grpSpPr>
        <a:xfrm>
          <a:off x="0" y="0"/>
          <a:ext cx="0" cy="0"/>
          <a:chOff x="0" y="0"/>
          <a:chExt cx="0" cy="0"/>
        </a:xfrm>
      </p:grpSpPr>
      <p:pic>
        <p:nvPicPr>
          <p:cNvPr id="17" name="Google Shape;17;p5"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02-B">
  <p:cSld name="SECTION_HEADER_1">
    <p:bg>
      <p:bgPr>
        <a:blipFill>
          <a:blip r:embed="rId2">
            <a:alphaModFix/>
          </a:blip>
          <a:stretch>
            <a:fillRect/>
          </a:stretch>
        </a:blipFill>
        <a:effectLst/>
      </p:bgPr>
    </p:bg>
    <p:spTree>
      <p:nvGrpSpPr>
        <p:cNvPr id="1" name="Shape 18"/>
        <p:cNvGrpSpPr/>
        <p:nvPr/>
      </p:nvGrpSpPr>
      <p:grpSpPr>
        <a:xfrm>
          <a:off x="0" y="0"/>
          <a:ext cx="0" cy="0"/>
          <a:chOff x="0" y="0"/>
          <a:chExt cx="0" cy="0"/>
        </a:xfrm>
      </p:grpSpPr>
      <p:pic>
        <p:nvPicPr>
          <p:cNvPr id="19" name="Google Shape;19;p6" title="logo coderhouse"/>
          <p:cNvPicPr preferRelativeResize="0"/>
          <p:nvPr/>
        </p:nvPicPr>
        <p:blipFill rotWithShape="1">
          <a:blip r:embed="rId3">
            <a:alphaModFix/>
          </a:blip>
          <a:srcRect/>
          <a:stretch/>
        </p:blipFill>
        <p:spPr>
          <a:xfrm>
            <a:off x="7874775" y="4720250"/>
            <a:ext cx="1024025" cy="21162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03-A">
  <p:cSld name="SECTION_HEADER_1_1">
    <p:bg>
      <p:bgPr>
        <a:blipFill>
          <a:blip r:embed="rId2">
            <a:alphaModFix/>
          </a:blip>
          <a:stretch>
            <a:fillRect/>
          </a:stretch>
        </a:blipFill>
        <a:effectLst/>
      </p:bgPr>
    </p:bg>
    <p:spTree>
      <p:nvGrpSpPr>
        <p:cNvPr id="1" name="Shape 20"/>
        <p:cNvGrpSpPr/>
        <p:nvPr/>
      </p:nvGrpSpPr>
      <p:grpSpPr>
        <a:xfrm>
          <a:off x="0" y="0"/>
          <a:ext cx="0" cy="0"/>
          <a:chOff x="0" y="0"/>
          <a:chExt cx="0" cy="0"/>
        </a:xfrm>
      </p:grpSpPr>
      <p:pic>
        <p:nvPicPr>
          <p:cNvPr id="21" name="Google Shape;21;p7"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rátula 1">
  <p:cSld name="SECTION_HEADER_1_1_1">
    <p:bg>
      <p:bgPr>
        <a:blipFill>
          <a:blip r:embed="rId2">
            <a:alphaModFix/>
          </a:blip>
          <a:stretch>
            <a:fillRect/>
          </a:stretch>
        </a:blipFill>
        <a:effectLst/>
      </p:bgPr>
    </p:bg>
    <p:spTree>
      <p:nvGrpSpPr>
        <p:cNvPr id="1" name="Shape 22"/>
        <p:cNvGrpSpPr/>
        <p:nvPr/>
      </p:nvGrpSpPr>
      <p:grpSpPr>
        <a:xfrm>
          <a:off x="0" y="0"/>
          <a:ext cx="0" cy="0"/>
          <a:chOff x="0" y="0"/>
          <a:chExt cx="0" cy="0"/>
        </a:xfrm>
      </p:grpSpPr>
      <p:pic>
        <p:nvPicPr>
          <p:cNvPr id="23" name="Google Shape;23;p8"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rátula 2">
  <p:cSld name="SECTION_HEADER_1_1_1_1">
    <p:bg>
      <p:bgPr>
        <a:blipFill>
          <a:blip r:embed="rId2">
            <a:alphaModFix/>
          </a:blip>
          <a:stretch>
            <a:fillRect/>
          </a:stretch>
        </a:blipFill>
        <a:effectLst/>
      </p:bgPr>
    </p:bg>
    <p:spTree>
      <p:nvGrpSpPr>
        <p:cNvPr id="1" name="Shape 24"/>
        <p:cNvGrpSpPr/>
        <p:nvPr/>
      </p:nvGrpSpPr>
      <p:grpSpPr>
        <a:xfrm>
          <a:off x="0" y="0"/>
          <a:ext cx="0" cy="0"/>
          <a:chOff x="0" y="0"/>
          <a:chExt cx="0" cy="0"/>
        </a:xfrm>
      </p:grpSpPr>
      <p:pic>
        <p:nvPicPr>
          <p:cNvPr id="25" name="Google Shape;25;p9"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rátula 3">
  <p:cSld name="SECTION_HEADER_1_1_1_1_1">
    <p:bg>
      <p:bgPr>
        <a:blipFill>
          <a:blip r:embed="rId2">
            <a:alphaModFix/>
          </a:blip>
          <a:stretch>
            <a:fillRect/>
          </a:stretch>
        </a:blipFill>
        <a:effectLst/>
      </p:bgPr>
    </p:bg>
    <p:spTree>
      <p:nvGrpSpPr>
        <p:cNvPr id="1" name="Shape 26"/>
        <p:cNvGrpSpPr/>
        <p:nvPr/>
      </p:nvGrpSpPr>
      <p:grpSpPr>
        <a:xfrm>
          <a:off x="0" y="0"/>
          <a:ext cx="0" cy="0"/>
          <a:chOff x="0" y="0"/>
          <a:chExt cx="0" cy="0"/>
        </a:xfrm>
      </p:grpSpPr>
      <p:pic>
        <p:nvPicPr>
          <p:cNvPr id="27" name="Google Shape;27;p10"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uadro">
  <p:cSld name="SECTION_HEADER_1_1_1_1_1_1">
    <p:bg>
      <p:bgPr>
        <a:blipFill>
          <a:blip r:embed="rId2">
            <a:alphaModFix/>
          </a:blip>
          <a:stretch>
            <a:fillRect/>
          </a:stretch>
        </a:blipFill>
        <a:effectLst/>
      </p:bgPr>
    </p:bg>
    <p:spTree>
      <p:nvGrpSpPr>
        <p:cNvPr id="1" name="Shape 28"/>
        <p:cNvGrpSpPr/>
        <p:nvPr/>
      </p:nvGrpSpPr>
      <p:grpSpPr>
        <a:xfrm>
          <a:off x="0" y="0"/>
          <a:ext cx="0" cy="0"/>
          <a:chOff x="0" y="0"/>
          <a:chExt cx="0" cy="0"/>
        </a:xfrm>
      </p:grpSpPr>
      <p:pic>
        <p:nvPicPr>
          <p:cNvPr id="29" name="Google Shape;29;p11"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03-B 5">
  <p:cSld name="SECTION_HEADER_1_1_1_1_1_1_1_1_1_8">
    <p:bg>
      <p:bgPr>
        <a:blipFill>
          <a:blip r:embed="rId2">
            <a:alphaModFix/>
          </a:blip>
          <a:stretch>
            <a:fillRect/>
          </a:stretch>
        </a:blipFill>
        <a:effectLst/>
      </p:bgPr>
    </p:bg>
    <p:spTree>
      <p:nvGrpSpPr>
        <p:cNvPr id="1" name="Shape 30"/>
        <p:cNvGrpSpPr/>
        <p:nvPr/>
      </p:nvGrpSpPr>
      <p:grpSpPr>
        <a:xfrm>
          <a:off x="0" y="0"/>
          <a:ext cx="0" cy="0"/>
          <a:chOff x="0" y="0"/>
          <a:chExt cx="0" cy="0"/>
        </a:xfrm>
      </p:grpSpPr>
      <p:pic>
        <p:nvPicPr>
          <p:cNvPr id="31" name="Google Shape;31;p12"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co 1" type="title">
  <p:cSld name="TITLE">
    <p:spTree>
      <p:nvGrpSpPr>
        <p:cNvPr id="1" name="Shape 32"/>
        <p:cNvGrpSpPr/>
        <p:nvPr/>
      </p:nvGrpSpPr>
      <p:grpSpPr>
        <a:xfrm>
          <a:off x="0" y="0"/>
          <a:ext cx="0" cy="0"/>
          <a:chOff x="0" y="0"/>
          <a:chExt cx="0" cy="0"/>
        </a:xfrm>
      </p:grpSpPr>
      <p:sp>
        <p:nvSpPr>
          <p:cNvPr id="33" name="Google Shape;33;p13"/>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000"/>
              <a:buFont typeface="DM Sans"/>
              <a:buNone/>
              <a:defRPr sz="4000" b="1">
                <a:latin typeface="DM Sans"/>
                <a:ea typeface="DM Sans"/>
                <a:cs typeface="DM Sans"/>
                <a:sym typeface="DM Sans"/>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34" name="Google Shape;34;p13"/>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000"/>
              <a:buFont typeface="Helvetica Neue Light"/>
              <a:buNone/>
              <a:defRPr sz="2000">
                <a:latin typeface="Helvetica Neue Light"/>
                <a:ea typeface="Helvetica Neue Light"/>
                <a:cs typeface="Helvetica Neue Light"/>
                <a:sym typeface="Helvetica Neue Light"/>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pic>
        <p:nvPicPr>
          <p:cNvPr id="35" name="Google Shape;35;p13" title="logo CoderHouse"/>
          <p:cNvPicPr preferRelativeResize="0"/>
          <p:nvPr/>
        </p:nvPicPr>
        <p:blipFill rotWithShape="1">
          <a:blip r:embed="rId2">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6"/>
        <p:cNvGrpSpPr/>
        <p:nvPr/>
      </p:nvGrpSpPr>
      <p:grpSpPr>
        <a:xfrm>
          <a:off x="0" y="0"/>
          <a:ext cx="0" cy="0"/>
          <a:chOff x="0" y="0"/>
          <a:chExt cx="0" cy="0"/>
        </a:xfrm>
      </p:grpSpPr>
      <p:sp>
        <p:nvSpPr>
          <p:cNvPr id="37" name="Google Shape;37;p1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8" name="Google Shape;38;p1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9" name="Google Shape;39;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myapp.coder/student/1234/courses"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hyperlink" Target="https://www.google.com.ar/search?q=coderhouse"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http://url.com/find?type=order&amp;id=1234"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4" name="Google Shape;46;p16"/>
          <p:cNvSpPr txBox="1"/>
          <p:nvPr/>
        </p:nvSpPr>
        <p:spPr>
          <a:xfrm>
            <a:off x="723014" y="927149"/>
            <a:ext cx="6959674" cy="3453223"/>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s" sz="7200" b="1" u="sng" dirty="0">
                <a:solidFill>
                  <a:schemeClr val="lt1"/>
                </a:solidFill>
                <a:latin typeface="DM Sans"/>
                <a:ea typeface="DM Sans"/>
                <a:cs typeface="DM Sans"/>
                <a:sym typeface="DM Sans"/>
              </a:rPr>
              <a:t>React</a:t>
            </a:r>
            <a:endParaRPr sz="7200" b="1" u="sng" dirty="0">
              <a:solidFill>
                <a:schemeClr val="lt1"/>
              </a:solidFill>
              <a:latin typeface="DM Sans"/>
              <a:ea typeface="DM Sans"/>
              <a:cs typeface="DM Sans"/>
              <a:sym typeface="DM Sans"/>
            </a:endParaRPr>
          </a:p>
          <a:p>
            <a:pPr marL="0" lvl="0" indent="0" algn="ctr" rtl="0">
              <a:lnSpc>
                <a:spcPct val="90000"/>
              </a:lnSpc>
              <a:spcBef>
                <a:spcPts val="0"/>
              </a:spcBef>
              <a:spcAft>
                <a:spcPts val="0"/>
              </a:spcAft>
              <a:buNone/>
            </a:pPr>
            <a:r>
              <a:rPr lang="es" sz="6000" b="1" u="sng" dirty="0" smtClean="0">
                <a:solidFill>
                  <a:srgbClr val="EAFF6A"/>
                </a:solidFill>
                <a:latin typeface="DM Sans"/>
                <a:ea typeface="DM Sans"/>
                <a:cs typeface="DM Sans"/>
                <a:sym typeface="DM Sans"/>
              </a:rPr>
              <a:t>Flex </a:t>
            </a:r>
          </a:p>
          <a:p>
            <a:pPr marL="0" lvl="0" indent="0" algn="ctr" rtl="0">
              <a:lnSpc>
                <a:spcPct val="90000"/>
              </a:lnSpc>
              <a:spcBef>
                <a:spcPts val="0"/>
              </a:spcBef>
              <a:spcAft>
                <a:spcPts val="0"/>
              </a:spcAft>
              <a:buNone/>
            </a:pPr>
            <a:r>
              <a:rPr lang="es" sz="6000" b="1" u="sng" dirty="0" smtClean="0">
                <a:solidFill>
                  <a:srgbClr val="EAFF6A"/>
                </a:solidFill>
                <a:latin typeface="DM Sans"/>
                <a:ea typeface="DM Sans"/>
                <a:cs typeface="DM Sans"/>
                <a:sym typeface="DM Sans"/>
              </a:rPr>
              <a:t>Clase </a:t>
            </a:r>
            <a:r>
              <a:rPr lang="es" sz="6000" b="1" u="sng" dirty="0" smtClean="0">
                <a:solidFill>
                  <a:srgbClr val="EAFF6A"/>
                </a:solidFill>
                <a:latin typeface="DM Sans"/>
                <a:ea typeface="DM Sans"/>
                <a:cs typeface="DM Sans"/>
                <a:sym typeface="DM Sans"/>
              </a:rPr>
              <a:t>4</a:t>
            </a:r>
            <a:r>
              <a:rPr lang="es" sz="6000" b="1" u="sng" dirty="0">
                <a:solidFill>
                  <a:srgbClr val="EAFF6A"/>
                </a:solidFill>
                <a:latin typeface="DM Sans"/>
                <a:ea typeface="DM Sans"/>
                <a:cs typeface="DM Sans"/>
                <a:sym typeface="DM Sans"/>
              </a:rPr>
              <a:t/>
            </a:r>
            <a:br>
              <a:rPr lang="es" sz="6000" b="1" u="sng" dirty="0">
                <a:solidFill>
                  <a:srgbClr val="EAFF6A"/>
                </a:solidFill>
                <a:latin typeface="DM Sans"/>
                <a:ea typeface="DM Sans"/>
                <a:cs typeface="DM Sans"/>
                <a:sym typeface="DM Sans"/>
              </a:rPr>
            </a:br>
            <a:endParaRPr sz="600" b="1" u="sng" dirty="0">
              <a:solidFill>
                <a:srgbClr val="EAFF6A"/>
              </a:solidFill>
              <a:latin typeface="DM Sans"/>
              <a:ea typeface="DM Sans"/>
              <a:cs typeface="DM Sans"/>
              <a:sym typeface="DM Sans"/>
            </a:endParaRPr>
          </a:p>
          <a:p>
            <a:pPr marL="0" lvl="0" indent="0" algn="ctr" rtl="0">
              <a:lnSpc>
                <a:spcPct val="90000"/>
              </a:lnSpc>
              <a:spcBef>
                <a:spcPts val="0"/>
              </a:spcBef>
              <a:spcAft>
                <a:spcPts val="0"/>
              </a:spcAft>
              <a:buNone/>
            </a:pPr>
            <a:endParaRPr sz="600" b="1" u="sng" dirty="0">
              <a:solidFill>
                <a:srgbClr val="EAFF6A"/>
              </a:solidFill>
              <a:latin typeface="DM Sans"/>
              <a:ea typeface="DM Sans"/>
              <a:cs typeface="DM Sans"/>
              <a:sym typeface="DM Sans"/>
            </a:endParaRPr>
          </a:p>
          <a:p>
            <a:pPr marL="0" lvl="0" indent="0" algn="ctr" rtl="0">
              <a:lnSpc>
                <a:spcPct val="90000"/>
              </a:lnSpc>
              <a:spcBef>
                <a:spcPts val="0"/>
              </a:spcBef>
              <a:spcAft>
                <a:spcPts val="0"/>
              </a:spcAft>
              <a:buNone/>
            </a:pPr>
            <a:endParaRPr sz="1600" b="1" u="sng" dirty="0">
              <a:solidFill>
                <a:schemeClr val="lt1"/>
              </a:solidFill>
              <a:latin typeface="DM Sans"/>
              <a:ea typeface="DM Sans"/>
              <a:cs typeface="DM Sans"/>
              <a:sym typeface="DM Sans"/>
            </a:endParaRPr>
          </a:p>
          <a:p>
            <a:pPr marL="0" lvl="0" indent="0" algn="ctr" rtl="0">
              <a:lnSpc>
                <a:spcPct val="90000"/>
              </a:lnSpc>
              <a:spcBef>
                <a:spcPts val="0"/>
              </a:spcBef>
              <a:spcAft>
                <a:spcPts val="0"/>
              </a:spcAft>
              <a:buNone/>
            </a:pPr>
            <a:r>
              <a:rPr lang="es" sz="1600" u="sng" dirty="0" smtClean="0">
                <a:solidFill>
                  <a:schemeClr val="lt1"/>
                </a:solidFill>
                <a:latin typeface="DM Sans"/>
                <a:ea typeface="DM Sans"/>
                <a:cs typeface="DM Sans"/>
                <a:sym typeface="DM Sans"/>
              </a:rPr>
              <a:t>Curso dictado por Arturo Grottoli</a:t>
            </a:r>
            <a:endParaRPr sz="1600" b="1" u="sng" dirty="0">
              <a:solidFill>
                <a:schemeClr val="lt1"/>
              </a:solidFill>
              <a:latin typeface="DM Sans"/>
              <a:ea typeface="DM Sans"/>
              <a:cs typeface="DM Sans"/>
              <a:sym typeface="DM Sans"/>
            </a:endParaRPr>
          </a:p>
        </p:txBody>
      </p:sp>
    </p:spTree>
    <p:extLst>
      <p:ext uri="{BB962C8B-B14F-4D97-AF65-F5344CB8AC3E}">
        <p14:creationId xmlns:p14="http://schemas.microsoft.com/office/powerpoint/2010/main" val="2027669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8"/>
          <p:cNvSpPr txBox="1"/>
          <p:nvPr/>
        </p:nvSpPr>
        <p:spPr>
          <a:xfrm>
            <a:off x="666200" y="825988"/>
            <a:ext cx="6957344" cy="4348853"/>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MX" sz="3600" b="1" dirty="0" smtClean="0">
                <a:solidFill>
                  <a:schemeClr val="accent6"/>
                </a:solidFill>
                <a:latin typeface="DM Sans"/>
                <a:ea typeface="DM Sans"/>
                <a:cs typeface="DM Sans"/>
                <a:sym typeface="DM Sans"/>
              </a:rPr>
              <a:t>¿Estamos bien para arrancar?</a:t>
            </a:r>
            <a:endParaRPr sz="3600" b="1" dirty="0">
              <a:solidFill>
                <a:schemeClr val="accent6"/>
              </a:solidFill>
              <a:latin typeface="DM Sans"/>
              <a:ea typeface="DM Sans"/>
              <a:cs typeface="DM Sans"/>
              <a:sym typeface="DM Sans"/>
            </a:endParaRPr>
          </a:p>
          <a:p>
            <a:pPr marL="0" lvl="0" indent="0" algn="l" rtl="0">
              <a:lnSpc>
                <a:spcPct val="115000"/>
              </a:lnSpc>
              <a:spcBef>
                <a:spcPts val="0"/>
              </a:spcBef>
              <a:spcAft>
                <a:spcPts val="0"/>
              </a:spcAft>
              <a:buNone/>
            </a:pPr>
            <a:endParaRPr sz="3600" b="1" dirty="0">
              <a:solidFill>
                <a:schemeClr val="lt1"/>
              </a:solidFill>
              <a:latin typeface="DM Sans"/>
              <a:ea typeface="DM Sans"/>
              <a:cs typeface="DM Sans"/>
              <a:sym typeface="DM Sans"/>
            </a:endParaRPr>
          </a:p>
          <a:p>
            <a:pPr marL="457200" lvl="0" indent="-438150" algn="l" rtl="0">
              <a:lnSpc>
                <a:spcPct val="115000"/>
              </a:lnSpc>
              <a:spcBef>
                <a:spcPts val="0"/>
              </a:spcBef>
              <a:spcAft>
                <a:spcPts val="0"/>
              </a:spcAft>
              <a:buClr>
                <a:schemeClr val="lt1"/>
              </a:buClr>
              <a:buSzPts val="3300"/>
              <a:buFont typeface="DM Sans"/>
              <a:buChar char="●"/>
            </a:pPr>
            <a:r>
              <a:rPr lang="es-MX" sz="3300" dirty="0" smtClean="0">
                <a:solidFill>
                  <a:schemeClr val="lt1"/>
                </a:solidFill>
                <a:latin typeface="DM Sans"/>
                <a:ea typeface="DM Sans"/>
                <a:cs typeface="DM Sans"/>
                <a:sym typeface="DM Sans"/>
              </a:rPr>
              <a:t>Sonido e imagen ok</a:t>
            </a:r>
            <a:endParaRPr sz="3300" dirty="0">
              <a:solidFill>
                <a:schemeClr val="lt1"/>
              </a:solidFill>
              <a:latin typeface="DM Sans"/>
              <a:ea typeface="DM Sans"/>
              <a:cs typeface="DM Sans"/>
              <a:sym typeface="DM Sans"/>
            </a:endParaRPr>
          </a:p>
          <a:p>
            <a:pPr marL="457200" lvl="0" indent="-438150" algn="l" rtl="0">
              <a:lnSpc>
                <a:spcPct val="115000"/>
              </a:lnSpc>
              <a:spcBef>
                <a:spcPts val="0"/>
              </a:spcBef>
              <a:spcAft>
                <a:spcPts val="0"/>
              </a:spcAft>
              <a:buClr>
                <a:schemeClr val="accent6"/>
              </a:buClr>
              <a:buSzPts val="3300"/>
              <a:buFont typeface="DM Sans"/>
              <a:buChar char="●"/>
            </a:pPr>
            <a:r>
              <a:rPr lang="es" sz="3300" dirty="0" smtClean="0">
                <a:solidFill>
                  <a:schemeClr val="accent6"/>
                </a:solidFill>
                <a:latin typeface="DM Sans"/>
                <a:ea typeface="DM Sans"/>
                <a:cs typeface="DM Sans"/>
                <a:sym typeface="DM Sans"/>
              </a:rPr>
              <a:t>Diapositivas y tamaño texto</a:t>
            </a:r>
            <a:endParaRPr sz="3300" dirty="0">
              <a:solidFill>
                <a:schemeClr val="lt1"/>
              </a:solidFill>
              <a:latin typeface="DM Sans"/>
              <a:ea typeface="DM Sans"/>
              <a:cs typeface="DM Sans"/>
              <a:sym typeface="DM Sans"/>
            </a:endParaRPr>
          </a:p>
          <a:p>
            <a:pPr marL="457200" lvl="0" indent="-438150" algn="l" rtl="0">
              <a:lnSpc>
                <a:spcPct val="115000"/>
              </a:lnSpc>
              <a:spcBef>
                <a:spcPts val="0"/>
              </a:spcBef>
              <a:spcAft>
                <a:spcPts val="0"/>
              </a:spcAft>
              <a:buClr>
                <a:schemeClr val="accent6"/>
              </a:buClr>
              <a:buSzPts val="3300"/>
              <a:buFont typeface="DM Sans"/>
              <a:buChar char="●"/>
            </a:pPr>
            <a:r>
              <a:rPr lang="es" sz="3300" dirty="0" smtClean="0">
                <a:solidFill>
                  <a:schemeClr val="accent6"/>
                </a:solidFill>
                <a:latin typeface="DM Sans"/>
                <a:ea typeface="DM Sans"/>
                <a:cs typeface="DM Sans"/>
                <a:sym typeface="DM Sans"/>
              </a:rPr>
              <a:t>Recordar chequear que esté grabando.</a:t>
            </a:r>
            <a:endParaRPr sz="3300" dirty="0">
              <a:solidFill>
                <a:schemeClr val="accent6"/>
              </a:solidFill>
              <a:latin typeface="DM Sans"/>
              <a:ea typeface="DM Sans"/>
              <a:cs typeface="DM Sans"/>
              <a:sym typeface="DM Sans"/>
            </a:endParaRPr>
          </a:p>
          <a:p>
            <a:pPr marL="0" lvl="0" indent="0" algn="l" rtl="0">
              <a:lnSpc>
                <a:spcPct val="90000"/>
              </a:lnSpc>
              <a:spcBef>
                <a:spcPts val="0"/>
              </a:spcBef>
              <a:spcAft>
                <a:spcPts val="0"/>
              </a:spcAft>
              <a:buNone/>
            </a:pPr>
            <a:endParaRPr sz="4000" b="1" dirty="0">
              <a:solidFill>
                <a:schemeClr val="lt1"/>
              </a:solidFill>
              <a:latin typeface="DM Sans"/>
              <a:ea typeface="DM Sans"/>
              <a:cs typeface="DM Sans"/>
              <a:sym typeface="DM Sans"/>
            </a:endParaRPr>
          </a:p>
        </p:txBody>
      </p:sp>
    </p:spTree>
    <p:extLst>
      <p:ext uri="{BB962C8B-B14F-4D97-AF65-F5344CB8AC3E}">
        <p14:creationId xmlns:p14="http://schemas.microsoft.com/office/powerpoint/2010/main" val="2807857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7"/>
          <p:cNvSpPr txBox="1"/>
          <p:nvPr/>
        </p:nvSpPr>
        <p:spPr>
          <a:xfrm>
            <a:off x="465275" y="1602125"/>
            <a:ext cx="4730100" cy="27822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chemeClr val="dk1"/>
              </a:buClr>
              <a:buSzPts val="1100"/>
              <a:buFont typeface="Arial"/>
              <a:buNone/>
            </a:pPr>
            <a:r>
              <a:rPr lang="es" sz="1350">
                <a:latin typeface="DM Sans"/>
                <a:ea typeface="DM Sans"/>
                <a:cs typeface="DM Sans"/>
                <a:sym typeface="DM Sans"/>
              </a:rPr>
              <a:t>La mayoría de las aplicaciones se conectan a un conjunto de servicios que permiten la posibilidad de interactuar con </a:t>
            </a:r>
            <a:r>
              <a:rPr lang="es" sz="1350" b="1">
                <a:solidFill>
                  <a:schemeClr val="accent5"/>
                </a:solidFill>
                <a:latin typeface="DM Sans"/>
                <a:ea typeface="DM Sans"/>
                <a:cs typeface="DM Sans"/>
                <a:sym typeface="DM Sans"/>
              </a:rPr>
              <a:t>datos</a:t>
            </a:r>
            <a:r>
              <a:rPr lang="es" sz="1350">
                <a:solidFill>
                  <a:schemeClr val="dk1"/>
                </a:solidFill>
                <a:latin typeface="DM Sans"/>
                <a:ea typeface="DM Sans"/>
                <a:cs typeface="DM Sans"/>
                <a:sym typeface="DM Sans"/>
              </a:rPr>
              <a:t>.</a:t>
            </a:r>
            <a:endParaRPr sz="1350">
              <a:solidFill>
                <a:schemeClr val="dk1"/>
              </a:solidFill>
              <a:latin typeface="DM Sans"/>
              <a:ea typeface="DM Sans"/>
              <a:cs typeface="DM Sans"/>
              <a:sym typeface="DM Sans"/>
            </a:endParaRPr>
          </a:p>
          <a:p>
            <a:pPr marL="0" marR="0" lvl="0" indent="0" algn="l" rtl="0">
              <a:lnSpc>
                <a:spcPct val="115000"/>
              </a:lnSpc>
              <a:spcBef>
                <a:spcPts val="0"/>
              </a:spcBef>
              <a:spcAft>
                <a:spcPts val="0"/>
              </a:spcAft>
              <a:buClr>
                <a:schemeClr val="dk1"/>
              </a:buClr>
              <a:buSzPts val="1100"/>
              <a:buFont typeface="Arial"/>
              <a:buNone/>
            </a:pPr>
            <a:endParaRPr sz="1350">
              <a:solidFill>
                <a:schemeClr val="dk1"/>
              </a:solidFill>
              <a:latin typeface="DM Sans"/>
              <a:ea typeface="DM Sans"/>
              <a:cs typeface="DM Sans"/>
              <a:sym typeface="DM Sans"/>
            </a:endParaRPr>
          </a:p>
          <a:p>
            <a:pPr marL="0" lvl="0" indent="0" algn="l" rtl="0">
              <a:lnSpc>
                <a:spcPct val="115000"/>
              </a:lnSpc>
              <a:spcBef>
                <a:spcPts val="0"/>
              </a:spcBef>
              <a:spcAft>
                <a:spcPts val="0"/>
              </a:spcAft>
              <a:buClr>
                <a:srgbClr val="000000"/>
              </a:buClr>
              <a:buSzPts val="1350"/>
              <a:buFont typeface="Arial"/>
              <a:buNone/>
            </a:pPr>
            <a:r>
              <a:rPr lang="es" sz="1350">
                <a:latin typeface="DM Sans"/>
                <a:ea typeface="DM Sans"/>
                <a:cs typeface="DM Sans"/>
                <a:sym typeface="DM Sans"/>
              </a:rPr>
              <a:t>El consumo y la transferencia de datos han </a:t>
            </a:r>
            <a:endParaRPr sz="1350">
              <a:latin typeface="DM Sans"/>
              <a:ea typeface="DM Sans"/>
              <a:cs typeface="DM Sans"/>
              <a:sym typeface="DM Sans"/>
            </a:endParaRPr>
          </a:p>
          <a:p>
            <a:pPr marL="0" lvl="0" indent="0" algn="l" rtl="0">
              <a:lnSpc>
                <a:spcPct val="115000"/>
              </a:lnSpc>
              <a:spcBef>
                <a:spcPts val="0"/>
              </a:spcBef>
              <a:spcAft>
                <a:spcPts val="0"/>
              </a:spcAft>
              <a:buClr>
                <a:srgbClr val="000000"/>
              </a:buClr>
              <a:buSzPts val="1350"/>
              <a:buFont typeface="Arial"/>
              <a:buNone/>
            </a:pPr>
            <a:r>
              <a:rPr lang="es" sz="1350">
                <a:latin typeface="DM Sans"/>
                <a:ea typeface="DM Sans"/>
                <a:cs typeface="DM Sans"/>
                <a:sym typeface="DM Sans"/>
              </a:rPr>
              <a:t>evolucionado mucho desde la creación de la WWW.</a:t>
            </a:r>
            <a:endParaRPr sz="1350">
              <a:latin typeface="DM Sans"/>
              <a:ea typeface="DM Sans"/>
              <a:cs typeface="DM Sans"/>
              <a:sym typeface="DM Sans"/>
            </a:endParaRPr>
          </a:p>
          <a:p>
            <a:pPr marL="0" lvl="0" indent="0" algn="l" rtl="0">
              <a:lnSpc>
                <a:spcPct val="115000"/>
              </a:lnSpc>
              <a:spcBef>
                <a:spcPts val="0"/>
              </a:spcBef>
              <a:spcAft>
                <a:spcPts val="0"/>
              </a:spcAft>
              <a:buClr>
                <a:srgbClr val="000000"/>
              </a:buClr>
              <a:buSzPts val="1350"/>
              <a:buFont typeface="Arial"/>
              <a:buNone/>
            </a:pPr>
            <a:endParaRPr sz="1350">
              <a:latin typeface="DM Sans"/>
              <a:ea typeface="DM Sans"/>
              <a:cs typeface="DM Sans"/>
              <a:sym typeface="DM Sans"/>
            </a:endParaRPr>
          </a:p>
          <a:p>
            <a:pPr marL="0" lvl="0" indent="0" algn="l" rtl="0">
              <a:lnSpc>
                <a:spcPct val="115000"/>
              </a:lnSpc>
              <a:spcBef>
                <a:spcPts val="0"/>
              </a:spcBef>
              <a:spcAft>
                <a:spcPts val="0"/>
              </a:spcAft>
              <a:buClr>
                <a:srgbClr val="000000"/>
              </a:buClr>
              <a:buSzPts val="1350"/>
              <a:buFont typeface="Arial"/>
              <a:buNone/>
            </a:pPr>
            <a:r>
              <a:rPr lang="es" sz="1350">
                <a:latin typeface="DM Sans"/>
                <a:ea typeface="DM Sans"/>
                <a:cs typeface="DM Sans"/>
                <a:sym typeface="DM Sans"/>
              </a:rPr>
              <a:t>Esto fue facilitado por la innovación tecnológica y</a:t>
            </a:r>
            <a:endParaRPr sz="1350">
              <a:latin typeface="DM Sans"/>
              <a:ea typeface="DM Sans"/>
              <a:cs typeface="DM Sans"/>
              <a:sym typeface="DM Sans"/>
            </a:endParaRPr>
          </a:p>
          <a:p>
            <a:pPr marL="0" lvl="0" indent="0" algn="l" rtl="0">
              <a:lnSpc>
                <a:spcPct val="115000"/>
              </a:lnSpc>
              <a:spcBef>
                <a:spcPts val="0"/>
              </a:spcBef>
              <a:spcAft>
                <a:spcPts val="0"/>
              </a:spcAft>
              <a:buClr>
                <a:srgbClr val="000000"/>
              </a:buClr>
              <a:buSzPts val="1350"/>
              <a:buFont typeface="Arial"/>
              <a:buNone/>
            </a:pPr>
            <a:r>
              <a:rPr lang="es" sz="1350">
                <a:latin typeface="DM Sans"/>
                <a:ea typeface="DM Sans"/>
                <a:cs typeface="DM Sans"/>
                <a:sym typeface="DM Sans"/>
              </a:rPr>
              <a:t>la inversión en infraestructura.</a:t>
            </a:r>
            <a:endParaRPr sz="1350">
              <a:latin typeface="DM Sans"/>
              <a:ea typeface="DM Sans"/>
              <a:cs typeface="DM Sans"/>
              <a:sym typeface="DM Sans"/>
            </a:endParaRPr>
          </a:p>
          <a:p>
            <a:pPr marL="0" lvl="0" indent="0" algn="l" rtl="0">
              <a:lnSpc>
                <a:spcPct val="115000"/>
              </a:lnSpc>
              <a:spcBef>
                <a:spcPts val="0"/>
              </a:spcBef>
              <a:spcAft>
                <a:spcPts val="0"/>
              </a:spcAft>
              <a:buNone/>
            </a:pPr>
            <a:endParaRPr sz="1350">
              <a:latin typeface="DM Sans"/>
              <a:ea typeface="DM Sans"/>
              <a:cs typeface="DM Sans"/>
              <a:sym typeface="DM Sans"/>
            </a:endParaRPr>
          </a:p>
          <a:p>
            <a:pPr marL="0" marR="0" lvl="0" indent="0" algn="l" rtl="0">
              <a:lnSpc>
                <a:spcPct val="115000"/>
              </a:lnSpc>
              <a:spcBef>
                <a:spcPts val="0"/>
              </a:spcBef>
              <a:spcAft>
                <a:spcPts val="0"/>
              </a:spcAft>
              <a:buClr>
                <a:schemeClr val="dk1"/>
              </a:buClr>
              <a:buSzPts val="1100"/>
              <a:buFont typeface="Arial"/>
              <a:buNone/>
            </a:pPr>
            <a:endParaRPr sz="1350">
              <a:solidFill>
                <a:schemeClr val="dk1"/>
              </a:solidFill>
              <a:latin typeface="DM Sans"/>
              <a:ea typeface="DM Sans"/>
              <a:cs typeface="DM Sans"/>
              <a:sym typeface="DM Sans"/>
            </a:endParaRPr>
          </a:p>
        </p:txBody>
      </p:sp>
      <p:pic>
        <p:nvPicPr>
          <p:cNvPr id="55" name="Google Shape;55;p17"/>
          <p:cNvPicPr preferRelativeResize="0"/>
          <p:nvPr/>
        </p:nvPicPr>
        <p:blipFill>
          <a:blip r:embed="rId3">
            <a:alphaModFix/>
          </a:blip>
          <a:stretch>
            <a:fillRect/>
          </a:stretch>
        </p:blipFill>
        <p:spPr>
          <a:xfrm>
            <a:off x="5724700" y="1921775"/>
            <a:ext cx="2887550" cy="1273875"/>
          </a:xfrm>
          <a:prstGeom prst="rect">
            <a:avLst/>
          </a:prstGeom>
          <a:noFill/>
          <a:ln>
            <a:noFill/>
          </a:ln>
        </p:spPr>
      </p:pic>
      <p:sp>
        <p:nvSpPr>
          <p:cNvPr id="56" name="Google Shape;56;p17"/>
          <p:cNvSpPr txBox="1"/>
          <p:nvPr/>
        </p:nvSpPr>
        <p:spPr>
          <a:xfrm>
            <a:off x="465275" y="51747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a:solidFill>
                  <a:schemeClr val="dk1"/>
                </a:solidFill>
                <a:latin typeface="DM Sans"/>
                <a:ea typeface="DM Sans"/>
                <a:cs typeface="DM Sans"/>
                <a:sym typeface="DM Sans"/>
              </a:rPr>
              <a:t>Datos</a:t>
            </a:r>
            <a:endParaRPr sz="4000" b="1" i="0" u="none" strike="noStrike" cap="none">
              <a:solidFill>
                <a:schemeClr val="dk1"/>
              </a:solidFill>
              <a:latin typeface="DM Sans"/>
              <a:ea typeface="DM Sans"/>
              <a:cs typeface="DM Sans"/>
              <a:sym typeface="DM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8"/>
          <p:cNvSpPr txBox="1"/>
          <p:nvPr/>
        </p:nvSpPr>
        <p:spPr>
          <a:xfrm>
            <a:off x="185400" y="140425"/>
            <a:ext cx="8141100" cy="6558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3400" b="1">
                <a:solidFill>
                  <a:schemeClr val="dk1"/>
                </a:solidFill>
                <a:latin typeface="DM Sans"/>
                <a:ea typeface="DM Sans"/>
                <a:cs typeface="DM Sans"/>
                <a:sym typeface="DM Sans"/>
              </a:rPr>
              <a:t>Infraestructura de Internet</a:t>
            </a:r>
            <a:endParaRPr sz="3400" b="1" i="0" u="none" strike="noStrike" cap="none">
              <a:solidFill>
                <a:schemeClr val="dk1"/>
              </a:solidFill>
              <a:latin typeface="DM Sans"/>
              <a:ea typeface="DM Sans"/>
              <a:cs typeface="DM Sans"/>
              <a:sym typeface="DM Sans"/>
            </a:endParaRPr>
          </a:p>
        </p:txBody>
      </p:sp>
      <p:pic>
        <p:nvPicPr>
          <p:cNvPr id="62" name="Google Shape;62;p18"/>
          <p:cNvPicPr preferRelativeResize="0"/>
          <p:nvPr/>
        </p:nvPicPr>
        <p:blipFill>
          <a:blip r:embed="rId3">
            <a:alphaModFix/>
          </a:blip>
          <a:stretch>
            <a:fillRect/>
          </a:stretch>
        </p:blipFill>
        <p:spPr>
          <a:xfrm>
            <a:off x="372475" y="1114175"/>
            <a:ext cx="7639523" cy="33986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pic>
        <p:nvPicPr>
          <p:cNvPr id="67" name="Google Shape;67;p19"/>
          <p:cNvPicPr preferRelativeResize="0"/>
          <p:nvPr/>
        </p:nvPicPr>
        <p:blipFill>
          <a:blip r:embed="rId3">
            <a:alphaModFix/>
          </a:blip>
          <a:stretch>
            <a:fillRect/>
          </a:stretch>
        </p:blipFill>
        <p:spPr>
          <a:xfrm>
            <a:off x="152400" y="152400"/>
            <a:ext cx="7265315" cy="4838700"/>
          </a:xfrm>
          <a:prstGeom prst="rect">
            <a:avLst/>
          </a:prstGeom>
          <a:noFill/>
          <a:ln>
            <a:noFill/>
          </a:ln>
        </p:spPr>
      </p:pic>
      <p:pic>
        <p:nvPicPr>
          <p:cNvPr id="68" name="Google Shape;68;p19"/>
          <p:cNvPicPr preferRelativeResize="0"/>
          <p:nvPr/>
        </p:nvPicPr>
        <p:blipFill>
          <a:blip r:embed="rId4">
            <a:alphaModFix/>
          </a:blip>
          <a:stretch>
            <a:fillRect/>
          </a:stretch>
        </p:blipFill>
        <p:spPr>
          <a:xfrm>
            <a:off x="888925" y="35376"/>
            <a:ext cx="5318750" cy="52028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20"/>
          <p:cNvSpPr txBox="1"/>
          <p:nvPr/>
        </p:nvSpPr>
        <p:spPr>
          <a:xfrm>
            <a:off x="476250" y="1111125"/>
            <a:ext cx="3834600" cy="39771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chemeClr val="dk1"/>
              </a:buClr>
              <a:buSzPts val="1100"/>
              <a:buFont typeface="Arial"/>
              <a:buNone/>
            </a:pPr>
            <a:r>
              <a:rPr lang="es" sz="1350">
                <a:latin typeface="DM Sans"/>
                <a:ea typeface="DM Sans"/>
                <a:cs typeface="DM Sans"/>
                <a:sym typeface="DM Sans"/>
              </a:rPr>
              <a:t>Sólo hay dos protagonistas:</a:t>
            </a:r>
            <a:endParaRPr sz="1350">
              <a:latin typeface="DM Sans"/>
              <a:ea typeface="DM Sans"/>
              <a:cs typeface="DM Sans"/>
              <a:sym typeface="DM Sans"/>
            </a:endParaRPr>
          </a:p>
          <a:p>
            <a:pPr marL="0" marR="0" lvl="0" indent="0" algn="l" rtl="0">
              <a:lnSpc>
                <a:spcPct val="115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457200" marR="0" lvl="0" indent="-314325" algn="l" rtl="0">
              <a:lnSpc>
                <a:spcPct val="115000"/>
              </a:lnSpc>
              <a:spcBef>
                <a:spcPts val="0"/>
              </a:spcBef>
              <a:spcAft>
                <a:spcPts val="0"/>
              </a:spcAft>
              <a:buClr>
                <a:schemeClr val="accent4"/>
              </a:buClr>
              <a:buSzPts val="1350"/>
              <a:buFont typeface="DM Sans"/>
              <a:buChar char="✓"/>
            </a:pPr>
            <a:r>
              <a:rPr lang="es" sz="1350">
                <a:latin typeface="DM Sans"/>
                <a:ea typeface="DM Sans"/>
                <a:cs typeface="DM Sans"/>
                <a:sym typeface="DM Sans"/>
              </a:rPr>
              <a:t>Cliente (consumidor)</a:t>
            </a:r>
            <a:endParaRPr sz="1350">
              <a:latin typeface="DM Sans"/>
              <a:ea typeface="DM Sans"/>
              <a:cs typeface="DM Sans"/>
              <a:sym typeface="DM Sans"/>
            </a:endParaRPr>
          </a:p>
          <a:p>
            <a:pPr marL="457200" marR="0" lvl="0" indent="-314325" algn="l" rtl="0">
              <a:lnSpc>
                <a:spcPct val="115000"/>
              </a:lnSpc>
              <a:spcBef>
                <a:spcPts val="0"/>
              </a:spcBef>
              <a:spcAft>
                <a:spcPts val="0"/>
              </a:spcAft>
              <a:buClr>
                <a:schemeClr val="accent4"/>
              </a:buClr>
              <a:buSzPts val="1350"/>
              <a:buFont typeface="DM Sans"/>
              <a:buChar char="✓"/>
            </a:pPr>
            <a:r>
              <a:rPr lang="es" sz="1350">
                <a:latin typeface="DM Sans"/>
                <a:ea typeface="DM Sans"/>
                <a:cs typeface="DM Sans"/>
                <a:sym typeface="DM Sans"/>
              </a:rPr>
              <a:t>Servidor (proveedor)</a:t>
            </a:r>
            <a:endParaRPr sz="1350">
              <a:latin typeface="DM Sans"/>
              <a:ea typeface="DM Sans"/>
              <a:cs typeface="DM Sans"/>
              <a:sym typeface="DM Sans"/>
            </a:endParaRPr>
          </a:p>
          <a:p>
            <a:pPr marL="0" marR="0" lvl="0" indent="0" algn="l" rtl="0">
              <a:lnSpc>
                <a:spcPct val="115000"/>
              </a:lnSpc>
              <a:spcBef>
                <a:spcPts val="0"/>
              </a:spcBef>
              <a:spcAft>
                <a:spcPts val="0"/>
              </a:spcAft>
              <a:buNone/>
            </a:pPr>
            <a:endParaRPr sz="1350">
              <a:latin typeface="DM Sans"/>
              <a:ea typeface="DM Sans"/>
              <a:cs typeface="DM Sans"/>
              <a:sym typeface="DM Sans"/>
            </a:endParaRPr>
          </a:p>
          <a:p>
            <a:pPr marL="0" marR="0" lvl="0" indent="0" algn="l" rtl="0">
              <a:lnSpc>
                <a:spcPct val="115000"/>
              </a:lnSpc>
              <a:spcBef>
                <a:spcPts val="0"/>
              </a:spcBef>
              <a:spcAft>
                <a:spcPts val="0"/>
              </a:spcAft>
              <a:buNone/>
            </a:pPr>
            <a:r>
              <a:rPr lang="es" sz="1350">
                <a:latin typeface="DM Sans"/>
                <a:ea typeface="DM Sans"/>
                <a:cs typeface="DM Sans"/>
                <a:sym typeface="DM Sans"/>
              </a:rPr>
              <a:t>Con cliente y servidor no nos referimos sólo al hardware sino también el software.</a:t>
            </a:r>
            <a:endParaRPr sz="1350">
              <a:latin typeface="DM Sans"/>
              <a:ea typeface="DM Sans"/>
              <a:cs typeface="DM Sans"/>
              <a:sym typeface="DM Sans"/>
            </a:endParaRPr>
          </a:p>
          <a:p>
            <a:pPr marL="0" marR="0" lvl="0" indent="0" algn="l" rtl="0">
              <a:lnSpc>
                <a:spcPct val="115000"/>
              </a:lnSpc>
              <a:spcBef>
                <a:spcPts val="0"/>
              </a:spcBef>
              <a:spcAft>
                <a:spcPts val="0"/>
              </a:spcAft>
              <a:buNone/>
            </a:pPr>
            <a:endParaRPr sz="1350">
              <a:latin typeface="DM Sans"/>
              <a:ea typeface="DM Sans"/>
              <a:cs typeface="DM Sans"/>
              <a:sym typeface="DM Sans"/>
            </a:endParaRPr>
          </a:p>
          <a:p>
            <a:pPr marL="0" lvl="0" indent="0" algn="l" rtl="0">
              <a:lnSpc>
                <a:spcPct val="115000"/>
              </a:lnSpc>
              <a:spcBef>
                <a:spcPts val="0"/>
              </a:spcBef>
              <a:spcAft>
                <a:spcPts val="0"/>
              </a:spcAft>
              <a:buNone/>
            </a:pPr>
            <a:r>
              <a:rPr lang="es" sz="1350">
                <a:latin typeface="DM Sans"/>
                <a:ea typeface="DM Sans"/>
                <a:cs typeface="DM Sans"/>
                <a:sym typeface="DM Sans"/>
              </a:rPr>
              <a:t>Este modelo establece que los distintos dispositivos </a:t>
            </a:r>
            <a:r>
              <a:rPr lang="es" sz="1350">
                <a:highlight>
                  <a:schemeClr val="accent6"/>
                </a:highlight>
                <a:latin typeface="DM Sans"/>
                <a:ea typeface="DM Sans"/>
                <a:cs typeface="DM Sans"/>
                <a:sym typeface="DM Sans"/>
              </a:rPr>
              <a:t>se identifican entre ellos</a:t>
            </a:r>
            <a:r>
              <a:rPr lang="es" sz="1350">
                <a:latin typeface="DM Sans"/>
                <a:ea typeface="DM Sans"/>
                <a:cs typeface="DM Sans"/>
                <a:sym typeface="DM Sans"/>
              </a:rPr>
              <a:t>, y acuerdan una </a:t>
            </a:r>
            <a:r>
              <a:rPr lang="es" sz="1350">
                <a:highlight>
                  <a:schemeClr val="accent6"/>
                </a:highlight>
                <a:latin typeface="DM Sans"/>
                <a:ea typeface="DM Sans"/>
                <a:cs typeface="DM Sans"/>
                <a:sym typeface="DM Sans"/>
              </a:rPr>
              <a:t>manera de transferir</a:t>
            </a:r>
            <a:r>
              <a:rPr lang="es" sz="1350">
                <a:latin typeface="DM Sans"/>
                <a:ea typeface="DM Sans"/>
                <a:cs typeface="DM Sans"/>
                <a:sym typeface="DM Sans"/>
              </a:rPr>
              <a:t> la información.</a:t>
            </a:r>
            <a:endParaRPr sz="1350">
              <a:latin typeface="DM Sans"/>
              <a:ea typeface="DM Sans"/>
              <a:cs typeface="DM Sans"/>
              <a:sym typeface="DM Sans"/>
            </a:endParaRPr>
          </a:p>
          <a:p>
            <a:pPr marL="0" lvl="0" indent="0" algn="l" rtl="0">
              <a:lnSpc>
                <a:spcPct val="115000"/>
              </a:lnSpc>
              <a:spcBef>
                <a:spcPts val="0"/>
              </a:spcBef>
              <a:spcAft>
                <a:spcPts val="0"/>
              </a:spcAft>
              <a:buNone/>
            </a:pP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sz="1350">
                <a:solidFill>
                  <a:schemeClr val="dk1"/>
                </a:solidFill>
                <a:highlight>
                  <a:schemeClr val="accent6"/>
                </a:highlight>
                <a:latin typeface="DM Sans"/>
                <a:ea typeface="DM Sans"/>
                <a:cs typeface="DM Sans"/>
                <a:sym typeface="DM Sans"/>
              </a:rPr>
              <a:t>¿Quién es el que inicia la operación y cómo sincronizan?</a:t>
            </a:r>
            <a:endParaRPr sz="1350">
              <a:latin typeface="DM Sans"/>
              <a:ea typeface="DM Sans"/>
              <a:cs typeface="DM Sans"/>
              <a:sym typeface="DM Sans"/>
            </a:endParaRPr>
          </a:p>
          <a:p>
            <a:pPr marL="0" marR="0" lvl="0" indent="0" algn="l" rtl="0">
              <a:lnSpc>
                <a:spcPct val="115000"/>
              </a:lnSpc>
              <a:spcBef>
                <a:spcPts val="0"/>
              </a:spcBef>
              <a:spcAft>
                <a:spcPts val="0"/>
              </a:spcAft>
              <a:buNone/>
            </a:pPr>
            <a:endParaRPr sz="1350">
              <a:latin typeface="DM Sans"/>
              <a:ea typeface="DM Sans"/>
              <a:cs typeface="DM Sans"/>
              <a:sym typeface="DM Sans"/>
            </a:endParaRPr>
          </a:p>
        </p:txBody>
      </p:sp>
      <p:pic>
        <p:nvPicPr>
          <p:cNvPr id="74" name="Google Shape;74;p20"/>
          <p:cNvPicPr preferRelativeResize="0"/>
          <p:nvPr/>
        </p:nvPicPr>
        <p:blipFill rotWithShape="1">
          <a:blip r:embed="rId3">
            <a:alphaModFix/>
          </a:blip>
          <a:srcRect t="9321"/>
          <a:stretch/>
        </p:blipFill>
        <p:spPr>
          <a:xfrm>
            <a:off x="4698700" y="1707775"/>
            <a:ext cx="3229199" cy="2594425"/>
          </a:xfrm>
          <a:prstGeom prst="rect">
            <a:avLst/>
          </a:prstGeom>
          <a:noFill/>
          <a:ln>
            <a:noFill/>
          </a:ln>
        </p:spPr>
      </p:pic>
      <p:sp>
        <p:nvSpPr>
          <p:cNvPr id="75" name="Google Shape;75;p20"/>
          <p:cNvSpPr txBox="1"/>
          <p:nvPr/>
        </p:nvSpPr>
        <p:spPr>
          <a:xfrm>
            <a:off x="455317" y="325875"/>
            <a:ext cx="6221400" cy="7389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4000"/>
              <a:buFont typeface="Arial"/>
              <a:buNone/>
            </a:pPr>
            <a:r>
              <a:rPr lang="es" sz="4000" b="1">
                <a:solidFill>
                  <a:schemeClr val="dk1"/>
                </a:solidFill>
                <a:latin typeface="DM Sans"/>
                <a:ea typeface="DM Sans"/>
                <a:cs typeface="DM Sans"/>
                <a:sym typeface="DM Sans"/>
              </a:rPr>
              <a:t>Modelo cliente-servidor</a:t>
            </a:r>
            <a:endParaRPr sz="4000" b="1" i="0" u="none" strike="noStrike" cap="none">
              <a:solidFill>
                <a:schemeClr val="dk1"/>
              </a:solidFill>
              <a:latin typeface="DM Sans"/>
              <a:ea typeface="DM Sans"/>
              <a:cs typeface="DM Sans"/>
              <a:sym typeface="DM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21"/>
          <p:cNvSpPr txBox="1"/>
          <p:nvPr/>
        </p:nvSpPr>
        <p:spPr>
          <a:xfrm>
            <a:off x="511725" y="1535025"/>
            <a:ext cx="4183500" cy="2532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a:latin typeface="DM Sans"/>
                <a:ea typeface="DM Sans"/>
                <a:cs typeface="DM Sans"/>
                <a:sym typeface="DM Sans"/>
              </a:rPr>
              <a:t>El servidor inicia:</a:t>
            </a:r>
            <a:endParaRPr sz="1350">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DM Sans"/>
              <a:buChar char="✓"/>
            </a:pPr>
            <a:r>
              <a:rPr lang="es" sz="1350">
                <a:latin typeface="DM Sans"/>
                <a:ea typeface="DM Sans"/>
                <a:cs typeface="DM Sans"/>
                <a:sym typeface="DM Sans"/>
              </a:rPr>
              <a:t>Cliente se suscribe.</a:t>
            </a:r>
            <a:endParaRPr sz="1350">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DM Sans"/>
              <a:buChar char="✓"/>
            </a:pPr>
            <a:r>
              <a:rPr lang="es" sz="1350">
                <a:latin typeface="DM Sans"/>
                <a:ea typeface="DM Sans"/>
                <a:cs typeface="DM Sans"/>
                <a:sym typeface="DM Sans"/>
              </a:rPr>
              <a:t>El servidor elige el momento del inicio de la transferencia, y la envía a un servicio.</a:t>
            </a:r>
            <a:endParaRPr sz="1350">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DM Sans"/>
              <a:buChar char="✓"/>
            </a:pPr>
            <a:r>
              <a:rPr lang="es" sz="1350">
                <a:latin typeface="DM Sans"/>
                <a:ea typeface="DM Sans"/>
                <a:cs typeface="DM Sans"/>
                <a:sym typeface="DM Sans"/>
              </a:rPr>
              <a:t>El servicio se la provee al cliente.</a:t>
            </a:r>
            <a:endParaRPr sz="1350">
              <a:latin typeface="DM Sans"/>
              <a:ea typeface="DM Sans"/>
              <a:cs typeface="DM Sans"/>
              <a:sym typeface="DM Sans"/>
            </a:endParaRPr>
          </a:p>
          <a:p>
            <a:pPr marL="0" marR="0" lvl="0" indent="0" algn="l" rtl="0">
              <a:lnSpc>
                <a:spcPct val="100000"/>
              </a:lnSpc>
              <a:spcBef>
                <a:spcPts val="0"/>
              </a:spcBef>
              <a:spcAft>
                <a:spcPts val="0"/>
              </a:spcAft>
              <a:buNone/>
            </a:pPr>
            <a:endParaRPr sz="1350">
              <a:latin typeface="DM Sans"/>
              <a:ea typeface="DM Sans"/>
              <a:cs typeface="DM Sans"/>
              <a:sym typeface="DM Sans"/>
            </a:endParaRPr>
          </a:p>
          <a:p>
            <a:pPr marL="0" marR="0" lvl="0" indent="0" algn="l" rtl="0">
              <a:lnSpc>
                <a:spcPct val="100000"/>
              </a:lnSpc>
              <a:spcBef>
                <a:spcPts val="0"/>
              </a:spcBef>
              <a:spcAft>
                <a:spcPts val="0"/>
              </a:spcAft>
              <a:buNone/>
            </a:pP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sz="1350">
                <a:solidFill>
                  <a:schemeClr val="dk1"/>
                </a:solidFill>
                <a:latin typeface="DM Sans"/>
                <a:ea typeface="DM Sans"/>
                <a:cs typeface="DM Sans"/>
                <a:sym typeface="DM Sans"/>
              </a:rPr>
              <a:t>Push genera </a:t>
            </a:r>
            <a:r>
              <a:rPr lang="es" sz="1350">
                <a:solidFill>
                  <a:schemeClr val="dk1"/>
                </a:solidFill>
                <a:highlight>
                  <a:schemeClr val="accent6"/>
                </a:highlight>
                <a:latin typeface="DM Sans"/>
                <a:ea typeface="DM Sans"/>
                <a:cs typeface="DM Sans"/>
                <a:sym typeface="DM Sans"/>
              </a:rPr>
              <a:t>engagement</a:t>
            </a:r>
            <a:r>
              <a:rPr lang="es" sz="1350">
                <a:solidFill>
                  <a:schemeClr val="dk1"/>
                </a:solidFill>
                <a:latin typeface="DM Sans"/>
                <a:ea typeface="DM Sans"/>
                <a:cs typeface="DM Sans"/>
                <a:sym typeface="DM Sans"/>
              </a:rPr>
              <a:t>, que los usuarios recuerden que la app existe, en el </a:t>
            </a:r>
            <a:r>
              <a:rPr lang="es" sz="1350">
                <a:solidFill>
                  <a:schemeClr val="dk1"/>
                </a:solidFill>
                <a:highlight>
                  <a:schemeClr val="accent6"/>
                </a:highlight>
                <a:latin typeface="DM Sans"/>
                <a:ea typeface="DM Sans"/>
                <a:cs typeface="DM Sans"/>
                <a:sym typeface="DM Sans"/>
              </a:rPr>
              <a:t>momento</a:t>
            </a:r>
            <a:r>
              <a:rPr lang="es" sz="1350">
                <a:solidFill>
                  <a:schemeClr val="dk1"/>
                </a:solidFill>
                <a:latin typeface="DM Sans"/>
                <a:ea typeface="DM Sans"/>
                <a:cs typeface="DM Sans"/>
                <a:sym typeface="DM Sans"/>
              </a:rPr>
              <a:t> en el que el servidor considere </a:t>
            </a:r>
            <a:r>
              <a:rPr lang="es" sz="1350">
                <a:solidFill>
                  <a:schemeClr val="dk1"/>
                </a:solidFill>
                <a:highlight>
                  <a:schemeClr val="accent6"/>
                </a:highlight>
                <a:latin typeface="DM Sans"/>
                <a:ea typeface="DM Sans"/>
                <a:cs typeface="DM Sans"/>
                <a:sym typeface="DM Sans"/>
              </a:rPr>
              <a:t>oportuno</a:t>
            </a:r>
            <a:r>
              <a:rPr lang="es" sz="1350">
                <a:solidFill>
                  <a:schemeClr val="dk1"/>
                </a:solidFill>
                <a:latin typeface="DM Sans"/>
                <a:ea typeface="DM Sans"/>
                <a:cs typeface="DM Sans"/>
                <a:sym typeface="DM Sans"/>
              </a:rPr>
              <a:t>.</a:t>
            </a:r>
            <a:endParaRPr sz="1350">
              <a:latin typeface="DM Sans"/>
              <a:ea typeface="DM Sans"/>
              <a:cs typeface="DM Sans"/>
              <a:sym typeface="DM Sans"/>
            </a:endParaRPr>
          </a:p>
        </p:txBody>
      </p:sp>
      <p:pic>
        <p:nvPicPr>
          <p:cNvPr id="81" name="Google Shape;81;p21"/>
          <p:cNvPicPr preferRelativeResize="0"/>
          <p:nvPr/>
        </p:nvPicPr>
        <p:blipFill rotWithShape="1">
          <a:blip r:embed="rId3">
            <a:alphaModFix/>
          </a:blip>
          <a:srcRect l="18573" t="5520" r="21141" b="7943"/>
          <a:stretch/>
        </p:blipFill>
        <p:spPr>
          <a:xfrm>
            <a:off x="5154050" y="1356825"/>
            <a:ext cx="3419545" cy="2810199"/>
          </a:xfrm>
          <a:prstGeom prst="rect">
            <a:avLst/>
          </a:prstGeom>
          <a:noFill/>
          <a:ln>
            <a:noFill/>
          </a:ln>
        </p:spPr>
      </p:pic>
      <p:sp>
        <p:nvSpPr>
          <p:cNvPr id="82" name="Google Shape;82;p21"/>
          <p:cNvSpPr txBox="1"/>
          <p:nvPr/>
        </p:nvSpPr>
        <p:spPr>
          <a:xfrm>
            <a:off x="488474" y="362500"/>
            <a:ext cx="62214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a:solidFill>
                  <a:schemeClr val="dk1"/>
                </a:solidFill>
                <a:latin typeface="DM Sans"/>
                <a:ea typeface="DM Sans"/>
                <a:cs typeface="DM Sans"/>
                <a:sym typeface="DM Sans"/>
              </a:rPr>
              <a:t>Push notifications</a:t>
            </a:r>
            <a:endParaRPr sz="4000" b="1" i="0" u="none" strike="noStrike" cap="none">
              <a:solidFill>
                <a:schemeClr val="dk1"/>
              </a:solidFill>
              <a:latin typeface="DM Sans"/>
              <a:ea typeface="DM Sans"/>
              <a:cs typeface="DM Sans"/>
              <a:sym typeface="DM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22"/>
          <p:cNvSpPr txBox="1"/>
          <p:nvPr/>
        </p:nvSpPr>
        <p:spPr>
          <a:xfrm>
            <a:off x="1404863" y="1941375"/>
            <a:ext cx="6221400" cy="12930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chemeClr val="dk1"/>
              </a:buClr>
              <a:buSzPts val="1100"/>
              <a:buFont typeface="Arial"/>
              <a:buNone/>
            </a:pPr>
            <a:r>
              <a:rPr lang="es" sz="4000" b="1">
                <a:solidFill>
                  <a:schemeClr val="lt1"/>
                </a:solidFill>
                <a:latin typeface="DM Sans"/>
                <a:ea typeface="DM Sans"/>
                <a:cs typeface="DM Sans"/>
                <a:sym typeface="DM Sans"/>
              </a:rPr>
              <a:t>PETICIONES (REQUESTS) VIA HTTP/S</a:t>
            </a:r>
            <a:endParaRPr sz="4000" b="1">
              <a:solidFill>
                <a:schemeClr val="lt1"/>
              </a:solidFill>
              <a:latin typeface="DM Sans"/>
              <a:ea typeface="DM Sans"/>
              <a:cs typeface="DM Sans"/>
              <a:sym typeface="DM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3"/>
          <p:cNvSpPr txBox="1"/>
          <p:nvPr/>
        </p:nvSpPr>
        <p:spPr>
          <a:xfrm>
            <a:off x="635400" y="1939050"/>
            <a:ext cx="7873200" cy="11268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s" sz="3400" b="1">
                <a:solidFill>
                  <a:schemeClr val="dk1"/>
                </a:solidFill>
                <a:latin typeface="DM Sans"/>
                <a:ea typeface="DM Sans"/>
                <a:cs typeface="DM Sans"/>
                <a:sym typeface="DM Sans"/>
              </a:rPr>
              <a:t>Instalar Postman </a:t>
            </a:r>
            <a:endParaRPr sz="3400" b="1">
              <a:solidFill>
                <a:schemeClr val="dk1"/>
              </a:solidFill>
              <a:latin typeface="DM Sans"/>
              <a:ea typeface="DM Sans"/>
              <a:cs typeface="DM Sans"/>
              <a:sym typeface="DM Sans"/>
            </a:endParaRPr>
          </a:p>
          <a:p>
            <a:pPr marL="0" lvl="0" indent="0" algn="ctr" rtl="0">
              <a:lnSpc>
                <a:spcPct val="90000"/>
              </a:lnSpc>
              <a:spcBef>
                <a:spcPts val="0"/>
              </a:spcBef>
              <a:spcAft>
                <a:spcPts val="0"/>
              </a:spcAft>
              <a:buNone/>
            </a:pPr>
            <a:r>
              <a:rPr lang="es" sz="3400" b="1">
                <a:solidFill>
                  <a:schemeClr val="dk1"/>
                </a:solidFill>
                <a:latin typeface="DM Sans"/>
                <a:ea typeface="DM Sans"/>
                <a:cs typeface="DM Sans"/>
                <a:sym typeface="DM Sans"/>
              </a:rPr>
              <a:t>o Thunder Client</a:t>
            </a:r>
            <a:endParaRPr sz="3400" b="1">
              <a:solidFill>
                <a:schemeClr val="dk1"/>
              </a:solidFill>
              <a:latin typeface="DM Sans"/>
              <a:ea typeface="DM Sans"/>
              <a:cs typeface="DM Sans"/>
              <a:sym typeface="DM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4"/>
          <p:cNvSpPr txBox="1"/>
          <p:nvPr/>
        </p:nvSpPr>
        <p:spPr>
          <a:xfrm>
            <a:off x="457725" y="1071050"/>
            <a:ext cx="59598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a:solidFill>
                  <a:schemeClr val="dk1"/>
                </a:solidFill>
                <a:latin typeface="DM Sans"/>
                <a:ea typeface="DM Sans"/>
                <a:cs typeface="DM Sans"/>
                <a:sym typeface="DM Sans"/>
              </a:rPr>
              <a:t>REQUESTS VIA HTTP/S</a:t>
            </a:r>
            <a:endParaRPr sz="4000" b="1" i="0" u="none" strike="noStrike" cap="none">
              <a:solidFill>
                <a:schemeClr val="dk1"/>
              </a:solidFill>
              <a:latin typeface="DM Sans"/>
              <a:ea typeface="DM Sans"/>
              <a:cs typeface="DM Sans"/>
              <a:sym typeface="DM Sans"/>
            </a:endParaRPr>
          </a:p>
        </p:txBody>
      </p:sp>
      <p:sp>
        <p:nvSpPr>
          <p:cNvPr id="98" name="Google Shape;98;p24"/>
          <p:cNvSpPr txBox="1"/>
          <p:nvPr/>
        </p:nvSpPr>
        <p:spPr>
          <a:xfrm>
            <a:off x="457725" y="2086975"/>
            <a:ext cx="4730100" cy="23043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chemeClr val="dk1"/>
              </a:buClr>
              <a:buSzPts val="1100"/>
              <a:buFont typeface="Arial"/>
              <a:buNone/>
            </a:pPr>
            <a:r>
              <a:rPr lang="es" sz="1350">
                <a:latin typeface="DM Sans"/>
                <a:ea typeface="DM Sans"/>
                <a:cs typeface="DM Sans"/>
                <a:sym typeface="DM Sans"/>
              </a:rPr>
              <a:t>Permiten realizar una solicitud a un servidor, y nos permiten establecer un protocolo de transferencia definido por:</a:t>
            </a:r>
            <a:endParaRPr sz="1350">
              <a:latin typeface="DM Sans"/>
              <a:ea typeface="DM Sans"/>
              <a:cs typeface="DM Sans"/>
              <a:sym typeface="DM Sans"/>
            </a:endParaRPr>
          </a:p>
          <a:p>
            <a:pPr marL="0" marR="0" lvl="0" indent="0" algn="l" rtl="0">
              <a:lnSpc>
                <a:spcPct val="115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457200" marR="0" lvl="0" indent="-314325" algn="l" rtl="0">
              <a:lnSpc>
                <a:spcPct val="115000"/>
              </a:lnSpc>
              <a:spcBef>
                <a:spcPts val="0"/>
              </a:spcBef>
              <a:spcAft>
                <a:spcPts val="0"/>
              </a:spcAft>
              <a:buClr>
                <a:schemeClr val="accent4"/>
              </a:buClr>
              <a:buSzPts val="1350"/>
              <a:buFont typeface="DM Sans"/>
              <a:buChar char="✓"/>
            </a:pPr>
            <a:r>
              <a:rPr lang="es" sz="1350">
                <a:latin typeface="DM Sans"/>
                <a:ea typeface="DM Sans"/>
                <a:cs typeface="DM Sans"/>
                <a:sym typeface="DM Sans"/>
              </a:rPr>
              <a:t>Dirección/URL.</a:t>
            </a:r>
            <a:endParaRPr sz="1350">
              <a:latin typeface="DM Sans"/>
              <a:ea typeface="DM Sans"/>
              <a:cs typeface="DM Sans"/>
              <a:sym typeface="DM Sans"/>
            </a:endParaRPr>
          </a:p>
          <a:p>
            <a:pPr marL="457200" marR="0" lvl="0" indent="-314325" algn="l" rtl="0">
              <a:lnSpc>
                <a:spcPct val="115000"/>
              </a:lnSpc>
              <a:spcBef>
                <a:spcPts val="0"/>
              </a:spcBef>
              <a:spcAft>
                <a:spcPts val="0"/>
              </a:spcAft>
              <a:buClr>
                <a:schemeClr val="accent4"/>
              </a:buClr>
              <a:buSzPts val="1350"/>
              <a:buFont typeface="DM Sans"/>
              <a:buChar char="✓"/>
            </a:pPr>
            <a:r>
              <a:rPr lang="es" sz="1350">
                <a:latin typeface="DM Sans"/>
                <a:ea typeface="DM Sans"/>
                <a:cs typeface="DM Sans"/>
                <a:sym typeface="DM Sans"/>
              </a:rPr>
              <a:t>Verbo (GET, POST, PUT, DELETE +).</a:t>
            </a:r>
            <a:endParaRPr sz="1350">
              <a:latin typeface="DM Sans"/>
              <a:ea typeface="DM Sans"/>
              <a:cs typeface="DM Sans"/>
              <a:sym typeface="DM Sans"/>
            </a:endParaRPr>
          </a:p>
          <a:p>
            <a:pPr marL="457200" marR="0" lvl="0" indent="-314325" algn="l" rtl="0">
              <a:lnSpc>
                <a:spcPct val="115000"/>
              </a:lnSpc>
              <a:spcBef>
                <a:spcPts val="0"/>
              </a:spcBef>
              <a:spcAft>
                <a:spcPts val="0"/>
              </a:spcAft>
              <a:buClr>
                <a:schemeClr val="accent4"/>
              </a:buClr>
              <a:buSzPts val="1350"/>
              <a:buFont typeface="DM Sans"/>
              <a:buChar char="✓"/>
            </a:pPr>
            <a:r>
              <a:rPr lang="es" sz="1350">
                <a:latin typeface="DM Sans"/>
                <a:ea typeface="DM Sans"/>
                <a:cs typeface="DM Sans"/>
                <a:sym typeface="DM Sans"/>
              </a:rPr>
              <a:t>Parámetros: vía query o url.</a:t>
            </a:r>
            <a:endParaRPr sz="1350">
              <a:latin typeface="DM Sans"/>
              <a:ea typeface="DM Sans"/>
              <a:cs typeface="DM Sans"/>
              <a:sym typeface="DM Sans"/>
            </a:endParaRPr>
          </a:p>
          <a:p>
            <a:pPr marL="457200" marR="0" lvl="0" indent="-314325" algn="l" rtl="0">
              <a:lnSpc>
                <a:spcPct val="115000"/>
              </a:lnSpc>
              <a:spcBef>
                <a:spcPts val="0"/>
              </a:spcBef>
              <a:spcAft>
                <a:spcPts val="0"/>
              </a:spcAft>
              <a:buClr>
                <a:schemeClr val="accent4"/>
              </a:buClr>
              <a:buSzPts val="1350"/>
              <a:buFont typeface="DM Sans"/>
              <a:buChar char="✓"/>
            </a:pPr>
            <a:r>
              <a:rPr lang="es" sz="1350">
                <a:latin typeface="DM Sans"/>
                <a:ea typeface="DM Sans"/>
                <a:cs typeface="DM Sans"/>
                <a:sym typeface="DM Sans"/>
              </a:rPr>
              <a:t>Headers.</a:t>
            </a:r>
            <a:endParaRPr sz="1350">
              <a:latin typeface="DM Sans"/>
              <a:ea typeface="DM Sans"/>
              <a:cs typeface="DM Sans"/>
              <a:sym typeface="DM Sans"/>
            </a:endParaRPr>
          </a:p>
          <a:p>
            <a:pPr marL="457200" marR="0" lvl="0" indent="-314325" algn="l" rtl="0">
              <a:lnSpc>
                <a:spcPct val="115000"/>
              </a:lnSpc>
              <a:spcBef>
                <a:spcPts val="0"/>
              </a:spcBef>
              <a:spcAft>
                <a:spcPts val="0"/>
              </a:spcAft>
              <a:buClr>
                <a:schemeClr val="accent4"/>
              </a:buClr>
              <a:buSzPts val="1350"/>
              <a:buFont typeface="DM Sans"/>
              <a:buChar char="✓"/>
            </a:pPr>
            <a:r>
              <a:rPr lang="es" sz="1350">
                <a:latin typeface="DM Sans"/>
                <a:ea typeface="DM Sans"/>
                <a:cs typeface="DM Sans"/>
                <a:sym typeface="DM Sans"/>
              </a:rPr>
              <a:t>Body (contenido en un POST).</a:t>
            </a:r>
            <a:endParaRPr sz="1350">
              <a:latin typeface="DM Sans"/>
              <a:ea typeface="DM Sans"/>
              <a:cs typeface="DM Sans"/>
              <a:sym typeface="DM Sans"/>
            </a:endParaRPr>
          </a:p>
        </p:txBody>
      </p:sp>
      <p:pic>
        <p:nvPicPr>
          <p:cNvPr id="99" name="Google Shape;99;p24"/>
          <p:cNvPicPr preferRelativeResize="0"/>
          <p:nvPr/>
        </p:nvPicPr>
        <p:blipFill rotWithShape="1">
          <a:blip r:embed="rId3">
            <a:alphaModFix/>
          </a:blip>
          <a:srcRect l="31411" r="37028"/>
          <a:stretch/>
        </p:blipFill>
        <p:spPr>
          <a:xfrm>
            <a:off x="5187825" y="2031100"/>
            <a:ext cx="2672350" cy="24160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25"/>
          <p:cNvSpPr txBox="1"/>
          <p:nvPr/>
        </p:nvSpPr>
        <p:spPr>
          <a:xfrm>
            <a:off x="457725" y="766250"/>
            <a:ext cx="4730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chemeClr val="dk1"/>
              </a:buClr>
              <a:buSzPts val="1100"/>
              <a:buFont typeface="Arial"/>
              <a:buNone/>
            </a:pPr>
            <a:r>
              <a:rPr lang="es" sz="4000" b="1">
                <a:solidFill>
                  <a:schemeClr val="dk1"/>
                </a:solidFill>
                <a:latin typeface="DM Sans"/>
                <a:ea typeface="DM Sans"/>
                <a:cs typeface="DM Sans"/>
                <a:sym typeface="DM Sans"/>
              </a:rPr>
              <a:t>URL Y VERB</a:t>
            </a:r>
            <a:endParaRPr sz="4000" b="1">
              <a:solidFill>
                <a:schemeClr val="dk1"/>
              </a:solidFill>
              <a:latin typeface="DM Sans"/>
              <a:ea typeface="DM Sans"/>
              <a:cs typeface="DM Sans"/>
              <a:sym typeface="DM Sans"/>
            </a:endParaRPr>
          </a:p>
        </p:txBody>
      </p:sp>
      <p:sp>
        <p:nvSpPr>
          <p:cNvPr id="105" name="Google Shape;105;p25"/>
          <p:cNvSpPr txBox="1"/>
          <p:nvPr/>
        </p:nvSpPr>
        <p:spPr>
          <a:xfrm>
            <a:off x="457725" y="1906825"/>
            <a:ext cx="4730100" cy="25431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chemeClr val="dk1"/>
              </a:buClr>
              <a:buSzPts val="1100"/>
              <a:buFont typeface="Arial"/>
              <a:buNone/>
            </a:pPr>
            <a:r>
              <a:rPr lang="es" sz="1350" b="1">
                <a:latin typeface="DM Sans"/>
                <a:ea typeface="DM Sans"/>
                <a:cs typeface="DM Sans"/>
                <a:sym typeface="DM Sans"/>
              </a:rPr>
              <a:t>VERBOS:</a:t>
            </a:r>
            <a:endParaRPr sz="1350" b="1">
              <a:latin typeface="DM Sans"/>
              <a:ea typeface="DM Sans"/>
              <a:cs typeface="DM Sans"/>
              <a:sym typeface="DM Sans"/>
            </a:endParaRPr>
          </a:p>
          <a:p>
            <a:pPr marL="0" marR="0" lvl="0" indent="0" algn="l" rtl="0">
              <a:lnSpc>
                <a:spcPct val="115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0" marR="0" lvl="0" indent="0" algn="l" rtl="0">
              <a:lnSpc>
                <a:spcPct val="115000"/>
              </a:lnSpc>
              <a:spcBef>
                <a:spcPts val="0"/>
              </a:spcBef>
              <a:spcAft>
                <a:spcPts val="0"/>
              </a:spcAft>
              <a:buClr>
                <a:schemeClr val="dk1"/>
              </a:buClr>
              <a:buSzPts val="1100"/>
              <a:buFont typeface="Arial"/>
              <a:buNone/>
            </a:pPr>
            <a:r>
              <a:rPr lang="es" sz="1350">
                <a:latin typeface="DM Sans"/>
                <a:ea typeface="DM Sans"/>
                <a:cs typeface="DM Sans"/>
                <a:sym typeface="DM Sans"/>
              </a:rPr>
              <a:t>Nos permiten definir una manera de explicarle al servidor la dirección y nuestras intenciones:</a:t>
            </a:r>
            <a:endParaRPr sz="1350">
              <a:latin typeface="DM Sans"/>
              <a:ea typeface="DM Sans"/>
              <a:cs typeface="DM Sans"/>
              <a:sym typeface="DM Sans"/>
            </a:endParaRPr>
          </a:p>
          <a:p>
            <a:pPr marL="0" marR="0" lvl="0" indent="0" algn="l" rtl="0">
              <a:lnSpc>
                <a:spcPct val="115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457200" marR="0" lvl="0" indent="-314325" algn="l" rtl="0">
              <a:lnSpc>
                <a:spcPct val="115000"/>
              </a:lnSpc>
              <a:spcBef>
                <a:spcPts val="0"/>
              </a:spcBef>
              <a:spcAft>
                <a:spcPts val="0"/>
              </a:spcAft>
              <a:buClr>
                <a:schemeClr val="accent4"/>
              </a:buClr>
              <a:buSzPts val="1350"/>
              <a:buFont typeface="DM Sans"/>
              <a:buChar char="✓"/>
            </a:pPr>
            <a:r>
              <a:rPr lang="es" sz="1350">
                <a:latin typeface="DM Sans"/>
                <a:ea typeface="DM Sans"/>
                <a:cs typeface="DM Sans"/>
                <a:sym typeface="DM Sans"/>
              </a:rPr>
              <a:t>GET: quiero obtener.</a:t>
            </a:r>
            <a:endParaRPr sz="1350">
              <a:latin typeface="DM Sans"/>
              <a:ea typeface="DM Sans"/>
              <a:cs typeface="DM Sans"/>
              <a:sym typeface="DM Sans"/>
            </a:endParaRPr>
          </a:p>
          <a:p>
            <a:pPr marL="457200" marR="0" lvl="0" indent="-314325" algn="l" rtl="0">
              <a:lnSpc>
                <a:spcPct val="115000"/>
              </a:lnSpc>
              <a:spcBef>
                <a:spcPts val="0"/>
              </a:spcBef>
              <a:spcAft>
                <a:spcPts val="0"/>
              </a:spcAft>
              <a:buClr>
                <a:schemeClr val="accent4"/>
              </a:buClr>
              <a:buSzPts val="1350"/>
              <a:buFont typeface="DM Sans"/>
              <a:buChar char="✓"/>
            </a:pPr>
            <a:r>
              <a:rPr lang="es" sz="1350">
                <a:latin typeface="DM Sans"/>
                <a:ea typeface="DM Sans"/>
                <a:cs typeface="DM Sans"/>
                <a:sym typeface="DM Sans"/>
              </a:rPr>
              <a:t>POST: quiero crear.</a:t>
            </a:r>
            <a:endParaRPr sz="1350">
              <a:latin typeface="DM Sans"/>
              <a:ea typeface="DM Sans"/>
              <a:cs typeface="DM Sans"/>
              <a:sym typeface="DM Sans"/>
            </a:endParaRPr>
          </a:p>
          <a:p>
            <a:pPr marL="457200" marR="0" lvl="0" indent="-314325" algn="l" rtl="0">
              <a:lnSpc>
                <a:spcPct val="115000"/>
              </a:lnSpc>
              <a:spcBef>
                <a:spcPts val="0"/>
              </a:spcBef>
              <a:spcAft>
                <a:spcPts val="0"/>
              </a:spcAft>
              <a:buClr>
                <a:schemeClr val="accent4"/>
              </a:buClr>
              <a:buSzPts val="1350"/>
              <a:buFont typeface="DM Sans"/>
              <a:buChar char="✓"/>
            </a:pPr>
            <a:r>
              <a:rPr lang="es" sz="1350">
                <a:latin typeface="DM Sans"/>
                <a:ea typeface="DM Sans"/>
                <a:cs typeface="DM Sans"/>
                <a:sym typeface="DM Sans"/>
              </a:rPr>
              <a:t>PUT: quiero crear o actualizar.</a:t>
            </a:r>
            <a:endParaRPr sz="1350">
              <a:latin typeface="DM Sans"/>
              <a:ea typeface="DM Sans"/>
              <a:cs typeface="DM Sans"/>
              <a:sym typeface="DM Sans"/>
            </a:endParaRPr>
          </a:p>
          <a:p>
            <a:pPr marL="457200" marR="0" lvl="0" indent="-314325" algn="l" rtl="0">
              <a:lnSpc>
                <a:spcPct val="115000"/>
              </a:lnSpc>
              <a:spcBef>
                <a:spcPts val="0"/>
              </a:spcBef>
              <a:spcAft>
                <a:spcPts val="0"/>
              </a:spcAft>
              <a:buClr>
                <a:schemeClr val="accent4"/>
              </a:buClr>
              <a:buSzPts val="1350"/>
              <a:buFont typeface="DM Sans"/>
              <a:buChar char="✓"/>
            </a:pPr>
            <a:r>
              <a:rPr lang="es" sz="1350">
                <a:latin typeface="DM Sans"/>
                <a:ea typeface="DM Sans"/>
                <a:cs typeface="DM Sans"/>
                <a:sym typeface="DM Sans"/>
              </a:rPr>
              <a:t>PATCH: quiero alterar parcialmente.</a:t>
            </a:r>
            <a:endParaRPr sz="1350">
              <a:latin typeface="DM Sans"/>
              <a:ea typeface="DM Sans"/>
              <a:cs typeface="DM Sans"/>
              <a:sym typeface="DM Sans"/>
            </a:endParaRPr>
          </a:p>
          <a:p>
            <a:pPr marL="457200" marR="0" lvl="0" indent="-314325" algn="l" rtl="0">
              <a:lnSpc>
                <a:spcPct val="115000"/>
              </a:lnSpc>
              <a:spcBef>
                <a:spcPts val="0"/>
              </a:spcBef>
              <a:spcAft>
                <a:spcPts val="0"/>
              </a:spcAft>
              <a:buClr>
                <a:schemeClr val="accent4"/>
              </a:buClr>
              <a:buSzPts val="1350"/>
              <a:buFont typeface="DM Sans"/>
              <a:buChar char="✓"/>
            </a:pPr>
            <a:r>
              <a:rPr lang="es" sz="1350">
                <a:latin typeface="DM Sans"/>
                <a:ea typeface="DM Sans"/>
                <a:cs typeface="DM Sans"/>
                <a:sym typeface="DM Sans"/>
              </a:rPr>
              <a:t>DELETE: quiero eliminar.</a:t>
            </a:r>
            <a:endParaRPr sz="1350">
              <a:latin typeface="DM Sans"/>
              <a:ea typeface="DM Sans"/>
              <a:cs typeface="DM Sans"/>
              <a:sym typeface="DM Sans"/>
            </a:endParaRPr>
          </a:p>
        </p:txBody>
      </p:sp>
      <p:pic>
        <p:nvPicPr>
          <p:cNvPr id="106" name="Google Shape;106;p25"/>
          <p:cNvPicPr preferRelativeResize="0"/>
          <p:nvPr/>
        </p:nvPicPr>
        <p:blipFill rotWithShape="1">
          <a:blip r:embed="rId3">
            <a:alphaModFix/>
          </a:blip>
          <a:srcRect/>
          <a:stretch/>
        </p:blipFill>
        <p:spPr>
          <a:xfrm>
            <a:off x="5277725" y="2267475"/>
            <a:ext cx="3324825" cy="1646100"/>
          </a:xfrm>
          <a:prstGeom prst="rect">
            <a:avLst/>
          </a:prstGeom>
          <a:noFill/>
          <a:ln>
            <a:noFill/>
          </a:ln>
        </p:spPr>
      </p:pic>
      <p:sp>
        <p:nvSpPr>
          <p:cNvPr id="107" name="Google Shape;107;p25"/>
          <p:cNvSpPr txBox="1"/>
          <p:nvPr/>
        </p:nvSpPr>
        <p:spPr>
          <a:xfrm>
            <a:off x="5333199" y="1209725"/>
            <a:ext cx="3269400" cy="469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850">
                <a:solidFill>
                  <a:schemeClr val="dk1"/>
                </a:solidFill>
                <a:highlight>
                  <a:srgbClr val="EF89D2"/>
                </a:highlight>
                <a:latin typeface="DM Sans"/>
                <a:ea typeface="DM Sans"/>
                <a:cs typeface="DM Sans"/>
                <a:sym typeface="DM Sans"/>
              </a:rPr>
              <a:t>URL: https://pet.api.com/pet</a:t>
            </a:r>
            <a:endParaRPr sz="1850">
              <a:solidFill>
                <a:schemeClr val="dk1"/>
              </a:solidFill>
              <a:highlight>
                <a:srgbClr val="EF89D2"/>
              </a:highlight>
              <a:latin typeface="DM Sans"/>
              <a:ea typeface="DM Sans"/>
              <a:cs typeface="DM Sans"/>
              <a:sym typeface="DM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6"/>
          <p:cNvSpPr txBox="1"/>
          <p:nvPr/>
        </p:nvSpPr>
        <p:spPr>
          <a:xfrm>
            <a:off x="457725" y="1071050"/>
            <a:ext cx="4730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chemeClr val="dk1"/>
              </a:buClr>
              <a:buSzPts val="1100"/>
              <a:buFont typeface="Arial"/>
              <a:buNone/>
            </a:pPr>
            <a:r>
              <a:rPr lang="es" sz="4000" b="1">
                <a:solidFill>
                  <a:schemeClr val="dk1"/>
                </a:solidFill>
                <a:latin typeface="DM Sans"/>
                <a:ea typeface="DM Sans"/>
                <a:cs typeface="DM Sans"/>
                <a:sym typeface="DM Sans"/>
              </a:rPr>
              <a:t>URL Y VERB</a:t>
            </a:r>
            <a:endParaRPr sz="4000" b="1">
              <a:solidFill>
                <a:schemeClr val="dk1"/>
              </a:solidFill>
              <a:latin typeface="DM Sans"/>
              <a:ea typeface="DM Sans"/>
              <a:cs typeface="DM Sans"/>
              <a:sym typeface="DM Sans"/>
            </a:endParaRPr>
          </a:p>
        </p:txBody>
      </p:sp>
      <p:sp>
        <p:nvSpPr>
          <p:cNvPr id="113" name="Google Shape;113;p26"/>
          <p:cNvSpPr txBox="1"/>
          <p:nvPr/>
        </p:nvSpPr>
        <p:spPr>
          <a:xfrm>
            <a:off x="457725" y="2211625"/>
            <a:ext cx="4730100" cy="1847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es" sz="1350">
                <a:latin typeface="DM Sans"/>
                <a:ea typeface="DM Sans"/>
                <a:cs typeface="DM Sans"/>
                <a:sym typeface="DM Sans"/>
              </a:rPr>
              <a:t>Ningún verbo representa una seguridad y/u obligación. Pero si el servidor y el consumidor los respetan, se pueden lograr algunas mejoras como por ejemplo:</a:t>
            </a:r>
            <a:endParaRPr sz="1350">
              <a:latin typeface="DM Sans"/>
              <a:ea typeface="DM Sans"/>
              <a:cs typeface="DM Sans"/>
              <a:sym typeface="DM Sans"/>
            </a:endParaRPr>
          </a:p>
          <a:p>
            <a:pPr marL="0" marR="0" lvl="0" indent="0" algn="l" rtl="0">
              <a:lnSpc>
                <a:spcPct val="100000"/>
              </a:lnSpc>
              <a:spcBef>
                <a:spcPts val="0"/>
              </a:spcBef>
              <a:spcAft>
                <a:spcPts val="0"/>
              </a:spcAft>
              <a:buNone/>
            </a:pPr>
            <a:endParaRPr sz="1350">
              <a:latin typeface="DM Sans"/>
              <a:ea typeface="DM Sans"/>
              <a:cs typeface="DM Sans"/>
              <a:sym typeface="DM Sans"/>
            </a:endParaRPr>
          </a:p>
          <a:p>
            <a:pPr marL="0" marR="0" lvl="0" indent="0" algn="l" rtl="0">
              <a:lnSpc>
                <a:spcPct val="100000"/>
              </a:lnSpc>
              <a:spcBef>
                <a:spcPts val="0"/>
              </a:spcBef>
              <a:spcAft>
                <a:spcPts val="0"/>
              </a:spcAft>
              <a:buNone/>
            </a:pPr>
            <a:r>
              <a:rPr lang="es" sz="1350">
                <a:latin typeface="DM Sans"/>
                <a:ea typeface="DM Sans"/>
                <a:cs typeface="DM Sans"/>
                <a:sym typeface="DM Sans"/>
              </a:rPr>
              <a:t>El navegador sabe que un </a:t>
            </a:r>
            <a:r>
              <a:rPr lang="es" sz="1350">
                <a:highlight>
                  <a:schemeClr val="accent6"/>
                </a:highlight>
                <a:latin typeface="DM Sans"/>
                <a:ea typeface="DM Sans"/>
                <a:cs typeface="DM Sans"/>
                <a:sym typeface="DM Sans"/>
              </a:rPr>
              <a:t>POST</a:t>
            </a:r>
            <a:r>
              <a:rPr lang="es" sz="1350">
                <a:latin typeface="DM Sans"/>
                <a:ea typeface="DM Sans"/>
                <a:cs typeface="DM Sans"/>
                <a:sym typeface="DM Sans"/>
              </a:rPr>
              <a:t> no debería ser cacheado, si hacemos un </a:t>
            </a:r>
            <a:r>
              <a:rPr lang="es" sz="1350">
                <a:highlight>
                  <a:schemeClr val="accent6"/>
                </a:highlight>
                <a:latin typeface="DM Sans"/>
                <a:ea typeface="DM Sans"/>
                <a:cs typeface="DM Sans"/>
                <a:sym typeface="DM Sans"/>
              </a:rPr>
              <a:t>GET</a:t>
            </a:r>
            <a:r>
              <a:rPr lang="es" sz="1350">
                <a:latin typeface="DM Sans"/>
                <a:ea typeface="DM Sans"/>
                <a:cs typeface="DM Sans"/>
                <a:sym typeface="DM Sans"/>
              </a:rPr>
              <a:t> y fuera cacheable el navegador podrá cachearlo, pero nunca lo hará con un recurso con verbo </a:t>
            </a:r>
            <a:r>
              <a:rPr lang="es" sz="1350">
                <a:highlight>
                  <a:schemeClr val="accent6"/>
                </a:highlight>
                <a:latin typeface="DM Sans"/>
                <a:ea typeface="DM Sans"/>
                <a:cs typeface="DM Sans"/>
                <a:sym typeface="DM Sans"/>
              </a:rPr>
              <a:t>POST</a:t>
            </a:r>
            <a:r>
              <a:rPr lang="es" sz="1350">
                <a:latin typeface="DM Sans"/>
                <a:ea typeface="DM Sans"/>
                <a:cs typeface="DM Sans"/>
                <a:sym typeface="DM Sans"/>
              </a:rPr>
              <a:t>.</a:t>
            </a:r>
            <a:endParaRPr sz="1350">
              <a:latin typeface="DM Sans"/>
              <a:ea typeface="DM Sans"/>
              <a:cs typeface="DM Sans"/>
              <a:sym typeface="DM Sans"/>
            </a:endParaRPr>
          </a:p>
        </p:txBody>
      </p:sp>
      <p:pic>
        <p:nvPicPr>
          <p:cNvPr id="114" name="Google Shape;114;p26"/>
          <p:cNvPicPr preferRelativeResize="0"/>
          <p:nvPr/>
        </p:nvPicPr>
        <p:blipFill rotWithShape="1">
          <a:blip r:embed="rId3">
            <a:alphaModFix/>
          </a:blip>
          <a:srcRect/>
          <a:stretch/>
        </p:blipFill>
        <p:spPr>
          <a:xfrm>
            <a:off x="5443800" y="1809950"/>
            <a:ext cx="2365851" cy="236585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7"/>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chemeClr val="dk1"/>
              </a:buClr>
              <a:buSzPts val="1100"/>
              <a:buFont typeface="Arial"/>
              <a:buNone/>
            </a:pPr>
            <a:r>
              <a:rPr lang="es" sz="4000" b="1">
                <a:solidFill>
                  <a:schemeClr val="dk1"/>
                </a:solidFill>
                <a:latin typeface="DM Sans"/>
                <a:ea typeface="DM Sans"/>
                <a:cs typeface="DM Sans"/>
                <a:sym typeface="DM Sans"/>
              </a:rPr>
              <a:t>URL PARAMS/SEGMENT</a:t>
            </a:r>
            <a:endParaRPr sz="4000" b="1">
              <a:solidFill>
                <a:schemeClr val="dk1"/>
              </a:solidFill>
              <a:latin typeface="DM Sans"/>
              <a:ea typeface="DM Sans"/>
              <a:cs typeface="DM Sans"/>
              <a:sym typeface="DM Sans"/>
            </a:endParaRPr>
          </a:p>
        </p:txBody>
      </p:sp>
      <p:sp>
        <p:nvSpPr>
          <p:cNvPr id="120" name="Google Shape;120;p27"/>
          <p:cNvSpPr txBox="1"/>
          <p:nvPr/>
        </p:nvSpPr>
        <p:spPr>
          <a:xfrm>
            <a:off x="473350" y="1529400"/>
            <a:ext cx="7341600" cy="1015800"/>
          </a:xfrm>
          <a:prstGeom prst="rect">
            <a:avLst/>
          </a:prstGeom>
          <a:noFill/>
          <a:ln>
            <a:noFill/>
          </a:ln>
        </p:spPr>
        <p:txBody>
          <a:bodyPr spcFirstLastPara="1" wrap="square" lIns="91425" tIns="91425" rIns="91425" bIns="91425" anchor="t" anchorCtr="0">
            <a:spAutoFit/>
          </a:bodyPr>
          <a:lstStyle/>
          <a:p>
            <a:pPr marL="457200" marR="0" lvl="0" indent="-314325" algn="l" rtl="0">
              <a:lnSpc>
                <a:spcPct val="100000"/>
              </a:lnSpc>
              <a:spcBef>
                <a:spcPts val="0"/>
              </a:spcBef>
              <a:spcAft>
                <a:spcPts val="0"/>
              </a:spcAft>
              <a:buClr>
                <a:schemeClr val="accent4"/>
              </a:buClr>
              <a:buSzPts val="1350"/>
              <a:buFont typeface="DM Sans"/>
              <a:buChar char="✓"/>
            </a:pPr>
            <a:r>
              <a:rPr lang="es" sz="1350">
                <a:latin typeface="DM Sans"/>
                <a:ea typeface="DM Sans"/>
                <a:cs typeface="DM Sans"/>
                <a:sym typeface="DM Sans"/>
              </a:rPr>
              <a:t>Son una convención para incluir el identificador del recurso dentro de la misma url, son más comunes cuando ya se conoce el recurso específico que se buscará.</a:t>
            </a:r>
            <a:endParaRPr sz="1350">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350"/>
              <a:buFont typeface="Arial"/>
              <a:buNone/>
            </a:pPr>
            <a:endParaRPr sz="1350">
              <a:latin typeface="DM Sans"/>
              <a:ea typeface="DM Sans"/>
              <a:cs typeface="DM Sans"/>
              <a:sym typeface="DM Sans"/>
            </a:endParaRPr>
          </a:p>
        </p:txBody>
      </p:sp>
      <p:graphicFrame>
        <p:nvGraphicFramePr>
          <p:cNvPr id="121" name="Google Shape;121;p27"/>
          <p:cNvGraphicFramePr/>
          <p:nvPr/>
        </p:nvGraphicFramePr>
        <p:xfrm>
          <a:off x="981400" y="2292525"/>
          <a:ext cx="3000000" cy="3000000"/>
        </p:xfrm>
        <a:graphic>
          <a:graphicData uri="http://schemas.openxmlformats.org/drawingml/2006/table">
            <a:tbl>
              <a:tblPr>
                <a:noFill/>
                <a:tableStyleId>{8B3616F2-456C-40B4-B490-66DFA2D3AB3A}</a:tableStyleId>
              </a:tblPr>
              <a:tblGrid>
                <a:gridCol w="3877775">
                  <a:extLst>
                    <a:ext uri="{9D8B030D-6E8A-4147-A177-3AD203B41FA5}">
                      <a16:colId xmlns:a16="http://schemas.microsoft.com/office/drawing/2014/main" val="20000"/>
                    </a:ext>
                  </a:extLst>
                </a:gridCol>
                <a:gridCol w="3618350">
                  <a:extLst>
                    <a:ext uri="{9D8B030D-6E8A-4147-A177-3AD203B41FA5}">
                      <a16:colId xmlns:a16="http://schemas.microsoft.com/office/drawing/2014/main" val="20001"/>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1350" u="sng" strike="noStrike" cap="none">
                          <a:solidFill>
                            <a:srgbClr val="0097A7"/>
                          </a:solidFill>
                          <a:latin typeface="DM Sans"/>
                          <a:ea typeface="DM Sans"/>
                          <a:cs typeface="DM Sans"/>
                          <a:sym typeface="DM Sans"/>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https://myapp.coder/student/</a:t>
                      </a:r>
                      <a:r>
                        <a:rPr lang="es" sz="1350" u="sng" strike="noStrike" cap="none">
                          <a:solidFill>
                            <a:schemeClr val="accent4"/>
                          </a:solidFill>
                          <a:latin typeface="DM Sans"/>
                          <a:ea typeface="DM Sans"/>
                          <a:cs typeface="DM Sans"/>
                          <a:sym typeface="DM Sans"/>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1234</a:t>
                      </a:r>
                      <a:endParaRPr sz="1350" u="none" strike="noStrike" cap="none">
                        <a:solidFill>
                          <a:schemeClr val="accent4"/>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100"/>
                        <a:buFont typeface="Arial"/>
                        <a:buNone/>
                      </a:pPr>
                      <a:endParaRPr sz="135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100"/>
                        <a:buFont typeface="Arial"/>
                        <a:buNone/>
                      </a:pPr>
                      <a:r>
                        <a:rPr lang="es" sz="1350" u="none" strike="noStrike" cap="none">
                          <a:solidFill>
                            <a:srgbClr val="000000"/>
                          </a:solidFill>
                          <a:latin typeface="DM Sans"/>
                          <a:ea typeface="DM Sans"/>
                          <a:cs typeface="DM Sans"/>
                          <a:sym typeface="DM Sans"/>
                        </a:rPr>
                        <a:t>Se puede leer como: </a:t>
                      </a:r>
                      <a:endParaRPr sz="1350" u="none" strike="noStrike" cap="none">
                        <a:solidFill>
                          <a:srgbClr val="000000"/>
                        </a:solidFill>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Helvetica Neue"/>
                        <a:buChar char="✓"/>
                      </a:pPr>
                      <a:r>
                        <a:rPr lang="es" sz="1350" i="1" u="none" strike="noStrike" cap="none">
                          <a:solidFill>
                            <a:srgbClr val="000000"/>
                          </a:solidFill>
                          <a:latin typeface="DM Sans"/>
                          <a:ea typeface="DM Sans"/>
                          <a:cs typeface="DM Sans"/>
                          <a:sym typeface="DM Sans"/>
                        </a:rPr>
                        <a:t>busca en </a:t>
                      </a:r>
                      <a:r>
                        <a:rPr lang="es" sz="1350" b="1" i="1" u="none" strike="noStrike" cap="none">
                          <a:solidFill>
                            <a:srgbClr val="000000"/>
                          </a:solidFill>
                          <a:latin typeface="DM Sans"/>
                          <a:ea typeface="DM Sans"/>
                          <a:cs typeface="DM Sans"/>
                          <a:sym typeface="DM Sans"/>
                        </a:rPr>
                        <a:t>myapp.coder</a:t>
                      </a:r>
                      <a:endParaRPr sz="1350" b="1" i="1" u="none" strike="noStrike" cap="none">
                        <a:solidFill>
                          <a:srgbClr val="000000"/>
                        </a:solidFill>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Helvetica Neue"/>
                        <a:buChar char="✓"/>
                      </a:pPr>
                      <a:r>
                        <a:rPr lang="es" sz="1350" i="1" u="none" strike="noStrike" cap="none">
                          <a:solidFill>
                            <a:srgbClr val="000000"/>
                          </a:solidFill>
                          <a:latin typeface="DM Sans"/>
                          <a:ea typeface="DM Sans"/>
                          <a:cs typeface="DM Sans"/>
                          <a:sym typeface="DM Sans"/>
                        </a:rPr>
                        <a:t>utilizando </a:t>
                      </a:r>
                      <a:r>
                        <a:rPr lang="es" sz="1350" b="1" i="1" u="none" strike="noStrike" cap="none">
                          <a:solidFill>
                            <a:srgbClr val="000000"/>
                          </a:solidFill>
                          <a:latin typeface="DM Sans"/>
                          <a:ea typeface="DM Sans"/>
                          <a:cs typeface="DM Sans"/>
                          <a:sym typeface="DM Sans"/>
                        </a:rPr>
                        <a:t>https…</a:t>
                      </a:r>
                      <a:endParaRPr sz="1350" b="1" i="1" u="none" strike="noStrike" cap="none">
                        <a:solidFill>
                          <a:srgbClr val="000000"/>
                        </a:solidFill>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Helvetica Neue"/>
                        <a:buChar char="✓"/>
                      </a:pPr>
                      <a:r>
                        <a:rPr lang="es" sz="1350" i="1" u="none" strike="noStrike" cap="none">
                          <a:solidFill>
                            <a:srgbClr val="000000"/>
                          </a:solidFill>
                          <a:latin typeface="DM Sans"/>
                          <a:ea typeface="DM Sans"/>
                          <a:cs typeface="DM Sans"/>
                          <a:sym typeface="DM Sans"/>
                        </a:rPr>
                        <a:t>el recurso </a:t>
                      </a:r>
                      <a:r>
                        <a:rPr lang="es" sz="1350" b="1" i="1" u="none" strike="noStrike" cap="none">
                          <a:solidFill>
                            <a:srgbClr val="000000"/>
                          </a:solidFill>
                          <a:latin typeface="DM Sans"/>
                          <a:ea typeface="DM Sans"/>
                          <a:cs typeface="DM Sans"/>
                          <a:sym typeface="DM Sans"/>
                        </a:rPr>
                        <a:t>student</a:t>
                      </a:r>
                      <a:r>
                        <a:rPr lang="es" sz="1350" i="1" u="none" strike="noStrike" cap="none">
                          <a:solidFill>
                            <a:srgbClr val="000000"/>
                          </a:solidFill>
                          <a:latin typeface="DM Sans"/>
                          <a:ea typeface="DM Sans"/>
                          <a:cs typeface="DM Sans"/>
                          <a:sym typeface="DM Sans"/>
                        </a:rPr>
                        <a:t> </a:t>
                      </a:r>
                      <a:endParaRPr sz="1350" i="1" u="none" strike="noStrike" cap="none">
                        <a:solidFill>
                          <a:srgbClr val="000000"/>
                        </a:solidFill>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DM Sans"/>
                        <a:buChar char="✓"/>
                      </a:pPr>
                      <a:r>
                        <a:rPr lang="es" sz="1350" i="1" u="none" strike="noStrike" cap="none">
                          <a:solidFill>
                            <a:srgbClr val="000000"/>
                          </a:solidFill>
                          <a:latin typeface="DM Sans"/>
                          <a:ea typeface="DM Sans"/>
                          <a:cs typeface="DM Sans"/>
                          <a:sym typeface="DM Sans"/>
                        </a:rPr>
                        <a:t>con id 1234</a:t>
                      </a:r>
                      <a:endParaRPr sz="1350" u="none" strike="noStrike" cap="none">
                        <a:latin typeface="DM Sans"/>
                        <a:ea typeface="DM Sans"/>
                        <a:cs typeface="DM Sans"/>
                        <a:sym typeface="DM Sans"/>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100"/>
                        <a:buFont typeface="Arial"/>
                        <a:buNone/>
                      </a:pPr>
                      <a:r>
                        <a:rPr lang="es" sz="1350" u="sng" strike="noStrike" cap="none">
                          <a:solidFill>
                            <a:srgbClr val="0097A7"/>
                          </a:solidFill>
                          <a:latin typeface="DM Sans"/>
                          <a:ea typeface="DM Sans"/>
                          <a:cs typeface="DM Sans"/>
                          <a:sym typeface="DM Sans"/>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https://myapp.coder/student/1234/courses</a:t>
                      </a:r>
                      <a:endParaRPr sz="135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100"/>
                        <a:buFont typeface="Arial"/>
                        <a:buNone/>
                      </a:pPr>
                      <a:endParaRPr sz="135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100"/>
                        <a:buFont typeface="Arial"/>
                        <a:buNone/>
                      </a:pPr>
                      <a:r>
                        <a:rPr lang="es" sz="1350" u="none" strike="noStrike" cap="none">
                          <a:solidFill>
                            <a:srgbClr val="000000"/>
                          </a:solidFill>
                          <a:latin typeface="DM Sans"/>
                          <a:ea typeface="DM Sans"/>
                          <a:cs typeface="DM Sans"/>
                          <a:sym typeface="DM Sans"/>
                        </a:rPr>
                        <a:t>Se puede leer como: </a:t>
                      </a:r>
                      <a:endParaRPr sz="1350" u="none" strike="noStrike" cap="none">
                        <a:solidFill>
                          <a:srgbClr val="000000"/>
                        </a:solidFill>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Helvetica Neue"/>
                        <a:buChar char="✓"/>
                      </a:pPr>
                      <a:r>
                        <a:rPr lang="es" sz="1350" i="1" u="none" strike="noStrike" cap="none">
                          <a:solidFill>
                            <a:srgbClr val="000000"/>
                          </a:solidFill>
                          <a:latin typeface="DM Sans"/>
                          <a:ea typeface="DM Sans"/>
                          <a:cs typeface="DM Sans"/>
                          <a:sym typeface="DM Sans"/>
                        </a:rPr>
                        <a:t>busca en </a:t>
                      </a:r>
                      <a:r>
                        <a:rPr lang="es" sz="1350" b="1" i="1" u="none" strike="noStrike" cap="none">
                          <a:solidFill>
                            <a:srgbClr val="000000"/>
                          </a:solidFill>
                          <a:latin typeface="DM Sans"/>
                          <a:ea typeface="DM Sans"/>
                          <a:cs typeface="DM Sans"/>
                          <a:sym typeface="DM Sans"/>
                        </a:rPr>
                        <a:t>myapp.coder</a:t>
                      </a:r>
                      <a:endParaRPr sz="1350" b="1" i="1" u="none" strike="noStrike" cap="none">
                        <a:solidFill>
                          <a:srgbClr val="000000"/>
                        </a:solidFill>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Helvetica Neue"/>
                        <a:buChar char="✓"/>
                      </a:pPr>
                      <a:r>
                        <a:rPr lang="es" sz="1350" i="1" u="none" strike="noStrike" cap="none">
                          <a:solidFill>
                            <a:srgbClr val="000000"/>
                          </a:solidFill>
                          <a:latin typeface="DM Sans"/>
                          <a:ea typeface="DM Sans"/>
                          <a:cs typeface="DM Sans"/>
                          <a:sym typeface="DM Sans"/>
                        </a:rPr>
                        <a:t>utilizando </a:t>
                      </a:r>
                      <a:r>
                        <a:rPr lang="es" sz="1350" b="1" i="1" u="none" strike="noStrike" cap="none">
                          <a:solidFill>
                            <a:srgbClr val="000000"/>
                          </a:solidFill>
                          <a:latin typeface="DM Sans"/>
                          <a:ea typeface="DM Sans"/>
                          <a:cs typeface="DM Sans"/>
                          <a:sym typeface="DM Sans"/>
                        </a:rPr>
                        <a:t>https…</a:t>
                      </a:r>
                      <a:endParaRPr sz="1350" b="1" i="1" u="none" strike="noStrike" cap="none">
                        <a:solidFill>
                          <a:srgbClr val="000000"/>
                        </a:solidFill>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Helvetica Neue"/>
                        <a:buChar char="✓"/>
                      </a:pPr>
                      <a:r>
                        <a:rPr lang="es" sz="1350" i="1" u="none" strike="noStrike" cap="none">
                          <a:solidFill>
                            <a:srgbClr val="000000"/>
                          </a:solidFill>
                          <a:latin typeface="DM Sans"/>
                          <a:ea typeface="DM Sans"/>
                          <a:cs typeface="DM Sans"/>
                          <a:sym typeface="DM Sans"/>
                        </a:rPr>
                        <a:t>el recurso </a:t>
                      </a:r>
                      <a:r>
                        <a:rPr lang="es" sz="1350" b="1" i="1" u="none" strike="noStrike" cap="none">
                          <a:solidFill>
                            <a:srgbClr val="000000"/>
                          </a:solidFill>
                          <a:latin typeface="DM Sans"/>
                          <a:ea typeface="DM Sans"/>
                          <a:cs typeface="DM Sans"/>
                          <a:sym typeface="DM Sans"/>
                        </a:rPr>
                        <a:t>courses</a:t>
                      </a:r>
                      <a:r>
                        <a:rPr lang="es" sz="1350" i="1" u="none" strike="noStrike" cap="none">
                          <a:solidFill>
                            <a:srgbClr val="000000"/>
                          </a:solidFill>
                          <a:latin typeface="DM Sans"/>
                          <a:ea typeface="DM Sans"/>
                          <a:cs typeface="DM Sans"/>
                          <a:sym typeface="DM Sans"/>
                        </a:rPr>
                        <a:t> </a:t>
                      </a:r>
                      <a:endParaRPr sz="1350" i="1" u="none" strike="noStrike" cap="none">
                        <a:solidFill>
                          <a:srgbClr val="000000"/>
                        </a:solidFill>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Helvetica Neue"/>
                        <a:buChar char="✓"/>
                      </a:pPr>
                      <a:r>
                        <a:rPr lang="es" sz="1350" i="1" u="none" strike="noStrike" cap="none">
                          <a:solidFill>
                            <a:srgbClr val="000000"/>
                          </a:solidFill>
                          <a:latin typeface="DM Sans"/>
                          <a:ea typeface="DM Sans"/>
                          <a:cs typeface="DM Sans"/>
                          <a:sym typeface="DM Sans"/>
                        </a:rPr>
                        <a:t>Únicamente para </a:t>
                      </a:r>
                      <a:r>
                        <a:rPr lang="es" sz="1350" b="1" i="1" u="none" strike="noStrike" cap="none">
                          <a:solidFill>
                            <a:srgbClr val="000000"/>
                          </a:solidFill>
                          <a:latin typeface="DM Sans"/>
                          <a:ea typeface="DM Sans"/>
                          <a:cs typeface="DM Sans"/>
                          <a:sym typeface="DM Sans"/>
                        </a:rPr>
                        <a:t>student </a:t>
                      </a:r>
                      <a:r>
                        <a:rPr lang="es" sz="1350" i="1" u="none" strike="noStrike" cap="none">
                          <a:solidFill>
                            <a:srgbClr val="000000"/>
                          </a:solidFill>
                          <a:latin typeface="DM Sans"/>
                          <a:ea typeface="DM Sans"/>
                          <a:cs typeface="DM Sans"/>
                          <a:sym typeface="DM Sans"/>
                        </a:rPr>
                        <a:t>1234</a:t>
                      </a:r>
                      <a:endParaRPr sz="1350" u="none" strike="noStrike" cap="none">
                        <a:latin typeface="DM Sans"/>
                        <a:ea typeface="DM Sans"/>
                        <a:cs typeface="DM Sans"/>
                        <a:sym typeface="DM Sans"/>
                      </a:endParaRPr>
                    </a:p>
                  </a:txBody>
                  <a:tcPr marL="91425" marR="91425" marT="91425" marB="91425"/>
                </a:tc>
                <a:extLst>
                  <a:ext uri="{0D108BD9-81ED-4DB2-BD59-A6C34878D82A}">
                    <a16:rowId xmlns:a16="http://schemas.microsoft.com/office/drawing/2014/main" val="10000"/>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8"/>
          <p:cNvSpPr/>
          <p:nvPr/>
        </p:nvSpPr>
        <p:spPr>
          <a:xfrm>
            <a:off x="647400" y="1189150"/>
            <a:ext cx="7849200" cy="3317400"/>
          </a:xfrm>
          <a:prstGeom prst="rect">
            <a:avLst/>
          </a:prstGeom>
          <a:solidFill>
            <a:srgbClr val="EAFF6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 name="Google Shape;127;p28"/>
          <p:cNvSpPr txBox="1"/>
          <p:nvPr/>
        </p:nvSpPr>
        <p:spPr>
          <a:xfrm>
            <a:off x="1461300" y="345975"/>
            <a:ext cx="6221400" cy="6696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3500"/>
              <a:buFont typeface="Arial"/>
              <a:buNone/>
            </a:pPr>
            <a:r>
              <a:rPr lang="es" sz="3500" b="1">
                <a:solidFill>
                  <a:schemeClr val="lt1"/>
                </a:solidFill>
                <a:latin typeface="DM Sans"/>
                <a:ea typeface="DM Sans"/>
                <a:cs typeface="DM Sans"/>
                <a:sym typeface="DM Sans"/>
              </a:rPr>
              <a:t>Body</a:t>
            </a:r>
            <a:endParaRPr sz="3500" b="1" i="0" u="none" strike="noStrike" cap="none">
              <a:solidFill>
                <a:schemeClr val="lt1"/>
              </a:solidFill>
              <a:latin typeface="DM Sans"/>
              <a:ea typeface="DM Sans"/>
              <a:cs typeface="DM Sans"/>
              <a:sym typeface="DM Sans"/>
            </a:endParaRPr>
          </a:p>
        </p:txBody>
      </p:sp>
      <p:sp>
        <p:nvSpPr>
          <p:cNvPr id="128" name="Google Shape;128;p28"/>
          <p:cNvSpPr txBox="1"/>
          <p:nvPr/>
        </p:nvSpPr>
        <p:spPr>
          <a:xfrm>
            <a:off x="903500" y="1342300"/>
            <a:ext cx="6904800" cy="392400"/>
          </a:xfrm>
          <a:prstGeom prst="rect">
            <a:avLst/>
          </a:prstGeom>
          <a:noFill/>
          <a:ln>
            <a:noFill/>
          </a:ln>
        </p:spPr>
        <p:txBody>
          <a:bodyPr spcFirstLastPara="1" wrap="square" lIns="91425" tIns="91425" rIns="91425" bIns="91425" anchor="t" anchorCtr="0">
            <a:spAutoFit/>
          </a:bodyPr>
          <a:lstStyle/>
          <a:p>
            <a:pPr marL="457200" marR="0" lvl="0" indent="-314325" algn="l" rtl="0">
              <a:lnSpc>
                <a:spcPct val="100000"/>
              </a:lnSpc>
              <a:spcBef>
                <a:spcPts val="0"/>
              </a:spcBef>
              <a:spcAft>
                <a:spcPts val="0"/>
              </a:spcAft>
              <a:buClr>
                <a:schemeClr val="accent4"/>
              </a:buClr>
              <a:buSzPts val="1350"/>
              <a:buFont typeface="DM Sans"/>
              <a:buChar char="✓"/>
            </a:pPr>
            <a:r>
              <a:rPr lang="es" sz="1350">
                <a:latin typeface="DM Sans"/>
                <a:ea typeface="DM Sans"/>
                <a:cs typeface="DM Sans"/>
                <a:sym typeface="DM Sans"/>
              </a:rPr>
              <a:t>Se utiliza para transferir piezas de información entre el cliente y el servidor.</a:t>
            </a:r>
            <a:endParaRPr sz="1350">
              <a:latin typeface="DM Sans"/>
              <a:ea typeface="DM Sans"/>
              <a:cs typeface="DM Sans"/>
              <a:sym typeface="DM Sans"/>
            </a:endParaRPr>
          </a:p>
        </p:txBody>
      </p:sp>
      <p:pic>
        <p:nvPicPr>
          <p:cNvPr id="129" name="Google Shape;129;p28"/>
          <p:cNvPicPr preferRelativeResize="0"/>
          <p:nvPr/>
        </p:nvPicPr>
        <p:blipFill rotWithShape="1">
          <a:blip r:embed="rId3">
            <a:alphaModFix/>
          </a:blip>
          <a:srcRect t="15682"/>
          <a:stretch/>
        </p:blipFill>
        <p:spPr>
          <a:xfrm>
            <a:off x="1947200" y="1978975"/>
            <a:ext cx="5249600" cy="20846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9"/>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chemeClr val="dk1"/>
              </a:buClr>
              <a:buSzPts val="1100"/>
              <a:buFont typeface="Arial"/>
              <a:buNone/>
            </a:pPr>
            <a:r>
              <a:rPr lang="es" sz="4000" b="1">
                <a:solidFill>
                  <a:schemeClr val="dk1"/>
                </a:solidFill>
                <a:latin typeface="DM Sans"/>
                <a:ea typeface="DM Sans"/>
                <a:cs typeface="DM Sans"/>
                <a:sym typeface="DM Sans"/>
              </a:rPr>
              <a:t>Query params         </a:t>
            </a:r>
            <a:endParaRPr sz="1700" b="1">
              <a:solidFill>
                <a:schemeClr val="dk1"/>
              </a:solidFill>
              <a:latin typeface="DM Sans"/>
              <a:ea typeface="DM Sans"/>
              <a:cs typeface="DM Sans"/>
              <a:sym typeface="DM Sans"/>
            </a:endParaRPr>
          </a:p>
        </p:txBody>
      </p:sp>
      <p:sp>
        <p:nvSpPr>
          <p:cNvPr id="135" name="Google Shape;135;p29"/>
          <p:cNvSpPr txBox="1"/>
          <p:nvPr/>
        </p:nvSpPr>
        <p:spPr>
          <a:xfrm>
            <a:off x="473350" y="1908175"/>
            <a:ext cx="3834600" cy="2055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s" sz="1350">
                <a:latin typeface="DM Sans"/>
                <a:ea typeface="DM Sans"/>
                <a:cs typeface="DM Sans"/>
                <a:sym typeface="DM Sans"/>
              </a:rPr>
              <a:t>Nos permiten incluir en la dirección información que se usa para especificarle al backend parámetros para efectuar una búsqueda, son más comunes para buscar recursos que no tengo la seguridad de que existan:</a:t>
            </a:r>
            <a:endParaRPr sz="1350">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350"/>
              <a:buFont typeface="Arial"/>
              <a:buNone/>
            </a:pPr>
            <a:endParaRPr sz="1350">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350"/>
              <a:buFont typeface="Arial"/>
              <a:buNone/>
            </a:pPr>
            <a:r>
              <a:rPr lang="es" sz="1350" u="sng">
                <a:solidFill>
                  <a:schemeClr val="hlink"/>
                </a:solidFill>
                <a:latin typeface="DM Sans"/>
                <a:ea typeface="DM Sans"/>
                <a:cs typeface="DM Sans"/>
                <a:sym typeface="DM Sans"/>
                <a:hlinkClick r:id="rId3"/>
              </a:rPr>
              <a:t>https://www.google.com.ar/search?q=coderhouse</a:t>
            </a:r>
            <a:endParaRPr sz="1350">
              <a:latin typeface="DM Sans"/>
              <a:ea typeface="DM Sans"/>
              <a:cs typeface="DM Sans"/>
              <a:sym typeface="DM Sans"/>
            </a:endParaRPr>
          </a:p>
        </p:txBody>
      </p:sp>
      <p:sp>
        <p:nvSpPr>
          <p:cNvPr id="136" name="Google Shape;136;p29"/>
          <p:cNvSpPr txBox="1"/>
          <p:nvPr/>
        </p:nvSpPr>
        <p:spPr>
          <a:xfrm>
            <a:off x="4527575" y="1908175"/>
            <a:ext cx="3834600" cy="1847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a:latin typeface="DM Sans"/>
                <a:ea typeface="DM Sans"/>
                <a:cs typeface="DM Sans"/>
                <a:sym typeface="DM Sans"/>
              </a:rPr>
              <a:t>Se puede leer como: </a:t>
            </a:r>
            <a:endParaRPr sz="1350">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DM Sans"/>
              <a:buChar char="✓"/>
            </a:pPr>
            <a:r>
              <a:rPr lang="es" sz="1350">
                <a:latin typeface="DM Sans"/>
                <a:ea typeface="DM Sans"/>
                <a:cs typeface="DM Sans"/>
                <a:sym typeface="DM Sans"/>
              </a:rPr>
              <a:t>busca en google.com.ar</a:t>
            </a:r>
            <a:endParaRPr sz="1350">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DM Sans"/>
              <a:buChar char="✓"/>
            </a:pPr>
            <a:r>
              <a:rPr lang="es" sz="1350">
                <a:latin typeface="DM Sans"/>
                <a:ea typeface="DM Sans"/>
                <a:cs typeface="DM Sans"/>
                <a:sym typeface="DM Sans"/>
              </a:rPr>
              <a:t>utilizando https…</a:t>
            </a:r>
            <a:endParaRPr sz="1350">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DM Sans"/>
              <a:buChar char="✓"/>
            </a:pPr>
            <a:r>
              <a:rPr lang="es" sz="1350">
                <a:latin typeface="DM Sans"/>
                <a:ea typeface="DM Sans"/>
                <a:cs typeface="DM Sans"/>
                <a:sym typeface="DM Sans"/>
              </a:rPr>
              <a:t>el recurso search (resultados de búsqueda) …</a:t>
            </a:r>
            <a:endParaRPr sz="1350">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DM Sans"/>
              <a:buChar char="✓"/>
            </a:pPr>
            <a:r>
              <a:rPr lang="es" sz="1350">
                <a:latin typeface="DM Sans"/>
                <a:ea typeface="DM Sans"/>
                <a:cs typeface="DM Sans"/>
                <a:sym typeface="DM Sans"/>
              </a:rPr>
              <a:t>que contengan la palabra (q = query) ‘coderhouse’</a:t>
            </a:r>
            <a:endParaRPr sz="1350">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350"/>
              <a:buFont typeface="Arial"/>
              <a:buNone/>
            </a:pPr>
            <a:endParaRPr sz="1350">
              <a:latin typeface="DM Sans"/>
              <a:ea typeface="DM Sans"/>
              <a:cs typeface="DM Sans"/>
              <a:sym typeface="DM Sans"/>
            </a:endParaRPr>
          </a:p>
        </p:txBody>
      </p:sp>
      <p:sp>
        <p:nvSpPr>
          <p:cNvPr id="137" name="Google Shape;137;p29"/>
          <p:cNvSpPr/>
          <p:nvPr/>
        </p:nvSpPr>
        <p:spPr>
          <a:xfrm>
            <a:off x="3285450" y="3444425"/>
            <a:ext cx="297000" cy="229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30"/>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chemeClr val="dk1"/>
              </a:buClr>
              <a:buSzPts val="1100"/>
              <a:buFont typeface="Arial"/>
              <a:buNone/>
            </a:pPr>
            <a:r>
              <a:rPr lang="es" sz="4000" b="1">
                <a:solidFill>
                  <a:schemeClr val="dk1"/>
                </a:solidFill>
                <a:latin typeface="DM Sans"/>
                <a:ea typeface="DM Sans"/>
                <a:cs typeface="DM Sans"/>
                <a:sym typeface="DM Sans"/>
              </a:rPr>
              <a:t>URL Query params</a:t>
            </a:r>
            <a:endParaRPr sz="4000" b="1">
              <a:solidFill>
                <a:schemeClr val="dk1"/>
              </a:solidFill>
              <a:latin typeface="DM Sans"/>
              <a:ea typeface="DM Sans"/>
              <a:cs typeface="DM Sans"/>
              <a:sym typeface="DM Sans"/>
            </a:endParaRPr>
          </a:p>
        </p:txBody>
      </p:sp>
      <p:sp>
        <p:nvSpPr>
          <p:cNvPr id="143" name="Google Shape;143;p30"/>
          <p:cNvSpPr txBox="1"/>
          <p:nvPr/>
        </p:nvSpPr>
        <p:spPr>
          <a:xfrm>
            <a:off x="473350" y="1908175"/>
            <a:ext cx="7953300" cy="2020200"/>
          </a:xfrm>
          <a:prstGeom prst="rect">
            <a:avLst/>
          </a:prstGeom>
          <a:noFill/>
          <a:ln>
            <a:noFill/>
          </a:ln>
        </p:spPr>
        <p:txBody>
          <a:bodyPr spcFirstLastPara="1" wrap="square" lIns="91425" tIns="91425" rIns="91425" bIns="91425" anchor="t" anchorCtr="0">
            <a:spAutoFit/>
          </a:bodyPr>
          <a:lstStyle/>
          <a:p>
            <a:pPr marL="457200" marR="0" lvl="0" indent="-314325" algn="l" rtl="0">
              <a:lnSpc>
                <a:spcPct val="150000"/>
              </a:lnSpc>
              <a:spcBef>
                <a:spcPts val="0"/>
              </a:spcBef>
              <a:spcAft>
                <a:spcPts val="0"/>
              </a:spcAft>
              <a:buClr>
                <a:schemeClr val="accent4"/>
              </a:buClr>
              <a:buSzPts val="1350"/>
              <a:buFont typeface="DM Sans"/>
              <a:buChar char="✓"/>
            </a:pPr>
            <a:r>
              <a:rPr lang="es" sz="1350">
                <a:latin typeface="DM Sans"/>
                <a:ea typeface="DM Sans"/>
                <a:cs typeface="DM Sans"/>
                <a:sym typeface="DM Sans"/>
              </a:rPr>
              <a:t>Los query params viene después del signo ? </a:t>
            </a:r>
            <a:endParaRPr sz="1350">
              <a:latin typeface="DM Sans"/>
              <a:ea typeface="DM Sans"/>
              <a:cs typeface="DM Sans"/>
              <a:sym typeface="DM Sans"/>
            </a:endParaRPr>
          </a:p>
          <a:p>
            <a:pPr marL="457200" marR="0" lvl="0" indent="-314325" algn="l" rtl="0">
              <a:lnSpc>
                <a:spcPct val="150000"/>
              </a:lnSpc>
              <a:spcBef>
                <a:spcPts val="0"/>
              </a:spcBef>
              <a:spcAft>
                <a:spcPts val="0"/>
              </a:spcAft>
              <a:buClr>
                <a:schemeClr val="accent4"/>
              </a:buClr>
              <a:buSzPts val="1350"/>
              <a:buFont typeface="DM Sans"/>
              <a:buChar char="✓"/>
            </a:pPr>
            <a:r>
              <a:rPr lang="es" sz="1350">
                <a:latin typeface="DM Sans"/>
                <a:ea typeface="DM Sans"/>
                <a:cs typeface="DM Sans"/>
                <a:sym typeface="DM Sans"/>
              </a:rPr>
              <a:t>Cada parámetro tendra key=value &amp; key2=value2</a:t>
            </a:r>
            <a:endParaRPr sz="1350">
              <a:latin typeface="DM Sans"/>
              <a:ea typeface="DM Sans"/>
              <a:cs typeface="DM Sans"/>
              <a:sym typeface="DM Sans"/>
            </a:endParaRPr>
          </a:p>
          <a:p>
            <a:pPr marL="457200" marR="0" lvl="0" indent="-314325" algn="l" rtl="0">
              <a:lnSpc>
                <a:spcPct val="150000"/>
              </a:lnSpc>
              <a:spcBef>
                <a:spcPts val="0"/>
              </a:spcBef>
              <a:spcAft>
                <a:spcPts val="0"/>
              </a:spcAft>
              <a:buClr>
                <a:schemeClr val="accent4"/>
              </a:buClr>
              <a:buSzPts val="1350"/>
              <a:buFont typeface="DM Sans"/>
              <a:buChar char="✓"/>
            </a:pPr>
            <a:r>
              <a:rPr lang="es" sz="1350">
                <a:latin typeface="DM Sans"/>
                <a:ea typeface="DM Sans"/>
                <a:cs typeface="DM Sans"/>
                <a:sym typeface="DM Sans"/>
              </a:rPr>
              <a:t>Cada parámetro se puede separar por &amp;</a:t>
            </a:r>
            <a:endParaRPr sz="1350">
              <a:latin typeface="DM Sans"/>
              <a:ea typeface="DM Sans"/>
              <a:cs typeface="DM Sans"/>
              <a:sym typeface="DM Sans"/>
            </a:endParaRPr>
          </a:p>
          <a:p>
            <a:pPr marL="457200" marR="0" lvl="0" indent="0" algn="l" rtl="0">
              <a:lnSpc>
                <a:spcPct val="100000"/>
              </a:lnSpc>
              <a:spcBef>
                <a:spcPts val="0"/>
              </a:spcBef>
              <a:spcAft>
                <a:spcPts val="0"/>
              </a:spcAft>
              <a:buNone/>
            </a:pPr>
            <a:endParaRPr sz="1350">
              <a:latin typeface="DM Sans"/>
              <a:ea typeface="DM Sans"/>
              <a:cs typeface="DM Sans"/>
              <a:sym typeface="DM Sans"/>
            </a:endParaRPr>
          </a:p>
          <a:p>
            <a:pPr marL="457200" marR="0" lvl="0" indent="0" algn="l" rtl="0">
              <a:lnSpc>
                <a:spcPct val="100000"/>
              </a:lnSpc>
              <a:spcBef>
                <a:spcPts val="0"/>
              </a:spcBef>
              <a:spcAft>
                <a:spcPts val="0"/>
              </a:spcAft>
              <a:buNone/>
            </a:pPr>
            <a:r>
              <a:rPr lang="es" sz="3150" u="sng">
                <a:solidFill>
                  <a:schemeClr val="hlink"/>
                </a:solidFill>
                <a:latin typeface="DM Sans"/>
                <a:ea typeface="DM Sans"/>
                <a:cs typeface="DM Sans"/>
                <a:sym typeface="DM Sans"/>
                <a:hlinkClick r:id="rId3"/>
              </a:rPr>
              <a:t>http://url.com/find</a:t>
            </a:r>
            <a:r>
              <a:rPr lang="es" sz="3150" u="sng">
                <a:solidFill>
                  <a:schemeClr val="accent1"/>
                </a:solidFill>
                <a:latin typeface="DM Sans"/>
                <a:ea typeface="DM Sans"/>
                <a:cs typeface="DM Sans"/>
                <a:sym typeface="DM Sans"/>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a:t>
            </a:r>
            <a:r>
              <a:rPr lang="es" sz="3150" u="sng">
                <a:solidFill>
                  <a:srgbClr val="EF89D2"/>
                </a:solidFill>
                <a:latin typeface="DM Sans"/>
                <a:ea typeface="DM Sans"/>
                <a:cs typeface="DM Sans"/>
                <a:sym typeface="DM Sans"/>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type=order&amp;id=1234</a:t>
            </a:r>
            <a:endParaRPr sz="3150">
              <a:solidFill>
                <a:srgbClr val="EF89D2"/>
              </a:solidFill>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endParaRPr sz="1350">
              <a:latin typeface="DM Sans"/>
              <a:ea typeface="DM Sans"/>
              <a:cs typeface="DM Sans"/>
              <a:sym typeface="DM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31"/>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chemeClr val="dk1"/>
              </a:buClr>
              <a:buSzPts val="1100"/>
              <a:buFont typeface="Arial"/>
              <a:buNone/>
            </a:pPr>
            <a:r>
              <a:rPr lang="es" sz="4000" b="1">
                <a:solidFill>
                  <a:schemeClr val="dk1"/>
                </a:solidFill>
                <a:latin typeface="DM Sans"/>
                <a:ea typeface="DM Sans"/>
                <a:cs typeface="DM Sans"/>
                <a:sym typeface="DM Sans"/>
              </a:rPr>
              <a:t>RECURSOS/RESTFUL</a:t>
            </a:r>
            <a:endParaRPr sz="4000" b="1">
              <a:solidFill>
                <a:schemeClr val="dk1"/>
              </a:solidFill>
              <a:latin typeface="DM Sans"/>
              <a:ea typeface="DM Sans"/>
              <a:cs typeface="DM Sans"/>
              <a:sym typeface="DM Sans"/>
            </a:endParaRPr>
          </a:p>
        </p:txBody>
      </p:sp>
      <p:sp>
        <p:nvSpPr>
          <p:cNvPr id="149" name="Google Shape;149;p31"/>
          <p:cNvSpPr txBox="1"/>
          <p:nvPr/>
        </p:nvSpPr>
        <p:spPr>
          <a:xfrm>
            <a:off x="473350" y="1908175"/>
            <a:ext cx="3834600" cy="2055000"/>
          </a:xfrm>
          <a:prstGeom prst="rect">
            <a:avLst/>
          </a:prstGeom>
          <a:noFill/>
          <a:ln>
            <a:noFill/>
          </a:ln>
        </p:spPr>
        <p:txBody>
          <a:bodyPr spcFirstLastPara="1" wrap="square" lIns="91425" tIns="91425" rIns="91425" bIns="91425" anchor="t" anchorCtr="0">
            <a:spAutoFit/>
          </a:bodyPr>
          <a:lstStyle/>
          <a:p>
            <a:pPr marL="457200" marR="0" lvl="0" indent="-314325" algn="l" rtl="0">
              <a:lnSpc>
                <a:spcPct val="100000"/>
              </a:lnSpc>
              <a:spcBef>
                <a:spcPts val="0"/>
              </a:spcBef>
              <a:spcAft>
                <a:spcPts val="0"/>
              </a:spcAft>
              <a:buClr>
                <a:schemeClr val="accent4"/>
              </a:buClr>
              <a:buSzPts val="1350"/>
              <a:buFont typeface="DM Sans"/>
              <a:buChar char="✓"/>
            </a:pPr>
            <a:r>
              <a:rPr lang="es" sz="1350">
                <a:latin typeface="DM Sans"/>
                <a:ea typeface="DM Sans"/>
                <a:cs typeface="DM Sans"/>
                <a:sym typeface="DM Sans"/>
              </a:rPr>
              <a:t>Cuando se crea y provee un servicio basado y pensado en términos de recursos, y se respetan las convenciones de verbo/método y código de respuesta, estamos frente a un diseño arquitectural de tipo REST.</a:t>
            </a:r>
            <a:endParaRPr sz="1350">
              <a:latin typeface="DM Sans"/>
              <a:ea typeface="DM Sans"/>
              <a:cs typeface="DM Sans"/>
              <a:sym typeface="DM Sans"/>
            </a:endParaRPr>
          </a:p>
          <a:p>
            <a:pPr marL="457200" marR="0" lvl="0" indent="0" algn="l" rtl="0">
              <a:lnSpc>
                <a:spcPct val="100000"/>
              </a:lnSpc>
              <a:spcBef>
                <a:spcPts val="0"/>
              </a:spcBef>
              <a:spcAft>
                <a:spcPts val="0"/>
              </a:spcAft>
              <a:buNone/>
            </a:pPr>
            <a:endParaRPr sz="1350">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DM Sans"/>
              <a:buChar char="✓"/>
            </a:pPr>
            <a:r>
              <a:rPr lang="es" sz="1350">
                <a:latin typeface="DM Sans"/>
                <a:ea typeface="DM Sans"/>
                <a:cs typeface="DM Sans"/>
                <a:sym typeface="DM Sans"/>
              </a:rPr>
              <a:t>Si además transferimos javascript o xml, es conocido como AJAX. </a:t>
            </a:r>
            <a:endParaRPr sz="1350">
              <a:latin typeface="DM Sans"/>
              <a:ea typeface="DM Sans"/>
              <a:cs typeface="DM Sans"/>
              <a:sym typeface="DM Sans"/>
            </a:endParaRPr>
          </a:p>
        </p:txBody>
      </p:sp>
      <p:sp>
        <p:nvSpPr>
          <p:cNvPr id="150" name="Google Shape;150;p31"/>
          <p:cNvSpPr txBox="1"/>
          <p:nvPr/>
        </p:nvSpPr>
        <p:spPr>
          <a:xfrm>
            <a:off x="5614450" y="2354100"/>
            <a:ext cx="3000000" cy="738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4000" b="1">
                <a:solidFill>
                  <a:schemeClr val="accent4"/>
                </a:solidFill>
                <a:latin typeface="DM Sans"/>
                <a:ea typeface="DM Sans"/>
                <a:cs typeface="DM Sans"/>
                <a:sym typeface="DM Sans"/>
              </a:rPr>
              <a:t>API REST</a:t>
            </a:r>
            <a:endParaRPr>
              <a:solidFill>
                <a:schemeClr val="accent4"/>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32"/>
          <p:cNvSpPr txBox="1"/>
          <p:nvPr/>
        </p:nvSpPr>
        <p:spPr>
          <a:xfrm>
            <a:off x="457725" y="1071050"/>
            <a:ext cx="4730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a:solidFill>
                  <a:schemeClr val="dk1"/>
                </a:solidFill>
                <a:latin typeface="DM Sans"/>
                <a:ea typeface="DM Sans"/>
                <a:cs typeface="DM Sans"/>
                <a:sym typeface="DM Sans"/>
              </a:rPr>
              <a:t>HEADERS</a:t>
            </a:r>
            <a:endParaRPr sz="4000" b="1" i="0" u="none" strike="noStrike" cap="none">
              <a:solidFill>
                <a:schemeClr val="dk1"/>
              </a:solidFill>
              <a:latin typeface="DM Sans"/>
              <a:ea typeface="DM Sans"/>
              <a:cs typeface="DM Sans"/>
              <a:sym typeface="DM Sans"/>
            </a:endParaRPr>
          </a:p>
        </p:txBody>
      </p:sp>
      <p:sp>
        <p:nvSpPr>
          <p:cNvPr id="156" name="Google Shape;156;p32"/>
          <p:cNvSpPr txBox="1"/>
          <p:nvPr/>
        </p:nvSpPr>
        <p:spPr>
          <a:xfrm>
            <a:off x="457725" y="2211625"/>
            <a:ext cx="4730100" cy="20652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chemeClr val="dk1"/>
              </a:buClr>
              <a:buSzPts val="1100"/>
              <a:buFont typeface="Arial"/>
              <a:buNone/>
            </a:pPr>
            <a:r>
              <a:rPr lang="es" sz="1350">
                <a:latin typeface="DM Sans"/>
                <a:ea typeface="DM Sans"/>
                <a:cs typeface="DM Sans"/>
                <a:sym typeface="DM Sans"/>
              </a:rPr>
              <a:t>Se usan para:</a:t>
            </a:r>
            <a:endParaRPr sz="1350">
              <a:latin typeface="DM Sans"/>
              <a:ea typeface="DM Sans"/>
              <a:cs typeface="DM Sans"/>
              <a:sym typeface="DM Sans"/>
            </a:endParaRPr>
          </a:p>
          <a:p>
            <a:pPr marL="457200" marR="0" lvl="0" indent="-314325" algn="l" rtl="0">
              <a:lnSpc>
                <a:spcPct val="115000"/>
              </a:lnSpc>
              <a:spcBef>
                <a:spcPts val="0"/>
              </a:spcBef>
              <a:spcAft>
                <a:spcPts val="0"/>
              </a:spcAft>
              <a:buClr>
                <a:schemeClr val="accent4"/>
              </a:buClr>
              <a:buSzPts val="1350"/>
              <a:buFont typeface="DM Sans"/>
              <a:buChar char="✓"/>
            </a:pPr>
            <a:r>
              <a:rPr lang="es" sz="1350">
                <a:latin typeface="DM Sans"/>
                <a:ea typeface="DM Sans"/>
                <a:cs typeface="DM Sans"/>
                <a:sym typeface="DM Sans"/>
              </a:rPr>
              <a:t>Definir las respuestas soportadas, requeridas o preferidas.</a:t>
            </a:r>
            <a:endParaRPr sz="1350">
              <a:latin typeface="DM Sans"/>
              <a:ea typeface="DM Sans"/>
              <a:cs typeface="DM Sans"/>
              <a:sym typeface="DM Sans"/>
            </a:endParaRPr>
          </a:p>
          <a:p>
            <a:pPr marL="457200" marR="0" lvl="0" indent="-314325" algn="l" rtl="0">
              <a:lnSpc>
                <a:spcPct val="115000"/>
              </a:lnSpc>
              <a:spcBef>
                <a:spcPts val="0"/>
              </a:spcBef>
              <a:spcAft>
                <a:spcPts val="0"/>
              </a:spcAft>
              <a:buClr>
                <a:schemeClr val="accent4"/>
              </a:buClr>
              <a:buSzPts val="1350"/>
              <a:buFont typeface="DM Sans"/>
              <a:buChar char="✓"/>
            </a:pPr>
            <a:r>
              <a:rPr lang="es" sz="1350">
                <a:latin typeface="DM Sans"/>
                <a:ea typeface="DM Sans"/>
                <a:cs typeface="DM Sans"/>
                <a:sym typeface="DM Sans"/>
              </a:rPr>
              <a:t>Agregar información extra:</a:t>
            </a:r>
            <a:endParaRPr sz="1350">
              <a:latin typeface="DM Sans"/>
              <a:ea typeface="DM Sans"/>
              <a:cs typeface="DM Sans"/>
              <a:sym typeface="DM Sans"/>
            </a:endParaRPr>
          </a:p>
          <a:p>
            <a:pPr marL="457200" marR="0" lvl="0" indent="-314325" algn="l" rtl="0">
              <a:lnSpc>
                <a:spcPct val="115000"/>
              </a:lnSpc>
              <a:spcBef>
                <a:spcPts val="0"/>
              </a:spcBef>
              <a:spcAft>
                <a:spcPts val="0"/>
              </a:spcAft>
              <a:buClr>
                <a:schemeClr val="accent4"/>
              </a:buClr>
              <a:buSzPts val="1350"/>
              <a:buFont typeface="DM Sans"/>
              <a:buChar char="✓"/>
            </a:pPr>
            <a:r>
              <a:rPr lang="es" sz="1350">
                <a:latin typeface="DM Sans"/>
                <a:ea typeface="DM Sans"/>
                <a:cs typeface="DM Sans"/>
                <a:sym typeface="DM Sans"/>
              </a:rPr>
              <a:t>Auth tokens, cookies.</a:t>
            </a:r>
            <a:endParaRPr sz="1350">
              <a:latin typeface="DM Sans"/>
              <a:ea typeface="DM Sans"/>
              <a:cs typeface="DM Sans"/>
              <a:sym typeface="DM Sans"/>
            </a:endParaRPr>
          </a:p>
          <a:p>
            <a:pPr marL="457200" marR="0" lvl="0" indent="-314325" algn="l" rtl="0">
              <a:lnSpc>
                <a:spcPct val="115000"/>
              </a:lnSpc>
              <a:spcBef>
                <a:spcPts val="0"/>
              </a:spcBef>
              <a:spcAft>
                <a:spcPts val="0"/>
              </a:spcAft>
              <a:buClr>
                <a:schemeClr val="accent4"/>
              </a:buClr>
              <a:buSzPts val="1350"/>
              <a:buFont typeface="DM Sans"/>
              <a:buChar char="✓"/>
            </a:pPr>
            <a:r>
              <a:rPr lang="es" sz="1350">
                <a:latin typeface="DM Sans"/>
                <a:ea typeface="DM Sans"/>
                <a:cs typeface="DM Sans"/>
                <a:sym typeface="DM Sans"/>
              </a:rPr>
              <a:t>Lenguaje preferido.</a:t>
            </a:r>
            <a:endParaRPr sz="1350">
              <a:latin typeface="DM Sans"/>
              <a:ea typeface="DM Sans"/>
              <a:cs typeface="DM Sans"/>
              <a:sym typeface="DM Sans"/>
            </a:endParaRPr>
          </a:p>
          <a:p>
            <a:pPr marL="457200" marR="0" lvl="0" indent="-314325" algn="l" rtl="0">
              <a:lnSpc>
                <a:spcPct val="115000"/>
              </a:lnSpc>
              <a:spcBef>
                <a:spcPts val="0"/>
              </a:spcBef>
              <a:spcAft>
                <a:spcPts val="0"/>
              </a:spcAft>
              <a:buClr>
                <a:schemeClr val="accent4"/>
              </a:buClr>
              <a:buSzPts val="1350"/>
              <a:buFont typeface="DM Sans"/>
              <a:buChar char="✓"/>
            </a:pPr>
            <a:r>
              <a:rPr lang="es" sz="1350">
                <a:latin typeface="DM Sans"/>
                <a:ea typeface="DM Sans"/>
                <a:cs typeface="DM Sans"/>
                <a:sym typeface="DM Sans"/>
              </a:rPr>
              <a:t>Si acepta contenido cacheado.</a:t>
            </a:r>
            <a:endParaRPr sz="1350">
              <a:latin typeface="DM Sans"/>
              <a:ea typeface="DM Sans"/>
              <a:cs typeface="DM Sans"/>
              <a:sym typeface="DM Sans"/>
            </a:endParaRPr>
          </a:p>
          <a:p>
            <a:pPr marL="457200" marR="0" lvl="0" indent="-314325" algn="l" rtl="0">
              <a:lnSpc>
                <a:spcPct val="115000"/>
              </a:lnSpc>
              <a:spcBef>
                <a:spcPts val="0"/>
              </a:spcBef>
              <a:spcAft>
                <a:spcPts val="0"/>
              </a:spcAft>
              <a:buClr>
                <a:schemeClr val="accent4"/>
              </a:buClr>
              <a:buSzPts val="1350"/>
              <a:buFont typeface="DM Sans"/>
              <a:buChar char="✓"/>
            </a:pPr>
            <a:r>
              <a:rPr lang="es" sz="1350">
                <a:latin typeface="DM Sans"/>
                <a:ea typeface="DM Sans"/>
                <a:cs typeface="DM Sans"/>
                <a:sym typeface="DM Sans"/>
              </a:rPr>
              <a:t>Lo que quieras en forma de texto.</a:t>
            </a:r>
            <a:endParaRPr sz="1350">
              <a:latin typeface="DM Sans"/>
              <a:ea typeface="DM Sans"/>
              <a:cs typeface="DM Sans"/>
              <a:sym typeface="DM Sans"/>
            </a:endParaRPr>
          </a:p>
        </p:txBody>
      </p:sp>
      <p:pic>
        <p:nvPicPr>
          <p:cNvPr id="157" name="Google Shape;157;p32"/>
          <p:cNvPicPr preferRelativeResize="0"/>
          <p:nvPr/>
        </p:nvPicPr>
        <p:blipFill rotWithShape="1">
          <a:blip r:embed="rId3">
            <a:alphaModFix/>
          </a:blip>
          <a:srcRect r="27362"/>
          <a:stretch/>
        </p:blipFill>
        <p:spPr>
          <a:xfrm>
            <a:off x="4973250" y="737463"/>
            <a:ext cx="3742200" cy="366857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pic>
        <p:nvPicPr>
          <p:cNvPr id="162" name="Google Shape;162;p33"/>
          <p:cNvPicPr preferRelativeResize="0"/>
          <p:nvPr/>
        </p:nvPicPr>
        <p:blipFill rotWithShape="1">
          <a:blip r:embed="rId3">
            <a:alphaModFix/>
          </a:blip>
          <a:srcRect/>
          <a:stretch/>
        </p:blipFill>
        <p:spPr>
          <a:xfrm>
            <a:off x="7811413" y="4692275"/>
            <a:ext cx="1150750" cy="267575"/>
          </a:xfrm>
          <a:prstGeom prst="rect">
            <a:avLst/>
          </a:prstGeom>
          <a:noFill/>
          <a:ln>
            <a:noFill/>
          </a:ln>
        </p:spPr>
      </p:pic>
      <p:pic>
        <p:nvPicPr>
          <p:cNvPr id="163" name="Google Shape;163;p33"/>
          <p:cNvPicPr preferRelativeResize="0"/>
          <p:nvPr/>
        </p:nvPicPr>
        <p:blipFill>
          <a:blip r:embed="rId4">
            <a:alphaModFix/>
          </a:blip>
          <a:stretch>
            <a:fillRect/>
          </a:stretch>
        </p:blipFill>
        <p:spPr>
          <a:xfrm>
            <a:off x="1049157" y="969612"/>
            <a:ext cx="6956418" cy="3204275"/>
          </a:xfrm>
          <a:prstGeom prst="rect">
            <a:avLst/>
          </a:prstGeom>
          <a:noFill/>
          <a:ln>
            <a:noFill/>
          </a:ln>
        </p:spPr>
      </p:pic>
      <p:sp>
        <p:nvSpPr>
          <p:cNvPr id="164" name="Google Shape;164;p33"/>
          <p:cNvSpPr txBox="1"/>
          <p:nvPr/>
        </p:nvSpPr>
        <p:spPr>
          <a:xfrm>
            <a:off x="937475" y="251275"/>
            <a:ext cx="4730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a:solidFill>
                  <a:schemeClr val="dk1"/>
                </a:solidFill>
                <a:latin typeface="DM Sans"/>
                <a:ea typeface="DM Sans"/>
                <a:cs typeface="DM Sans"/>
                <a:sym typeface="DM Sans"/>
              </a:rPr>
              <a:t>HEADERS</a:t>
            </a:r>
            <a:endParaRPr sz="4000" b="1" i="0" u="none" strike="noStrike" cap="none">
              <a:solidFill>
                <a:schemeClr val="dk1"/>
              </a:solidFill>
              <a:latin typeface="DM Sans"/>
              <a:ea typeface="DM Sans"/>
              <a:cs typeface="DM Sans"/>
              <a:sym typeface="DM Sans"/>
            </a:endParaRPr>
          </a:p>
        </p:txBody>
      </p:sp>
      <p:sp>
        <p:nvSpPr>
          <p:cNvPr id="165" name="Google Shape;165;p33"/>
          <p:cNvSpPr txBox="1"/>
          <p:nvPr/>
        </p:nvSpPr>
        <p:spPr>
          <a:xfrm>
            <a:off x="972950" y="4305725"/>
            <a:ext cx="67623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200">
                <a:highlight>
                  <a:schemeClr val="accent6"/>
                </a:highlight>
                <a:latin typeface="DM Sans"/>
                <a:ea typeface="DM Sans"/>
                <a:cs typeface="DM Sans"/>
                <a:sym typeface="DM Sans"/>
              </a:rPr>
              <a:t>Los puedes leer desde la consola de Chrome e identificar todas sus partes. Habrá headers del request y del response (los envía el servidor).</a:t>
            </a:r>
            <a:endParaRPr sz="1200">
              <a:highlight>
                <a:schemeClr val="accent6"/>
              </a:highlight>
              <a:latin typeface="DM Sans"/>
              <a:ea typeface="DM Sans"/>
              <a:cs typeface="DM Sans"/>
              <a:sym typeface="DM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34"/>
          <p:cNvSpPr txBox="1"/>
          <p:nvPr/>
        </p:nvSpPr>
        <p:spPr>
          <a:xfrm>
            <a:off x="1461300" y="1598325"/>
            <a:ext cx="6221400" cy="14316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5000"/>
              <a:buFont typeface="Arial"/>
              <a:buNone/>
            </a:pPr>
            <a:r>
              <a:rPr lang="es" sz="5000" b="0" i="0" u="none" strike="noStrike" cap="none">
                <a:solidFill>
                  <a:srgbClr val="E8E7E3"/>
                </a:solidFill>
                <a:latin typeface="Arial"/>
                <a:ea typeface="Arial"/>
                <a:cs typeface="Arial"/>
                <a:sym typeface="Arial"/>
              </a:rPr>
              <a:t>☕</a:t>
            </a:r>
            <a:endParaRPr sz="5000" b="0" i="0" u="none" strike="noStrike" cap="none">
              <a:solidFill>
                <a:srgbClr val="E8E7E3"/>
              </a:solidFill>
              <a:latin typeface="Arial"/>
              <a:ea typeface="Arial"/>
              <a:cs typeface="Arial"/>
              <a:sym typeface="Arial"/>
            </a:endParaRPr>
          </a:p>
          <a:p>
            <a:pPr marL="0" marR="0" lvl="0" indent="0" algn="ctr" rtl="0">
              <a:lnSpc>
                <a:spcPct val="90000"/>
              </a:lnSpc>
              <a:spcBef>
                <a:spcPts val="0"/>
              </a:spcBef>
              <a:spcAft>
                <a:spcPts val="0"/>
              </a:spcAft>
              <a:buClr>
                <a:srgbClr val="000000"/>
              </a:buClr>
              <a:buSzPts val="4000"/>
              <a:buFont typeface="Arial"/>
              <a:buNone/>
            </a:pPr>
            <a:r>
              <a:rPr lang="es" sz="4000" b="1" i="0" u="none" strike="noStrike" cap="none">
                <a:solidFill>
                  <a:srgbClr val="EAFF6A"/>
                </a:solidFill>
                <a:latin typeface="DM Sans"/>
                <a:ea typeface="DM Sans"/>
                <a:cs typeface="DM Sans"/>
                <a:sym typeface="DM Sans"/>
              </a:rPr>
              <a:t>Break</a:t>
            </a:r>
            <a:endParaRPr sz="4000" b="1" i="0" u="none" strike="noStrike" cap="none">
              <a:solidFill>
                <a:schemeClr val="lt1"/>
              </a:solidFill>
              <a:latin typeface="DM Sans"/>
              <a:ea typeface="DM Sans"/>
              <a:cs typeface="DM Sans"/>
              <a:sym typeface="DM Sans"/>
            </a:endParaRPr>
          </a:p>
        </p:txBody>
      </p:sp>
      <p:sp>
        <p:nvSpPr>
          <p:cNvPr id="171" name="Google Shape;171;p34"/>
          <p:cNvSpPr txBox="1"/>
          <p:nvPr/>
        </p:nvSpPr>
        <p:spPr>
          <a:xfrm>
            <a:off x="2998200" y="2971950"/>
            <a:ext cx="31476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s" sz="2000" b="0" i="0" u="none" strike="noStrike" cap="none">
                <a:solidFill>
                  <a:schemeClr val="lt1"/>
                </a:solidFill>
                <a:latin typeface="DM Sans"/>
                <a:ea typeface="DM Sans"/>
                <a:cs typeface="DM Sans"/>
                <a:sym typeface="DM Sans"/>
              </a:rPr>
              <a:t>¡</a:t>
            </a:r>
            <a:r>
              <a:rPr lang="es" sz="2000">
                <a:solidFill>
                  <a:schemeClr val="lt1"/>
                </a:solidFill>
                <a:latin typeface="DM Sans"/>
                <a:ea typeface="DM Sans"/>
                <a:cs typeface="DM Sans"/>
                <a:sym typeface="DM Sans"/>
              </a:rPr>
              <a:t>5</a:t>
            </a:r>
            <a:r>
              <a:rPr lang="es" sz="2000" b="0" i="0" u="none" strike="noStrike" cap="none">
                <a:solidFill>
                  <a:schemeClr val="lt1"/>
                </a:solidFill>
                <a:latin typeface="DM Sans"/>
                <a:ea typeface="DM Sans"/>
                <a:cs typeface="DM Sans"/>
                <a:sym typeface="DM Sans"/>
              </a:rPr>
              <a:t> minutos y volvemos!</a:t>
            </a:r>
            <a:endParaRPr sz="2000" b="0" i="0" u="none" strike="noStrike" cap="none">
              <a:solidFill>
                <a:schemeClr val="lt1"/>
              </a:solidFill>
              <a:latin typeface="DM Sans"/>
              <a:ea typeface="DM Sans"/>
              <a:cs typeface="DM Sans"/>
              <a:sym typeface="DM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35"/>
          <p:cNvSpPr txBox="1"/>
          <p:nvPr/>
        </p:nvSpPr>
        <p:spPr>
          <a:xfrm>
            <a:off x="1404863" y="1941375"/>
            <a:ext cx="6221400" cy="12930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chemeClr val="dk1"/>
              </a:buClr>
              <a:buSzPts val="1100"/>
              <a:buFont typeface="Arial"/>
              <a:buNone/>
            </a:pPr>
            <a:r>
              <a:rPr lang="es" sz="4000" b="1">
                <a:solidFill>
                  <a:schemeClr val="accent4"/>
                </a:solidFill>
                <a:latin typeface="DM Sans"/>
                <a:ea typeface="DM Sans"/>
                <a:cs typeface="DM Sans"/>
                <a:sym typeface="DM Sans"/>
              </a:rPr>
              <a:t>REQUESTS EN EL BROWSER</a:t>
            </a:r>
            <a:endParaRPr sz="4000" b="1">
              <a:solidFill>
                <a:schemeClr val="accent4"/>
              </a:solidFill>
              <a:latin typeface="DM Sans"/>
              <a:ea typeface="DM Sans"/>
              <a:cs typeface="DM Sans"/>
              <a:sym typeface="DM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36"/>
          <p:cNvSpPr/>
          <p:nvPr/>
        </p:nvSpPr>
        <p:spPr>
          <a:xfrm>
            <a:off x="647400" y="1278650"/>
            <a:ext cx="7849200" cy="2960400"/>
          </a:xfrm>
          <a:prstGeom prst="rect">
            <a:avLst/>
          </a:prstGeom>
          <a:solidFill>
            <a:srgbClr val="EAFF6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 name="Google Shape;182;p36"/>
          <p:cNvSpPr txBox="1"/>
          <p:nvPr/>
        </p:nvSpPr>
        <p:spPr>
          <a:xfrm>
            <a:off x="1461300" y="345975"/>
            <a:ext cx="6221400" cy="6696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chemeClr val="dk1"/>
              </a:buClr>
              <a:buSzPts val="1100"/>
              <a:buFont typeface="Arial"/>
              <a:buNone/>
            </a:pPr>
            <a:r>
              <a:rPr lang="es" sz="3500" b="1">
                <a:solidFill>
                  <a:schemeClr val="lt1"/>
                </a:solidFill>
                <a:latin typeface="DM Sans"/>
                <a:ea typeface="DM Sans"/>
                <a:cs typeface="DM Sans"/>
                <a:sym typeface="DM Sans"/>
              </a:rPr>
              <a:t>Utilizando Fetch</a:t>
            </a:r>
            <a:endParaRPr sz="3500" b="1">
              <a:solidFill>
                <a:schemeClr val="lt1"/>
              </a:solidFill>
              <a:latin typeface="DM Sans"/>
              <a:ea typeface="DM Sans"/>
              <a:cs typeface="DM Sans"/>
              <a:sym typeface="DM Sans"/>
            </a:endParaRPr>
          </a:p>
        </p:txBody>
      </p:sp>
      <p:sp>
        <p:nvSpPr>
          <p:cNvPr id="183" name="Google Shape;183;p36"/>
          <p:cNvSpPr txBox="1"/>
          <p:nvPr/>
        </p:nvSpPr>
        <p:spPr>
          <a:xfrm>
            <a:off x="897275" y="1329038"/>
            <a:ext cx="6904800" cy="808200"/>
          </a:xfrm>
          <a:prstGeom prst="rect">
            <a:avLst/>
          </a:prstGeom>
          <a:noFill/>
          <a:ln>
            <a:noFill/>
          </a:ln>
        </p:spPr>
        <p:txBody>
          <a:bodyPr spcFirstLastPara="1" wrap="square" lIns="91425" tIns="91425" rIns="91425" bIns="91425" anchor="t" anchorCtr="0">
            <a:spAutoFit/>
          </a:bodyPr>
          <a:lstStyle/>
          <a:p>
            <a:pPr marL="457200" marR="0" lvl="0" indent="-314325" algn="l" rtl="0">
              <a:lnSpc>
                <a:spcPct val="100000"/>
              </a:lnSpc>
              <a:spcBef>
                <a:spcPts val="0"/>
              </a:spcBef>
              <a:spcAft>
                <a:spcPts val="0"/>
              </a:spcAft>
              <a:buClr>
                <a:schemeClr val="accent4"/>
              </a:buClr>
              <a:buSzPts val="1350"/>
              <a:buFont typeface="DM Sans"/>
              <a:buChar char="✓"/>
            </a:pPr>
            <a:r>
              <a:rPr lang="es" sz="1350">
                <a:latin typeface="DM Sans"/>
                <a:ea typeface="DM Sans"/>
                <a:cs typeface="DM Sans"/>
                <a:sym typeface="DM Sans"/>
              </a:rPr>
              <a:t>Podemos hacer un request de manera simple, utilizando Fetch API.</a:t>
            </a:r>
            <a:endParaRPr sz="1350">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DM Sans"/>
              <a:buChar char="✓"/>
            </a:pPr>
            <a:r>
              <a:rPr lang="es" sz="1350">
                <a:latin typeface="DM Sans"/>
                <a:ea typeface="DM Sans"/>
                <a:cs typeface="DM Sans"/>
                <a:sym typeface="DM Sans"/>
              </a:rPr>
              <a:t>Esta nos provee una promesa, que se resuelve al terminar el request.</a:t>
            </a:r>
            <a:endParaRPr sz="1350">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DM Sans"/>
              <a:buChar char="✓"/>
            </a:pPr>
            <a:r>
              <a:rPr lang="es" sz="1350">
                <a:latin typeface="DM Sans"/>
                <a:ea typeface="DM Sans"/>
                <a:cs typeface="DM Sans"/>
                <a:sym typeface="DM Sans"/>
              </a:rPr>
              <a:t>Esta respuesta nos permite hacer varias cosas, como almacenar datos.</a:t>
            </a:r>
            <a:endParaRPr sz="1350">
              <a:latin typeface="DM Sans"/>
              <a:ea typeface="DM Sans"/>
              <a:cs typeface="DM Sans"/>
              <a:sym typeface="DM Sans"/>
            </a:endParaRPr>
          </a:p>
        </p:txBody>
      </p:sp>
      <p:sp>
        <p:nvSpPr>
          <p:cNvPr id="184" name="Google Shape;184;p36"/>
          <p:cNvSpPr txBox="1"/>
          <p:nvPr/>
        </p:nvSpPr>
        <p:spPr>
          <a:xfrm>
            <a:off x="1712300" y="2388550"/>
            <a:ext cx="5203200" cy="1659300"/>
          </a:xfrm>
          <a:prstGeom prst="rect">
            <a:avLst/>
          </a:prstGeom>
          <a:solidFill>
            <a:srgbClr val="666666"/>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s" i="0" u="none" strike="noStrike" cap="none">
                <a:solidFill>
                  <a:srgbClr val="EFEFEF"/>
                </a:solidFill>
                <a:latin typeface="DM Sans"/>
                <a:ea typeface="DM Sans"/>
                <a:cs typeface="DM Sans"/>
                <a:sym typeface="DM Sans"/>
              </a:rPr>
              <a:t>fetch('https://api.coder.com.ar/user/1234')</a:t>
            </a:r>
            <a:endParaRPr i="0" u="none" strike="noStrike" cap="none">
              <a:solidFill>
                <a:srgbClr val="EFEFEF"/>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100"/>
              <a:buFont typeface="Arial"/>
              <a:buNone/>
            </a:pPr>
            <a:r>
              <a:rPr lang="es" i="0" u="none" strike="noStrike" cap="none">
                <a:solidFill>
                  <a:srgbClr val="EFEFEF"/>
                </a:solidFill>
                <a:latin typeface="DM Sans"/>
                <a:ea typeface="DM Sans"/>
                <a:cs typeface="DM Sans"/>
                <a:sym typeface="DM Sans"/>
              </a:rPr>
              <a:t>  .then(function(response) {</a:t>
            </a:r>
            <a:endParaRPr i="0" u="none" strike="noStrike" cap="none">
              <a:solidFill>
                <a:srgbClr val="EFEFEF"/>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100"/>
              <a:buFont typeface="Arial"/>
              <a:buNone/>
            </a:pPr>
            <a:r>
              <a:rPr lang="es" i="0" u="none" strike="noStrike" cap="none">
                <a:solidFill>
                  <a:srgbClr val="EFEFEF"/>
                </a:solidFill>
                <a:latin typeface="DM Sans"/>
                <a:ea typeface="DM Sans"/>
                <a:cs typeface="DM Sans"/>
                <a:sym typeface="DM Sans"/>
              </a:rPr>
              <a:t>    return response.json();</a:t>
            </a:r>
            <a:endParaRPr i="0" u="none" strike="noStrike" cap="none">
              <a:solidFill>
                <a:srgbClr val="EFEFEF"/>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100"/>
              <a:buFont typeface="Arial"/>
              <a:buNone/>
            </a:pPr>
            <a:r>
              <a:rPr lang="es" i="0" u="none" strike="noStrike" cap="none">
                <a:solidFill>
                  <a:srgbClr val="EFEFEF"/>
                </a:solidFill>
                <a:latin typeface="DM Sans"/>
                <a:ea typeface="DM Sans"/>
                <a:cs typeface="DM Sans"/>
                <a:sym typeface="DM Sans"/>
              </a:rPr>
              <a:t>  })</a:t>
            </a:r>
            <a:endParaRPr i="0" u="none" strike="noStrike" cap="none">
              <a:solidFill>
                <a:srgbClr val="EFEFEF"/>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100"/>
              <a:buFont typeface="Arial"/>
              <a:buNone/>
            </a:pPr>
            <a:r>
              <a:rPr lang="es" i="0" u="none" strike="noStrike" cap="none">
                <a:solidFill>
                  <a:srgbClr val="EFEFEF"/>
                </a:solidFill>
                <a:latin typeface="DM Sans"/>
                <a:ea typeface="DM Sans"/>
                <a:cs typeface="DM Sans"/>
                <a:sym typeface="DM Sans"/>
              </a:rPr>
              <a:t>  .then(function(user) {</a:t>
            </a:r>
            <a:endParaRPr i="0" u="none" strike="noStrike" cap="none">
              <a:solidFill>
                <a:srgbClr val="EFEFEF"/>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100"/>
              <a:buFont typeface="Arial"/>
              <a:buNone/>
            </a:pPr>
            <a:r>
              <a:rPr lang="es" i="0" u="none" strike="noStrike" cap="none">
                <a:solidFill>
                  <a:srgbClr val="EFEFEF"/>
                </a:solidFill>
                <a:latin typeface="DM Sans"/>
                <a:ea typeface="DM Sans"/>
                <a:cs typeface="DM Sans"/>
                <a:sym typeface="DM Sans"/>
              </a:rPr>
              <a:t>    console.log(user);</a:t>
            </a:r>
            <a:endParaRPr i="0" u="none" strike="noStrike" cap="none">
              <a:solidFill>
                <a:srgbClr val="EFEFEF"/>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100"/>
              <a:buFont typeface="Arial"/>
              <a:buNone/>
            </a:pPr>
            <a:r>
              <a:rPr lang="es" i="0" u="none" strike="noStrike" cap="none">
                <a:solidFill>
                  <a:srgbClr val="EFEFEF"/>
                </a:solidFill>
                <a:latin typeface="DM Sans"/>
                <a:ea typeface="DM Sans"/>
                <a:cs typeface="DM Sans"/>
                <a:sym typeface="DM Sans"/>
              </a:rPr>
              <a:t>  });</a:t>
            </a:r>
            <a:endParaRPr i="0" u="none" strike="noStrike" cap="none">
              <a:solidFill>
                <a:srgbClr val="EFEFEF"/>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700"/>
              <a:buFont typeface="Arial"/>
              <a:buNone/>
            </a:pPr>
            <a:endParaRPr sz="1700" b="0" i="0" u="none" strike="noStrike" cap="none">
              <a:solidFill>
                <a:srgbClr val="EFEFEF"/>
              </a:solidFill>
              <a:latin typeface="Didact Gothic"/>
              <a:ea typeface="Didact Gothic"/>
              <a:cs typeface="Didact Gothic"/>
              <a:sym typeface="Didact Gothic"/>
            </a:endParaRPr>
          </a:p>
        </p:txBody>
      </p:sp>
      <p:sp>
        <p:nvSpPr>
          <p:cNvPr id="185" name="Google Shape;185;p36"/>
          <p:cNvSpPr txBox="1"/>
          <p:nvPr/>
        </p:nvSpPr>
        <p:spPr>
          <a:xfrm>
            <a:off x="557531" y="4502125"/>
            <a:ext cx="6375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a:t>Repo: https://github.com/julioavantt/teacher_js_fetch.git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37"/>
          <p:cNvSpPr/>
          <p:nvPr/>
        </p:nvSpPr>
        <p:spPr>
          <a:xfrm>
            <a:off x="647400" y="1189150"/>
            <a:ext cx="7849200" cy="3317400"/>
          </a:xfrm>
          <a:prstGeom prst="rect">
            <a:avLst/>
          </a:prstGeom>
          <a:solidFill>
            <a:srgbClr val="EAFF6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 name="Google Shape;191;p37"/>
          <p:cNvSpPr txBox="1"/>
          <p:nvPr/>
        </p:nvSpPr>
        <p:spPr>
          <a:xfrm>
            <a:off x="1461300" y="345975"/>
            <a:ext cx="6221400" cy="6696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chemeClr val="dk1"/>
              </a:buClr>
              <a:buSzPts val="1100"/>
              <a:buFont typeface="Arial"/>
              <a:buNone/>
            </a:pPr>
            <a:r>
              <a:rPr lang="es" sz="3500" b="1">
                <a:solidFill>
                  <a:schemeClr val="lt1"/>
                </a:solidFill>
                <a:latin typeface="DM Sans"/>
                <a:ea typeface="DM Sans"/>
                <a:cs typeface="DM Sans"/>
                <a:sym typeface="DM Sans"/>
              </a:rPr>
              <a:t>CORS</a:t>
            </a:r>
            <a:endParaRPr sz="3500" b="1">
              <a:solidFill>
                <a:schemeClr val="lt1"/>
              </a:solidFill>
              <a:latin typeface="DM Sans"/>
              <a:ea typeface="DM Sans"/>
              <a:cs typeface="DM Sans"/>
              <a:sym typeface="DM Sans"/>
            </a:endParaRPr>
          </a:p>
        </p:txBody>
      </p:sp>
      <p:sp>
        <p:nvSpPr>
          <p:cNvPr id="192" name="Google Shape;192;p37"/>
          <p:cNvSpPr txBox="1"/>
          <p:nvPr/>
        </p:nvSpPr>
        <p:spPr>
          <a:xfrm>
            <a:off x="903500" y="1342300"/>
            <a:ext cx="6904800" cy="392400"/>
          </a:xfrm>
          <a:prstGeom prst="rect">
            <a:avLst/>
          </a:prstGeom>
          <a:noFill/>
          <a:ln>
            <a:noFill/>
          </a:ln>
        </p:spPr>
        <p:txBody>
          <a:bodyPr spcFirstLastPara="1" wrap="square" lIns="91425" tIns="91425" rIns="91425" bIns="91425" anchor="t" anchorCtr="0">
            <a:spAutoFit/>
          </a:bodyPr>
          <a:lstStyle/>
          <a:p>
            <a:pPr marL="457200" marR="0" lvl="0" indent="-314325" algn="l" rtl="0">
              <a:lnSpc>
                <a:spcPct val="100000"/>
              </a:lnSpc>
              <a:spcBef>
                <a:spcPts val="0"/>
              </a:spcBef>
              <a:spcAft>
                <a:spcPts val="0"/>
              </a:spcAft>
              <a:buClr>
                <a:schemeClr val="accent4"/>
              </a:buClr>
              <a:buSzPts val="1350"/>
              <a:buFont typeface="DM Sans"/>
              <a:buChar char="✓"/>
            </a:pPr>
            <a:r>
              <a:rPr lang="es" sz="1350">
                <a:latin typeface="DM Sans"/>
                <a:ea typeface="DM Sans"/>
                <a:cs typeface="DM Sans"/>
                <a:sym typeface="DM Sans"/>
              </a:rPr>
              <a:t>Al realizar un request, nos podemos encontrar con este error/problema:</a:t>
            </a:r>
            <a:endParaRPr sz="1350">
              <a:latin typeface="DM Sans"/>
              <a:ea typeface="DM Sans"/>
              <a:cs typeface="DM Sans"/>
              <a:sym typeface="DM Sans"/>
            </a:endParaRPr>
          </a:p>
        </p:txBody>
      </p:sp>
      <p:pic>
        <p:nvPicPr>
          <p:cNvPr id="193" name="Google Shape;193;p37"/>
          <p:cNvPicPr preferRelativeResize="0"/>
          <p:nvPr/>
        </p:nvPicPr>
        <p:blipFill rotWithShape="1">
          <a:blip r:embed="rId3">
            <a:alphaModFix/>
          </a:blip>
          <a:srcRect/>
          <a:stretch/>
        </p:blipFill>
        <p:spPr>
          <a:xfrm>
            <a:off x="1217349" y="1910101"/>
            <a:ext cx="6709301" cy="225232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44"/>
          <p:cNvSpPr txBox="1"/>
          <p:nvPr/>
        </p:nvSpPr>
        <p:spPr>
          <a:xfrm>
            <a:off x="1556994" y="790250"/>
            <a:ext cx="6221400" cy="1985129"/>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endParaRPr sz="5000" dirty="0">
              <a:solidFill>
                <a:srgbClr val="E8E7E3"/>
              </a:solidFill>
            </a:endParaRPr>
          </a:p>
          <a:p>
            <a:pPr marL="0" lvl="0" indent="0" algn="ctr" rtl="0">
              <a:lnSpc>
                <a:spcPct val="90000"/>
              </a:lnSpc>
              <a:spcBef>
                <a:spcPts val="0"/>
              </a:spcBef>
              <a:spcAft>
                <a:spcPts val="0"/>
              </a:spcAft>
              <a:buNone/>
            </a:pPr>
            <a:r>
              <a:rPr lang="es-419" sz="4000" b="1" dirty="0" smtClean="0">
                <a:solidFill>
                  <a:srgbClr val="EAFF6A"/>
                </a:solidFill>
                <a:latin typeface="DM Sans"/>
                <a:ea typeface="DM Sans"/>
                <a:cs typeface="DM Sans"/>
                <a:sym typeface="DM Sans"/>
              </a:rPr>
              <a:t>Llegamos al final de la clase!!!!</a:t>
            </a:r>
            <a:endParaRPr sz="4000" b="1" dirty="0">
              <a:solidFill>
                <a:schemeClr val="lt1"/>
              </a:solidFill>
              <a:latin typeface="DM Sans"/>
              <a:ea typeface="DM Sans"/>
              <a:cs typeface="DM Sans"/>
              <a:sym typeface="DM Sans"/>
            </a:endParaRPr>
          </a:p>
        </p:txBody>
      </p:sp>
      <p:sp>
        <p:nvSpPr>
          <p:cNvPr id="219" name="Google Shape;219;p44"/>
          <p:cNvSpPr txBox="1"/>
          <p:nvPr/>
        </p:nvSpPr>
        <p:spPr>
          <a:xfrm>
            <a:off x="2998200" y="2971950"/>
            <a:ext cx="31476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419" sz="2000" dirty="0" smtClean="0">
                <a:solidFill>
                  <a:schemeClr val="lt1"/>
                </a:solidFill>
                <a:latin typeface="DM Sans"/>
                <a:ea typeface="DM Sans"/>
                <a:cs typeface="DM Sans"/>
                <a:sym typeface="DM Sans"/>
              </a:rPr>
              <a:t>Dudas? Consultas?</a:t>
            </a:r>
            <a:endParaRPr sz="2000" dirty="0">
              <a:solidFill>
                <a:schemeClr val="lt1"/>
              </a:solidFill>
              <a:latin typeface="DM Sans"/>
              <a:ea typeface="DM Sans"/>
              <a:cs typeface="DM Sans"/>
              <a:sym typeface="DM Sans"/>
            </a:endParaRPr>
          </a:p>
        </p:txBody>
      </p:sp>
    </p:spTree>
    <p:extLst>
      <p:ext uri="{BB962C8B-B14F-4D97-AF65-F5344CB8AC3E}">
        <p14:creationId xmlns:p14="http://schemas.microsoft.com/office/powerpoint/2010/main" val="3026504472"/>
      </p:ext>
    </p:extLst>
  </p:cSld>
  <p:clrMapOvr>
    <a:masterClrMapping/>
  </p:clrMapOvr>
</p:sld>
</file>

<file path=ppt/theme/theme1.xml><?xml version="1.0" encoding="utf-8"?>
<a:theme xmlns:a="http://schemas.openxmlformats.org/drawingml/2006/main" name="Coder">
  <a:themeElements>
    <a:clrScheme name="Simple Light">
      <a:dk1>
        <a:srgbClr val="000000"/>
      </a:dk1>
      <a:lt1>
        <a:srgbClr val="FFFFFF"/>
      </a:lt1>
      <a:dk2>
        <a:srgbClr val="595959"/>
      </a:dk2>
      <a:lt2>
        <a:srgbClr val="EEEEEE"/>
      </a:lt2>
      <a:accent1>
        <a:srgbClr val="9DF4E2"/>
      </a:accent1>
      <a:accent2>
        <a:srgbClr val="212121"/>
      </a:accent2>
      <a:accent3>
        <a:srgbClr val="78909C"/>
      </a:accent3>
      <a:accent4>
        <a:srgbClr val="EA90FF"/>
      </a:accent4>
      <a:accent5>
        <a:srgbClr val="83AEFB"/>
      </a:accent5>
      <a:accent6>
        <a:srgbClr val="EAFF6A"/>
      </a:accent6>
      <a:hlink>
        <a:srgbClr val="83AEF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1161</Words>
  <Application>Microsoft Office PowerPoint</Application>
  <PresentationFormat>Presentación en pantalla (16:9)</PresentationFormat>
  <Paragraphs>149</Paragraphs>
  <Slides>24</Slides>
  <Notes>24</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24</vt:i4>
      </vt:variant>
    </vt:vector>
  </HeadingPairs>
  <TitlesOfParts>
    <vt:vector size="30" baseType="lpstr">
      <vt:lpstr>DM Sans</vt:lpstr>
      <vt:lpstr>Helvetica Neue</vt:lpstr>
      <vt:lpstr>Arial</vt:lpstr>
      <vt:lpstr>Helvetica Neue Light</vt:lpstr>
      <vt:lpstr>Didact Gothic</vt:lpstr>
      <vt:lpstr>Coder</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cp:lastModifiedBy>Turi</cp:lastModifiedBy>
  <cp:revision>1</cp:revision>
  <dcterms:modified xsi:type="dcterms:W3CDTF">2025-09-25T22:12:24Z</dcterms:modified>
</cp:coreProperties>
</file>