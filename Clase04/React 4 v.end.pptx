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y="5143500" cx="9144000"/>
  <p:notesSz cx="6858000" cy="9144000"/>
  <p:embeddedFontLst>
    <p:embeddedFont>
      <p:font typeface="Didact Gothic"/>
      <p:regular r:id="rId30"/>
    </p:embeddedFont>
    <p:embeddedFont>
      <p:font typeface="Helvetica Neue Light"/>
      <p:regular r:id="rId31"/>
      <p:bold r:id="rId32"/>
      <p:italic r:id="rId33"/>
      <p:boldItalic r:id="rId34"/>
    </p:embeddedFont>
    <p:embeddedFont>
      <p:font typeface="DM Sans"/>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B3616F2-456C-40B4-B490-66DFA2D3AB3A}">
  <a:tblStyle styleId="{8B3616F2-456C-40B4-B490-66DFA2D3AB3A}"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95" orient="horz"/>
        <p:guide pos="5460"/>
        <p:guide pos="300"/>
        <p:guide pos="2892"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HelveticaNeueLight-regular.fntdata"/><Relationship Id="rId30" Type="http://schemas.openxmlformats.org/officeDocument/2006/relationships/font" Target="fonts/DidactGothic-regular.fntdata"/><Relationship Id="rId11" Type="http://schemas.openxmlformats.org/officeDocument/2006/relationships/slide" Target="slides/slide5.xml"/><Relationship Id="rId33" Type="http://schemas.openxmlformats.org/officeDocument/2006/relationships/font" Target="fonts/HelveticaNeueLight-italic.fntdata"/><Relationship Id="rId10" Type="http://schemas.openxmlformats.org/officeDocument/2006/relationships/slide" Target="slides/slide4.xml"/><Relationship Id="rId32" Type="http://schemas.openxmlformats.org/officeDocument/2006/relationships/font" Target="fonts/HelveticaNeueLight-bold.fntdata"/><Relationship Id="rId13" Type="http://schemas.openxmlformats.org/officeDocument/2006/relationships/slide" Target="slides/slide7.xml"/><Relationship Id="rId35" Type="http://schemas.openxmlformats.org/officeDocument/2006/relationships/font" Target="fonts/DMSans-regular.fntdata"/><Relationship Id="rId12" Type="http://schemas.openxmlformats.org/officeDocument/2006/relationships/slide" Target="slides/slide6.xml"/><Relationship Id="rId34" Type="http://schemas.openxmlformats.org/officeDocument/2006/relationships/font" Target="fonts/HelveticaNeueLight-boldItalic.fntdata"/><Relationship Id="rId15" Type="http://schemas.openxmlformats.org/officeDocument/2006/relationships/slide" Target="slides/slide9.xml"/><Relationship Id="rId37" Type="http://schemas.openxmlformats.org/officeDocument/2006/relationships/font" Target="fonts/DMSans-italic.fntdata"/><Relationship Id="rId14" Type="http://schemas.openxmlformats.org/officeDocument/2006/relationships/slide" Target="slides/slide8.xml"/><Relationship Id="rId36" Type="http://schemas.openxmlformats.org/officeDocument/2006/relationships/font" Target="fonts/DMSans-bold.fntdata"/><Relationship Id="rId17" Type="http://schemas.openxmlformats.org/officeDocument/2006/relationships/slide" Target="slides/slide11.xml"/><Relationship Id="rId16" Type="http://schemas.openxmlformats.org/officeDocument/2006/relationships/slide" Target="slides/slide10.xml"/><Relationship Id="rId38" Type="http://schemas.openxmlformats.org/officeDocument/2006/relationships/font" Target="fonts/DMSans-bold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 name="Shape 40"/>
        <p:cNvGrpSpPr/>
        <p:nvPr/>
      </p:nvGrpSpPr>
      <p:grpSpPr>
        <a:xfrm>
          <a:off x="0" y="0"/>
          <a:ext cx="0" cy="0"/>
          <a:chOff x="0" y="0"/>
          <a:chExt cx="0" cy="0"/>
        </a:xfrm>
      </p:grpSpPr>
      <p:sp>
        <p:nvSpPr>
          <p:cNvPr id="41" name="Google Shape;41;g337005b14e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 name="Google Shape;42;g337005b14e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g337005b14e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 name="Google Shape;47;g337005b14e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1460791e6b3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g1460791e6b3_0_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238cec8b235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9" name="Google Shape;59;g238cec8b235_0_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21bb842cdf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g21bb842cdf8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1460791e6b3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1" name="Google Shape;71;g1460791e6b3_0_7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13824b992ef_1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g13824b992ef_1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 name="Google Shape;85;p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28e1c96883a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 name="Google Shape;90;g28e1c96883a_0_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13824b992ef_1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5" name="Google Shape;95;g13824b992ef_1_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13824b992ef_1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2" name="Google Shape;102;g13824b992ef_1_6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13824b992ef_1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0" name="Google Shape;110;g13824b992ef_1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138272f95a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7" name="Google Shape;117;g138272f95ae_0_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138272f95ae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4" name="Google Shape;124;g138272f95ae_0_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13824b992ef_1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 name="Google Shape;132;g13824b992ef_1_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138272f95a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g138272f95a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138272f95ae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g138272f95ae_0_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138272f95ae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3" name="Google Shape;153;g138272f95ae_0_5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138272f95ae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0" name="Google Shape;160;g138272f95ae_0_6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imagen completa.</a:t>
            </a:r>
            <a:endParaRPr>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138272f95ae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8" name="Google Shape;168;g138272f95ae_0_1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b="1" lang="es">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138272f95ae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4" name="Google Shape;174;g138272f95ae_0_7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138272f95ae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9" name="Google Shape;179;g138272f95ae_0_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138272f95ae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g138272f95ae_0_1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latin typeface="DM Sans"/>
              <a:ea typeface="DM Sans"/>
              <a:cs typeface="DM Sans"/>
              <a:sym typeface="DM San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ndo blanco">
  <p:cSld name="SECTION_HEADER_1_1_1_1_1_1_1_1">
    <p:spTree>
      <p:nvGrpSpPr>
        <p:cNvPr id="9" name="Shape 9"/>
        <p:cNvGrpSpPr/>
        <p:nvPr/>
      </p:nvGrpSpPr>
      <p:grpSpPr>
        <a:xfrm>
          <a:off x="0" y="0"/>
          <a:ext cx="0" cy="0"/>
          <a:chOff x="0" y="0"/>
          <a:chExt cx="0" cy="0"/>
        </a:xfrm>
      </p:grpSpPr>
      <p:pic>
        <p:nvPicPr>
          <p:cNvPr id="10" name="Google Shape;10;p2" title="logo coderhouse"/>
          <p:cNvPicPr preferRelativeResize="0"/>
          <p:nvPr/>
        </p:nvPicPr>
        <p:blipFill rotWithShape="1">
          <a:blip r:embed="rId2">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 imagen">
  <p:cSld name="SECTION_HEADER_1_1_1_1_1_1_1">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3"/>
          <p:cNvSpPr/>
          <p:nvPr/>
        </p:nvSpPr>
        <p:spPr>
          <a:xfrm>
            <a:off x="6592475" y="0"/>
            <a:ext cx="2551500" cy="5143500"/>
          </a:xfrm>
          <a:prstGeom prst="rect">
            <a:avLst/>
          </a:prstGeom>
          <a:solidFill>
            <a:srgbClr val="EAFF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 name="Google Shape;13;p3"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3-B">
  <p:cSld name="SECTION_HEADER_1_1_1_1_1_1_1_1_1">
    <p:bg>
      <p:bgPr>
        <a:blipFill>
          <a:blip r:embed="rId2">
            <a:alphaModFix/>
          </a:blip>
          <a:stretch>
            <a:fillRect/>
          </a:stretch>
        </a:blipFill>
      </p:bgPr>
    </p:bg>
    <p:spTree>
      <p:nvGrpSpPr>
        <p:cNvPr id="14" name="Shape 14"/>
        <p:cNvGrpSpPr/>
        <p:nvPr/>
      </p:nvGrpSpPr>
      <p:grpSpPr>
        <a:xfrm>
          <a:off x="0" y="0"/>
          <a:ext cx="0" cy="0"/>
          <a:chOff x="0" y="0"/>
          <a:chExt cx="0" cy="0"/>
        </a:xfrm>
      </p:grpSpPr>
      <p:pic>
        <p:nvPicPr>
          <p:cNvPr id="15" name="Google Shape;15;p4"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2-A">
  <p:cSld name="SECTION_HEADER_1_1_1_1_1_1_1_1_1_1">
    <p:bg>
      <p:bgPr>
        <a:blipFill>
          <a:blip r:embed="rId2">
            <a:alphaModFix/>
          </a:blip>
          <a:stretch>
            <a:fillRect/>
          </a:stretch>
        </a:blipFill>
      </p:bgPr>
    </p:bg>
    <p:spTree>
      <p:nvGrpSpPr>
        <p:cNvPr id="16" name="Shape 16"/>
        <p:cNvGrpSpPr/>
        <p:nvPr/>
      </p:nvGrpSpPr>
      <p:grpSpPr>
        <a:xfrm>
          <a:off x="0" y="0"/>
          <a:ext cx="0" cy="0"/>
          <a:chOff x="0" y="0"/>
          <a:chExt cx="0" cy="0"/>
        </a:xfrm>
      </p:grpSpPr>
      <p:pic>
        <p:nvPicPr>
          <p:cNvPr id="17" name="Google Shape;17;p5"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2-B">
  <p:cSld name="SECTION_HEADER_1">
    <p:bg>
      <p:bgPr>
        <a:blipFill>
          <a:blip r:embed="rId2">
            <a:alphaModFix/>
          </a:blip>
          <a:stretch>
            <a:fillRect/>
          </a:stretch>
        </a:blipFill>
      </p:bgPr>
    </p:bg>
    <p:spTree>
      <p:nvGrpSpPr>
        <p:cNvPr id="18" name="Shape 18"/>
        <p:cNvGrpSpPr/>
        <p:nvPr/>
      </p:nvGrpSpPr>
      <p:grpSpPr>
        <a:xfrm>
          <a:off x="0" y="0"/>
          <a:ext cx="0" cy="0"/>
          <a:chOff x="0" y="0"/>
          <a:chExt cx="0" cy="0"/>
        </a:xfrm>
      </p:grpSpPr>
      <p:pic>
        <p:nvPicPr>
          <p:cNvPr id="19" name="Google Shape;19;p6" title="logo coderhouse"/>
          <p:cNvPicPr preferRelativeResize="0"/>
          <p:nvPr/>
        </p:nvPicPr>
        <p:blipFill rotWithShape="1">
          <a:blip r:embed="rId3">
            <a:alphaModFix/>
          </a:blip>
          <a:srcRect b="0" l="0" r="0" t="0"/>
          <a:stretch/>
        </p:blipFill>
        <p:spPr>
          <a:xfrm>
            <a:off x="7874775" y="4720250"/>
            <a:ext cx="1024025" cy="21162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3-A">
  <p:cSld name="SECTION_HEADER_1_1">
    <p:bg>
      <p:bgPr>
        <a:blipFill>
          <a:blip r:embed="rId2">
            <a:alphaModFix/>
          </a:blip>
          <a:stretch>
            <a:fillRect/>
          </a:stretch>
        </a:blipFill>
      </p:bgPr>
    </p:bg>
    <p:spTree>
      <p:nvGrpSpPr>
        <p:cNvPr id="20" name="Shape 20"/>
        <p:cNvGrpSpPr/>
        <p:nvPr/>
      </p:nvGrpSpPr>
      <p:grpSpPr>
        <a:xfrm>
          <a:off x="0" y="0"/>
          <a:ext cx="0" cy="0"/>
          <a:chOff x="0" y="0"/>
          <a:chExt cx="0" cy="0"/>
        </a:xfrm>
      </p:grpSpPr>
      <p:pic>
        <p:nvPicPr>
          <p:cNvPr id="21" name="Google Shape;21;p7"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átula 1">
  <p:cSld name="SECTION_HEADER_1_1_1">
    <p:bg>
      <p:bgPr>
        <a:blipFill>
          <a:blip r:embed="rId2">
            <a:alphaModFix/>
          </a:blip>
          <a:stretch>
            <a:fillRect/>
          </a:stretch>
        </a:blipFill>
      </p:bgPr>
    </p:bg>
    <p:spTree>
      <p:nvGrpSpPr>
        <p:cNvPr id="22" name="Shape 22"/>
        <p:cNvGrpSpPr/>
        <p:nvPr/>
      </p:nvGrpSpPr>
      <p:grpSpPr>
        <a:xfrm>
          <a:off x="0" y="0"/>
          <a:ext cx="0" cy="0"/>
          <a:chOff x="0" y="0"/>
          <a:chExt cx="0" cy="0"/>
        </a:xfrm>
      </p:grpSpPr>
      <p:pic>
        <p:nvPicPr>
          <p:cNvPr id="23" name="Google Shape;23;p8"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átula 2">
  <p:cSld name="SECTION_HEADER_1_1_1_1">
    <p:bg>
      <p:bgPr>
        <a:blipFill>
          <a:blip r:embed="rId2">
            <a:alphaModFix/>
          </a:blip>
          <a:stretch>
            <a:fillRect/>
          </a:stretch>
        </a:blipFill>
      </p:bgPr>
    </p:bg>
    <p:spTree>
      <p:nvGrpSpPr>
        <p:cNvPr id="24" name="Shape 24"/>
        <p:cNvGrpSpPr/>
        <p:nvPr/>
      </p:nvGrpSpPr>
      <p:grpSpPr>
        <a:xfrm>
          <a:off x="0" y="0"/>
          <a:ext cx="0" cy="0"/>
          <a:chOff x="0" y="0"/>
          <a:chExt cx="0" cy="0"/>
        </a:xfrm>
      </p:grpSpPr>
      <p:pic>
        <p:nvPicPr>
          <p:cNvPr id="25" name="Google Shape;25;p9"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átula 3">
  <p:cSld name="SECTION_HEADER_1_1_1_1_1">
    <p:bg>
      <p:bgPr>
        <a:blipFill>
          <a:blip r:embed="rId2">
            <a:alphaModFix/>
          </a:blip>
          <a:stretch>
            <a:fillRect/>
          </a:stretch>
        </a:blipFill>
      </p:bgPr>
    </p:bg>
    <p:spTree>
      <p:nvGrpSpPr>
        <p:cNvPr id="26" name="Shape 26"/>
        <p:cNvGrpSpPr/>
        <p:nvPr/>
      </p:nvGrpSpPr>
      <p:grpSpPr>
        <a:xfrm>
          <a:off x="0" y="0"/>
          <a:ext cx="0" cy="0"/>
          <a:chOff x="0" y="0"/>
          <a:chExt cx="0" cy="0"/>
        </a:xfrm>
      </p:grpSpPr>
      <p:pic>
        <p:nvPicPr>
          <p:cNvPr id="27" name="Google Shape;27;p10"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adro">
  <p:cSld name="SECTION_HEADER_1_1_1_1_1_1">
    <p:bg>
      <p:bgPr>
        <a:blipFill>
          <a:blip r:embed="rId2">
            <a:alphaModFix/>
          </a:blip>
          <a:stretch>
            <a:fillRect/>
          </a:stretch>
        </a:blipFill>
      </p:bgPr>
    </p:bg>
    <p:spTree>
      <p:nvGrpSpPr>
        <p:cNvPr id="28" name="Shape 28"/>
        <p:cNvGrpSpPr/>
        <p:nvPr/>
      </p:nvGrpSpPr>
      <p:grpSpPr>
        <a:xfrm>
          <a:off x="0" y="0"/>
          <a:ext cx="0" cy="0"/>
          <a:chOff x="0" y="0"/>
          <a:chExt cx="0" cy="0"/>
        </a:xfrm>
      </p:grpSpPr>
      <p:pic>
        <p:nvPicPr>
          <p:cNvPr id="29" name="Google Shape;29;p11"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3-B 5">
  <p:cSld name="SECTION_HEADER_1_1_1_1_1_1_1_1_1_8">
    <p:bg>
      <p:bgPr>
        <a:blipFill>
          <a:blip r:embed="rId2">
            <a:alphaModFix/>
          </a:blip>
          <a:stretch>
            <a:fillRect/>
          </a:stretch>
        </a:blipFill>
      </p:bgPr>
    </p:bg>
    <p:spTree>
      <p:nvGrpSpPr>
        <p:cNvPr id="30" name="Shape 30"/>
        <p:cNvGrpSpPr/>
        <p:nvPr/>
      </p:nvGrpSpPr>
      <p:grpSpPr>
        <a:xfrm>
          <a:off x="0" y="0"/>
          <a:ext cx="0" cy="0"/>
          <a:chOff x="0" y="0"/>
          <a:chExt cx="0" cy="0"/>
        </a:xfrm>
      </p:grpSpPr>
      <p:pic>
        <p:nvPicPr>
          <p:cNvPr id="31" name="Google Shape;31;p12" title="logo coderhouse"/>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co 1" type="title">
  <p:cSld name="TITLE">
    <p:spTree>
      <p:nvGrpSpPr>
        <p:cNvPr id="32" name="Shape 32"/>
        <p:cNvGrpSpPr/>
        <p:nvPr/>
      </p:nvGrpSpPr>
      <p:grpSpPr>
        <a:xfrm>
          <a:off x="0" y="0"/>
          <a:ext cx="0" cy="0"/>
          <a:chOff x="0" y="0"/>
          <a:chExt cx="0" cy="0"/>
        </a:xfrm>
      </p:grpSpPr>
      <p:sp>
        <p:nvSpPr>
          <p:cNvPr id="33" name="Google Shape;33;p1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000"/>
              <a:buFont typeface="DM Sans"/>
              <a:buNone/>
              <a:defRPr b="1" sz="4000">
                <a:latin typeface="DM Sans"/>
                <a:ea typeface="DM Sans"/>
                <a:cs typeface="DM Sans"/>
                <a:sym typeface="DM Sans"/>
              </a:defRPr>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34" name="Google Shape;34;p1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pic>
        <p:nvPicPr>
          <p:cNvPr id="35" name="Google Shape;35;p13" title="logo CoderHouse"/>
          <p:cNvPicPr preferRelativeResize="0"/>
          <p:nvPr/>
        </p:nvPicPr>
        <p:blipFill rotWithShape="1">
          <a:blip r:embed="rId2">
            <a:alphaModFix/>
          </a:blip>
          <a:srcRect b="0" l="0" r="0" t="0"/>
          <a:stretch/>
        </p:blipFill>
        <p:spPr>
          <a:xfrm>
            <a:off x="7811413" y="4692275"/>
            <a:ext cx="1150750" cy="2675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6" name="Shape 36"/>
        <p:cNvGrpSpPr/>
        <p:nvPr/>
      </p:nvGrpSpPr>
      <p:grpSpPr>
        <a:xfrm>
          <a:off x="0" y="0"/>
          <a:ext cx="0" cy="0"/>
          <a:chOff x="0" y="0"/>
          <a:chExt cx="0" cy="0"/>
        </a:xfrm>
      </p:grpSpPr>
      <p:sp>
        <p:nvSpPr>
          <p:cNvPr id="37" name="Google Shape;37;p1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8" name="Google Shape;38;p1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39" name="Google Shape;39;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myapp.coder/student/1234/courses" TargetMode="External"/><Relationship Id="rId4" Type="http://schemas.openxmlformats.org/officeDocument/2006/relationships/hyperlink" Target="https://myapp.coder/student/1234/courses" TargetMode="External"/><Relationship Id="rId5" Type="http://schemas.openxmlformats.org/officeDocument/2006/relationships/hyperlink" Target="https://myapp.coder/student/1234/course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www.google.com.ar/search?q=coderhouse"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url.com/find?type=order&amp;id=1234" TargetMode="External"/><Relationship Id="rId4" Type="http://schemas.openxmlformats.org/officeDocument/2006/relationships/hyperlink" Target="http://url.com/find?type=order&amp;id=1234" TargetMode="External"/><Relationship Id="rId5" Type="http://schemas.openxmlformats.org/officeDocument/2006/relationships/hyperlink" Target="http://url.com/find?type=order&amp;id=1234"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 Id="rId3"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 name="Shape 43"/>
        <p:cNvGrpSpPr/>
        <p:nvPr/>
      </p:nvGrpSpPr>
      <p:grpSpPr>
        <a:xfrm>
          <a:off x="0" y="0"/>
          <a:ext cx="0" cy="0"/>
          <a:chOff x="0" y="0"/>
          <a:chExt cx="0" cy="0"/>
        </a:xfrm>
      </p:grpSpPr>
      <p:sp>
        <p:nvSpPr>
          <p:cNvPr id="44" name="Google Shape;44;p15"/>
          <p:cNvSpPr txBox="1"/>
          <p:nvPr/>
        </p:nvSpPr>
        <p:spPr>
          <a:xfrm>
            <a:off x="1461288" y="1299288"/>
            <a:ext cx="6221400" cy="26229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s" sz="7200">
                <a:solidFill>
                  <a:schemeClr val="lt1"/>
                </a:solidFill>
                <a:latin typeface="DM Sans"/>
                <a:ea typeface="DM Sans"/>
                <a:cs typeface="DM Sans"/>
                <a:sym typeface="DM Sans"/>
              </a:rPr>
              <a:t>React</a:t>
            </a:r>
            <a:endParaRPr b="1" sz="7200">
              <a:solidFill>
                <a:schemeClr val="lt1"/>
              </a:solidFill>
              <a:latin typeface="DM Sans"/>
              <a:ea typeface="DM Sans"/>
              <a:cs typeface="DM Sans"/>
              <a:sym typeface="DM Sans"/>
            </a:endParaRPr>
          </a:p>
          <a:p>
            <a:pPr indent="0" lvl="0" marL="0" rtl="0" algn="ctr">
              <a:lnSpc>
                <a:spcPct val="90000"/>
              </a:lnSpc>
              <a:spcBef>
                <a:spcPts val="0"/>
              </a:spcBef>
              <a:spcAft>
                <a:spcPts val="0"/>
              </a:spcAft>
              <a:buNone/>
            </a:pPr>
            <a:r>
              <a:rPr b="1" lang="es" sz="6000">
                <a:solidFill>
                  <a:srgbClr val="EAFF6A"/>
                </a:solidFill>
                <a:latin typeface="DM Sans"/>
                <a:ea typeface="DM Sans"/>
                <a:cs typeface="DM Sans"/>
                <a:sym typeface="DM Sans"/>
              </a:rPr>
              <a:t>Flex IV</a:t>
            </a:r>
            <a:br>
              <a:rPr b="1" lang="es" sz="6000">
                <a:solidFill>
                  <a:srgbClr val="EAFF6A"/>
                </a:solidFill>
                <a:latin typeface="DM Sans"/>
                <a:ea typeface="DM Sans"/>
                <a:cs typeface="DM Sans"/>
                <a:sym typeface="DM Sans"/>
              </a:rPr>
            </a:br>
            <a:endParaRPr b="1" sz="600">
              <a:solidFill>
                <a:srgbClr val="EAFF6A"/>
              </a:solidFill>
              <a:latin typeface="DM Sans"/>
              <a:ea typeface="DM Sans"/>
              <a:cs typeface="DM Sans"/>
              <a:sym typeface="DM Sans"/>
            </a:endParaRPr>
          </a:p>
          <a:p>
            <a:pPr indent="0" lvl="0" marL="0" rtl="0" algn="ctr">
              <a:lnSpc>
                <a:spcPct val="90000"/>
              </a:lnSpc>
              <a:spcBef>
                <a:spcPts val="0"/>
              </a:spcBef>
              <a:spcAft>
                <a:spcPts val="0"/>
              </a:spcAft>
              <a:buNone/>
            </a:pPr>
            <a:r>
              <a:t/>
            </a:r>
            <a:endParaRPr b="1" sz="600">
              <a:solidFill>
                <a:srgbClr val="EAFF6A"/>
              </a:solidFill>
              <a:latin typeface="DM Sans"/>
              <a:ea typeface="DM Sans"/>
              <a:cs typeface="DM Sans"/>
              <a:sym typeface="DM Sans"/>
            </a:endParaRPr>
          </a:p>
          <a:p>
            <a:pPr indent="0" lvl="0" marL="0" rtl="0" algn="ctr">
              <a:lnSpc>
                <a:spcPct val="90000"/>
              </a:lnSpc>
              <a:spcBef>
                <a:spcPts val="0"/>
              </a:spcBef>
              <a:spcAft>
                <a:spcPts val="0"/>
              </a:spcAft>
              <a:buNone/>
            </a:pPr>
            <a:r>
              <a:t/>
            </a:r>
            <a:endParaRPr b="1" sz="1600">
              <a:solidFill>
                <a:schemeClr val="lt1"/>
              </a:solidFill>
              <a:latin typeface="DM Sans"/>
              <a:ea typeface="DM Sans"/>
              <a:cs typeface="DM Sans"/>
              <a:sym typeface="DM Sans"/>
            </a:endParaRPr>
          </a:p>
          <a:p>
            <a:pPr indent="0" lvl="0" marL="0" rtl="0" algn="ctr">
              <a:lnSpc>
                <a:spcPct val="90000"/>
              </a:lnSpc>
              <a:spcBef>
                <a:spcPts val="0"/>
              </a:spcBef>
              <a:spcAft>
                <a:spcPts val="0"/>
              </a:spcAft>
              <a:buNone/>
            </a:pPr>
            <a:r>
              <a:rPr lang="es" sz="1600">
                <a:solidFill>
                  <a:schemeClr val="lt1"/>
                </a:solidFill>
                <a:latin typeface="DM Sans"/>
                <a:ea typeface="DM Sans"/>
                <a:cs typeface="DM Sans"/>
                <a:sym typeface="DM Sans"/>
              </a:rPr>
              <a:t>con ajustes por</a:t>
            </a:r>
            <a:r>
              <a:rPr b="1" lang="es" sz="1600">
                <a:solidFill>
                  <a:schemeClr val="lt1"/>
                </a:solidFill>
                <a:latin typeface="DM Sans"/>
                <a:ea typeface="DM Sans"/>
                <a:cs typeface="DM Sans"/>
                <a:sym typeface="DM Sans"/>
              </a:rPr>
              <a:t> Julio Avantt!</a:t>
            </a:r>
            <a:endParaRPr b="1" sz="1600">
              <a:solidFill>
                <a:schemeClr val="lt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16"/>
          <p:cNvSpPr txBox="1"/>
          <p:nvPr/>
        </p:nvSpPr>
        <p:spPr>
          <a:xfrm>
            <a:off x="652350" y="549238"/>
            <a:ext cx="6221400" cy="3606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s" sz="3600">
                <a:solidFill>
                  <a:schemeClr val="accent6"/>
                </a:solidFill>
                <a:latin typeface="DM Sans"/>
                <a:ea typeface="DM Sans"/>
                <a:cs typeface="DM Sans"/>
                <a:sym typeface="DM Sans"/>
              </a:rPr>
              <a:t>Denme el ok si:</a:t>
            </a:r>
            <a:endParaRPr b="1" sz="3600">
              <a:solidFill>
                <a:schemeClr val="accent6"/>
              </a:solidFill>
              <a:latin typeface="DM Sans"/>
              <a:ea typeface="DM Sans"/>
              <a:cs typeface="DM Sans"/>
              <a:sym typeface="DM Sans"/>
            </a:endParaRPr>
          </a:p>
          <a:p>
            <a:pPr indent="0" lvl="0" marL="0" rtl="0" algn="l">
              <a:lnSpc>
                <a:spcPct val="115000"/>
              </a:lnSpc>
              <a:spcBef>
                <a:spcPts val="0"/>
              </a:spcBef>
              <a:spcAft>
                <a:spcPts val="0"/>
              </a:spcAft>
              <a:buNone/>
            </a:pPr>
            <a:r>
              <a:t/>
            </a:r>
            <a:endParaRPr b="1" sz="3600">
              <a:solidFill>
                <a:schemeClr val="lt1"/>
              </a:solidFill>
              <a:latin typeface="DM Sans"/>
              <a:ea typeface="DM Sans"/>
              <a:cs typeface="DM Sans"/>
              <a:sym typeface="DM Sans"/>
            </a:endParaRPr>
          </a:p>
          <a:p>
            <a:pPr indent="-419100" lvl="0" marL="457200" rtl="0" algn="l">
              <a:lnSpc>
                <a:spcPct val="115000"/>
              </a:lnSpc>
              <a:spcBef>
                <a:spcPts val="0"/>
              </a:spcBef>
              <a:spcAft>
                <a:spcPts val="0"/>
              </a:spcAft>
              <a:buClr>
                <a:schemeClr val="lt1"/>
              </a:buClr>
              <a:buSzPts val="3000"/>
              <a:buFont typeface="DM Sans"/>
              <a:buChar char="●"/>
            </a:pPr>
            <a:r>
              <a:rPr lang="es" sz="3000">
                <a:solidFill>
                  <a:schemeClr val="lt1"/>
                </a:solidFill>
                <a:latin typeface="DM Sans"/>
                <a:ea typeface="DM Sans"/>
                <a:cs typeface="DM Sans"/>
                <a:sym typeface="DM Sans"/>
              </a:rPr>
              <a:t>Me escuchan bien.</a:t>
            </a:r>
            <a:endParaRPr sz="3000">
              <a:solidFill>
                <a:schemeClr val="lt1"/>
              </a:solidFill>
              <a:latin typeface="DM Sans"/>
              <a:ea typeface="DM Sans"/>
              <a:cs typeface="DM Sans"/>
              <a:sym typeface="DM Sans"/>
            </a:endParaRPr>
          </a:p>
          <a:p>
            <a:pPr indent="-419100" lvl="0" marL="457200" rtl="0" algn="l">
              <a:lnSpc>
                <a:spcPct val="115000"/>
              </a:lnSpc>
              <a:spcBef>
                <a:spcPts val="0"/>
              </a:spcBef>
              <a:spcAft>
                <a:spcPts val="0"/>
              </a:spcAft>
              <a:buClr>
                <a:schemeClr val="accent6"/>
              </a:buClr>
              <a:buSzPts val="3000"/>
              <a:buFont typeface="DM Sans"/>
              <a:buChar char="●"/>
            </a:pPr>
            <a:r>
              <a:rPr lang="es" sz="3000">
                <a:solidFill>
                  <a:schemeClr val="accent6"/>
                </a:solidFill>
                <a:latin typeface="DM Sans"/>
                <a:ea typeface="DM Sans"/>
                <a:cs typeface="DM Sans"/>
                <a:sym typeface="DM Sans"/>
              </a:rPr>
              <a:t>Ven las diapos en el </a:t>
            </a:r>
            <a:r>
              <a:rPr lang="es" sz="3000">
                <a:solidFill>
                  <a:schemeClr val="lt1"/>
                </a:solidFill>
                <a:latin typeface="DM Sans"/>
                <a:ea typeface="DM Sans"/>
                <a:cs typeface="DM Sans"/>
                <a:sym typeface="DM Sans"/>
              </a:rPr>
              <a:t>chat</a:t>
            </a:r>
            <a:r>
              <a:rPr lang="es" sz="3000">
                <a:solidFill>
                  <a:schemeClr val="accent6"/>
                </a:solidFill>
                <a:latin typeface="DM Sans"/>
                <a:ea typeface="DM Sans"/>
                <a:cs typeface="DM Sans"/>
                <a:sym typeface="DM Sans"/>
              </a:rPr>
              <a:t>.</a:t>
            </a:r>
            <a:endParaRPr sz="3000">
              <a:solidFill>
                <a:schemeClr val="accent6"/>
              </a:solidFill>
              <a:latin typeface="DM Sans"/>
              <a:ea typeface="DM Sans"/>
              <a:cs typeface="DM Sans"/>
              <a:sym typeface="DM Sans"/>
            </a:endParaRPr>
          </a:p>
          <a:p>
            <a:pPr indent="-419100" lvl="0" marL="457200" rtl="0" algn="l">
              <a:lnSpc>
                <a:spcPct val="115000"/>
              </a:lnSpc>
              <a:spcBef>
                <a:spcPts val="0"/>
              </a:spcBef>
              <a:spcAft>
                <a:spcPts val="0"/>
              </a:spcAft>
              <a:buClr>
                <a:schemeClr val="accent6"/>
              </a:buClr>
              <a:buSzPts val="3000"/>
              <a:buFont typeface="DM Sans"/>
              <a:buChar char="●"/>
            </a:pPr>
            <a:r>
              <a:rPr lang="es" sz="3000">
                <a:solidFill>
                  <a:schemeClr val="accent6"/>
                </a:solidFill>
                <a:latin typeface="DM Sans"/>
                <a:ea typeface="DM Sans"/>
                <a:cs typeface="DM Sans"/>
                <a:sym typeface="DM Sans"/>
              </a:rPr>
              <a:t>Estoy grabando.</a:t>
            </a:r>
            <a:endParaRPr sz="3000">
              <a:solidFill>
                <a:schemeClr val="accent6"/>
              </a:solidFill>
              <a:latin typeface="DM Sans"/>
              <a:ea typeface="DM Sans"/>
              <a:cs typeface="DM Sans"/>
              <a:sym typeface="DM Sans"/>
            </a:endParaRPr>
          </a:p>
          <a:p>
            <a:pPr indent="0" lvl="0" marL="0" rtl="0" algn="l">
              <a:lnSpc>
                <a:spcPct val="90000"/>
              </a:lnSpc>
              <a:spcBef>
                <a:spcPts val="0"/>
              </a:spcBef>
              <a:spcAft>
                <a:spcPts val="0"/>
              </a:spcAft>
              <a:buNone/>
            </a:pPr>
            <a:r>
              <a:t/>
            </a:r>
            <a:endParaRPr b="1" sz="4000">
              <a:solidFill>
                <a:schemeClr val="lt1"/>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7"/>
          <p:cNvSpPr txBox="1"/>
          <p:nvPr/>
        </p:nvSpPr>
        <p:spPr>
          <a:xfrm>
            <a:off x="465275" y="1602125"/>
            <a:ext cx="4730100" cy="2782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La mayoría de las aplicaciones se conectan a un conjunto de servicios que permiten la posibilidad de interactuar con </a:t>
            </a:r>
            <a:r>
              <a:rPr b="1" lang="es" sz="1350">
                <a:solidFill>
                  <a:schemeClr val="accent5"/>
                </a:solidFill>
                <a:latin typeface="DM Sans"/>
                <a:ea typeface="DM Sans"/>
                <a:cs typeface="DM Sans"/>
                <a:sym typeface="DM Sans"/>
              </a:rPr>
              <a:t>datos</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indent="0" lvl="0" marL="0" marR="0" rtl="0" algn="l">
              <a:lnSpc>
                <a:spcPct val="115000"/>
              </a:lnSpc>
              <a:spcBef>
                <a:spcPts val="0"/>
              </a:spcBef>
              <a:spcAft>
                <a:spcPts val="0"/>
              </a:spcAft>
              <a:buClr>
                <a:schemeClr val="dk1"/>
              </a:buClr>
              <a:buSzPts val="1100"/>
              <a:buFont typeface="Arial"/>
              <a:buNone/>
            </a:pPr>
            <a:r>
              <a:t/>
            </a:r>
            <a:endParaRPr sz="1350">
              <a:solidFill>
                <a:schemeClr val="dk1"/>
              </a:solidFill>
              <a:latin typeface="DM Sans"/>
              <a:ea typeface="DM Sans"/>
              <a:cs typeface="DM Sans"/>
              <a:sym typeface="DM Sans"/>
            </a:endParaRPr>
          </a:p>
          <a:p>
            <a:pPr indent="0" lvl="0" marL="0" rtl="0" algn="l">
              <a:lnSpc>
                <a:spcPct val="115000"/>
              </a:lnSpc>
              <a:spcBef>
                <a:spcPts val="0"/>
              </a:spcBef>
              <a:spcAft>
                <a:spcPts val="0"/>
              </a:spcAft>
              <a:buClr>
                <a:srgbClr val="000000"/>
              </a:buClr>
              <a:buSzPts val="1350"/>
              <a:buFont typeface="Arial"/>
              <a:buNone/>
            </a:pPr>
            <a:r>
              <a:rPr lang="es" sz="1350">
                <a:latin typeface="DM Sans"/>
                <a:ea typeface="DM Sans"/>
                <a:cs typeface="DM Sans"/>
                <a:sym typeface="DM Sans"/>
              </a:rPr>
              <a:t>El consumo y la transferencia de datos han </a:t>
            </a:r>
            <a:endParaRPr sz="1350">
              <a:latin typeface="DM Sans"/>
              <a:ea typeface="DM Sans"/>
              <a:cs typeface="DM Sans"/>
              <a:sym typeface="DM Sans"/>
            </a:endParaRPr>
          </a:p>
          <a:p>
            <a:pPr indent="0" lvl="0" marL="0" rtl="0" algn="l">
              <a:lnSpc>
                <a:spcPct val="115000"/>
              </a:lnSpc>
              <a:spcBef>
                <a:spcPts val="0"/>
              </a:spcBef>
              <a:spcAft>
                <a:spcPts val="0"/>
              </a:spcAft>
              <a:buClr>
                <a:srgbClr val="000000"/>
              </a:buClr>
              <a:buSzPts val="1350"/>
              <a:buFont typeface="Arial"/>
              <a:buNone/>
            </a:pPr>
            <a:r>
              <a:rPr lang="es" sz="1350">
                <a:latin typeface="DM Sans"/>
                <a:ea typeface="DM Sans"/>
                <a:cs typeface="DM Sans"/>
                <a:sym typeface="DM Sans"/>
              </a:rPr>
              <a:t>evolucionado mucho desde la creación de la WWW.</a:t>
            </a:r>
            <a:endParaRPr sz="1350">
              <a:latin typeface="DM Sans"/>
              <a:ea typeface="DM Sans"/>
              <a:cs typeface="DM Sans"/>
              <a:sym typeface="DM Sans"/>
            </a:endParaRPr>
          </a:p>
          <a:p>
            <a:pPr indent="0" lvl="0" marL="0" rtl="0" algn="l">
              <a:lnSpc>
                <a:spcPct val="115000"/>
              </a:lnSpc>
              <a:spcBef>
                <a:spcPts val="0"/>
              </a:spcBef>
              <a:spcAft>
                <a:spcPts val="0"/>
              </a:spcAft>
              <a:buClr>
                <a:srgbClr val="000000"/>
              </a:buClr>
              <a:buSzPts val="1350"/>
              <a:buFont typeface="Arial"/>
              <a:buNone/>
            </a:pPr>
            <a:r>
              <a:t/>
            </a:r>
            <a:endParaRPr sz="1350">
              <a:latin typeface="DM Sans"/>
              <a:ea typeface="DM Sans"/>
              <a:cs typeface="DM Sans"/>
              <a:sym typeface="DM Sans"/>
            </a:endParaRPr>
          </a:p>
          <a:p>
            <a:pPr indent="0" lvl="0" marL="0" rtl="0" algn="l">
              <a:lnSpc>
                <a:spcPct val="115000"/>
              </a:lnSpc>
              <a:spcBef>
                <a:spcPts val="0"/>
              </a:spcBef>
              <a:spcAft>
                <a:spcPts val="0"/>
              </a:spcAft>
              <a:buClr>
                <a:srgbClr val="000000"/>
              </a:buClr>
              <a:buSzPts val="1350"/>
              <a:buFont typeface="Arial"/>
              <a:buNone/>
            </a:pPr>
            <a:r>
              <a:rPr lang="es" sz="1350">
                <a:latin typeface="DM Sans"/>
                <a:ea typeface="DM Sans"/>
                <a:cs typeface="DM Sans"/>
                <a:sym typeface="DM Sans"/>
              </a:rPr>
              <a:t>Esto fue facilitado por la innovación tecnológica y</a:t>
            </a:r>
            <a:endParaRPr sz="1350">
              <a:latin typeface="DM Sans"/>
              <a:ea typeface="DM Sans"/>
              <a:cs typeface="DM Sans"/>
              <a:sym typeface="DM Sans"/>
            </a:endParaRPr>
          </a:p>
          <a:p>
            <a:pPr indent="0" lvl="0" marL="0" rtl="0" algn="l">
              <a:lnSpc>
                <a:spcPct val="115000"/>
              </a:lnSpc>
              <a:spcBef>
                <a:spcPts val="0"/>
              </a:spcBef>
              <a:spcAft>
                <a:spcPts val="0"/>
              </a:spcAft>
              <a:buClr>
                <a:srgbClr val="000000"/>
              </a:buClr>
              <a:buSzPts val="1350"/>
              <a:buFont typeface="Arial"/>
              <a:buNone/>
            </a:pPr>
            <a:r>
              <a:rPr lang="es" sz="1350">
                <a:latin typeface="DM Sans"/>
                <a:ea typeface="DM Sans"/>
                <a:cs typeface="DM Sans"/>
                <a:sym typeface="DM Sans"/>
              </a:rPr>
              <a:t>la inversión en infraestructura.</a:t>
            </a:r>
            <a:endParaRPr sz="1350">
              <a:latin typeface="DM Sans"/>
              <a:ea typeface="DM Sans"/>
              <a:cs typeface="DM Sans"/>
              <a:sym typeface="DM Sans"/>
            </a:endParaRPr>
          </a:p>
          <a:p>
            <a:pPr indent="0" lvl="0" marL="0" rtl="0" algn="l">
              <a:lnSpc>
                <a:spcPct val="115000"/>
              </a:lnSpc>
              <a:spcBef>
                <a:spcPts val="0"/>
              </a:spcBef>
              <a:spcAft>
                <a:spcPts val="0"/>
              </a:spcAft>
              <a:buNone/>
            </a:pPr>
            <a:r>
              <a:t/>
            </a:r>
            <a:endParaRPr sz="1350">
              <a:latin typeface="DM Sans"/>
              <a:ea typeface="DM Sans"/>
              <a:cs typeface="DM Sans"/>
              <a:sym typeface="DM Sans"/>
            </a:endParaRPr>
          </a:p>
          <a:p>
            <a:pPr indent="0" lvl="0" marL="0" marR="0" rtl="0" algn="l">
              <a:lnSpc>
                <a:spcPct val="115000"/>
              </a:lnSpc>
              <a:spcBef>
                <a:spcPts val="0"/>
              </a:spcBef>
              <a:spcAft>
                <a:spcPts val="0"/>
              </a:spcAft>
              <a:buClr>
                <a:schemeClr val="dk1"/>
              </a:buClr>
              <a:buSzPts val="1100"/>
              <a:buFont typeface="Arial"/>
              <a:buNone/>
            </a:pPr>
            <a:r>
              <a:t/>
            </a:r>
            <a:endParaRPr sz="1350">
              <a:solidFill>
                <a:schemeClr val="dk1"/>
              </a:solidFill>
              <a:latin typeface="DM Sans"/>
              <a:ea typeface="DM Sans"/>
              <a:cs typeface="DM Sans"/>
              <a:sym typeface="DM Sans"/>
            </a:endParaRPr>
          </a:p>
        </p:txBody>
      </p:sp>
      <p:pic>
        <p:nvPicPr>
          <p:cNvPr id="55" name="Google Shape;55;p17"/>
          <p:cNvPicPr preferRelativeResize="0"/>
          <p:nvPr/>
        </p:nvPicPr>
        <p:blipFill>
          <a:blip r:embed="rId3">
            <a:alphaModFix/>
          </a:blip>
          <a:stretch>
            <a:fillRect/>
          </a:stretch>
        </p:blipFill>
        <p:spPr>
          <a:xfrm>
            <a:off x="5724700" y="1921775"/>
            <a:ext cx="2887550" cy="1273875"/>
          </a:xfrm>
          <a:prstGeom prst="rect">
            <a:avLst/>
          </a:prstGeom>
          <a:noFill/>
          <a:ln>
            <a:noFill/>
          </a:ln>
        </p:spPr>
      </p:pic>
      <p:sp>
        <p:nvSpPr>
          <p:cNvPr id="56" name="Google Shape;56;p17"/>
          <p:cNvSpPr txBox="1"/>
          <p:nvPr/>
        </p:nvSpPr>
        <p:spPr>
          <a:xfrm>
            <a:off x="465275" y="517475"/>
            <a:ext cx="8141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4000"/>
              <a:buFont typeface="Arial"/>
              <a:buNone/>
            </a:pPr>
            <a:r>
              <a:rPr b="1" lang="es" sz="4000">
                <a:solidFill>
                  <a:schemeClr val="dk1"/>
                </a:solidFill>
                <a:latin typeface="DM Sans"/>
                <a:ea typeface="DM Sans"/>
                <a:cs typeface="DM Sans"/>
                <a:sym typeface="DM Sans"/>
              </a:rPr>
              <a:t>Datos</a:t>
            </a:r>
            <a:endParaRPr b="1" i="0" sz="4000" u="none" cap="none" strike="noStrike">
              <a:solidFill>
                <a:schemeClr val="dk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8"/>
          <p:cNvSpPr txBox="1"/>
          <p:nvPr/>
        </p:nvSpPr>
        <p:spPr>
          <a:xfrm>
            <a:off x="185400" y="140425"/>
            <a:ext cx="8141100" cy="6558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4000"/>
              <a:buFont typeface="Arial"/>
              <a:buNone/>
            </a:pPr>
            <a:r>
              <a:rPr b="1" lang="es" sz="3400">
                <a:solidFill>
                  <a:schemeClr val="dk1"/>
                </a:solidFill>
                <a:latin typeface="DM Sans"/>
                <a:ea typeface="DM Sans"/>
                <a:cs typeface="DM Sans"/>
                <a:sym typeface="DM Sans"/>
              </a:rPr>
              <a:t>Infraestructura de Internet</a:t>
            </a:r>
            <a:endParaRPr b="1" i="0" sz="3400" u="none" cap="none" strike="noStrike">
              <a:solidFill>
                <a:schemeClr val="dk1"/>
              </a:solidFill>
              <a:latin typeface="DM Sans"/>
              <a:ea typeface="DM Sans"/>
              <a:cs typeface="DM Sans"/>
              <a:sym typeface="DM Sans"/>
            </a:endParaRPr>
          </a:p>
        </p:txBody>
      </p:sp>
      <p:pic>
        <p:nvPicPr>
          <p:cNvPr id="62" name="Google Shape;62;p18"/>
          <p:cNvPicPr preferRelativeResize="0"/>
          <p:nvPr/>
        </p:nvPicPr>
        <p:blipFill>
          <a:blip r:embed="rId3">
            <a:alphaModFix/>
          </a:blip>
          <a:stretch>
            <a:fillRect/>
          </a:stretch>
        </p:blipFill>
        <p:spPr>
          <a:xfrm>
            <a:off x="372475" y="1114175"/>
            <a:ext cx="7639523" cy="33986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pic>
        <p:nvPicPr>
          <p:cNvPr id="67" name="Google Shape;67;p19"/>
          <p:cNvPicPr preferRelativeResize="0"/>
          <p:nvPr/>
        </p:nvPicPr>
        <p:blipFill>
          <a:blip r:embed="rId3">
            <a:alphaModFix/>
          </a:blip>
          <a:stretch>
            <a:fillRect/>
          </a:stretch>
        </p:blipFill>
        <p:spPr>
          <a:xfrm>
            <a:off x="152400" y="152400"/>
            <a:ext cx="7265315" cy="4838700"/>
          </a:xfrm>
          <a:prstGeom prst="rect">
            <a:avLst/>
          </a:prstGeom>
          <a:noFill/>
          <a:ln>
            <a:noFill/>
          </a:ln>
        </p:spPr>
      </p:pic>
      <p:pic>
        <p:nvPicPr>
          <p:cNvPr id="68" name="Google Shape;68;p19"/>
          <p:cNvPicPr preferRelativeResize="0"/>
          <p:nvPr/>
        </p:nvPicPr>
        <p:blipFill>
          <a:blip r:embed="rId4">
            <a:alphaModFix/>
          </a:blip>
          <a:stretch>
            <a:fillRect/>
          </a:stretch>
        </p:blipFill>
        <p:spPr>
          <a:xfrm>
            <a:off x="888925" y="35376"/>
            <a:ext cx="5318750" cy="52028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20"/>
          <p:cNvSpPr txBox="1"/>
          <p:nvPr/>
        </p:nvSpPr>
        <p:spPr>
          <a:xfrm>
            <a:off x="476250" y="1111125"/>
            <a:ext cx="3834600" cy="3977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Sólo hay dos protagonistas:</a:t>
            </a:r>
            <a:endParaRPr sz="1350">
              <a:latin typeface="DM Sans"/>
              <a:ea typeface="DM Sans"/>
              <a:cs typeface="DM Sans"/>
              <a:sym typeface="DM Sans"/>
            </a:endParaRPr>
          </a:p>
          <a:p>
            <a:pPr indent="0" lvl="0" marL="0" marR="0" rtl="0" algn="l">
              <a:lnSpc>
                <a:spcPct val="115000"/>
              </a:lnSpc>
              <a:spcBef>
                <a:spcPts val="0"/>
              </a:spcBef>
              <a:spcAft>
                <a:spcPts val="0"/>
              </a:spcAft>
              <a:buClr>
                <a:schemeClr val="dk1"/>
              </a:buClr>
              <a:buSzPts val="1100"/>
              <a:buFont typeface="Arial"/>
              <a:buNone/>
            </a:pPr>
            <a:r>
              <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Cliente (consumidor)</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Servidor (proveedor)</a:t>
            </a:r>
            <a:endParaRPr sz="1350">
              <a:latin typeface="DM Sans"/>
              <a:ea typeface="DM Sans"/>
              <a:cs typeface="DM Sans"/>
              <a:sym typeface="DM Sans"/>
            </a:endParaRPr>
          </a:p>
          <a:p>
            <a:pPr indent="0" lvl="0" marL="0" marR="0" rtl="0" algn="l">
              <a:lnSpc>
                <a:spcPct val="115000"/>
              </a:lnSpc>
              <a:spcBef>
                <a:spcPts val="0"/>
              </a:spcBef>
              <a:spcAft>
                <a:spcPts val="0"/>
              </a:spcAft>
              <a:buNone/>
            </a:pPr>
            <a:r>
              <a:t/>
            </a:r>
            <a:endParaRPr sz="1350">
              <a:latin typeface="DM Sans"/>
              <a:ea typeface="DM Sans"/>
              <a:cs typeface="DM Sans"/>
              <a:sym typeface="DM Sans"/>
            </a:endParaRPr>
          </a:p>
          <a:p>
            <a:pPr indent="0" lvl="0" marL="0" marR="0" rtl="0" algn="l">
              <a:lnSpc>
                <a:spcPct val="115000"/>
              </a:lnSpc>
              <a:spcBef>
                <a:spcPts val="0"/>
              </a:spcBef>
              <a:spcAft>
                <a:spcPts val="0"/>
              </a:spcAft>
              <a:buNone/>
            </a:pPr>
            <a:r>
              <a:rPr lang="es" sz="1350">
                <a:latin typeface="DM Sans"/>
                <a:ea typeface="DM Sans"/>
                <a:cs typeface="DM Sans"/>
                <a:sym typeface="DM Sans"/>
              </a:rPr>
              <a:t>Con cliente y servidor no nos referimos sólo al hardware sino también el software.</a:t>
            </a:r>
            <a:endParaRPr sz="1350">
              <a:latin typeface="DM Sans"/>
              <a:ea typeface="DM Sans"/>
              <a:cs typeface="DM Sans"/>
              <a:sym typeface="DM Sans"/>
            </a:endParaRPr>
          </a:p>
          <a:p>
            <a:pPr indent="0" lvl="0" marL="0" marR="0" rtl="0" algn="l">
              <a:lnSpc>
                <a:spcPct val="115000"/>
              </a:lnSpc>
              <a:spcBef>
                <a:spcPts val="0"/>
              </a:spcBef>
              <a:spcAft>
                <a:spcPts val="0"/>
              </a:spcAft>
              <a:buNone/>
            </a:pPr>
            <a:r>
              <a:t/>
            </a:r>
            <a:endParaRPr sz="1350">
              <a:latin typeface="DM Sans"/>
              <a:ea typeface="DM Sans"/>
              <a:cs typeface="DM Sans"/>
              <a:sym typeface="DM Sans"/>
            </a:endParaRPr>
          </a:p>
          <a:p>
            <a:pPr indent="0" lvl="0" marL="0" rtl="0" algn="l">
              <a:lnSpc>
                <a:spcPct val="115000"/>
              </a:lnSpc>
              <a:spcBef>
                <a:spcPts val="0"/>
              </a:spcBef>
              <a:spcAft>
                <a:spcPts val="0"/>
              </a:spcAft>
              <a:buNone/>
            </a:pPr>
            <a:r>
              <a:rPr lang="es" sz="1350">
                <a:latin typeface="DM Sans"/>
                <a:ea typeface="DM Sans"/>
                <a:cs typeface="DM Sans"/>
                <a:sym typeface="DM Sans"/>
              </a:rPr>
              <a:t>Este modelo establece que los distintos dispositivos </a:t>
            </a:r>
            <a:r>
              <a:rPr lang="es" sz="1350">
                <a:highlight>
                  <a:schemeClr val="accent6"/>
                </a:highlight>
                <a:latin typeface="DM Sans"/>
                <a:ea typeface="DM Sans"/>
                <a:cs typeface="DM Sans"/>
                <a:sym typeface="DM Sans"/>
              </a:rPr>
              <a:t>se identifican entre ellos</a:t>
            </a:r>
            <a:r>
              <a:rPr lang="es" sz="1350">
                <a:latin typeface="DM Sans"/>
                <a:ea typeface="DM Sans"/>
                <a:cs typeface="DM Sans"/>
                <a:sym typeface="DM Sans"/>
              </a:rPr>
              <a:t>, y acuerdan una </a:t>
            </a:r>
            <a:r>
              <a:rPr lang="es" sz="1350">
                <a:highlight>
                  <a:schemeClr val="accent6"/>
                </a:highlight>
                <a:latin typeface="DM Sans"/>
                <a:ea typeface="DM Sans"/>
                <a:cs typeface="DM Sans"/>
                <a:sym typeface="DM Sans"/>
              </a:rPr>
              <a:t>manera de transferir</a:t>
            </a:r>
            <a:r>
              <a:rPr lang="es" sz="1350">
                <a:latin typeface="DM Sans"/>
                <a:ea typeface="DM Sans"/>
                <a:cs typeface="DM Sans"/>
                <a:sym typeface="DM Sans"/>
              </a:rPr>
              <a:t> la información.</a:t>
            </a:r>
            <a:endParaRPr sz="1350">
              <a:latin typeface="DM Sans"/>
              <a:ea typeface="DM Sans"/>
              <a:cs typeface="DM Sans"/>
              <a:sym typeface="DM Sans"/>
            </a:endParaRPr>
          </a:p>
          <a:p>
            <a:pPr indent="0" lvl="0" marL="0" rtl="0" algn="l">
              <a:lnSpc>
                <a:spcPct val="115000"/>
              </a:lnSpc>
              <a:spcBef>
                <a:spcPts val="0"/>
              </a:spcBef>
              <a:spcAft>
                <a:spcPts val="0"/>
              </a:spcAft>
              <a:buNone/>
            </a:pPr>
            <a:r>
              <a:t/>
            </a:r>
            <a:endParaRPr sz="1350">
              <a:latin typeface="DM Sans"/>
              <a:ea typeface="DM Sans"/>
              <a:cs typeface="DM Sans"/>
              <a:sym typeface="DM Sans"/>
            </a:endParaRPr>
          </a:p>
          <a:p>
            <a:pPr indent="0" lvl="0" marL="0" rtl="0" algn="l">
              <a:lnSpc>
                <a:spcPct val="115000"/>
              </a:lnSpc>
              <a:spcBef>
                <a:spcPts val="0"/>
              </a:spcBef>
              <a:spcAft>
                <a:spcPts val="0"/>
              </a:spcAft>
              <a:buClr>
                <a:schemeClr val="dk1"/>
              </a:buClr>
              <a:buSzPts val="1100"/>
              <a:buFont typeface="Arial"/>
              <a:buNone/>
            </a:pPr>
            <a:r>
              <a:rPr lang="es" sz="1350">
                <a:solidFill>
                  <a:schemeClr val="dk1"/>
                </a:solidFill>
                <a:highlight>
                  <a:schemeClr val="accent6"/>
                </a:highlight>
                <a:latin typeface="DM Sans"/>
                <a:ea typeface="DM Sans"/>
                <a:cs typeface="DM Sans"/>
                <a:sym typeface="DM Sans"/>
              </a:rPr>
              <a:t>¿Quién es el que inicia la operación y cómo sincronizan?</a:t>
            </a:r>
            <a:endParaRPr sz="1350">
              <a:latin typeface="DM Sans"/>
              <a:ea typeface="DM Sans"/>
              <a:cs typeface="DM Sans"/>
              <a:sym typeface="DM Sans"/>
            </a:endParaRPr>
          </a:p>
          <a:p>
            <a:pPr indent="0" lvl="0" marL="0" marR="0" rtl="0" algn="l">
              <a:lnSpc>
                <a:spcPct val="115000"/>
              </a:lnSpc>
              <a:spcBef>
                <a:spcPts val="0"/>
              </a:spcBef>
              <a:spcAft>
                <a:spcPts val="0"/>
              </a:spcAft>
              <a:buNone/>
            </a:pPr>
            <a:r>
              <a:t/>
            </a:r>
            <a:endParaRPr sz="1350">
              <a:latin typeface="DM Sans"/>
              <a:ea typeface="DM Sans"/>
              <a:cs typeface="DM Sans"/>
              <a:sym typeface="DM Sans"/>
            </a:endParaRPr>
          </a:p>
        </p:txBody>
      </p:sp>
      <p:pic>
        <p:nvPicPr>
          <p:cNvPr id="74" name="Google Shape;74;p20"/>
          <p:cNvPicPr preferRelativeResize="0"/>
          <p:nvPr/>
        </p:nvPicPr>
        <p:blipFill rotWithShape="1">
          <a:blip r:embed="rId3">
            <a:alphaModFix/>
          </a:blip>
          <a:srcRect b="0" l="0" r="0" t="9321"/>
          <a:stretch/>
        </p:blipFill>
        <p:spPr>
          <a:xfrm>
            <a:off x="4698700" y="1707775"/>
            <a:ext cx="3229199" cy="2594425"/>
          </a:xfrm>
          <a:prstGeom prst="rect">
            <a:avLst/>
          </a:prstGeom>
          <a:noFill/>
          <a:ln>
            <a:noFill/>
          </a:ln>
        </p:spPr>
      </p:pic>
      <p:sp>
        <p:nvSpPr>
          <p:cNvPr id="75" name="Google Shape;75;p20"/>
          <p:cNvSpPr txBox="1"/>
          <p:nvPr/>
        </p:nvSpPr>
        <p:spPr>
          <a:xfrm>
            <a:off x="455317" y="325875"/>
            <a:ext cx="6221400" cy="738900"/>
          </a:xfrm>
          <a:prstGeom prst="rect">
            <a:avLst/>
          </a:prstGeom>
          <a:noFill/>
          <a:ln>
            <a:noFill/>
          </a:ln>
        </p:spPr>
        <p:txBody>
          <a:bodyPr anchorCtr="0" anchor="t" bIns="91425" lIns="91425" spcFirstLastPara="1" rIns="91425" wrap="square" tIns="91425">
            <a:spAutoFit/>
          </a:bodyPr>
          <a:lstStyle/>
          <a:p>
            <a:pPr indent="0" lvl="0" marL="0" marR="0" rtl="0" algn="ctr">
              <a:lnSpc>
                <a:spcPct val="90000"/>
              </a:lnSpc>
              <a:spcBef>
                <a:spcPts val="0"/>
              </a:spcBef>
              <a:spcAft>
                <a:spcPts val="0"/>
              </a:spcAft>
              <a:buClr>
                <a:srgbClr val="000000"/>
              </a:buClr>
              <a:buSzPts val="4000"/>
              <a:buFont typeface="Arial"/>
              <a:buNone/>
            </a:pPr>
            <a:r>
              <a:rPr b="1" lang="es" sz="4000">
                <a:solidFill>
                  <a:schemeClr val="dk1"/>
                </a:solidFill>
                <a:latin typeface="DM Sans"/>
                <a:ea typeface="DM Sans"/>
                <a:cs typeface="DM Sans"/>
                <a:sym typeface="DM Sans"/>
              </a:rPr>
              <a:t>Modelo cliente-servidor</a:t>
            </a:r>
            <a:endParaRPr b="1" i="0" sz="4000" u="none" cap="none" strike="noStrike">
              <a:solidFill>
                <a:schemeClr val="dk1"/>
              </a:solidFill>
              <a:latin typeface="DM Sans"/>
              <a:ea typeface="DM Sans"/>
              <a:cs typeface="DM Sans"/>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21"/>
          <p:cNvSpPr txBox="1"/>
          <p:nvPr/>
        </p:nvSpPr>
        <p:spPr>
          <a:xfrm>
            <a:off x="511725" y="1535025"/>
            <a:ext cx="4183500" cy="2532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lang="es" sz="1350">
                <a:latin typeface="DM Sans"/>
                <a:ea typeface="DM Sans"/>
                <a:cs typeface="DM Sans"/>
                <a:sym typeface="DM Sans"/>
              </a:rPr>
              <a:t>El servidor inicia:</a:t>
            </a:r>
            <a:endParaRPr sz="1350">
              <a:latin typeface="DM Sans"/>
              <a:ea typeface="DM Sans"/>
              <a:cs typeface="DM Sans"/>
              <a:sym typeface="DM Sans"/>
            </a:endParaRPr>
          </a:p>
          <a:p>
            <a:pPr indent="0" lvl="0" marL="0" marR="0" rtl="0" algn="l">
              <a:lnSpc>
                <a:spcPct val="100000"/>
              </a:lnSpc>
              <a:spcBef>
                <a:spcPts val="0"/>
              </a:spcBef>
              <a:spcAft>
                <a:spcPts val="0"/>
              </a:spcAft>
              <a:buClr>
                <a:schemeClr val="dk1"/>
              </a:buClr>
              <a:buSzPts val="1100"/>
              <a:buFont typeface="Arial"/>
              <a:buNone/>
            </a:pPr>
            <a:r>
              <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Cliente se suscribe.</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El servidor elige el momento del inicio de la transferencia, y la envía a un servicio.</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El servicio se la provee al cliente.</a:t>
            </a:r>
            <a:endParaRPr sz="1350">
              <a:latin typeface="DM Sans"/>
              <a:ea typeface="DM Sans"/>
              <a:cs typeface="DM Sans"/>
              <a:sym typeface="DM Sans"/>
            </a:endParaRPr>
          </a:p>
          <a:p>
            <a:pPr indent="0" lvl="0" marL="0" marR="0" rtl="0" algn="l">
              <a:lnSpc>
                <a:spcPct val="100000"/>
              </a:lnSpc>
              <a:spcBef>
                <a:spcPts val="0"/>
              </a:spcBef>
              <a:spcAft>
                <a:spcPts val="0"/>
              </a:spcAft>
              <a:buNone/>
            </a:pPr>
            <a:r>
              <a:t/>
            </a:r>
            <a:endParaRPr sz="1350">
              <a:latin typeface="DM Sans"/>
              <a:ea typeface="DM Sans"/>
              <a:cs typeface="DM Sans"/>
              <a:sym typeface="DM Sans"/>
            </a:endParaRPr>
          </a:p>
          <a:p>
            <a:pPr indent="0" lvl="0" marL="0" marR="0" rtl="0" algn="l">
              <a:lnSpc>
                <a:spcPct val="100000"/>
              </a:lnSpc>
              <a:spcBef>
                <a:spcPts val="0"/>
              </a:spcBef>
              <a:spcAft>
                <a:spcPts val="0"/>
              </a:spcAft>
              <a:buNone/>
            </a:pPr>
            <a:r>
              <a:t/>
            </a:r>
            <a:endParaRPr sz="1350">
              <a:latin typeface="DM Sans"/>
              <a:ea typeface="DM Sans"/>
              <a:cs typeface="DM Sans"/>
              <a:sym typeface="DM Sans"/>
            </a:endParaRPr>
          </a:p>
          <a:p>
            <a:pPr indent="0" lvl="0" marL="0" rtl="0" algn="l">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Push genera </a:t>
            </a:r>
            <a:r>
              <a:rPr lang="es" sz="1350">
                <a:solidFill>
                  <a:schemeClr val="dk1"/>
                </a:solidFill>
                <a:highlight>
                  <a:schemeClr val="accent6"/>
                </a:highlight>
                <a:latin typeface="DM Sans"/>
                <a:ea typeface="DM Sans"/>
                <a:cs typeface="DM Sans"/>
                <a:sym typeface="DM Sans"/>
              </a:rPr>
              <a:t>engagement</a:t>
            </a:r>
            <a:r>
              <a:rPr lang="es" sz="1350">
                <a:solidFill>
                  <a:schemeClr val="dk1"/>
                </a:solidFill>
                <a:latin typeface="DM Sans"/>
                <a:ea typeface="DM Sans"/>
                <a:cs typeface="DM Sans"/>
                <a:sym typeface="DM Sans"/>
              </a:rPr>
              <a:t>, que los usuarios recuerden que la app existe, en el </a:t>
            </a:r>
            <a:r>
              <a:rPr lang="es" sz="1350">
                <a:solidFill>
                  <a:schemeClr val="dk1"/>
                </a:solidFill>
                <a:highlight>
                  <a:schemeClr val="accent6"/>
                </a:highlight>
                <a:latin typeface="DM Sans"/>
                <a:ea typeface="DM Sans"/>
                <a:cs typeface="DM Sans"/>
                <a:sym typeface="DM Sans"/>
              </a:rPr>
              <a:t>momento</a:t>
            </a:r>
            <a:r>
              <a:rPr lang="es" sz="1350">
                <a:solidFill>
                  <a:schemeClr val="dk1"/>
                </a:solidFill>
                <a:latin typeface="DM Sans"/>
                <a:ea typeface="DM Sans"/>
                <a:cs typeface="DM Sans"/>
                <a:sym typeface="DM Sans"/>
              </a:rPr>
              <a:t> en el que el servidor considere </a:t>
            </a:r>
            <a:r>
              <a:rPr lang="es" sz="1350">
                <a:solidFill>
                  <a:schemeClr val="dk1"/>
                </a:solidFill>
                <a:highlight>
                  <a:schemeClr val="accent6"/>
                </a:highlight>
                <a:latin typeface="DM Sans"/>
                <a:ea typeface="DM Sans"/>
                <a:cs typeface="DM Sans"/>
                <a:sym typeface="DM Sans"/>
              </a:rPr>
              <a:t>oportuno</a:t>
            </a:r>
            <a:r>
              <a:rPr lang="es" sz="1350">
                <a:solidFill>
                  <a:schemeClr val="dk1"/>
                </a:solidFill>
                <a:latin typeface="DM Sans"/>
                <a:ea typeface="DM Sans"/>
                <a:cs typeface="DM Sans"/>
                <a:sym typeface="DM Sans"/>
              </a:rPr>
              <a:t>.</a:t>
            </a:r>
            <a:endParaRPr sz="1350">
              <a:latin typeface="DM Sans"/>
              <a:ea typeface="DM Sans"/>
              <a:cs typeface="DM Sans"/>
              <a:sym typeface="DM Sans"/>
            </a:endParaRPr>
          </a:p>
        </p:txBody>
      </p:sp>
      <p:pic>
        <p:nvPicPr>
          <p:cNvPr id="81" name="Google Shape;81;p21"/>
          <p:cNvPicPr preferRelativeResize="0"/>
          <p:nvPr/>
        </p:nvPicPr>
        <p:blipFill rotWithShape="1">
          <a:blip r:embed="rId3">
            <a:alphaModFix/>
          </a:blip>
          <a:srcRect b="7943" l="18573" r="21141" t="5520"/>
          <a:stretch/>
        </p:blipFill>
        <p:spPr>
          <a:xfrm>
            <a:off x="5154050" y="1356825"/>
            <a:ext cx="3419545" cy="2810199"/>
          </a:xfrm>
          <a:prstGeom prst="rect">
            <a:avLst/>
          </a:prstGeom>
          <a:noFill/>
          <a:ln>
            <a:noFill/>
          </a:ln>
        </p:spPr>
      </p:pic>
      <p:sp>
        <p:nvSpPr>
          <p:cNvPr id="82" name="Google Shape;82;p21"/>
          <p:cNvSpPr txBox="1"/>
          <p:nvPr/>
        </p:nvSpPr>
        <p:spPr>
          <a:xfrm>
            <a:off x="488474" y="362500"/>
            <a:ext cx="62214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4000"/>
              <a:buFont typeface="Arial"/>
              <a:buNone/>
            </a:pPr>
            <a:r>
              <a:rPr b="1" lang="es" sz="4000">
                <a:solidFill>
                  <a:schemeClr val="dk1"/>
                </a:solidFill>
                <a:latin typeface="DM Sans"/>
                <a:ea typeface="DM Sans"/>
                <a:cs typeface="DM Sans"/>
                <a:sym typeface="DM Sans"/>
              </a:rPr>
              <a:t>Push notifications</a:t>
            </a:r>
            <a:endParaRPr b="1" i="0" sz="4000" u="none" cap="none" strike="noStrike">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22"/>
          <p:cNvSpPr txBox="1"/>
          <p:nvPr/>
        </p:nvSpPr>
        <p:spPr>
          <a:xfrm>
            <a:off x="1404863" y="1941375"/>
            <a:ext cx="6221400" cy="1293000"/>
          </a:xfrm>
          <a:prstGeom prst="rect">
            <a:avLst/>
          </a:prstGeom>
          <a:noFill/>
          <a:ln>
            <a:noFill/>
          </a:ln>
        </p:spPr>
        <p:txBody>
          <a:bodyPr anchorCtr="0" anchor="t" bIns="91425" lIns="91425" spcFirstLastPara="1" rIns="91425" wrap="square" tIns="91425">
            <a:spAutoFit/>
          </a:bodyPr>
          <a:lstStyle/>
          <a:p>
            <a:pPr indent="0" lvl="0" marL="0" marR="0" rtl="0" algn="ctr">
              <a:lnSpc>
                <a:spcPct val="90000"/>
              </a:lnSpc>
              <a:spcBef>
                <a:spcPts val="0"/>
              </a:spcBef>
              <a:spcAft>
                <a:spcPts val="0"/>
              </a:spcAft>
              <a:buClr>
                <a:schemeClr val="dk1"/>
              </a:buClr>
              <a:buSzPts val="1100"/>
              <a:buFont typeface="Arial"/>
              <a:buNone/>
            </a:pPr>
            <a:r>
              <a:rPr b="1" lang="es" sz="4000">
                <a:solidFill>
                  <a:schemeClr val="lt1"/>
                </a:solidFill>
                <a:latin typeface="DM Sans"/>
                <a:ea typeface="DM Sans"/>
                <a:cs typeface="DM Sans"/>
                <a:sym typeface="DM Sans"/>
              </a:rPr>
              <a:t>PETICIONES (REQUESTS) VIA HTTP/S</a:t>
            </a:r>
            <a:endParaRPr b="1" sz="4000">
              <a:solidFill>
                <a:schemeClr val="lt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23"/>
          <p:cNvSpPr txBox="1"/>
          <p:nvPr/>
        </p:nvSpPr>
        <p:spPr>
          <a:xfrm>
            <a:off x="635400" y="1939050"/>
            <a:ext cx="7873200" cy="11268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s" sz="3400">
                <a:solidFill>
                  <a:schemeClr val="dk1"/>
                </a:solidFill>
                <a:latin typeface="DM Sans"/>
                <a:ea typeface="DM Sans"/>
                <a:cs typeface="DM Sans"/>
                <a:sym typeface="DM Sans"/>
              </a:rPr>
              <a:t>Instalar Postman </a:t>
            </a:r>
            <a:endParaRPr b="1" sz="3400">
              <a:solidFill>
                <a:schemeClr val="dk1"/>
              </a:solidFill>
              <a:latin typeface="DM Sans"/>
              <a:ea typeface="DM Sans"/>
              <a:cs typeface="DM Sans"/>
              <a:sym typeface="DM Sans"/>
            </a:endParaRPr>
          </a:p>
          <a:p>
            <a:pPr indent="0" lvl="0" marL="0" rtl="0" algn="ctr">
              <a:lnSpc>
                <a:spcPct val="90000"/>
              </a:lnSpc>
              <a:spcBef>
                <a:spcPts val="0"/>
              </a:spcBef>
              <a:spcAft>
                <a:spcPts val="0"/>
              </a:spcAft>
              <a:buNone/>
            </a:pPr>
            <a:r>
              <a:rPr b="1" lang="es" sz="3400">
                <a:solidFill>
                  <a:schemeClr val="dk1"/>
                </a:solidFill>
                <a:latin typeface="DM Sans"/>
                <a:ea typeface="DM Sans"/>
                <a:cs typeface="DM Sans"/>
                <a:sym typeface="DM Sans"/>
              </a:rPr>
              <a:t>o Thunder Client</a:t>
            </a:r>
            <a:endParaRPr b="1" sz="3400">
              <a:solidFill>
                <a:schemeClr val="dk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24"/>
          <p:cNvSpPr txBox="1"/>
          <p:nvPr/>
        </p:nvSpPr>
        <p:spPr>
          <a:xfrm>
            <a:off x="457725" y="1071050"/>
            <a:ext cx="59598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4000"/>
              <a:buFont typeface="Arial"/>
              <a:buNone/>
            </a:pPr>
            <a:r>
              <a:rPr b="1" lang="es" sz="4000">
                <a:solidFill>
                  <a:schemeClr val="dk1"/>
                </a:solidFill>
                <a:latin typeface="DM Sans"/>
                <a:ea typeface="DM Sans"/>
                <a:cs typeface="DM Sans"/>
                <a:sym typeface="DM Sans"/>
              </a:rPr>
              <a:t>REQUESTS VIA HTTP/S</a:t>
            </a:r>
            <a:endParaRPr b="1" i="0" sz="4000" u="none" cap="none" strike="noStrike">
              <a:solidFill>
                <a:schemeClr val="dk1"/>
              </a:solidFill>
              <a:latin typeface="DM Sans"/>
              <a:ea typeface="DM Sans"/>
              <a:cs typeface="DM Sans"/>
              <a:sym typeface="DM Sans"/>
            </a:endParaRPr>
          </a:p>
        </p:txBody>
      </p:sp>
      <p:sp>
        <p:nvSpPr>
          <p:cNvPr id="98" name="Google Shape;98;p24"/>
          <p:cNvSpPr txBox="1"/>
          <p:nvPr/>
        </p:nvSpPr>
        <p:spPr>
          <a:xfrm>
            <a:off x="457725" y="2086975"/>
            <a:ext cx="4730100" cy="2304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Permiten realizar una solicitud a un servidor, y nos permiten establecer un protocolo de transferencia definido por:</a:t>
            </a:r>
            <a:endParaRPr sz="1350">
              <a:latin typeface="DM Sans"/>
              <a:ea typeface="DM Sans"/>
              <a:cs typeface="DM Sans"/>
              <a:sym typeface="DM Sans"/>
            </a:endParaRPr>
          </a:p>
          <a:p>
            <a:pPr indent="0" lvl="0" marL="0" marR="0" rtl="0" algn="l">
              <a:lnSpc>
                <a:spcPct val="115000"/>
              </a:lnSpc>
              <a:spcBef>
                <a:spcPts val="0"/>
              </a:spcBef>
              <a:spcAft>
                <a:spcPts val="0"/>
              </a:spcAft>
              <a:buClr>
                <a:schemeClr val="dk1"/>
              </a:buClr>
              <a:buSzPts val="1100"/>
              <a:buFont typeface="Arial"/>
              <a:buNone/>
            </a:pPr>
            <a:r>
              <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Dirección/URL.</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Verbo (GET, POST, PUT, DELETE +).</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Parámetros: vía query o url.</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Headers.</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Body (contenido en un POST).</a:t>
            </a:r>
            <a:endParaRPr sz="1350">
              <a:latin typeface="DM Sans"/>
              <a:ea typeface="DM Sans"/>
              <a:cs typeface="DM Sans"/>
              <a:sym typeface="DM Sans"/>
            </a:endParaRPr>
          </a:p>
        </p:txBody>
      </p:sp>
      <p:pic>
        <p:nvPicPr>
          <p:cNvPr id="99" name="Google Shape;99;p24"/>
          <p:cNvPicPr preferRelativeResize="0"/>
          <p:nvPr/>
        </p:nvPicPr>
        <p:blipFill rotWithShape="1">
          <a:blip r:embed="rId3">
            <a:alphaModFix/>
          </a:blip>
          <a:srcRect b="0" l="31411" r="37028" t="0"/>
          <a:stretch/>
        </p:blipFill>
        <p:spPr>
          <a:xfrm>
            <a:off x="5187825" y="2031100"/>
            <a:ext cx="2672350" cy="24160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5"/>
          <p:cNvSpPr txBox="1"/>
          <p:nvPr/>
        </p:nvSpPr>
        <p:spPr>
          <a:xfrm>
            <a:off x="457725" y="766250"/>
            <a:ext cx="4730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chemeClr val="dk1"/>
              </a:buClr>
              <a:buSzPts val="1100"/>
              <a:buFont typeface="Arial"/>
              <a:buNone/>
            </a:pPr>
            <a:r>
              <a:rPr b="1" lang="es" sz="4000">
                <a:solidFill>
                  <a:schemeClr val="dk1"/>
                </a:solidFill>
                <a:latin typeface="DM Sans"/>
                <a:ea typeface="DM Sans"/>
                <a:cs typeface="DM Sans"/>
                <a:sym typeface="DM Sans"/>
              </a:rPr>
              <a:t>URL Y </a:t>
            </a:r>
            <a:r>
              <a:rPr b="1" lang="es" sz="4000">
                <a:solidFill>
                  <a:schemeClr val="dk1"/>
                </a:solidFill>
                <a:latin typeface="DM Sans"/>
                <a:ea typeface="DM Sans"/>
                <a:cs typeface="DM Sans"/>
                <a:sym typeface="DM Sans"/>
              </a:rPr>
              <a:t>VERB</a:t>
            </a:r>
            <a:endParaRPr b="1" sz="4000">
              <a:solidFill>
                <a:schemeClr val="dk1"/>
              </a:solidFill>
              <a:latin typeface="DM Sans"/>
              <a:ea typeface="DM Sans"/>
              <a:cs typeface="DM Sans"/>
              <a:sym typeface="DM Sans"/>
            </a:endParaRPr>
          </a:p>
        </p:txBody>
      </p:sp>
      <p:sp>
        <p:nvSpPr>
          <p:cNvPr id="105" name="Google Shape;105;p25"/>
          <p:cNvSpPr txBox="1"/>
          <p:nvPr/>
        </p:nvSpPr>
        <p:spPr>
          <a:xfrm>
            <a:off x="457725" y="1906825"/>
            <a:ext cx="4730100" cy="2543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100"/>
              <a:buFont typeface="Arial"/>
              <a:buNone/>
            </a:pPr>
            <a:r>
              <a:rPr b="1" lang="es" sz="1350">
                <a:latin typeface="DM Sans"/>
                <a:ea typeface="DM Sans"/>
                <a:cs typeface="DM Sans"/>
                <a:sym typeface="DM Sans"/>
              </a:rPr>
              <a:t>VERBOS:</a:t>
            </a:r>
            <a:endParaRPr b="1" sz="1350">
              <a:latin typeface="DM Sans"/>
              <a:ea typeface="DM Sans"/>
              <a:cs typeface="DM Sans"/>
              <a:sym typeface="DM Sans"/>
            </a:endParaRPr>
          </a:p>
          <a:p>
            <a:pPr indent="0" lvl="0" marL="0" marR="0" rtl="0" algn="l">
              <a:lnSpc>
                <a:spcPct val="115000"/>
              </a:lnSpc>
              <a:spcBef>
                <a:spcPts val="0"/>
              </a:spcBef>
              <a:spcAft>
                <a:spcPts val="0"/>
              </a:spcAft>
              <a:buClr>
                <a:schemeClr val="dk1"/>
              </a:buClr>
              <a:buSzPts val="1100"/>
              <a:buFont typeface="Arial"/>
              <a:buNone/>
            </a:pPr>
            <a:r>
              <a:t/>
            </a:r>
            <a:endParaRPr sz="1350">
              <a:latin typeface="DM Sans"/>
              <a:ea typeface="DM Sans"/>
              <a:cs typeface="DM Sans"/>
              <a:sym typeface="DM Sans"/>
            </a:endParaRPr>
          </a:p>
          <a:p>
            <a:pPr indent="0" lvl="0" marL="0" marR="0" rtl="0" algn="l">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Nos permiten definir una manera de explicarle al servidor la dirección y nuestras intenciones:</a:t>
            </a:r>
            <a:endParaRPr sz="1350">
              <a:latin typeface="DM Sans"/>
              <a:ea typeface="DM Sans"/>
              <a:cs typeface="DM Sans"/>
              <a:sym typeface="DM Sans"/>
            </a:endParaRPr>
          </a:p>
          <a:p>
            <a:pPr indent="0" lvl="0" marL="0" marR="0" rtl="0" algn="l">
              <a:lnSpc>
                <a:spcPct val="115000"/>
              </a:lnSpc>
              <a:spcBef>
                <a:spcPts val="0"/>
              </a:spcBef>
              <a:spcAft>
                <a:spcPts val="0"/>
              </a:spcAft>
              <a:buClr>
                <a:schemeClr val="dk1"/>
              </a:buClr>
              <a:buSzPts val="1100"/>
              <a:buFont typeface="Arial"/>
              <a:buNone/>
            </a:pPr>
            <a:r>
              <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GET: quiero obtener.</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POST: quiero crear.</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PUT: quiero crear o actualizar.</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PATCH: quiero alterar parcialmente.</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DELETE: quiero eliminar.</a:t>
            </a:r>
            <a:endParaRPr sz="1350">
              <a:latin typeface="DM Sans"/>
              <a:ea typeface="DM Sans"/>
              <a:cs typeface="DM Sans"/>
              <a:sym typeface="DM Sans"/>
            </a:endParaRPr>
          </a:p>
        </p:txBody>
      </p:sp>
      <p:pic>
        <p:nvPicPr>
          <p:cNvPr id="106" name="Google Shape;106;p25"/>
          <p:cNvPicPr preferRelativeResize="0"/>
          <p:nvPr/>
        </p:nvPicPr>
        <p:blipFill rotWithShape="1">
          <a:blip r:embed="rId3">
            <a:alphaModFix/>
          </a:blip>
          <a:srcRect b="0" l="0" r="0" t="0"/>
          <a:stretch/>
        </p:blipFill>
        <p:spPr>
          <a:xfrm>
            <a:off x="5277725" y="2267475"/>
            <a:ext cx="3324825" cy="1646100"/>
          </a:xfrm>
          <a:prstGeom prst="rect">
            <a:avLst/>
          </a:prstGeom>
          <a:noFill/>
          <a:ln>
            <a:noFill/>
          </a:ln>
        </p:spPr>
      </p:pic>
      <p:sp>
        <p:nvSpPr>
          <p:cNvPr id="107" name="Google Shape;107;p25"/>
          <p:cNvSpPr txBox="1"/>
          <p:nvPr/>
        </p:nvSpPr>
        <p:spPr>
          <a:xfrm>
            <a:off x="5333199" y="1209725"/>
            <a:ext cx="3269400" cy="4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sz="1850">
                <a:solidFill>
                  <a:schemeClr val="dk1"/>
                </a:solidFill>
                <a:highlight>
                  <a:srgbClr val="EF89D2"/>
                </a:highlight>
                <a:latin typeface="DM Sans"/>
                <a:ea typeface="DM Sans"/>
                <a:cs typeface="DM Sans"/>
                <a:sym typeface="DM Sans"/>
              </a:rPr>
              <a:t>URL: https://pet.api.com/pet</a:t>
            </a:r>
            <a:endParaRPr sz="1850">
              <a:solidFill>
                <a:schemeClr val="dk1"/>
              </a:solidFill>
              <a:highlight>
                <a:srgbClr val="EF89D2"/>
              </a:highlight>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6"/>
          <p:cNvSpPr txBox="1"/>
          <p:nvPr/>
        </p:nvSpPr>
        <p:spPr>
          <a:xfrm>
            <a:off x="457725" y="1071050"/>
            <a:ext cx="4730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chemeClr val="dk1"/>
              </a:buClr>
              <a:buSzPts val="1100"/>
              <a:buFont typeface="Arial"/>
              <a:buNone/>
            </a:pPr>
            <a:r>
              <a:rPr b="1" lang="es" sz="4000">
                <a:solidFill>
                  <a:schemeClr val="dk1"/>
                </a:solidFill>
                <a:latin typeface="DM Sans"/>
                <a:ea typeface="DM Sans"/>
                <a:cs typeface="DM Sans"/>
                <a:sym typeface="DM Sans"/>
              </a:rPr>
              <a:t>URL Y VERB</a:t>
            </a:r>
            <a:endParaRPr b="1" sz="4000">
              <a:solidFill>
                <a:schemeClr val="dk1"/>
              </a:solidFill>
              <a:latin typeface="DM Sans"/>
              <a:ea typeface="DM Sans"/>
              <a:cs typeface="DM Sans"/>
              <a:sym typeface="DM Sans"/>
            </a:endParaRPr>
          </a:p>
        </p:txBody>
      </p:sp>
      <p:sp>
        <p:nvSpPr>
          <p:cNvPr id="113" name="Google Shape;113;p26"/>
          <p:cNvSpPr txBox="1"/>
          <p:nvPr/>
        </p:nvSpPr>
        <p:spPr>
          <a:xfrm>
            <a:off x="457725" y="2211625"/>
            <a:ext cx="4730100" cy="1847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s" sz="1350">
                <a:latin typeface="DM Sans"/>
                <a:ea typeface="DM Sans"/>
                <a:cs typeface="DM Sans"/>
                <a:sym typeface="DM Sans"/>
              </a:rPr>
              <a:t>Ningún verbo representa una seguridad y/u obligación. Pero si el servidor y el consumidor los respetan, se pueden lograr algunas mejoras como por ejemplo:</a:t>
            </a:r>
            <a:endParaRPr sz="1350">
              <a:latin typeface="DM Sans"/>
              <a:ea typeface="DM Sans"/>
              <a:cs typeface="DM Sans"/>
              <a:sym typeface="DM Sans"/>
            </a:endParaRPr>
          </a:p>
          <a:p>
            <a:pPr indent="0" lvl="0" marL="0" marR="0" rtl="0" algn="l">
              <a:lnSpc>
                <a:spcPct val="100000"/>
              </a:lnSpc>
              <a:spcBef>
                <a:spcPts val="0"/>
              </a:spcBef>
              <a:spcAft>
                <a:spcPts val="0"/>
              </a:spcAft>
              <a:buNone/>
            </a:pPr>
            <a:r>
              <a:t/>
            </a:r>
            <a:endParaRPr sz="1350">
              <a:latin typeface="DM Sans"/>
              <a:ea typeface="DM Sans"/>
              <a:cs typeface="DM Sans"/>
              <a:sym typeface="DM Sans"/>
            </a:endParaRPr>
          </a:p>
          <a:p>
            <a:pPr indent="0" lvl="0" marL="0" marR="0" rtl="0" algn="l">
              <a:lnSpc>
                <a:spcPct val="100000"/>
              </a:lnSpc>
              <a:spcBef>
                <a:spcPts val="0"/>
              </a:spcBef>
              <a:spcAft>
                <a:spcPts val="0"/>
              </a:spcAft>
              <a:buNone/>
            </a:pPr>
            <a:r>
              <a:rPr lang="es" sz="1350">
                <a:latin typeface="DM Sans"/>
                <a:ea typeface="DM Sans"/>
                <a:cs typeface="DM Sans"/>
                <a:sym typeface="DM Sans"/>
              </a:rPr>
              <a:t>El navegador sabe que un </a:t>
            </a:r>
            <a:r>
              <a:rPr lang="es" sz="1350">
                <a:highlight>
                  <a:schemeClr val="accent6"/>
                </a:highlight>
                <a:latin typeface="DM Sans"/>
                <a:ea typeface="DM Sans"/>
                <a:cs typeface="DM Sans"/>
                <a:sym typeface="DM Sans"/>
              </a:rPr>
              <a:t>POST</a:t>
            </a:r>
            <a:r>
              <a:rPr lang="es" sz="1350">
                <a:latin typeface="DM Sans"/>
                <a:ea typeface="DM Sans"/>
                <a:cs typeface="DM Sans"/>
                <a:sym typeface="DM Sans"/>
              </a:rPr>
              <a:t> no debería ser cacheado, si hacemos un </a:t>
            </a:r>
            <a:r>
              <a:rPr lang="es" sz="1350">
                <a:highlight>
                  <a:schemeClr val="accent6"/>
                </a:highlight>
                <a:latin typeface="DM Sans"/>
                <a:ea typeface="DM Sans"/>
                <a:cs typeface="DM Sans"/>
                <a:sym typeface="DM Sans"/>
              </a:rPr>
              <a:t>GET</a:t>
            </a:r>
            <a:r>
              <a:rPr lang="es" sz="1350">
                <a:latin typeface="DM Sans"/>
                <a:ea typeface="DM Sans"/>
                <a:cs typeface="DM Sans"/>
                <a:sym typeface="DM Sans"/>
              </a:rPr>
              <a:t> y fuera cacheable el navegador podrá cachearlo, pero nunca lo hará con un recurso con verbo </a:t>
            </a:r>
            <a:r>
              <a:rPr lang="es" sz="1350">
                <a:highlight>
                  <a:schemeClr val="accent6"/>
                </a:highlight>
                <a:latin typeface="DM Sans"/>
                <a:ea typeface="DM Sans"/>
                <a:cs typeface="DM Sans"/>
                <a:sym typeface="DM Sans"/>
              </a:rPr>
              <a:t>POST</a:t>
            </a:r>
            <a:r>
              <a:rPr lang="es" sz="1350">
                <a:latin typeface="DM Sans"/>
                <a:ea typeface="DM Sans"/>
                <a:cs typeface="DM Sans"/>
                <a:sym typeface="DM Sans"/>
              </a:rPr>
              <a:t>.</a:t>
            </a:r>
            <a:endParaRPr sz="1350">
              <a:latin typeface="DM Sans"/>
              <a:ea typeface="DM Sans"/>
              <a:cs typeface="DM Sans"/>
              <a:sym typeface="DM Sans"/>
            </a:endParaRPr>
          </a:p>
        </p:txBody>
      </p:sp>
      <p:pic>
        <p:nvPicPr>
          <p:cNvPr id="114" name="Google Shape;114;p26"/>
          <p:cNvPicPr preferRelativeResize="0"/>
          <p:nvPr/>
        </p:nvPicPr>
        <p:blipFill rotWithShape="1">
          <a:blip r:embed="rId3">
            <a:alphaModFix/>
          </a:blip>
          <a:srcRect b="0" l="0" r="0" t="0"/>
          <a:stretch/>
        </p:blipFill>
        <p:spPr>
          <a:xfrm>
            <a:off x="5443800" y="1809950"/>
            <a:ext cx="2365851" cy="23658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27"/>
          <p:cNvSpPr txBox="1"/>
          <p:nvPr/>
        </p:nvSpPr>
        <p:spPr>
          <a:xfrm>
            <a:off x="473350" y="619525"/>
            <a:ext cx="8141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chemeClr val="dk1"/>
              </a:buClr>
              <a:buSzPts val="1100"/>
              <a:buFont typeface="Arial"/>
              <a:buNone/>
            </a:pPr>
            <a:r>
              <a:rPr b="1" lang="es" sz="4000">
                <a:solidFill>
                  <a:schemeClr val="dk1"/>
                </a:solidFill>
                <a:latin typeface="DM Sans"/>
                <a:ea typeface="DM Sans"/>
                <a:cs typeface="DM Sans"/>
                <a:sym typeface="DM Sans"/>
              </a:rPr>
              <a:t>URL PARAMS/SEGMENT</a:t>
            </a:r>
            <a:endParaRPr b="1" sz="4000">
              <a:solidFill>
                <a:schemeClr val="dk1"/>
              </a:solidFill>
              <a:latin typeface="DM Sans"/>
              <a:ea typeface="DM Sans"/>
              <a:cs typeface="DM Sans"/>
              <a:sym typeface="DM Sans"/>
            </a:endParaRPr>
          </a:p>
        </p:txBody>
      </p:sp>
      <p:sp>
        <p:nvSpPr>
          <p:cNvPr id="120" name="Google Shape;120;p27"/>
          <p:cNvSpPr txBox="1"/>
          <p:nvPr/>
        </p:nvSpPr>
        <p:spPr>
          <a:xfrm>
            <a:off x="473350" y="1529400"/>
            <a:ext cx="7341600" cy="1015800"/>
          </a:xfrm>
          <a:prstGeom prst="rect">
            <a:avLst/>
          </a:prstGeom>
          <a:noFill/>
          <a:ln>
            <a:noFill/>
          </a:ln>
        </p:spPr>
        <p:txBody>
          <a:bodyPr anchorCtr="0" anchor="t" bIns="91425" lIns="91425" spcFirstLastPara="1" rIns="91425" wrap="square" tIns="91425">
            <a:spAutoFit/>
          </a:bodyPr>
          <a:lstStyle/>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Son una convención para incluir el identificador del recurso dentro de la misma url, son más comunes cuando ya se conoce el recurso específico que se buscará.</a:t>
            </a:r>
            <a:endParaRPr sz="1350">
              <a:latin typeface="DM Sans"/>
              <a:ea typeface="DM Sans"/>
              <a:cs typeface="DM Sans"/>
              <a:sym typeface="DM Sans"/>
            </a:endParaRPr>
          </a:p>
          <a:p>
            <a:pPr indent="0" lvl="0" marL="0" marR="0" rtl="0" algn="l">
              <a:lnSpc>
                <a:spcPct val="100000"/>
              </a:lnSpc>
              <a:spcBef>
                <a:spcPts val="0"/>
              </a:spcBef>
              <a:spcAft>
                <a:spcPts val="0"/>
              </a:spcAft>
              <a:buClr>
                <a:schemeClr val="dk1"/>
              </a:buClr>
              <a:buSzPts val="1100"/>
              <a:buFont typeface="Arial"/>
              <a:buNone/>
            </a:pPr>
            <a:r>
              <a:t/>
            </a:r>
            <a:endParaRPr sz="1350">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350"/>
              <a:buFont typeface="Arial"/>
              <a:buNone/>
            </a:pPr>
            <a:r>
              <a:t/>
            </a:r>
            <a:endParaRPr sz="1350">
              <a:latin typeface="DM Sans"/>
              <a:ea typeface="DM Sans"/>
              <a:cs typeface="DM Sans"/>
              <a:sym typeface="DM Sans"/>
            </a:endParaRPr>
          </a:p>
        </p:txBody>
      </p:sp>
      <p:graphicFrame>
        <p:nvGraphicFramePr>
          <p:cNvPr id="121" name="Google Shape;121;p27"/>
          <p:cNvGraphicFramePr/>
          <p:nvPr/>
        </p:nvGraphicFramePr>
        <p:xfrm>
          <a:off x="981400" y="2292525"/>
          <a:ext cx="3000000" cy="3000000"/>
        </p:xfrm>
        <a:graphic>
          <a:graphicData uri="http://schemas.openxmlformats.org/drawingml/2006/table">
            <a:tbl>
              <a:tblPr>
                <a:noFill/>
                <a:tableStyleId>{8B3616F2-456C-40B4-B490-66DFA2D3AB3A}</a:tableStyleId>
              </a:tblPr>
              <a:tblGrid>
                <a:gridCol w="3877775"/>
                <a:gridCol w="3618350"/>
              </a:tblGrid>
              <a:tr h="381000">
                <a:tc>
                  <a:txBody>
                    <a:bodyPr/>
                    <a:lstStyle/>
                    <a:p>
                      <a:pPr indent="0" lvl="0" marL="0" marR="0" rtl="0" algn="l">
                        <a:lnSpc>
                          <a:spcPct val="100000"/>
                        </a:lnSpc>
                        <a:spcBef>
                          <a:spcPts val="0"/>
                        </a:spcBef>
                        <a:spcAft>
                          <a:spcPts val="0"/>
                        </a:spcAft>
                        <a:buClr>
                          <a:srgbClr val="000000"/>
                        </a:buClr>
                        <a:buSzPts val="1100"/>
                        <a:buFont typeface="Arial"/>
                        <a:buNone/>
                      </a:pPr>
                      <a:r>
                        <a:rPr lang="es" sz="1350" u="sng" cap="none" strike="noStrike">
                          <a:solidFill>
                            <a:srgbClr val="0097A7"/>
                          </a:solidFill>
                          <a:latin typeface="DM Sans"/>
                          <a:ea typeface="DM Sans"/>
                          <a:cs typeface="DM Sans"/>
                          <a:sym typeface="DM Sans"/>
                          <a:hlinkClick r:id="rId3">
                            <a:extLst>
                              <a:ext uri="{A12FA001-AC4F-418D-AE19-62706E023703}">
                                <ahyp:hlinkClr val="tx"/>
                              </a:ext>
                            </a:extLst>
                          </a:hlinkClick>
                        </a:rPr>
                        <a:t>https://myapp.coder/student/</a:t>
                      </a:r>
                      <a:r>
                        <a:rPr lang="es" sz="1350" u="sng" cap="none" strike="noStrike">
                          <a:solidFill>
                            <a:schemeClr val="accent4"/>
                          </a:solidFill>
                          <a:latin typeface="DM Sans"/>
                          <a:ea typeface="DM Sans"/>
                          <a:cs typeface="DM Sans"/>
                          <a:sym typeface="DM Sans"/>
                          <a:hlinkClick r:id="rId4">
                            <a:extLst>
                              <a:ext uri="{A12FA001-AC4F-418D-AE19-62706E023703}">
                                <ahyp:hlinkClr val="tx"/>
                              </a:ext>
                            </a:extLst>
                          </a:hlinkClick>
                        </a:rPr>
                        <a:t>1234</a:t>
                      </a:r>
                      <a:endParaRPr sz="1350" u="none" cap="none" strike="noStrike">
                        <a:solidFill>
                          <a:schemeClr val="accent4"/>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t/>
                      </a:r>
                      <a:endParaRPr sz="1350" u="none" cap="none" strike="noStrike">
                        <a:solidFill>
                          <a:srgbClr val="000000"/>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rPr lang="es" sz="1350" u="none" cap="none" strike="noStrike">
                          <a:solidFill>
                            <a:srgbClr val="000000"/>
                          </a:solidFill>
                          <a:latin typeface="DM Sans"/>
                          <a:ea typeface="DM Sans"/>
                          <a:cs typeface="DM Sans"/>
                          <a:sym typeface="DM Sans"/>
                        </a:rPr>
                        <a:t>Se puede leer como: </a:t>
                      </a:r>
                      <a:endParaRPr sz="1350" u="none" cap="none" strike="noStrike">
                        <a:solidFill>
                          <a:srgbClr val="000000"/>
                        </a:solidFill>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Helvetica Neue"/>
                        <a:buChar char="✓"/>
                      </a:pPr>
                      <a:r>
                        <a:rPr i="1" lang="es" sz="1350" u="none" cap="none" strike="noStrike">
                          <a:solidFill>
                            <a:srgbClr val="000000"/>
                          </a:solidFill>
                          <a:latin typeface="DM Sans"/>
                          <a:ea typeface="DM Sans"/>
                          <a:cs typeface="DM Sans"/>
                          <a:sym typeface="DM Sans"/>
                        </a:rPr>
                        <a:t>busca en </a:t>
                      </a:r>
                      <a:r>
                        <a:rPr b="1" i="1" lang="es" sz="1350" u="none" cap="none" strike="noStrike">
                          <a:solidFill>
                            <a:srgbClr val="000000"/>
                          </a:solidFill>
                          <a:latin typeface="DM Sans"/>
                          <a:ea typeface="DM Sans"/>
                          <a:cs typeface="DM Sans"/>
                          <a:sym typeface="DM Sans"/>
                        </a:rPr>
                        <a:t>myapp.coder</a:t>
                      </a:r>
                      <a:endParaRPr b="1" i="1" sz="1350" u="none" cap="none" strike="noStrike">
                        <a:solidFill>
                          <a:srgbClr val="000000"/>
                        </a:solidFill>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Helvetica Neue"/>
                        <a:buChar char="✓"/>
                      </a:pPr>
                      <a:r>
                        <a:rPr i="1" lang="es" sz="1350" u="none" cap="none" strike="noStrike">
                          <a:solidFill>
                            <a:srgbClr val="000000"/>
                          </a:solidFill>
                          <a:latin typeface="DM Sans"/>
                          <a:ea typeface="DM Sans"/>
                          <a:cs typeface="DM Sans"/>
                          <a:sym typeface="DM Sans"/>
                        </a:rPr>
                        <a:t>utilizando </a:t>
                      </a:r>
                      <a:r>
                        <a:rPr b="1" i="1" lang="es" sz="1350" u="none" cap="none" strike="noStrike">
                          <a:solidFill>
                            <a:srgbClr val="000000"/>
                          </a:solidFill>
                          <a:latin typeface="DM Sans"/>
                          <a:ea typeface="DM Sans"/>
                          <a:cs typeface="DM Sans"/>
                          <a:sym typeface="DM Sans"/>
                        </a:rPr>
                        <a:t>https…</a:t>
                      </a:r>
                      <a:endParaRPr b="1" i="1" sz="1350" u="none" cap="none" strike="noStrike">
                        <a:solidFill>
                          <a:srgbClr val="000000"/>
                        </a:solidFill>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Helvetica Neue"/>
                        <a:buChar char="✓"/>
                      </a:pPr>
                      <a:r>
                        <a:rPr i="1" lang="es" sz="1350" u="none" cap="none" strike="noStrike">
                          <a:solidFill>
                            <a:srgbClr val="000000"/>
                          </a:solidFill>
                          <a:latin typeface="DM Sans"/>
                          <a:ea typeface="DM Sans"/>
                          <a:cs typeface="DM Sans"/>
                          <a:sym typeface="DM Sans"/>
                        </a:rPr>
                        <a:t>el recurso </a:t>
                      </a:r>
                      <a:r>
                        <a:rPr b="1" i="1" lang="es" sz="1350" u="none" cap="none" strike="noStrike">
                          <a:solidFill>
                            <a:srgbClr val="000000"/>
                          </a:solidFill>
                          <a:latin typeface="DM Sans"/>
                          <a:ea typeface="DM Sans"/>
                          <a:cs typeface="DM Sans"/>
                          <a:sym typeface="DM Sans"/>
                        </a:rPr>
                        <a:t>student</a:t>
                      </a:r>
                      <a:r>
                        <a:rPr i="1" lang="es" sz="1350" u="none" cap="none" strike="noStrike">
                          <a:solidFill>
                            <a:srgbClr val="000000"/>
                          </a:solidFill>
                          <a:latin typeface="DM Sans"/>
                          <a:ea typeface="DM Sans"/>
                          <a:cs typeface="DM Sans"/>
                          <a:sym typeface="DM Sans"/>
                        </a:rPr>
                        <a:t> </a:t>
                      </a:r>
                      <a:endParaRPr i="1" sz="1350" u="none" cap="none" strike="noStrike">
                        <a:solidFill>
                          <a:srgbClr val="000000"/>
                        </a:solidFill>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i="1" lang="es" sz="1350" u="none" cap="none" strike="noStrike">
                          <a:solidFill>
                            <a:srgbClr val="000000"/>
                          </a:solidFill>
                          <a:latin typeface="DM Sans"/>
                          <a:ea typeface="DM Sans"/>
                          <a:cs typeface="DM Sans"/>
                          <a:sym typeface="DM Sans"/>
                        </a:rPr>
                        <a:t>con id 1234</a:t>
                      </a:r>
                      <a:endParaRPr sz="1350" u="none" cap="none" strike="noStrike">
                        <a:latin typeface="DM Sans"/>
                        <a:ea typeface="DM Sans"/>
                        <a:cs typeface="DM Sans"/>
                        <a:sym typeface="DM Sans"/>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100"/>
                        <a:buFont typeface="Arial"/>
                        <a:buNone/>
                      </a:pPr>
                      <a:r>
                        <a:rPr lang="es" sz="1350" u="sng" cap="none" strike="noStrike">
                          <a:solidFill>
                            <a:srgbClr val="0097A7"/>
                          </a:solidFill>
                          <a:latin typeface="DM Sans"/>
                          <a:ea typeface="DM Sans"/>
                          <a:cs typeface="DM Sans"/>
                          <a:sym typeface="DM Sans"/>
                          <a:hlinkClick r:id="rId5">
                            <a:extLst>
                              <a:ext uri="{A12FA001-AC4F-418D-AE19-62706E023703}">
                                <ahyp:hlinkClr val="tx"/>
                              </a:ext>
                            </a:extLst>
                          </a:hlinkClick>
                        </a:rPr>
                        <a:t>https://myapp.coder/student/1234/courses</a:t>
                      </a:r>
                      <a:endParaRPr sz="1350" u="none" cap="none" strike="noStrike">
                        <a:solidFill>
                          <a:srgbClr val="000000"/>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t/>
                      </a:r>
                      <a:endParaRPr sz="1350" u="none" cap="none" strike="noStrike">
                        <a:solidFill>
                          <a:srgbClr val="000000"/>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rPr lang="es" sz="1350" u="none" cap="none" strike="noStrike">
                          <a:solidFill>
                            <a:srgbClr val="000000"/>
                          </a:solidFill>
                          <a:latin typeface="DM Sans"/>
                          <a:ea typeface="DM Sans"/>
                          <a:cs typeface="DM Sans"/>
                          <a:sym typeface="DM Sans"/>
                        </a:rPr>
                        <a:t>Se puede leer como: </a:t>
                      </a:r>
                      <a:endParaRPr sz="1350" u="none" cap="none" strike="noStrike">
                        <a:solidFill>
                          <a:srgbClr val="000000"/>
                        </a:solidFill>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Helvetica Neue"/>
                        <a:buChar char="✓"/>
                      </a:pPr>
                      <a:r>
                        <a:rPr i="1" lang="es" sz="1350" u="none" cap="none" strike="noStrike">
                          <a:solidFill>
                            <a:srgbClr val="000000"/>
                          </a:solidFill>
                          <a:latin typeface="DM Sans"/>
                          <a:ea typeface="DM Sans"/>
                          <a:cs typeface="DM Sans"/>
                          <a:sym typeface="DM Sans"/>
                        </a:rPr>
                        <a:t>busca en </a:t>
                      </a:r>
                      <a:r>
                        <a:rPr b="1" i="1" lang="es" sz="1350" u="none" cap="none" strike="noStrike">
                          <a:solidFill>
                            <a:srgbClr val="000000"/>
                          </a:solidFill>
                          <a:latin typeface="DM Sans"/>
                          <a:ea typeface="DM Sans"/>
                          <a:cs typeface="DM Sans"/>
                          <a:sym typeface="DM Sans"/>
                        </a:rPr>
                        <a:t>myapp.coder</a:t>
                      </a:r>
                      <a:endParaRPr b="1" i="1" sz="1350" u="none" cap="none" strike="noStrike">
                        <a:solidFill>
                          <a:srgbClr val="000000"/>
                        </a:solidFill>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Helvetica Neue"/>
                        <a:buChar char="✓"/>
                      </a:pPr>
                      <a:r>
                        <a:rPr i="1" lang="es" sz="1350" u="none" cap="none" strike="noStrike">
                          <a:solidFill>
                            <a:srgbClr val="000000"/>
                          </a:solidFill>
                          <a:latin typeface="DM Sans"/>
                          <a:ea typeface="DM Sans"/>
                          <a:cs typeface="DM Sans"/>
                          <a:sym typeface="DM Sans"/>
                        </a:rPr>
                        <a:t>utilizando </a:t>
                      </a:r>
                      <a:r>
                        <a:rPr b="1" i="1" lang="es" sz="1350" u="none" cap="none" strike="noStrike">
                          <a:solidFill>
                            <a:srgbClr val="000000"/>
                          </a:solidFill>
                          <a:latin typeface="DM Sans"/>
                          <a:ea typeface="DM Sans"/>
                          <a:cs typeface="DM Sans"/>
                          <a:sym typeface="DM Sans"/>
                        </a:rPr>
                        <a:t>https…</a:t>
                      </a:r>
                      <a:endParaRPr b="1" i="1" sz="1350" u="none" cap="none" strike="noStrike">
                        <a:solidFill>
                          <a:srgbClr val="000000"/>
                        </a:solidFill>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Helvetica Neue"/>
                        <a:buChar char="✓"/>
                      </a:pPr>
                      <a:r>
                        <a:rPr i="1" lang="es" sz="1350" u="none" cap="none" strike="noStrike">
                          <a:solidFill>
                            <a:srgbClr val="000000"/>
                          </a:solidFill>
                          <a:latin typeface="DM Sans"/>
                          <a:ea typeface="DM Sans"/>
                          <a:cs typeface="DM Sans"/>
                          <a:sym typeface="DM Sans"/>
                        </a:rPr>
                        <a:t>el recurso </a:t>
                      </a:r>
                      <a:r>
                        <a:rPr b="1" i="1" lang="es" sz="1350" u="none" cap="none" strike="noStrike">
                          <a:solidFill>
                            <a:srgbClr val="000000"/>
                          </a:solidFill>
                          <a:latin typeface="DM Sans"/>
                          <a:ea typeface="DM Sans"/>
                          <a:cs typeface="DM Sans"/>
                          <a:sym typeface="DM Sans"/>
                        </a:rPr>
                        <a:t>courses</a:t>
                      </a:r>
                      <a:r>
                        <a:rPr i="1" lang="es" sz="1350" u="none" cap="none" strike="noStrike">
                          <a:solidFill>
                            <a:srgbClr val="000000"/>
                          </a:solidFill>
                          <a:latin typeface="DM Sans"/>
                          <a:ea typeface="DM Sans"/>
                          <a:cs typeface="DM Sans"/>
                          <a:sym typeface="DM Sans"/>
                        </a:rPr>
                        <a:t> </a:t>
                      </a:r>
                      <a:endParaRPr i="1" sz="1350" u="none" cap="none" strike="noStrike">
                        <a:solidFill>
                          <a:srgbClr val="000000"/>
                        </a:solidFill>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Helvetica Neue"/>
                        <a:buChar char="✓"/>
                      </a:pPr>
                      <a:r>
                        <a:rPr i="1" lang="es" sz="1350" u="none" cap="none" strike="noStrike">
                          <a:solidFill>
                            <a:srgbClr val="000000"/>
                          </a:solidFill>
                          <a:latin typeface="DM Sans"/>
                          <a:ea typeface="DM Sans"/>
                          <a:cs typeface="DM Sans"/>
                          <a:sym typeface="DM Sans"/>
                        </a:rPr>
                        <a:t>Únicamente para </a:t>
                      </a:r>
                      <a:r>
                        <a:rPr b="1" i="1" lang="es" sz="1350" u="none" cap="none" strike="noStrike">
                          <a:solidFill>
                            <a:srgbClr val="000000"/>
                          </a:solidFill>
                          <a:latin typeface="DM Sans"/>
                          <a:ea typeface="DM Sans"/>
                          <a:cs typeface="DM Sans"/>
                          <a:sym typeface="DM Sans"/>
                        </a:rPr>
                        <a:t>student </a:t>
                      </a:r>
                      <a:r>
                        <a:rPr i="1" lang="es" sz="1350" u="none" cap="none" strike="noStrike">
                          <a:solidFill>
                            <a:srgbClr val="000000"/>
                          </a:solidFill>
                          <a:latin typeface="DM Sans"/>
                          <a:ea typeface="DM Sans"/>
                          <a:cs typeface="DM Sans"/>
                          <a:sym typeface="DM Sans"/>
                        </a:rPr>
                        <a:t>1234</a:t>
                      </a:r>
                      <a:endParaRPr sz="1350" u="none" cap="none" strike="noStrike">
                        <a:latin typeface="DM Sans"/>
                        <a:ea typeface="DM Sans"/>
                        <a:cs typeface="DM Sans"/>
                        <a:sym typeface="DM Sans"/>
                      </a:endParaRPr>
                    </a:p>
                  </a:txBody>
                  <a:tcPr marT="91425" marB="91425" marR="91425" marL="91425"/>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8"/>
          <p:cNvSpPr/>
          <p:nvPr/>
        </p:nvSpPr>
        <p:spPr>
          <a:xfrm>
            <a:off x="647400" y="1189150"/>
            <a:ext cx="7849200" cy="3317400"/>
          </a:xfrm>
          <a:prstGeom prst="rect">
            <a:avLst/>
          </a:prstGeom>
          <a:solidFill>
            <a:srgbClr val="EAFF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28"/>
          <p:cNvSpPr txBox="1"/>
          <p:nvPr/>
        </p:nvSpPr>
        <p:spPr>
          <a:xfrm>
            <a:off x="1461300" y="345975"/>
            <a:ext cx="6221400" cy="669600"/>
          </a:xfrm>
          <a:prstGeom prst="rect">
            <a:avLst/>
          </a:prstGeom>
          <a:noFill/>
          <a:ln>
            <a:noFill/>
          </a:ln>
        </p:spPr>
        <p:txBody>
          <a:bodyPr anchorCtr="0" anchor="t" bIns="91425" lIns="91425" spcFirstLastPara="1" rIns="91425" wrap="square" tIns="91425">
            <a:spAutoFit/>
          </a:bodyPr>
          <a:lstStyle/>
          <a:p>
            <a:pPr indent="0" lvl="0" marL="0" marR="0" rtl="0" algn="ctr">
              <a:lnSpc>
                <a:spcPct val="90000"/>
              </a:lnSpc>
              <a:spcBef>
                <a:spcPts val="0"/>
              </a:spcBef>
              <a:spcAft>
                <a:spcPts val="0"/>
              </a:spcAft>
              <a:buClr>
                <a:srgbClr val="000000"/>
              </a:buClr>
              <a:buSzPts val="3500"/>
              <a:buFont typeface="Arial"/>
              <a:buNone/>
            </a:pPr>
            <a:r>
              <a:rPr b="1" lang="es" sz="3500">
                <a:solidFill>
                  <a:schemeClr val="lt1"/>
                </a:solidFill>
                <a:latin typeface="DM Sans"/>
                <a:ea typeface="DM Sans"/>
                <a:cs typeface="DM Sans"/>
                <a:sym typeface="DM Sans"/>
              </a:rPr>
              <a:t>Body</a:t>
            </a:r>
            <a:endParaRPr b="1" i="0" sz="3500" u="none" cap="none" strike="noStrike">
              <a:solidFill>
                <a:schemeClr val="lt1"/>
              </a:solidFill>
              <a:latin typeface="DM Sans"/>
              <a:ea typeface="DM Sans"/>
              <a:cs typeface="DM Sans"/>
              <a:sym typeface="DM Sans"/>
            </a:endParaRPr>
          </a:p>
        </p:txBody>
      </p:sp>
      <p:sp>
        <p:nvSpPr>
          <p:cNvPr id="128" name="Google Shape;128;p28"/>
          <p:cNvSpPr txBox="1"/>
          <p:nvPr/>
        </p:nvSpPr>
        <p:spPr>
          <a:xfrm>
            <a:off x="903500" y="1342300"/>
            <a:ext cx="6904800" cy="392400"/>
          </a:xfrm>
          <a:prstGeom prst="rect">
            <a:avLst/>
          </a:prstGeom>
          <a:noFill/>
          <a:ln>
            <a:noFill/>
          </a:ln>
        </p:spPr>
        <p:txBody>
          <a:bodyPr anchorCtr="0" anchor="t" bIns="91425" lIns="91425" spcFirstLastPara="1" rIns="91425" wrap="square" tIns="91425">
            <a:spAutoFit/>
          </a:bodyPr>
          <a:lstStyle/>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Se utiliza para transferir piezas de información entre el cliente y el servidor.</a:t>
            </a:r>
            <a:endParaRPr sz="1350">
              <a:latin typeface="DM Sans"/>
              <a:ea typeface="DM Sans"/>
              <a:cs typeface="DM Sans"/>
              <a:sym typeface="DM Sans"/>
            </a:endParaRPr>
          </a:p>
        </p:txBody>
      </p:sp>
      <p:pic>
        <p:nvPicPr>
          <p:cNvPr id="129" name="Google Shape;129;p28"/>
          <p:cNvPicPr preferRelativeResize="0"/>
          <p:nvPr/>
        </p:nvPicPr>
        <p:blipFill rotWithShape="1">
          <a:blip r:embed="rId3">
            <a:alphaModFix/>
          </a:blip>
          <a:srcRect b="0" l="0" r="0" t="15682"/>
          <a:stretch/>
        </p:blipFill>
        <p:spPr>
          <a:xfrm>
            <a:off x="1947200" y="1978975"/>
            <a:ext cx="5249600" cy="20846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9"/>
          <p:cNvSpPr txBox="1"/>
          <p:nvPr/>
        </p:nvSpPr>
        <p:spPr>
          <a:xfrm>
            <a:off x="473350" y="619525"/>
            <a:ext cx="8141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chemeClr val="dk1"/>
              </a:buClr>
              <a:buSzPts val="1100"/>
              <a:buFont typeface="Arial"/>
              <a:buNone/>
            </a:pPr>
            <a:r>
              <a:rPr b="1" lang="es" sz="4000">
                <a:solidFill>
                  <a:schemeClr val="dk1"/>
                </a:solidFill>
                <a:latin typeface="DM Sans"/>
                <a:ea typeface="DM Sans"/>
                <a:cs typeface="DM Sans"/>
                <a:sym typeface="DM Sans"/>
              </a:rPr>
              <a:t>Query params         </a:t>
            </a:r>
            <a:endParaRPr b="1" sz="1700">
              <a:solidFill>
                <a:schemeClr val="dk1"/>
              </a:solidFill>
              <a:latin typeface="DM Sans"/>
              <a:ea typeface="DM Sans"/>
              <a:cs typeface="DM Sans"/>
              <a:sym typeface="DM Sans"/>
            </a:endParaRPr>
          </a:p>
        </p:txBody>
      </p:sp>
      <p:sp>
        <p:nvSpPr>
          <p:cNvPr id="135" name="Google Shape;135;p29"/>
          <p:cNvSpPr txBox="1"/>
          <p:nvPr/>
        </p:nvSpPr>
        <p:spPr>
          <a:xfrm>
            <a:off x="473350" y="1908175"/>
            <a:ext cx="3834600" cy="2055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350"/>
              <a:buFont typeface="Arial"/>
              <a:buNone/>
            </a:pPr>
            <a:r>
              <a:rPr lang="es" sz="1350">
                <a:latin typeface="DM Sans"/>
                <a:ea typeface="DM Sans"/>
                <a:cs typeface="DM Sans"/>
                <a:sym typeface="DM Sans"/>
              </a:rPr>
              <a:t>Nos permiten incluir en la dirección información que se usa para especificarle al backend parámetros para efectuar una búsqueda, son más comunes para buscar recursos que no tengo la seguridad de que existan:</a:t>
            </a:r>
            <a:endParaRPr sz="1350">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350"/>
              <a:buFont typeface="Arial"/>
              <a:buNone/>
            </a:pPr>
            <a:r>
              <a:t/>
            </a:r>
            <a:endParaRPr sz="1350">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350"/>
              <a:buFont typeface="Arial"/>
              <a:buNone/>
            </a:pPr>
            <a:r>
              <a:rPr lang="es" sz="1350" u="sng">
                <a:solidFill>
                  <a:schemeClr val="hlink"/>
                </a:solidFill>
                <a:latin typeface="DM Sans"/>
                <a:ea typeface="DM Sans"/>
                <a:cs typeface="DM Sans"/>
                <a:sym typeface="DM Sans"/>
                <a:hlinkClick r:id="rId3"/>
              </a:rPr>
              <a:t>https://www.google.com.ar/search?q=coderhouse</a:t>
            </a:r>
            <a:endParaRPr sz="1350">
              <a:latin typeface="DM Sans"/>
              <a:ea typeface="DM Sans"/>
              <a:cs typeface="DM Sans"/>
              <a:sym typeface="DM Sans"/>
            </a:endParaRPr>
          </a:p>
        </p:txBody>
      </p:sp>
      <p:sp>
        <p:nvSpPr>
          <p:cNvPr id="136" name="Google Shape;136;p29"/>
          <p:cNvSpPr txBox="1"/>
          <p:nvPr/>
        </p:nvSpPr>
        <p:spPr>
          <a:xfrm>
            <a:off x="4527575" y="1908175"/>
            <a:ext cx="3834600" cy="1847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lang="es" sz="1350">
                <a:latin typeface="DM Sans"/>
                <a:ea typeface="DM Sans"/>
                <a:cs typeface="DM Sans"/>
                <a:sym typeface="DM Sans"/>
              </a:rPr>
              <a:t>Se puede leer como: </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busca en google.com.ar</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utilizando https…</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el recurso search (resultados de búsqueda) …</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que contengan la palabra (q = query) ‘coderhouse’</a:t>
            </a:r>
            <a:endParaRPr sz="1350">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350"/>
              <a:buFont typeface="Arial"/>
              <a:buNone/>
            </a:pPr>
            <a:r>
              <a:t/>
            </a:r>
            <a:endParaRPr sz="1350">
              <a:latin typeface="DM Sans"/>
              <a:ea typeface="DM Sans"/>
              <a:cs typeface="DM Sans"/>
              <a:sym typeface="DM Sans"/>
            </a:endParaRPr>
          </a:p>
        </p:txBody>
      </p:sp>
      <p:sp>
        <p:nvSpPr>
          <p:cNvPr id="137" name="Google Shape;137;p29"/>
          <p:cNvSpPr/>
          <p:nvPr/>
        </p:nvSpPr>
        <p:spPr>
          <a:xfrm>
            <a:off x="3285450" y="3444425"/>
            <a:ext cx="297000" cy="229800"/>
          </a:xfrm>
          <a:prstGeom prst="ellipse">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30"/>
          <p:cNvSpPr txBox="1"/>
          <p:nvPr/>
        </p:nvSpPr>
        <p:spPr>
          <a:xfrm>
            <a:off x="473350" y="619525"/>
            <a:ext cx="8141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chemeClr val="dk1"/>
              </a:buClr>
              <a:buSzPts val="1100"/>
              <a:buFont typeface="Arial"/>
              <a:buNone/>
            </a:pPr>
            <a:r>
              <a:rPr b="1" lang="es" sz="4000">
                <a:solidFill>
                  <a:schemeClr val="dk1"/>
                </a:solidFill>
                <a:latin typeface="DM Sans"/>
                <a:ea typeface="DM Sans"/>
                <a:cs typeface="DM Sans"/>
                <a:sym typeface="DM Sans"/>
              </a:rPr>
              <a:t>URL Query params</a:t>
            </a:r>
            <a:endParaRPr b="1" sz="4000">
              <a:solidFill>
                <a:schemeClr val="dk1"/>
              </a:solidFill>
              <a:latin typeface="DM Sans"/>
              <a:ea typeface="DM Sans"/>
              <a:cs typeface="DM Sans"/>
              <a:sym typeface="DM Sans"/>
            </a:endParaRPr>
          </a:p>
        </p:txBody>
      </p:sp>
      <p:sp>
        <p:nvSpPr>
          <p:cNvPr id="143" name="Google Shape;143;p30"/>
          <p:cNvSpPr txBox="1"/>
          <p:nvPr/>
        </p:nvSpPr>
        <p:spPr>
          <a:xfrm>
            <a:off x="473350" y="1908175"/>
            <a:ext cx="7953300" cy="2020200"/>
          </a:xfrm>
          <a:prstGeom prst="rect">
            <a:avLst/>
          </a:prstGeom>
          <a:noFill/>
          <a:ln>
            <a:noFill/>
          </a:ln>
        </p:spPr>
        <p:txBody>
          <a:bodyPr anchorCtr="0" anchor="t" bIns="91425" lIns="91425" spcFirstLastPara="1" rIns="91425" wrap="square" tIns="91425">
            <a:spAutoFit/>
          </a:bodyPr>
          <a:lstStyle/>
          <a:p>
            <a:pPr indent="-314325" lvl="0" marL="457200" marR="0" rtl="0" algn="l">
              <a:lnSpc>
                <a:spcPct val="150000"/>
              </a:lnSpc>
              <a:spcBef>
                <a:spcPts val="0"/>
              </a:spcBef>
              <a:spcAft>
                <a:spcPts val="0"/>
              </a:spcAft>
              <a:buClr>
                <a:schemeClr val="accent4"/>
              </a:buClr>
              <a:buSzPts val="1350"/>
              <a:buFont typeface="DM Sans"/>
              <a:buChar char="✓"/>
            </a:pPr>
            <a:r>
              <a:rPr lang="es" sz="1350">
                <a:latin typeface="DM Sans"/>
                <a:ea typeface="DM Sans"/>
                <a:cs typeface="DM Sans"/>
                <a:sym typeface="DM Sans"/>
              </a:rPr>
              <a:t>Los query params viene después del signo ? </a:t>
            </a:r>
            <a:endParaRPr sz="1350">
              <a:latin typeface="DM Sans"/>
              <a:ea typeface="DM Sans"/>
              <a:cs typeface="DM Sans"/>
              <a:sym typeface="DM Sans"/>
            </a:endParaRPr>
          </a:p>
          <a:p>
            <a:pPr indent="-314325" lvl="0" marL="457200" marR="0" rtl="0" algn="l">
              <a:lnSpc>
                <a:spcPct val="150000"/>
              </a:lnSpc>
              <a:spcBef>
                <a:spcPts val="0"/>
              </a:spcBef>
              <a:spcAft>
                <a:spcPts val="0"/>
              </a:spcAft>
              <a:buClr>
                <a:schemeClr val="accent4"/>
              </a:buClr>
              <a:buSzPts val="1350"/>
              <a:buFont typeface="DM Sans"/>
              <a:buChar char="✓"/>
            </a:pPr>
            <a:r>
              <a:rPr lang="es" sz="1350">
                <a:latin typeface="DM Sans"/>
                <a:ea typeface="DM Sans"/>
                <a:cs typeface="DM Sans"/>
                <a:sym typeface="DM Sans"/>
              </a:rPr>
              <a:t>Cada parámetro tendra key=value &amp; key2=value2</a:t>
            </a:r>
            <a:endParaRPr sz="1350">
              <a:latin typeface="DM Sans"/>
              <a:ea typeface="DM Sans"/>
              <a:cs typeface="DM Sans"/>
              <a:sym typeface="DM Sans"/>
            </a:endParaRPr>
          </a:p>
          <a:p>
            <a:pPr indent="-314325" lvl="0" marL="457200" marR="0" rtl="0" algn="l">
              <a:lnSpc>
                <a:spcPct val="150000"/>
              </a:lnSpc>
              <a:spcBef>
                <a:spcPts val="0"/>
              </a:spcBef>
              <a:spcAft>
                <a:spcPts val="0"/>
              </a:spcAft>
              <a:buClr>
                <a:schemeClr val="accent4"/>
              </a:buClr>
              <a:buSzPts val="1350"/>
              <a:buFont typeface="DM Sans"/>
              <a:buChar char="✓"/>
            </a:pPr>
            <a:r>
              <a:rPr lang="es" sz="1350">
                <a:latin typeface="DM Sans"/>
                <a:ea typeface="DM Sans"/>
                <a:cs typeface="DM Sans"/>
                <a:sym typeface="DM Sans"/>
              </a:rPr>
              <a:t>Cada parámetro se puede separar por &amp;</a:t>
            </a:r>
            <a:endParaRPr sz="1350">
              <a:latin typeface="DM Sans"/>
              <a:ea typeface="DM Sans"/>
              <a:cs typeface="DM Sans"/>
              <a:sym typeface="DM Sans"/>
            </a:endParaRPr>
          </a:p>
          <a:p>
            <a:pPr indent="0" lvl="0" marL="457200" marR="0" rtl="0" algn="l">
              <a:lnSpc>
                <a:spcPct val="100000"/>
              </a:lnSpc>
              <a:spcBef>
                <a:spcPts val="0"/>
              </a:spcBef>
              <a:spcAft>
                <a:spcPts val="0"/>
              </a:spcAft>
              <a:buNone/>
            </a:pPr>
            <a:r>
              <a:t/>
            </a:r>
            <a:endParaRPr sz="1350">
              <a:latin typeface="DM Sans"/>
              <a:ea typeface="DM Sans"/>
              <a:cs typeface="DM Sans"/>
              <a:sym typeface="DM Sans"/>
            </a:endParaRPr>
          </a:p>
          <a:p>
            <a:pPr indent="0" lvl="0" marL="457200" marR="0" rtl="0" algn="l">
              <a:lnSpc>
                <a:spcPct val="100000"/>
              </a:lnSpc>
              <a:spcBef>
                <a:spcPts val="0"/>
              </a:spcBef>
              <a:spcAft>
                <a:spcPts val="0"/>
              </a:spcAft>
              <a:buNone/>
            </a:pPr>
            <a:r>
              <a:rPr lang="es" sz="3150" u="sng">
                <a:solidFill>
                  <a:schemeClr val="hlink"/>
                </a:solidFill>
                <a:latin typeface="DM Sans"/>
                <a:ea typeface="DM Sans"/>
                <a:cs typeface="DM Sans"/>
                <a:sym typeface="DM Sans"/>
                <a:hlinkClick r:id="rId3"/>
              </a:rPr>
              <a:t>http://url.com/find</a:t>
            </a:r>
            <a:r>
              <a:rPr lang="es" sz="3150" u="sng">
                <a:solidFill>
                  <a:schemeClr val="accent1"/>
                </a:solidFill>
                <a:latin typeface="DM Sans"/>
                <a:ea typeface="DM Sans"/>
                <a:cs typeface="DM Sans"/>
                <a:sym typeface="DM Sans"/>
                <a:hlinkClick r:id="rId4">
                  <a:extLst>
                    <a:ext uri="{A12FA001-AC4F-418D-AE19-62706E023703}">
                      <ahyp:hlinkClr val="tx"/>
                    </a:ext>
                  </a:extLst>
                </a:hlinkClick>
              </a:rPr>
              <a:t>?</a:t>
            </a:r>
            <a:r>
              <a:rPr lang="es" sz="3150" u="sng">
                <a:solidFill>
                  <a:srgbClr val="EF89D2"/>
                </a:solidFill>
                <a:latin typeface="DM Sans"/>
                <a:ea typeface="DM Sans"/>
                <a:cs typeface="DM Sans"/>
                <a:sym typeface="DM Sans"/>
                <a:hlinkClick r:id="rId5">
                  <a:extLst>
                    <a:ext uri="{A12FA001-AC4F-418D-AE19-62706E023703}">
                      <ahyp:hlinkClr val="tx"/>
                    </a:ext>
                  </a:extLst>
                </a:hlinkClick>
              </a:rPr>
              <a:t>type=order&amp;id=1234</a:t>
            </a:r>
            <a:endParaRPr sz="3150">
              <a:solidFill>
                <a:srgbClr val="EF89D2"/>
              </a:solidFill>
              <a:latin typeface="DM Sans"/>
              <a:ea typeface="DM Sans"/>
              <a:cs typeface="DM Sans"/>
              <a:sym typeface="DM Sans"/>
            </a:endParaRPr>
          </a:p>
          <a:p>
            <a:pPr indent="0" lvl="0" marL="0" marR="0" rtl="0" algn="l">
              <a:lnSpc>
                <a:spcPct val="100000"/>
              </a:lnSpc>
              <a:spcBef>
                <a:spcPts val="0"/>
              </a:spcBef>
              <a:spcAft>
                <a:spcPts val="0"/>
              </a:spcAft>
              <a:buClr>
                <a:schemeClr val="dk1"/>
              </a:buClr>
              <a:buSzPts val="1100"/>
              <a:buFont typeface="Arial"/>
              <a:buNone/>
            </a:pPr>
            <a:r>
              <a:t/>
            </a:r>
            <a:endParaRPr sz="1350">
              <a:latin typeface="DM Sans"/>
              <a:ea typeface="DM Sans"/>
              <a:cs typeface="DM Sans"/>
              <a:sym typeface="DM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31"/>
          <p:cNvSpPr txBox="1"/>
          <p:nvPr/>
        </p:nvSpPr>
        <p:spPr>
          <a:xfrm>
            <a:off x="473350" y="619525"/>
            <a:ext cx="8141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chemeClr val="dk1"/>
              </a:buClr>
              <a:buSzPts val="1100"/>
              <a:buFont typeface="Arial"/>
              <a:buNone/>
            </a:pPr>
            <a:r>
              <a:rPr b="1" lang="es" sz="4000">
                <a:solidFill>
                  <a:schemeClr val="dk1"/>
                </a:solidFill>
                <a:latin typeface="DM Sans"/>
                <a:ea typeface="DM Sans"/>
                <a:cs typeface="DM Sans"/>
                <a:sym typeface="DM Sans"/>
              </a:rPr>
              <a:t>RECURSOS/RESTFUL</a:t>
            </a:r>
            <a:endParaRPr b="1" sz="4000">
              <a:solidFill>
                <a:schemeClr val="dk1"/>
              </a:solidFill>
              <a:latin typeface="DM Sans"/>
              <a:ea typeface="DM Sans"/>
              <a:cs typeface="DM Sans"/>
              <a:sym typeface="DM Sans"/>
            </a:endParaRPr>
          </a:p>
        </p:txBody>
      </p:sp>
      <p:sp>
        <p:nvSpPr>
          <p:cNvPr id="149" name="Google Shape;149;p31"/>
          <p:cNvSpPr txBox="1"/>
          <p:nvPr/>
        </p:nvSpPr>
        <p:spPr>
          <a:xfrm>
            <a:off x="473350" y="1908175"/>
            <a:ext cx="3834600" cy="2055000"/>
          </a:xfrm>
          <a:prstGeom prst="rect">
            <a:avLst/>
          </a:prstGeom>
          <a:noFill/>
          <a:ln>
            <a:noFill/>
          </a:ln>
        </p:spPr>
        <p:txBody>
          <a:bodyPr anchorCtr="0" anchor="t" bIns="91425" lIns="91425" spcFirstLastPara="1" rIns="91425" wrap="square" tIns="91425">
            <a:spAutoFit/>
          </a:bodyPr>
          <a:lstStyle/>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Cuando se crea y provee un servicio basado y pensado en términos de recursos, y se respetan las convenciones de verbo/método y código de respuesta, estamos frente a un diseño arquitectural de tipo REST.</a:t>
            </a:r>
            <a:endParaRPr sz="1350">
              <a:latin typeface="DM Sans"/>
              <a:ea typeface="DM Sans"/>
              <a:cs typeface="DM Sans"/>
              <a:sym typeface="DM Sans"/>
            </a:endParaRPr>
          </a:p>
          <a:p>
            <a:pPr indent="0" lvl="0" marL="457200" marR="0" rtl="0" algn="l">
              <a:lnSpc>
                <a:spcPct val="100000"/>
              </a:lnSpc>
              <a:spcBef>
                <a:spcPts val="0"/>
              </a:spcBef>
              <a:spcAft>
                <a:spcPts val="0"/>
              </a:spcAft>
              <a:buNone/>
            </a:pPr>
            <a:r>
              <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Si además transferimos javascript o xml, es conocido como AJAX. </a:t>
            </a:r>
            <a:endParaRPr sz="1350">
              <a:latin typeface="DM Sans"/>
              <a:ea typeface="DM Sans"/>
              <a:cs typeface="DM Sans"/>
              <a:sym typeface="DM Sans"/>
            </a:endParaRPr>
          </a:p>
        </p:txBody>
      </p:sp>
      <p:sp>
        <p:nvSpPr>
          <p:cNvPr id="150" name="Google Shape;150;p31"/>
          <p:cNvSpPr txBox="1"/>
          <p:nvPr/>
        </p:nvSpPr>
        <p:spPr>
          <a:xfrm>
            <a:off x="5614450" y="2354100"/>
            <a:ext cx="3000000" cy="7389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None/>
            </a:pPr>
            <a:r>
              <a:rPr b="1" lang="es" sz="4000">
                <a:solidFill>
                  <a:schemeClr val="accent4"/>
                </a:solidFill>
                <a:latin typeface="DM Sans"/>
                <a:ea typeface="DM Sans"/>
                <a:cs typeface="DM Sans"/>
                <a:sym typeface="DM Sans"/>
              </a:rPr>
              <a:t>API REST</a:t>
            </a:r>
            <a:endParaRPr>
              <a:solidFill>
                <a:schemeClr val="accent4"/>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2"/>
          <p:cNvSpPr txBox="1"/>
          <p:nvPr/>
        </p:nvSpPr>
        <p:spPr>
          <a:xfrm>
            <a:off x="457725" y="1071050"/>
            <a:ext cx="4730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4000"/>
              <a:buFont typeface="Arial"/>
              <a:buNone/>
            </a:pPr>
            <a:r>
              <a:rPr b="1" lang="es" sz="4000">
                <a:solidFill>
                  <a:schemeClr val="dk1"/>
                </a:solidFill>
                <a:latin typeface="DM Sans"/>
                <a:ea typeface="DM Sans"/>
                <a:cs typeface="DM Sans"/>
                <a:sym typeface="DM Sans"/>
              </a:rPr>
              <a:t>HEADERS</a:t>
            </a:r>
            <a:endParaRPr b="1" i="0" sz="4000" u="none" cap="none" strike="noStrike">
              <a:solidFill>
                <a:schemeClr val="dk1"/>
              </a:solidFill>
              <a:latin typeface="DM Sans"/>
              <a:ea typeface="DM Sans"/>
              <a:cs typeface="DM Sans"/>
              <a:sym typeface="DM Sans"/>
            </a:endParaRPr>
          </a:p>
        </p:txBody>
      </p:sp>
      <p:sp>
        <p:nvSpPr>
          <p:cNvPr id="156" name="Google Shape;156;p32"/>
          <p:cNvSpPr txBox="1"/>
          <p:nvPr/>
        </p:nvSpPr>
        <p:spPr>
          <a:xfrm>
            <a:off x="457725" y="2211625"/>
            <a:ext cx="4730100" cy="2065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usan para:</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Definir las respuestas soportadas, requeridas o preferidas.</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Agregar información extra:</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Auth tokens, cookies.</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Lenguaje preferido.</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Si acepta contenido cacheado.</a:t>
            </a:r>
            <a:endParaRPr sz="1350">
              <a:latin typeface="DM Sans"/>
              <a:ea typeface="DM Sans"/>
              <a:cs typeface="DM Sans"/>
              <a:sym typeface="DM Sans"/>
            </a:endParaRPr>
          </a:p>
          <a:p>
            <a:pPr indent="-314325" lvl="0" marL="457200" marR="0" rtl="0" algn="l">
              <a:lnSpc>
                <a:spcPct val="115000"/>
              </a:lnSpc>
              <a:spcBef>
                <a:spcPts val="0"/>
              </a:spcBef>
              <a:spcAft>
                <a:spcPts val="0"/>
              </a:spcAft>
              <a:buClr>
                <a:schemeClr val="accent4"/>
              </a:buClr>
              <a:buSzPts val="1350"/>
              <a:buFont typeface="DM Sans"/>
              <a:buChar char="✓"/>
            </a:pPr>
            <a:r>
              <a:rPr lang="es" sz="1350">
                <a:latin typeface="DM Sans"/>
                <a:ea typeface="DM Sans"/>
                <a:cs typeface="DM Sans"/>
                <a:sym typeface="DM Sans"/>
              </a:rPr>
              <a:t>Lo que quieras en forma de texto.</a:t>
            </a:r>
            <a:endParaRPr sz="1350">
              <a:latin typeface="DM Sans"/>
              <a:ea typeface="DM Sans"/>
              <a:cs typeface="DM Sans"/>
              <a:sym typeface="DM Sans"/>
            </a:endParaRPr>
          </a:p>
        </p:txBody>
      </p:sp>
      <p:pic>
        <p:nvPicPr>
          <p:cNvPr id="157" name="Google Shape;157;p32"/>
          <p:cNvPicPr preferRelativeResize="0"/>
          <p:nvPr/>
        </p:nvPicPr>
        <p:blipFill rotWithShape="1">
          <a:blip r:embed="rId3">
            <a:alphaModFix/>
          </a:blip>
          <a:srcRect b="0" l="0" r="27362" t="0"/>
          <a:stretch/>
        </p:blipFill>
        <p:spPr>
          <a:xfrm>
            <a:off x="4973250" y="737463"/>
            <a:ext cx="3742200" cy="366857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pic>
        <p:nvPicPr>
          <p:cNvPr id="162" name="Google Shape;162;p33"/>
          <p:cNvPicPr preferRelativeResize="0"/>
          <p:nvPr/>
        </p:nvPicPr>
        <p:blipFill rotWithShape="1">
          <a:blip r:embed="rId3">
            <a:alphaModFix/>
          </a:blip>
          <a:srcRect b="0" l="0" r="0" t="0"/>
          <a:stretch/>
        </p:blipFill>
        <p:spPr>
          <a:xfrm>
            <a:off x="7811413" y="4692275"/>
            <a:ext cx="1150750" cy="267575"/>
          </a:xfrm>
          <a:prstGeom prst="rect">
            <a:avLst/>
          </a:prstGeom>
          <a:noFill/>
          <a:ln>
            <a:noFill/>
          </a:ln>
        </p:spPr>
      </p:pic>
      <p:pic>
        <p:nvPicPr>
          <p:cNvPr id="163" name="Google Shape;163;p33"/>
          <p:cNvPicPr preferRelativeResize="0"/>
          <p:nvPr/>
        </p:nvPicPr>
        <p:blipFill>
          <a:blip r:embed="rId4">
            <a:alphaModFix/>
          </a:blip>
          <a:stretch>
            <a:fillRect/>
          </a:stretch>
        </p:blipFill>
        <p:spPr>
          <a:xfrm>
            <a:off x="1049157" y="969612"/>
            <a:ext cx="6956418" cy="3204275"/>
          </a:xfrm>
          <a:prstGeom prst="rect">
            <a:avLst/>
          </a:prstGeom>
          <a:noFill/>
          <a:ln>
            <a:noFill/>
          </a:ln>
        </p:spPr>
      </p:pic>
      <p:sp>
        <p:nvSpPr>
          <p:cNvPr id="164" name="Google Shape;164;p33"/>
          <p:cNvSpPr txBox="1"/>
          <p:nvPr/>
        </p:nvSpPr>
        <p:spPr>
          <a:xfrm>
            <a:off x="937475" y="251275"/>
            <a:ext cx="4730100" cy="7389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4000"/>
              <a:buFont typeface="Arial"/>
              <a:buNone/>
            </a:pPr>
            <a:r>
              <a:rPr b="1" lang="es" sz="4000">
                <a:solidFill>
                  <a:schemeClr val="dk1"/>
                </a:solidFill>
                <a:latin typeface="DM Sans"/>
                <a:ea typeface="DM Sans"/>
                <a:cs typeface="DM Sans"/>
                <a:sym typeface="DM Sans"/>
              </a:rPr>
              <a:t>HEADERS</a:t>
            </a:r>
            <a:endParaRPr b="1" i="0" sz="4000" u="none" cap="none" strike="noStrike">
              <a:solidFill>
                <a:schemeClr val="dk1"/>
              </a:solidFill>
              <a:latin typeface="DM Sans"/>
              <a:ea typeface="DM Sans"/>
              <a:cs typeface="DM Sans"/>
              <a:sym typeface="DM Sans"/>
            </a:endParaRPr>
          </a:p>
        </p:txBody>
      </p:sp>
      <p:sp>
        <p:nvSpPr>
          <p:cNvPr id="165" name="Google Shape;165;p33"/>
          <p:cNvSpPr txBox="1"/>
          <p:nvPr/>
        </p:nvSpPr>
        <p:spPr>
          <a:xfrm>
            <a:off x="972950" y="4305725"/>
            <a:ext cx="67623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sz="1200">
                <a:highlight>
                  <a:schemeClr val="accent6"/>
                </a:highlight>
                <a:latin typeface="DM Sans"/>
                <a:ea typeface="DM Sans"/>
                <a:cs typeface="DM Sans"/>
                <a:sym typeface="DM Sans"/>
              </a:rPr>
              <a:t>Los puedes leer desde la consola de Chrome e identificar todas sus partes. Habrá headers del request y del response (los envía el servidor).</a:t>
            </a:r>
            <a:endParaRPr sz="1200">
              <a:highlight>
                <a:schemeClr val="accent6"/>
              </a:highlight>
              <a:latin typeface="DM Sans"/>
              <a:ea typeface="DM Sans"/>
              <a:cs typeface="DM Sans"/>
              <a:sym typeface="DM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34"/>
          <p:cNvSpPr txBox="1"/>
          <p:nvPr/>
        </p:nvSpPr>
        <p:spPr>
          <a:xfrm>
            <a:off x="1461300" y="1598325"/>
            <a:ext cx="6221400" cy="1431600"/>
          </a:xfrm>
          <a:prstGeom prst="rect">
            <a:avLst/>
          </a:prstGeom>
          <a:noFill/>
          <a:ln>
            <a:noFill/>
          </a:ln>
        </p:spPr>
        <p:txBody>
          <a:bodyPr anchorCtr="0" anchor="t" bIns="91425" lIns="91425" spcFirstLastPara="1" rIns="91425" wrap="square" tIns="91425">
            <a:spAutoFit/>
          </a:bodyPr>
          <a:lstStyle/>
          <a:p>
            <a:pPr indent="0" lvl="0" marL="0" marR="0" rtl="0" algn="ctr">
              <a:lnSpc>
                <a:spcPct val="90000"/>
              </a:lnSpc>
              <a:spcBef>
                <a:spcPts val="0"/>
              </a:spcBef>
              <a:spcAft>
                <a:spcPts val="0"/>
              </a:spcAft>
              <a:buClr>
                <a:srgbClr val="000000"/>
              </a:buClr>
              <a:buSzPts val="5000"/>
              <a:buFont typeface="Arial"/>
              <a:buNone/>
            </a:pPr>
            <a:r>
              <a:rPr b="0" i="0" lang="es" sz="5000" u="none" cap="none" strike="noStrike">
                <a:solidFill>
                  <a:srgbClr val="E8E7E3"/>
                </a:solidFill>
                <a:latin typeface="Arial"/>
                <a:ea typeface="Arial"/>
                <a:cs typeface="Arial"/>
                <a:sym typeface="Arial"/>
              </a:rPr>
              <a:t>☕</a:t>
            </a:r>
            <a:endParaRPr b="0" i="0" sz="5000" u="none" cap="none" strike="noStrike">
              <a:solidFill>
                <a:srgbClr val="E8E7E3"/>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4000"/>
              <a:buFont typeface="Arial"/>
              <a:buNone/>
            </a:pPr>
            <a:r>
              <a:rPr b="1" i="0" lang="es" sz="4000" u="none" cap="none" strike="noStrike">
                <a:solidFill>
                  <a:srgbClr val="EAFF6A"/>
                </a:solidFill>
                <a:latin typeface="DM Sans"/>
                <a:ea typeface="DM Sans"/>
                <a:cs typeface="DM Sans"/>
                <a:sym typeface="DM Sans"/>
              </a:rPr>
              <a:t>Break</a:t>
            </a:r>
            <a:endParaRPr b="1" i="0" sz="4000" u="none" cap="none" strike="noStrike">
              <a:solidFill>
                <a:schemeClr val="lt1"/>
              </a:solidFill>
              <a:latin typeface="DM Sans"/>
              <a:ea typeface="DM Sans"/>
              <a:cs typeface="DM Sans"/>
              <a:sym typeface="DM Sans"/>
            </a:endParaRPr>
          </a:p>
        </p:txBody>
      </p:sp>
      <p:sp>
        <p:nvSpPr>
          <p:cNvPr id="171" name="Google Shape;171;p34"/>
          <p:cNvSpPr txBox="1"/>
          <p:nvPr/>
        </p:nvSpPr>
        <p:spPr>
          <a:xfrm>
            <a:off x="2998200" y="2971950"/>
            <a:ext cx="31476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000"/>
              <a:buFont typeface="Arial"/>
              <a:buNone/>
            </a:pPr>
            <a:r>
              <a:rPr b="0" i="0" lang="es" sz="2000" u="none" cap="none" strike="noStrike">
                <a:solidFill>
                  <a:schemeClr val="lt1"/>
                </a:solidFill>
                <a:latin typeface="DM Sans"/>
                <a:ea typeface="DM Sans"/>
                <a:cs typeface="DM Sans"/>
                <a:sym typeface="DM Sans"/>
              </a:rPr>
              <a:t>¡</a:t>
            </a:r>
            <a:r>
              <a:rPr lang="es" sz="2000">
                <a:solidFill>
                  <a:schemeClr val="lt1"/>
                </a:solidFill>
                <a:latin typeface="DM Sans"/>
                <a:ea typeface="DM Sans"/>
                <a:cs typeface="DM Sans"/>
                <a:sym typeface="DM Sans"/>
              </a:rPr>
              <a:t>5</a:t>
            </a:r>
            <a:r>
              <a:rPr b="0" i="0" lang="es" sz="2000" u="none" cap="none" strike="noStrike">
                <a:solidFill>
                  <a:schemeClr val="lt1"/>
                </a:solidFill>
                <a:latin typeface="DM Sans"/>
                <a:ea typeface="DM Sans"/>
                <a:cs typeface="DM Sans"/>
                <a:sym typeface="DM Sans"/>
              </a:rPr>
              <a:t> minutos y volvemos!</a:t>
            </a:r>
            <a:endParaRPr b="0" i="0" sz="2000" u="none" cap="none" strike="noStrike">
              <a:solidFill>
                <a:schemeClr val="lt1"/>
              </a:solidFill>
              <a:latin typeface="DM Sans"/>
              <a:ea typeface="DM Sans"/>
              <a:cs typeface="DM Sans"/>
              <a:sym typeface="DM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35"/>
          <p:cNvSpPr txBox="1"/>
          <p:nvPr/>
        </p:nvSpPr>
        <p:spPr>
          <a:xfrm>
            <a:off x="1404863" y="1941375"/>
            <a:ext cx="6221400" cy="1293000"/>
          </a:xfrm>
          <a:prstGeom prst="rect">
            <a:avLst/>
          </a:prstGeom>
          <a:noFill/>
          <a:ln>
            <a:noFill/>
          </a:ln>
        </p:spPr>
        <p:txBody>
          <a:bodyPr anchorCtr="0" anchor="t" bIns="91425" lIns="91425" spcFirstLastPara="1" rIns="91425" wrap="square" tIns="91425">
            <a:spAutoFit/>
          </a:bodyPr>
          <a:lstStyle/>
          <a:p>
            <a:pPr indent="0" lvl="0" marL="0" marR="0" rtl="0" algn="ctr">
              <a:lnSpc>
                <a:spcPct val="90000"/>
              </a:lnSpc>
              <a:spcBef>
                <a:spcPts val="0"/>
              </a:spcBef>
              <a:spcAft>
                <a:spcPts val="0"/>
              </a:spcAft>
              <a:buClr>
                <a:schemeClr val="dk1"/>
              </a:buClr>
              <a:buSzPts val="1100"/>
              <a:buFont typeface="Arial"/>
              <a:buNone/>
            </a:pPr>
            <a:r>
              <a:rPr b="1" lang="es" sz="4000">
                <a:solidFill>
                  <a:schemeClr val="accent4"/>
                </a:solidFill>
                <a:latin typeface="DM Sans"/>
                <a:ea typeface="DM Sans"/>
                <a:cs typeface="DM Sans"/>
                <a:sym typeface="DM Sans"/>
              </a:rPr>
              <a:t>REQUESTS EN EL BROWSER</a:t>
            </a:r>
            <a:endParaRPr b="1" sz="4000">
              <a:solidFill>
                <a:schemeClr val="accent4"/>
              </a:solidFill>
              <a:latin typeface="DM Sans"/>
              <a:ea typeface="DM Sans"/>
              <a:cs typeface="DM Sans"/>
              <a:sym typeface="DM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36"/>
          <p:cNvSpPr/>
          <p:nvPr/>
        </p:nvSpPr>
        <p:spPr>
          <a:xfrm>
            <a:off x="647400" y="1278650"/>
            <a:ext cx="7849200" cy="2960400"/>
          </a:xfrm>
          <a:prstGeom prst="rect">
            <a:avLst/>
          </a:prstGeom>
          <a:solidFill>
            <a:srgbClr val="EAFF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36"/>
          <p:cNvSpPr txBox="1"/>
          <p:nvPr/>
        </p:nvSpPr>
        <p:spPr>
          <a:xfrm>
            <a:off x="1461300" y="345975"/>
            <a:ext cx="6221400" cy="669600"/>
          </a:xfrm>
          <a:prstGeom prst="rect">
            <a:avLst/>
          </a:prstGeom>
          <a:noFill/>
          <a:ln>
            <a:noFill/>
          </a:ln>
        </p:spPr>
        <p:txBody>
          <a:bodyPr anchorCtr="0" anchor="t" bIns="91425" lIns="91425" spcFirstLastPara="1" rIns="91425" wrap="square" tIns="91425">
            <a:spAutoFit/>
          </a:bodyPr>
          <a:lstStyle/>
          <a:p>
            <a:pPr indent="0" lvl="0" marL="0" marR="0" rtl="0" algn="ctr">
              <a:lnSpc>
                <a:spcPct val="90000"/>
              </a:lnSpc>
              <a:spcBef>
                <a:spcPts val="0"/>
              </a:spcBef>
              <a:spcAft>
                <a:spcPts val="0"/>
              </a:spcAft>
              <a:buClr>
                <a:schemeClr val="dk1"/>
              </a:buClr>
              <a:buSzPts val="1100"/>
              <a:buFont typeface="Arial"/>
              <a:buNone/>
            </a:pPr>
            <a:r>
              <a:rPr b="1" lang="es" sz="3500">
                <a:solidFill>
                  <a:schemeClr val="lt1"/>
                </a:solidFill>
                <a:latin typeface="DM Sans"/>
                <a:ea typeface="DM Sans"/>
                <a:cs typeface="DM Sans"/>
                <a:sym typeface="DM Sans"/>
              </a:rPr>
              <a:t>Utilizando Fetch</a:t>
            </a:r>
            <a:endParaRPr b="1" sz="3500">
              <a:solidFill>
                <a:schemeClr val="lt1"/>
              </a:solidFill>
              <a:latin typeface="DM Sans"/>
              <a:ea typeface="DM Sans"/>
              <a:cs typeface="DM Sans"/>
              <a:sym typeface="DM Sans"/>
            </a:endParaRPr>
          </a:p>
        </p:txBody>
      </p:sp>
      <p:sp>
        <p:nvSpPr>
          <p:cNvPr id="183" name="Google Shape;183;p36"/>
          <p:cNvSpPr txBox="1"/>
          <p:nvPr/>
        </p:nvSpPr>
        <p:spPr>
          <a:xfrm>
            <a:off x="897275" y="1329038"/>
            <a:ext cx="6904800" cy="808200"/>
          </a:xfrm>
          <a:prstGeom prst="rect">
            <a:avLst/>
          </a:prstGeom>
          <a:noFill/>
          <a:ln>
            <a:noFill/>
          </a:ln>
        </p:spPr>
        <p:txBody>
          <a:bodyPr anchorCtr="0" anchor="t" bIns="91425" lIns="91425" spcFirstLastPara="1" rIns="91425" wrap="square" tIns="91425">
            <a:spAutoFit/>
          </a:bodyPr>
          <a:lstStyle/>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Podemos hacer un request de manera simple, utilizando Fetch API.</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Esta nos provee una promesa, que se resuelve al terminar el request.</a:t>
            </a:r>
            <a:endParaRPr sz="1350">
              <a:latin typeface="DM Sans"/>
              <a:ea typeface="DM Sans"/>
              <a:cs typeface="DM Sans"/>
              <a:sym typeface="DM Sans"/>
            </a:endParaRPr>
          </a:p>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Esta respuesta nos permite hacer varias cosas, como almacenar datos.</a:t>
            </a:r>
            <a:endParaRPr sz="1350">
              <a:latin typeface="DM Sans"/>
              <a:ea typeface="DM Sans"/>
              <a:cs typeface="DM Sans"/>
              <a:sym typeface="DM Sans"/>
            </a:endParaRPr>
          </a:p>
        </p:txBody>
      </p:sp>
      <p:sp>
        <p:nvSpPr>
          <p:cNvPr id="184" name="Google Shape;184;p36"/>
          <p:cNvSpPr txBox="1"/>
          <p:nvPr/>
        </p:nvSpPr>
        <p:spPr>
          <a:xfrm>
            <a:off x="1712300" y="2388550"/>
            <a:ext cx="5203200" cy="1659300"/>
          </a:xfrm>
          <a:prstGeom prst="rect">
            <a:avLst/>
          </a:prstGeom>
          <a:solidFill>
            <a:srgbClr val="666666"/>
          </a:solid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i="0" lang="es" u="none" cap="none" strike="noStrike">
                <a:solidFill>
                  <a:srgbClr val="EFEFEF"/>
                </a:solidFill>
                <a:latin typeface="DM Sans"/>
                <a:ea typeface="DM Sans"/>
                <a:cs typeface="DM Sans"/>
                <a:sym typeface="DM Sans"/>
              </a:rPr>
              <a:t>fetch('https://api.coder.com.ar/user/1234')</a:t>
            </a:r>
            <a:endParaRPr i="0" u="none" cap="none" strike="noStrike">
              <a:solidFill>
                <a:srgbClr val="EFEFEF"/>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rPr i="0" lang="es" u="none" cap="none" strike="noStrike">
                <a:solidFill>
                  <a:srgbClr val="EFEFEF"/>
                </a:solidFill>
                <a:latin typeface="DM Sans"/>
                <a:ea typeface="DM Sans"/>
                <a:cs typeface="DM Sans"/>
                <a:sym typeface="DM Sans"/>
              </a:rPr>
              <a:t>  .then(function(response) {</a:t>
            </a:r>
            <a:endParaRPr i="0" u="none" cap="none" strike="noStrike">
              <a:solidFill>
                <a:srgbClr val="EFEFEF"/>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rPr i="0" lang="es" u="none" cap="none" strike="noStrike">
                <a:solidFill>
                  <a:srgbClr val="EFEFEF"/>
                </a:solidFill>
                <a:latin typeface="DM Sans"/>
                <a:ea typeface="DM Sans"/>
                <a:cs typeface="DM Sans"/>
                <a:sym typeface="DM Sans"/>
              </a:rPr>
              <a:t>    return response.json();</a:t>
            </a:r>
            <a:endParaRPr i="0" u="none" cap="none" strike="noStrike">
              <a:solidFill>
                <a:srgbClr val="EFEFEF"/>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rPr i="0" lang="es" u="none" cap="none" strike="noStrike">
                <a:solidFill>
                  <a:srgbClr val="EFEFEF"/>
                </a:solidFill>
                <a:latin typeface="DM Sans"/>
                <a:ea typeface="DM Sans"/>
                <a:cs typeface="DM Sans"/>
                <a:sym typeface="DM Sans"/>
              </a:rPr>
              <a:t>  })</a:t>
            </a:r>
            <a:endParaRPr i="0" u="none" cap="none" strike="noStrike">
              <a:solidFill>
                <a:srgbClr val="EFEFEF"/>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rPr i="0" lang="es" u="none" cap="none" strike="noStrike">
                <a:solidFill>
                  <a:srgbClr val="EFEFEF"/>
                </a:solidFill>
                <a:latin typeface="DM Sans"/>
                <a:ea typeface="DM Sans"/>
                <a:cs typeface="DM Sans"/>
                <a:sym typeface="DM Sans"/>
              </a:rPr>
              <a:t>  .then(function(user) {</a:t>
            </a:r>
            <a:endParaRPr i="0" u="none" cap="none" strike="noStrike">
              <a:solidFill>
                <a:srgbClr val="EFEFEF"/>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rPr i="0" lang="es" u="none" cap="none" strike="noStrike">
                <a:solidFill>
                  <a:srgbClr val="EFEFEF"/>
                </a:solidFill>
                <a:latin typeface="DM Sans"/>
                <a:ea typeface="DM Sans"/>
                <a:cs typeface="DM Sans"/>
                <a:sym typeface="DM Sans"/>
              </a:rPr>
              <a:t>    console.log(user);</a:t>
            </a:r>
            <a:endParaRPr i="0" u="none" cap="none" strike="noStrike">
              <a:solidFill>
                <a:srgbClr val="EFEFEF"/>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100"/>
              <a:buFont typeface="Arial"/>
              <a:buNone/>
            </a:pPr>
            <a:r>
              <a:rPr i="0" lang="es" u="none" cap="none" strike="noStrike">
                <a:solidFill>
                  <a:srgbClr val="EFEFEF"/>
                </a:solidFill>
                <a:latin typeface="DM Sans"/>
                <a:ea typeface="DM Sans"/>
                <a:cs typeface="DM Sans"/>
                <a:sym typeface="DM Sans"/>
              </a:rPr>
              <a:t>  });</a:t>
            </a:r>
            <a:endParaRPr i="0" u="none" cap="none" strike="noStrike">
              <a:solidFill>
                <a:srgbClr val="EFEFEF"/>
              </a:solidFill>
              <a:latin typeface="DM Sans"/>
              <a:ea typeface="DM Sans"/>
              <a:cs typeface="DM Sans"/>
              <a:sym typeface="DM Sans"/>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EFEFEF"/>
              </a:solidFill>
              <a:latin typeface="Didact Gothic"/>
              <a:ea typeface="Didact Gothic"/>
              <a:cs typeface="Didact Gothic"/>
              <a:sym typeface="Didact Gothic"/>
            </a:endParaRPr>
          </a:p>
        </p:txBody>
      </p:sp>
      <p:sp>
        <p:nvSpPr>
          <p:cNvPr id="185" name="Google Shape;185;p36"/>
          <p:cNvSpPr txBox="1"/>
          <p:nvPr/>
        </p:nvSpPr>
        <p:spPr>
          <a:xfrm>
            <a:off x="557531" y="4502125"/>
            <a:ext cx="6375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Repo: </a:t>
            </a:r>
            <a:r>
              <a:rPr lang="es"/>
              <a:t>https://github.com/julioavantt/teacher_js_fetch.git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7"/>
          <p:cNvSpPr/>
          <p:nvPr/>
        </p:nvSpPr>
        <p:spPr>
          <a:xfrm>
            <a:off x="647400" y="1189150"/>
            <a:ext cx="7849200" cy="3317400"/>
          </a:xfrm>
          <a:prstGeom prst="rect">
            <a:avLst/>
          </a:prstGeom>
          <a:solidFill>
            <a:srgbClr val="EAFF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37"/>
          <p:cNvSpPr txBox="1"/>
          <p:nvPr/>
        </p:nvSpPr>
        <p:spPr>
          <a:xfrm>
            <a:off x="1461300" y="345975"/>
            <a:ext cx="6221400" cy="669600"/>
          </a:xfrm>
          <a:prstGeom prst="rect">
            <a:avLst/>
          </a:prstGeom>
          <a:noFill/>
          <a:ln>
            <a:noFill/>
          </a:ln>
        </p:spPr>
        <p:txBody>
          <a:bodyPr anchorCtr="0" anchor="t" bIns="91425" lIns="91425" spcFirstLastPara="1" rIns="91425" wrap="square" tIns="91425">
            <a:spAutoFit/>
          </a:bodyPr>
          <a:lstStyle/>
          <a:p>
            <a:pPr indent="0" lvl="0" marL="0" marR="0" rtl="0" algn="ctr">
              <a:lnSpc>
                <a:spcPct val="90000"/>
              </a:lnSpc>
              <a:spcBef>
                <a:spcPts val="0"/>
              </a:spcBef>
              <a:spcAft>
                <a:spcPts val="0"/>
              </a:spcAft>
              <a:buClr>
                <a:schemeClr val="dk1"/>
              </a:buClr>
              <a:buSzPts val="1100"/>
              <a:buFont typeface="Arial"/>
              <a:buNone/>
            </a:pPr>
            <a:r>
              <a:rPr b="1" lang="es" sz="3500">
                <a:solidFill>
                  <a:schemeClr val="lt1"/>
                </a:solidFill>
                <a:latin typeface="DM Sans"/>
                <a:ea typeface="DM Sans"/>
                <a:cs typeface="DM Sans"/>
                <a:sym typeface="DM Sans"/>
              </a:rPr>
              <a:t>CORS</a:t>
            </a:r>
            <a:endParaRPr b="1" sz="3500">
              <a:solidFill>
                <a:schemeClr val="lt1"/>
              </a:solidFill>
              <a:latin typeface="DM Sans"/>
              <a:ea typeface="DM Sans"/>
              <a:cs typeface="DM Sans"/>
              <a:sym typeface="DM Sans"/>
            </a:endParaRPr>
          </a:p>
        </p:txBody>
      </p:sp>
      <p:sp>
        <p:nvSpPr>
          <p:cNvPr id="192" name="Google Shape;192;p37"/>
          <p:cNvSpPr txBox="1"/>
          <p:nvPr/>
        </p:nvSpPr>
        <p:spPr>
          <a:xfrm>
            <a:off x="903500" y="1342300"/>
            <a:ext cx="6904800" cy="392400"/>
          </a:xfrm>
          <a:prstGeom prst="rect">
            <a:avLst/>
          </a:prstGeom>
          <a:noFill/>
          <a:ln>
            <a:noFill/>
          </a:ln>
        </p:spPr>
        <p:txBody>
          <a:bodyPr anchorCtr="0" anchor="t" bIns="91425" lIns="91425" spcFirstLastPara="1" rIns="91425" wrap="square" tIns="91425">
            <a:spAutoFit/>
          </a:bodyPr>
          <a:lstStyle/>
          <a:p>
            <a:pPr indent="-314325" lvl="0" marL="457200" marR="0" rtl="0" algn="l">
              <a:lnSpc>
                <a:spcPct val="100000"/>
              </a:lnSpc>
              <a:spcBef>
                <a:spcPts val="0"/>
              </a:spcBef>
              <a:spcAft>
                <a:spcPts val="0"/>
              </a:spcAft>
              <a:buClr>
                <a:schemeClr val="accent4"/>
              </a:buClr>
              <a:buSzPts val="1350"/>
              <a:buFont typeface="DM Sans"/>
              <a:buChar char="✓"/>
            </a:pPr>
            <a:r>
              <a:rPr lang="es" sz="1350">
                <a:latin typeface="DM Sans"/>
                <a:ea typeface="DM Sans"/>
                <a:cs typeface="DM Sans"/>
                <a:sym typeface="DM Sans"/>
              </a:rPr>
              <a:t>Al realizar un request, nos podemos encontrar con este error/problema:</a:t>
            </a:r>
            <a:endParaRPr sz="1350">
              <a:latin typeface="DM Sans"/>
              <a:ea typeface="DM Sans"/>
              <a:cs typeface="DM Sans"/>
              <a:sym typeface="DM Sans"/>
            </a:endParaRPr>
          </a:p>
        </p:txBody>
      </p:sp>
      <p:pic>
        <p:nvPicPr>
          <p:cNvPr id="193" name="Google Shape;193;p37"/>
          <p:cNvPicPr preferRelativeResize="0"/>
          <p:nvPr/>
        </p:nvPicPr>
        <p:blipFill rotWithShape="1">
          <a:blip r:embed="rId3">
            <a:alphaModFix/>
          </a:blip>
          <a:srcRect b="0" l="0" r="0" t="0"/>
          <a:stretch/>
        </p:blipFill>
        <p:spPr>
          <a:xfrm>
            <a:off x="1217349" y="1910101"/>
            <a:ext cx="6709301" cy="225232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