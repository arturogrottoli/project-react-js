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79" r:id="rId2"/>
    <p:sldId id="280"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Lst>
  <p:sldSz cx="9144000" cy="5143500" type="screen16x9"/>
  <p:notesSz cx="6858000" cy="9144000"/>
  <p:embeddedFontLst>
    <p:embeddedFont>
      <p:font typeface="Helvetica Neue" panose="020B0604020202020204" charset="0"/>
      <p:regular r:id="rId27"/>
      <p:bold r:id="rId28"/>
      <p:italic r:id="rId29"/>
      <p:boldItalic r:id="rId30"/>
    </p:embeddedFont>
    <p:embeddedFont>
      <p:font typeface="Helvetica Neue Light" panose="020B0604020202020204" charset="0"/>
      <p:regular r:id="rId31"/>
      <p:bold r:id="rId32"/>
      <p:italic r:id="rId33"/>
      <p:boldItalic r:id="rId34"/>
    </p:embeddedFont>
    <p:embeddedFont>
      <p:font typeface="DM Sans" panose="020B0604020202020204" charset="0"/>
      <p:regular r:id="rId35"/>
      <p:bold r:id="rId36"/>
      <p:italic r:id="rId37"/>
      <p:boldItalic r:id="rId38"/>
    </p:embeddedFont>
    <p:embeddedFont>
      <p:font typeface="Didact Gothic" panose="020B0604020202020204"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3616F2-456C-40B4-B490-66DFA2D3AB3A}">
  <a:tblStyle styleId="{8B3616F2-456C-40B4-B490-66DFA2D3AB3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78"/>
      </p:cViewPr>
      <p:guideLst>
        <p:guide orient="horz" pos="295"/>
        <p:guide pos="5460"/>
        <p:guide pos="300"/>
        <p:guide orient="horz" pos="28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365b5acd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3365b5acdf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extLst>
      <p:ext uri="{BB962C8B-B14F-4D97-AF65-F5344CB8AC3E}">
        <p14:creationId xmlns:p14="http://schemas.microsoft.com/office/powerpoint/2010/main" val="3026530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3c9d1b815_1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3c9d1b815_1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extLst>
      <p:ext uri="{BB962C8B-B14F-4D97-AF65-F5344CB8AC3E}">
        <p14:creationId xmlns:p14="http://schemas.microsoft.com/office/powerpoint/2010/main" val="3516606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460791e6b3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1460791e6b3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38cec8b23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g238cec8b235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1bb842cdf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21bb842cdf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460791e6b3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1460791e6b3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13824b992ef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g13824b992ef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8e1c96883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g28e1c96883a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3824b992ef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13824b992ef_1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824b992ef_1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13824b992ef_1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3824b992ef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13824b992ef_1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38272f95a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138272f95a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38272f95ae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138272f95ae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3824b992ef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13824b992ef_1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38272f95a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g138272f95a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38272f95ae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138272f95ae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38272f95ae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138272f95ae_0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38272f95ae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138272f95ae_0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imagen completa.</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38272f95ae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138272f95ae_0_1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Obligatoria siempre.</a:t>
            </a:r>
            <a:r>
              <a:rPr lang="es">
                <a:solidFill>
                  <a:schemeClr val="dk1"/>
                </a:solidFill>
                <a:latin typeface="DM Sans"/>
                <a:ea typeface="DM Sans"/>
                <a:cs typeface="DM Sans"/>
                <a:sym typeface="DM Sans"/>
              </a:rPr>
              <a:t> A la hora del Break, entre 5 y 10 minutos. Considerar ubicar este espacio en un momento adecuado de la clase. Al volver, mostrar los resultados de la pregunta del anterior slide y generar un breve intercambio.</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38272f95ae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138272f95ae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38272f95ae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138272f95ae_0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38272f95ae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138272f95ae_0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3365b5acd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3365b5acd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extLst>
      <p:ext uri="{BB962C8B-B14F-4D97-AF65-F5344CB8AC3E}">
        <p14:creationId xmlns:p14="http://schemas.microsoft.com/office/powerpoint/2010/main" val="35115445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9"/>
        <p:cNvGrpSpPr/>
        <p:nvPr/>
      </p:nvGrpSpPr>
      <p:grpSpPr>
        <a:xfrm>
          <a:off x="0" y="0"/>
          <a:ext cx="0" cy="0"/>
          <a:chOff x="0" y="0"/>
          <a:chExt cx="0" cy="0"/>
        </a:xfrm>
      </p:grpSpPr>
      <p:pic>
        <p:nvPicPr>
          <p:cNvPr id="10" name="Google Shape;10;p2"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 name="Google Shape;13;p3"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14"/>
        <p:cNvGrpSpPr/>
        <p:nvPr/>
      </p:nvGrpSpPr>
      <p:grpSpPr>
        <a:xfrm>
          <a:off x="0" y="0"/>
          <a:ext cx="0" cy="0"/>
          <a:chOff x="0" y="0"/>
          <a:chExt cx="0" cy="0"/>
        </a:xfrm>
      </p:grpSpPr>
      <p:pic>
        <p:nvPicPr>
          <p:cNvPr id="15" name="Google Shape;15;p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16"/>
        <p:cNvGrpSpPr/>
        <p:nvPr/>
      </p:nvGrpSpPr>
      <p:grpSpPr>
        <a:xfrm>
          <a:off x="0" y="0"/>
          <a:ext cx="0" cy="0"/>
          <a:chOff x="0" y="0"/>
          <a:chExt cx="0" cy="0"/>
        </a:xfrm>
      </p:grpSpPr>
      <p:pic>
        <p:nvPicPr>
          <p:cNvPr id="17" name="Google Shape;17;p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18"/>
        <p:cNvGrpSpPr/>
        <p:nvPr/>
      </p:nvGrpSpPr>
      <p:grpSpPr>
        <a:xfrm>
          <a:off x="0" y="0"/>
          <a:ext cx="0" cy="0"/>
          <a:chOff x="0" y="0"/>
          <a:chExt cx="0" cy="0"/>
        </a:xfrm>
      </p:grpSpPr>
      <p:pic>
        <p:nvPicPr>
          <p:cNvPr id="19" name="Google Shape;19;p6"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20"/>
        <p:cNvGrpSpPr/>
        <p:nvPr/>
      </p:nvGrpSpPr>
      <p:grpSpPr>
        <a:xfrm>
          <a:off x="0" y="0"/>
          <a:ext cx="0" cy="0"/>
          <a:chOff x="0" y="0"/>
          <a:chExt cx="0" cy="0"/>
        </a:xfrm>
      </p:grpSpPr>
      <p:pic>
        <p:nvPicPr>
          <p:cNvPr id="21" name="Google Shape;21;p7"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22"/>
        <p:cNvGrpSpPr/>
        <p:nvPr/>
      </p:nvGrpSpPr>
      <p:grpSpPr>
        <a:xfrm>
          <a:off x="0" y="0"/>
          <a:ext cx="0" cy="0"/>
          <a:chOff x="0" y="0"/>
          <a:chExt cx="0" cy="0"/>
        </a:xfrm>
      </p:grpSpPr>
      <p:pic>
        <p:nvPicPr>
          <p:cNvPr id="23" name="Google Shape;23;p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24"/>
        <p:cNvGrpSpPr/>
        <p:nvPr/>
      </p:nvGrpSpPr>
      <p:grpSpPr>
        <a:xfrm>
          <a:off x="0" y="0"/>
          <a:ext cx="0" cy="0"/>
          <a:chOff x="0" y="0"/>
          <a:chExt cx="0" cy="0"/>
        </a:xfrm>
      </p:grpSpPr>
      <p:pic>
        <p:nvPicPr>
          <p:cNvPr id="25" name="Google Shape;25;p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10"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28"/>
        <p:cNvGrpSpPr/>
        <p:nvPr/>
      </p:nvGrpSpPr>
      <p:grpSpPr>
        <a:xfrm>
          <a:off x="0" y="0"/>
          <a:ext cx="0" cy="0"/>
          <a:chOff x="0" y="0"/>
          <a:chExt cx="0" cy="0"/>
        </a:xfrm>
      </p:grpSpPr>
      <p:pic>
        <p:nvPicPr>
          <p:cNvPr id="29" name="Google Shape;29;p11"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3-B 5">
  <p:cSld name="SECTION_HEADER_1_1_1_1_1_1_1_1_1_8">
    <p:bg>
      <p:bgPr>
        <a:blipFill>
          <a:blip r:embed="rId2">
            <a:alphaModFix/>
          </a:blip>
          <a:stretch>
            <a:fillRect/>
          </a:stretch>
        </a:blipFill>
        <a:effectLst/>
      </p:bgPr>
    </p:bg>
    <p:spTree>
      <p:nvGrpSpPr>
        <p:cNvPr id="1" name="Shape 30"/>
        <p:cNvGrpSpPr/>
        <p:nvPr/>
      </p:nvGrpSpPr>
      <p:grpSpPr>
        <a:xfrm>
          <a:off x="0" y="0"/>
          <a:ext cx="0" cy="0"/>
          <a:chOff x="0" y="0"/>
          <a:chExt cx="0" cy="0"/>
        </a:xfrm>
      </p:grpSpPr>
      <p:pic>
        <p:nvPicPr>
          <p:cNvPr id="31" name="Google Shape;31;p1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32"/>
        <p:cNvGrpSpPr/>
        <p:nvPr/>
      </p:nvGrpSpPr>
      <p:grpSpPr>
        <a:xfrm>
          <a:off x="0" y="0"/>
          <a:ext cx="0" cy="0"/>
          <a:chOff x="0" y="0"/>
          <a:chExt cx="0" cy="0"/>
        </a:xfrm>
      </p:grpSpPr>
      <p:sp>
        <p:nvSpPr>
          <p:cNvPr id="33" name="Google Shape;33;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34" name="Google Shape;34;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35" name="Google Shape;35;p13"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6"/>
        <p:cNvGrpSpPr/>
        <p:nvPr/>
      </p:nvGrpSpPr>
      <p:grpSpPr>
        <a:xfrm>
          <a:off x="0" y="0"/>
          <a:ext cx="0" cy="0"/>
          <a:chOff x="0" y="0"/>
          <a:chExt cx="0" cy="0"/>
        </a:xfrm>
      </p:grpSpPr>
      <p:sp>
        <p:nvSpPr>
          <p:cNvPr id="37" name="Google Shape;37;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9" name="Google Shape;3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myapp.coder/student/1234/courses"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hyperlink" Target="https://www.google.com.ar/search?q=coderhous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url.com/find?type=order&amp;id=1234"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4" name="Google Shape;46;p16"/>
          <p:cNvSpPr txBox="1"/>
          <p:nvPr/>
        </p:nvSpPr>
        <p:spPr>
          <a:xfrm>
            <a:off x="723014" y="927149"/>
            <a:ext cx="6959674" cy="3453223"/>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7200" b="1" u="sng" dirty="0">
                <a:solidFill>
                  <a:schemeClr val="lt1"/>
                </a:solidFill>
                <a:latin typeface="DM Sans"/>
                <a:ea typeface="DM Sans"/>
                <a:cs typeface="DM Sans"/>
                <a:sym typeface="DM Sans"/>
              </a:rPr>
              <a:t>React</a:t>
            </a:r>
            <a:endParaRPr sz="72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Flex </a:t>
            </a: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Clase 4</a:t>
            </a:r>
            <a:r>
              <a:rPr lang="es" sz="6000" b="1" u="sng" dirty="0">
                <a:solidFill>
                  <a:srgbClr val="EAFF6A"/>
                </a:solidFill>
                <a:latin typeface="DM Sans"/>
                <a:ea typeface="DM Sans"/>
                <a:cs typeface="DM Sans"/>
                <a:sym typeface="DM Sans"/>
              </a:rPr>
              <a:t/>
            </a:r>
            <a:br>
              <a:rPr lang="es" sz="6000" b="1" u="sng" dirty="0">
                <a:solidFill>
                  <a:srgbClr val="EAFF6A"/>
                </a:solidFill>
                <a:latin typeface="DM Sans"/>
                <a:ea typeface="DM Sans"/>
                <a:cs typeface="DM Sans"/>
                <a:sym typeface="DM Sans"/>
              </a:rPr>
            </a:b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16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1600" u="sng" dirty="0" smtClean="0">
                <a:solidFill>
                  <a:schemeClr val="lt1"/>
                </a:solidFill>
                <a:latin typeface="DM Sans"/>
                <a:ea typeface="DM Sans"/>
                <a:cs typeface="DM Sans"/>
                <a:sym typeface="DM Sans"/>
              </a:rPr>
              <a:t>Curso dictado por Arturo Grottoli</a:t>
            </a:r>
            <a:endParaRPr sz="1600" b="1" u="sng"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02766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8"/>
          <p:cNvSpPr txBox="1"/>
          <p:nvPr/>
        </p:nvSpPr>
        <p:spPr>
          <a:xfrm>
            <a:off x="666200" y="825988"/>
            <a:ext cx="6957344" cy="434885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MX" sz="3600" b="1" dirty="0" smtClean="0">
                <a:solidFill>
                  <a:schemeClr val="accent6"/>
                </a:solidFill>
                <a:latin typeface="DM Sans"/>
                <a:ea typeface="DM Sans"/>
                <a:cs typeface="DM Sans"/>
                <a:sym typeface="DM Sans"/>
              </a:rPr>
              <a:t>¿Estamos bien para arrancar?</a:t>
            </a:r>
            <a:endParaRPr sz="3600" b="1" dirty="0">
              <a:solidFill>
                <a:schemeClr val="accent6"/>
              </a:solidFill>
              <a:latin typeface="DM Sans"/>
              <a:ea typeface="DM Sans"/>
              <a:cs typeface="DM Sans"/>
              <a:sym typeface="DM Sans"/>
            </a:endParaRPr>
          </a:p>
          <a:p>
            <a:pPr marL="0" lvl="0" indent="0" algn="l" rtl="0">
              <a:lnSpc>
                <a:spcPct val="115000"/>
              </a:lnSpc>
              <a:spcBef>
                <a:spcPts val="0"/>
              </a:spcBef>
              <a:spcAft>
                <a:spcPts val="0"/>
              </a:spcAft>
              <a:buNone/>
            </a:pPr>
            <a:endParaRPr sz="3600" b="1"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lt1"/>
              </a:buClr>
              <a:buSzPts val="3300"/>
              <a:buFont typeface="DM Sans"/>
              <a:buChar char="●"/>
            </a:pPr>
            <a:r>
              <a:rPr lang="es-MX" sz="3300" dirty="0" smtClean="0">
                <a:solidFill>
                  <a:schemeClr val="lt1"/>
                </a:solidFill>
                <a:latin typeface="DM Sans"/>
                <a:ea typeface="DM Sans"/>
                <a:cs typeface="DM Sans"/>
                <a:sym typeface="DM Sans"/>
              </a:rPr>
              <a:t>Sonido e imagen ok</a:t>
            </a:r>
            <a:endParaRPr sz="3300"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accent6"/>
              </a:buClr>
              <a:buSzPts val="3300"/>
              <a:buFont typeface="DM Sans"/>
              <a:buChar char="●"/>
            </a:pPr>
            <a:r>
              <a:rPr lang="es" sz="3300" dirty="0" smtClean="0">
                <a:solidFill>
                  <a:schemeClr val="accent6"/>
                </a:solidFill>
                <a:latin typeface="DM Sans"/>
                <a:ea typeface="DM Sans"/>
                <a:cs typeface="DM Sans"/>
                <a:sym typeface="DM Sans"/>
              </a:rPr>
              <a:t>Diapositivas y tamaño texto</a:t>
            </a:r>
            <a:endParaRPr sz="3300"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accent6"/>
              </a:buClr>
              <a:buSzPts val="3300"/>
              <a:buFont typeface="DM Sans"/>
              <a:buChar char="●"/>
            </a:pPr>
            <a:r>
              <a:rPr lang="es" sz="3300" dirty="0" smtClean="0">
                <a:solidFill>
                  <a:schemeClr val="accent6"/>
                </a:solidFill>
                <a:latin typeface="DM Sans"/>
                <a:ea typeface="DM Sans"/>
                <a:cs typeface="DM Sans"/>
                <a:sym typeface="DM Sans"/>
              </a:rPr>
              <a:t>Recordar chequear que esté grabando.</a:t>
            </a:r>
            <a:endParaRPr sz="3300" dirty="0">
              <a:solidFill>
                <a:schemeClr val="accent6"/>
              </a:solidFill>
              <a:latin typeface="DM Sans"/>
              <a:ea typeface="DM Sans"/>
              <a:cs typeface="DM Sans"/>
              <a:sym typeface="DM Sans"/>
            </a:endParaRPr>
          </a:p>
          <a:p>
            <a:pPr marL="0" lvl="0" indent="0" algn="l" rtl="0">
              <a:lnSpc>
                <a:spcPct val="90000"/>
              </a:lnSpc>
              <a:spcBef>
                <a:spcPts val="0"/>
              </a:spcBef>
              <a:spcAft>
                <a:spcPts val="0"/>
              </a:spcAft>
              <a:buNone/>
            </a:pPr>
            <a:endParaRPr sz="4000" b="1"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807857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7"/>
          <p:cNvSpPr txBox="1"/>
          <p:nvPr/>
        </p:nvSpPr>
        <p:spPr>
          <a:xfrm>
            <a:off x="465275" y="1148316"/>
            <a:ext cx="5914261" cy="3063116"/>
          </a:xfrm>
          <a:prstGeom prst="rect">
            <a:avLst/>
          </a:prstGeom>
          <a:noFill/>
          <a:ln>
            <a:noFill/>
          </a:ln>
        </p:spPr>
        <p:txBody>
          <a:bodyPr spcFirstLastPara="1" wrap="square" lIns="91425" tIns="91425" rIns="91425" bIns="91425" anchor="t" anchorCtr="0">
            <a:spAutoFit/>
          </a:bodyPr>
          <a:lstStyle/>
          <a:p>
            <a:r>
              <a:rPr lang="es-MX" sz="1200" b="1" dirty="0"/>
              <a:t>Las aplicaciones (como sitios web o apps)</a:t>
            </a:r>
            <a:r>
              <a:rPr lang="es-MX" sz="1200" dirty="0"/>
              <a:t> normalmente necesitan </a:t>
            </a:r>
            <a:r>
              <a:rPr lang="es-MX" sz="1200" b="1" dirty="0"/>
              <a:t>conectarse a servicios externos</a:t>
            </a:r>
            <a:r>
              <a:rPr lang="es-MX" sz="1200" dirty="0"/>
              <a:t> (por ejemplo, una base de datos o una API) para </a:t>
            </a:r>
            <a:r>
              <a:rPr lang="es-MX" sz="1200" b="1" dirty="0"/>
              <a:t>enviar o recibir datos</a:t>
            </a:r>
            <a:r>
              <a:rPr lang="es-MX" sz="1200" dirty="0" smtClean="0"/>
              <a:t>.</a:t>
            </a:r>
            <a:br>
              <a:rPr lang="es-MX" sz="1200" dirty="0" smtClean="0"/>
            </a:br>
            <a:endParaRPr lang="es-MX" sz="1200" dirty="0"/>
          </a:p>
          <a:p>
            <a:r>
              <a:rPr lang="es-MX" sz="1200" dirty="0"/>
              <a:t>Desde que se creó la </a:t>
            </a:r>
            <a:r>
              <a:rPr lang="es-MX" sz="1200" b="1" dirty="0" err="1"/>
              <a:t>World</a:t>
            </a:r>
            <a:r>
              <a:rPr lang="es-MX" sz="1200" b="1" dirty="0"/>
              <a:t> Wide Web (WWW)</a:t>
            </a:r>
            <a:r>
              <a:rPr lang="es-MX" sz="1200" dirty="0"/>
              <a:t>, la forma en que </a:t>
            </a:r>
            <a:r>
              <a:rPr lang="es-MX" sz="1200" b="1" dirty="0"/>
              <a:t>las apps comparten información</a:t>
            </a:r>
            <a:r>
              <a:rPr lang="es-MX" sz="1200" dirty="0"/>
              <a:t> cambió muchísimo y ahora es </a:t>
            </a:r>
            <a:r>
              <a:rPr lang="es-MX" sz="1200" b="1" dirty="0"/>
              <a:t>más rápida y eficiente</a:t>
            </a:r>
            <a:r>
              <a:rPr lang="es-MX" sz="1200" dirty="0"/>
              <a:t>.</a:t>
            </a:r>
          </a:p>
          <a:p>
            <a:r>
              <a:rPr lang="es-MX" sz="1200" dirty="0"/>
              <a:t>Eso fue posible gracias a los </a:t>
            </a:r>
            <a:r>
              <a:rPr lang="es-MX" sz="1200" b="1" dirty="0"/>
              <a:t>avances tecnológicos</a:t>
            </a:r>
            <a:r>
              <a:rPr lang="es-MX" sz="1200" dirty="0"/>
              <a:t> (mejores lenguajes, protocolos, servidores, etc.) y a la </a:t>
            </a:r>
            <a:r>
              <a:rPr lang="es-MX" sz="1200" b="1" dirty="0"/>
              <a:t>gran inversión en infraestructura</a:t>
            </a:r>
            <a:r>
              <a:rPr lang="es-MX" sz="1200" dirty="0"/>
              <a:t> (mejores redes, centros de datos, internet más veloz, etc</a:t>
            </a:r>
            <a:r>
              <a:rPr lang="es-MX" sz="1200" dirty="0" smtClean="0"/>
              <a:t>.).</a:t>
            </a:r>
          </a:p>
          <a:p>
            <a:endParaRPr lang="es-MX" sz="1200" dirty="0"/>
          </a:p>
          <a:p>
            <a:r>
              <a:rPr lang="es-MX" sz="1200" dirty="0"/>
              <a:t>En resumen:</a:t>
            </a:r>
            <a:br>
              <a:rPr lang="es-MX" sz="1200" dirty="0"/>
            </a:br>
            <a:r>
              <a:rPr lang="es-MX" sz="1200" dirty="0"/>
              <a:t>👉 Las apps de hoy pueden manejar datos fácilmente gracias a la evolución de la web y la tecnología que la sostiene.</a:t>
            </a:r>
          </a:p>
          <a:p>
            <a:pPr marL="0" lvl="0" indent="0" algn="l" rtl="0">
              <a:lnSpc>
                <a:spcPct val="115000"/>
              </a:lnSpc>
              <a:spcBef>
                <a:spcPts val="0"/>
              </a:spcBef>
              <a:spcAft>
                <a:spcPts val="0"/>
              </a:spcAft>
              <a:buNone/>
            </a:pPr>
            <a:endParaRPr sz="1350" dirty="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dirty="0">
              <a:solidFill>
                <a:schemeClr val="dk1"/>
              </a:solidFill>
              <a:latin typeface="DM Sans"/>
              <a:ea typeface="DM Sans"/>
              <a:cs typeface="DM Sans"/>
              <a:sym typeface="DM Sans"/>
            </a:endParaRPr>
          </a:p>
        </p:txBody>
      </p:sp>
      <p:pic>
        <p:nvPicPr>
          <p:cNvPr id="55" name="Google Shape;55;p17"/>
          <p:cNvPicPr preferRelativeResize="0"/>
          <p:nvPr/>
        </p:nvPicPr>
        <p:blipFill>
          <a:blip r:embed="rId3">
            <a:alphaModFix/>
          </a:blip>
          <a:stretch>
            <a:fillRect/>
          </a:stretch>
        </p:blipFill>
        <p:spPr>
          <a:xfrm>
            <a:off x="2853910" y="3580454"/>
            <a:ext cx="2887550" cy="1273875"/>
          </a:xfrm>
          <a:prstGeom prst="rect">
            <a:avLst/>
          </a:prstGeom>
          <a:noFill/>
          <a:ln>
            <a:noFill/>
          </a:ln>
        </p:spPr>
      </p:pic>
      <p:sp>
        <p:nvSpPr>
          <p:cNvPr id="56" name="Google Shape;56;p17"/>
          <p:cNvSpPr txBox="1"/>
          <p:nvPr/>
        </p:nvSpPr>
        <p:spPr>
          <a:xfrm>
            <a:off x="465275" y="51747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Datos</a:t>
            </a:r>
            <a:endParaRPr sz="4000" b="1" i="0" u="none" strike="noStrike" cap="none">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8"/>
          <p:cNvSpPr txBox="1"/>
          <p:nvPr/>
        </p:nvSpPr>
        <p:spPr>
          <a:xfrm>
            <a:off x="185400" y="140425"/>
            <a:ext cx="8141100" cy="65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3400" b="1" dirty="0" smtClean="0">
                <a:solidFill>
                  <a:schemeClr val="dk1"/>
                </a:solidFill>
                <a:latin typeface="DM Sans"/>
                <a:ea typeface="DM Sans"/>
                <a:cs typeface="DM Sans"/>
                <a:sym typeface="DM Sans"/>
              </a:rPr>
              <a:t>Infra </a:t>
            </a:r>
            <a:r>
              <a:rPr lang="es" sz="3400" b="1" dirty="0">
                <a:solidFill>
                  <a:schemeClr val="dk1"/>
                </a:solidFill>
                <a:latin typeface="DM Sans"/>
                <a:ea typeface="DM Sans"/>
                <a:cs typeface="DM Sans"/>
                <a:sym typeface="DM Sans"/>
              </a:rPr>
              <a:t>de Internet</a:t>
            </a:r>
            <a:endParaRPr sz="3400" b="1" i="0" u="none" strike="noStrike" cap="none" dirty="0">
              <a:solidFill>
                <a:schemeClr val="dk1"/>
              </a:solidFill>
              <a:latin typeface="DM Sans"/>
              <a:ea typeface="DM Sans"/>
              <a:cs typeface="DM Sans"/>
              <a:sym typeface="DM Sans"/>
            </a:endParaRPr>
          </a:p>
        </p:txBody>
      </p:sp>
      <p:pic>
        <p:nvPicPr>
          <p:cNvPr id="62" name="Google Shape;62;p18"/>
          <p:cNvPicPr preferRelativeResize="0"/>
          <p:nvPr/>
        </p:nvPicPr>
        <p:blipFill>
          <a:blip r:embed="rId3">
            <a:alphaModFix/>
          </a:blip>
          <a:stretch>
            <a:fillRect/>
          </a:stretch>
        </p:blipFill>
        <p:spPr>
          <a:xfrm>
            <a:off x="3212575" y="1360967"/>
            <a:ext cx="5782569" cy="2573080"/>
          </a:xfrm>
          <a:prstGeom prst="rect">
            <a:avLst/>
          </a:prstGeom>
          <a:noFill/>
          <a:ln>
            <a:noFill/>
          </a:ln>
        </p:spPr>
      </p:pic>
      <p:sp>
        <p:nvSpPr>
          <p:cNvPr id="4" name="Google Shape;54;p17"/>
          <p:cNvSpPr txBox="1"/>
          <p:nvPr/>
        </p:nvSpPr>
        <p:spPr>
          <a:xfrm>
            <a:off x="465275" y="1988288"/>
            <a:ext cx="3585730" cy="1511922"/>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s-MX" sz="1200" dirty="0"/>
              <a:t>Internet llega a la Argentina principalmente a través de </a:t>
            </a:r>
            <a:r>
              <a:rPr lang="es-MX" sz="1200" b="1" dirty="0"/>
              <a:t>cables submarinos de fibra óptica</a:t>
            </a:r>
            <a:r>
              <a:rPr lang="es-MX" sz="1200" dirty="0"/>
              <a:t> que conectan nuestro país con el resto del mundo.</a:t>
            </a:r>
            <a:endParaRPr sz="1350" dirty="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lang="es-MX" sz="1350" dirty="0" smtClean="0">
              <a:solidFill>
                <a:schemeClr val="dk1"/>
              </a:solidFill>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r>
              <a:rPr lang="es-MX" sz="1350" dirty="0" smtClean="0">
                <a:solidFill>
                  <a:schemeClr val="dk1"/>
                </a:solidFill>
                <a:latin typeface="DM Sans"/>
                <a:ea typeface="DM Sans"/>
                <a:cs typeface="DM Sans"/>
                <a:sym typeface="DM Sans"/>
              </a:rPr>
              <a:t>Saben a donde?</a:t>
            </a:r>
            <a:endParaRPr sz="1350" dirty="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9"/>
          <p:cNvPicPr preferRelativeResize="0"/>
          <p:nvPr/>
        </p:nvPicPr>
        <p:blipFill>
          <a:blip r:embed="rId3">
            <a:alphaModFix/>
          </a:blip>
          <a:stretch>
            <a:fillRect/>
          </a:stretch>
        </p:blipFill>
        <p:spPr>
          <a:xfrm>
            <a:off x="3905694" y="1041990"/>
            <a:ext cx="4919330" cy="2956737"/>
          </a:xfrm>
          <a:prstGeom prst="rect">
            <a:avLst/>
          </a:prstGeom>
          <a:noFill/>
          <a:ln>
            <a:noFill/>
          </a:ln>
        </p:spPr>
      </p:pic>
      <p:sp>
        <p:nvSpPr>
          <p:cNvPr id="4" name="Google Shape;54;p17"/>
          <p:cNvSpPr txBox="1"/>
          <p:nvPr/>
        </p:nvSpPr>
        <p:spPr>
          <a:xfrm>
            <a:off x="210094" y="127590"/>
            <a:ext cx="3585730" cy="4801284"/>
          </a:xfrm>
          <a:prstGeom prst="rect">
            <a:avLst/>
          </a:prstGeom>
          <a:noFill/>
          <a:ln>
            <a:noFill/>
          </a:ln>
        </p:spPr>
        <p:txBody>
          <a:bodyPr spcFirstLastPara="1" wrap="square" lIns="91425" tIns="91425" rIns="91425" bIns="91425" anchor="t" anchorCtr="0">
            <a:spAutoFit/>
          </a:bodyPr>
          <a:lstStyle/>
          <a:p>
            <a:r>
              <a:rPr lang="es-MX" sz="1200" dirty="0"/>
              <a:t>Uno de los puntos clave donde esos cables llegan a tierra es </a:t>
            </a:r>
            <a:r>
              <a:rPr lang="es-MX" sz="1200" b="1" dirty="0"/>
              <a:t>Las Toninas</a:t>
            </a:r>
            <a:r>
              <a:rPr lang="es-MX" sz="1200" dirty="0"/>
              <a:t>, una localidad en la costa de la provincia de Buenos Aires.</a:t>
            </a:r>
          </a:p>
          <a:p>
            <a:r>
              <a:rPr lang="es-MX" sz="1200" dirty="0"/>
              <a:t/>
            </a:r>
            <a:br>
              <a:rPr lang="es-MX" sz="1200" dirty="0"/>
            </a:br>
            <a:r>
              <a:rPr lang="es-MX" sz="1200" dirty="0"/>
              <a:t>Grandes empresas (como Google, Meta, o consorcios de telecomunicaciones) tienden </a:t>
            </a:r>
            <a:r>
              <a:rPr lang="es-MX" sz="1200" b="1" dirty="0"/>
              <a:t>cables de fibra óptica bajo el mar</a:t>
            </a:r>
            <a:r>
              <a:rPr lang="es-MX" sz="1200" dirty="0"/>
              <a:t> que conectan continentes.</a:t>
            </a:r>
          </a:p>
          <a:p>
            <a:r>
              <a:rPr lang="es-MX" sz="1200" dirty="0"/>
              <a:t/>
            </a:r>
            <a:br>
              <a:rPr lang="es-MX" sz="1200" dirty="0"/>
            </a:br>
            <a:r>
              <a:rPr lang="es-MX" sz="1200" dirty="0"/>
              <a:t>Esos cables entran al país por la costa de </a:t>
            </a:r>
            <a:r>
              <a:rPr lang="es-MX" sz="1200" b="1" dirty="0"/>
              <a:t>Las Toninas</a:t>
            </a:r>
            <a:r>
              <a:rPr lang="es-MX" sz="1200" dirty="0"/>
              <a:t>, donde hay un </a:t>
            </a:r>
            <a:r>
              <a:rPr lang="es-MX" sz="1200" b="1" dirty="0"/>
              <a:t>centro de amarre</a:t>
            </a:r>
            <a:r>
              <a:rPr lang="es-MX" sz="1200" dirty="0"/>
              <a:t>. Desde ahí, se conectan a la </a:t>
            </a:r>
            <a:r>
              <a:rPr lang="es-MX" sz="1200" b="1" dirty="0"/>
              <a:t>infraestructura nacional de internet</a:t>
            </a:r>
            <a:r>
              <a:rPr lang="es-MX" sz="1200" dirty="0"/>
              <a:t>.</a:t>
            </a:r>
          </a:p>
          <a:p>
            <a:r>
              <a:rPr lang="es-MX" sz="1200" dirty="0"/>
              <a:t/>
            </a:r>
            <a:br>
              <a:rPr lang="es-MX" sz="1200" dirty="0"/>
            </a:br>
            <a:r>
              <a:rPr lang="es-MX" sz="1200" dirty="0"/>
              <a:t>Desde ese punto, los datos viajan por </a:t>
            </a:r>
            <a:r>
              <a:rPr lang="es-MX" sz="1200" b="1" dirty="0"/>
              <a:t>redes de fibra óptica terrestres</a:t>
            </a:r>
            <a:r>
              <a:rPr lang="es-MX" sz="1200" dirty="0"/>
              <a:t> que se reparten por todo el país, hasta llegar a las empresas de internet (Telecom, Movistar, Claro, etc.).</a:t>
            </a:r>
          </a:p>
          <a:p>
            <a:r>
              <a:rPr lang="es-MX" sz="1200" dirty="0"/>
              <a:t/>
            </a:r>
            <a:br>
              <a:rPr lang="es-MX" sz="1200" dirty="0"/>
            </a:br>
            <a:r>
              <a:rPr lang="es-MX" sz="1200" dirty="0"/>
              <a:t>Finalmente, esas empresas conectan tu casa o negocio a través de fibra, cable o antenas.</a:t>
            </a:r>
          </a:p>
          <a:p>
            <a:r>
              <a:rPr lang="es-MX" sz="1200" dirty="0" smtClean="0"/>
              <a:t>Internet </a:t>
            </a:r>
            <a:r>
              <a:rPr lang="es-MX" sz="1200" dirty="0"/>
              <a:t>entra literalmente </a:t>
            </a:r>
            <a:r>
              <a:rPr lang="es-MX" sz="1200" b="1" dirty="0"/>
              <a:t>por “un tubo” (varios cables submarinos)</a:t>
            </a:r>
            <a:r>
              <a:rPr lang="es-MX" sz="1200" dirty="0"/>
              <a:t> en </a:t>
            </a:r>
            <a:r>
              <a:rPr lang="es-MX" sz="1200" b="1" dirty="0"/>
              <a:t>Las Toninas</a:t>
            </a:r>
            <a:r>
              <a:rPr lang="es-MX" sz="1200" dirty="0"/>
              <a:t>, que es considerado </a:t>
            </a:r>
            <a:r>
              <a:rPr lang="es-MX" sz="1200" b="1" dirty="0"/>
              <a:t>el “portal de Internet” de la Argentina</a:t>
            </a:r>
            <a:r>
              <a:rPr lang="es-MX" sz="1200"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20"/>
          <p:cNvSpPr txBox="1"/>
          <p:nvPr/>
        </p:nvSpPr>
        <p:spPr>
          <a:xfrm>
            <a:off x="476250" y="1111125"/>
            <a:ext cx="3834600" cy="3977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dirty="0" smtClean="0">
                <a:latin typeface="DM Sans"/>
                <a:ea typeface="DM Sans"/>
                <a:cs typeface="DM Sans"/>
                <a:sym typeface="DM Sans"/>
              </a:rPr>
              <a:t>Dos protagonistas</a:t>
            </a:r>
            <a:r>
              <a:rPr lang="es" sz="1350" dirty="0">
                <a:latin typeface="DM Sans"/>
                <a:ea typeface="DM Sans"/>
                <a:cs typeface="DM Sans"/>
                <a:sym typeface="DM Sans"/>
              </a:rPr>
              <a:t>:</a:t>
            </a:r>
            <a:endParaRPr sz="1350" dirty="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dirty="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dirty="0">
                <a:latin typeface="DM Sans"/>
                <a:ea typeface="DM Sans"/>
                <a:cs typeface="DM Sans"/>
                <a:sym typeface="DM Sans"/>
              </a:rPr>
              <a:t>Cliente (consumidor)</a:t>
            </a:r>
            <a:endParaRPr sz="1350" dirty="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dirty="0">
                <a:latin typeface="DM Sans"/>
                <a:ea typeface="DM Sans"/>
                <a:cs typeface="DM Sans"/>
                <a:sym typeface="DM Sans"/>
              </a:rPr>
              <a:t>Servidor (proveedor)</a:t>
            </a:r>
            <a:endParaRPr sz="1350" dirty="0">
              <a:latin typeface="DM Sans"/>
              <a:ea typeface="DM Sans"/>
              <a:cs typeface="DM Sans"/>
              <a:sym typeface="DM Sans"/>
            </a:endParaRPr>
          </a:p>
          <a:p>
            <a:pPr marL="0" marR="0" lvl="0" indent="0" algn="l" rtl="0">
              <a:lnSpc>
                <a:spcPct val="115000"/>
              </a:lnSpc>
              <a:spcBef>
                <a:spcPts val="0"/>
              </a:spcBef>
              <a:spcAft>
                <a:spcPts val="0"/>
              </a:spcAft>
              <a:buNone/>
            </a:pPr>
            <a:endParaRPr sz="1350" dirty="0">
              <a:latin typeface="DM Sans"/>
              <a:ea typeface="DM Sans"/>
              <a:cs typeface="DM Sans"/>
              <a:sym typeface="DM Sans"/>
            </a:endParaRPr>
          </a:p>
          <a:p>
            <a:pPr marL="0" marR="0" lvl="0" indent="0" algn="l" rtl="0">
              <a:lnSpc>
                <a:spcPct val="115000"/>
              </a:lnSpc>
              <a:spcBef>
                <a:spcPts val="0"/>
              </a:spcBef>
              <a:spcAft>
                <a:spcPts val="0"/>
              </a:spcAft>
              <a:buNone/>
            </a:pPr>
            <a:r>
              <a:rPr lang="es" sz="1350" dirty="0">
                <a:latin typeface="DM Sans"/>
                <a:ea typeface="DM Sans"/>
                <a:cs typeface="DM Sans"/>
                <a:sym typeface="DM Sans"/>
              </a:rPr>
              <a:t>Con cliente y servidor no nos referimos sólo al hardware sino también el software.</a:t>
            </a:r>
            <a:endParaRPr sz="1350" dirty="0">
              <a:latin typeface="DM Sans"/>
              <a:ea typeface="DM Sans"/>
              <a:cs typeface="DM Sans"/>
              <a:sym typeface="DM Sans"/>
            </a:endParaRPr>
          </a:p>
          <a:p>
            <a:pPr marL="0" marR="0" lvl="0" indent="0" algn="l" rtl="0">
              <a:lnSpc>
                <a:spcPct val="115000"/>
              </a:lnSpc>
              <a:spcBef>
                <a:spcPts val="0"/>
              </a:spcBef>
              <a:spcAft>
                <a:spcPts val="0"/>
              </a:spcAft>
              <a:buNone/>
            </a:pPr>
            <a:endParaRPr sz="1350" dirty="0">
              <a:latin typeface="DM Sans"/>
              <a:ea typeface="DM Sans"/>
              <a:cs typeface="DM Sans"/>
              <a:sym typeface="DM Sans"/>
            </a:endParaRPr>
          </a:p>
          <a:p>
            <a:pPr marL="0" lvl="0" indent="0" algn="l" rtl="0">
              <a:lnSpc>
                <a:spcPct val="115000"/>
              </a:lnSpc>
              <a:spcBef>
                <a:spcPts val="0"/>
              </a:spcBef>
              <a:spcAft>
                <a:spcPts val="0"/>
              </a:spcAft>
              <a:buNone/>
            </a:pPr>
            <a:r>
              <a:rPr lang="es" sz="1350" dirty="0">
                <a:latin typeface="DM Sans"/>
                <a:ea typeface="DM Sans"/>
                <a:cs typeface="DM Sans"/>
                <a:sym typeface="DM Sans"/>
              </a:rPr>
              <a:t>Este modelo establece que los distintos dispositivos </a:t>
            </a:r>
            <a:r>
              <a:rPr lang="es" sz="1350" dirty="0">
                <a:highlight>
                  <a:schemeClr val="accent6"/>
                </a:highlight>
                <a:latin typeface="DM Sans"/>
                <a:ea typeface="DM Sans"/>
                <a:cs typeface="DM Sans"/>
                <a:sym typeface="DM Sans"/>
              </a:rPr>
              <a:t>se identifican entre ellos</a:t>
            </a:r>
            <a:r>
              <a:rPr lang="es" sz="1350" dirty="0">
                <a:latin typeface="DM Sans"/>
                <a:ea typeface="DM Sans"/>
                <a:cs typeface="DM Sans"/>
                <a:sym typeface="DM Sans"/>
              </a:rPr>
              <a:t>, y acuerdan una </a:t>
            </a:r>
            <a:r>
              <a:rPr lang="es" sz="1350" dirty="0">
                <a:highlight>
                  <a:schemeClr val="accent6"/>
                </a:highlight>
                <a:latin typeface="DM Sans"/>
                <a:ea typeface="DM Sans"/>
                <a:cs typeface="DM Sans"/>
                <a:sym typeface="DM Sans"/>
              </a:rPr>
              <a:t>manera de transferir</a:t>
            </a:r>
            <a:r>
              <a:rPr lang="es" sz="1350" dirty="0">
                <a:latin typeface="DM Sans"/>
                <a:ea typeface="DM Sans"/>
                <a:cs typeface="DM Sans"/>
                <a:sym typeface="DM Sans"/>
              </a:rPr>
              <a:t> la información.</a:t>
            </a:r>
            <a:endParaRPr sz="1350" dirty="0">
              <a:latin typeface="DM Sans"/>
              <a:ea typeface="DM Sans"/>
              <a:cs typeface="DM Sans"/>
              <a:sym typeface="DM Sans"/>
            </a:endParaRPr>
          </a:p>
          <a:p>
            <a:pPr marL="0" lvl="0" indent="0" algn="l" rtl="0">
              <a:lnSpc>
                <a:spcPct val="115000"/>
              </a:lnSpc>
              <a:spcBef>
                <a:spcPts val="0"/>
              </a:spcBef>
              <a:spcAft>
                <a:spcPts val="0"/>
              </a:spcAft>
              <a:buNone/>
            </a:pPr>
            <a:endParaRPr sz="13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dirty="0">
                <a:solidFill>
                  <a:schemeClr val="dk1"/>
                </a:solidFill>
                <a:highlight>
                  <a:schemeClr val="accent6"/>
                </a:highlight>
                <a:latin typeface="DM Sans"/>
                <a:ea typeface="DM Sans"/>
                <a:cs typeface="DM Sans"/>
                <a:sym typeface="DM Sans"/>
              </a:rPr>
              <a:t>¿Quién es el que inicia la operación y cómo sincronizan?</a:t>
            </a:r>
            <a:endParaRPr sz="1350" dirty="0">
              <a:latin typeface="DM Sans"/>
              <a:ea typeface="DM Sans"/>
              <a:cs typeface="DM Sans"/>
              <a:sym typeface="DM Sans"/>
            </a:endParaRPr>
          </a:p>
          <a:p>
            <a:pPr marL="0" marR="0" lvl="0" indent="0" algn="l" rtl="0">
              <a:lnSpc>
                <a:spcPct val="115000"/>
              </a:lnSpc>
              <a:spcBef>
                <a:spcPts val="0"/>
              </a:spcBef>
              <a:spcAft>
                <a:spcPts val="0"/>
              </a:spcAft>
              <a:buNone/>
            </a:pPr>
            <a:endParaRPr sz="1350" dirty="0">
              <a:latin typeface="DM Sans"/>
              <a:ea typeface="DM Sans"/>
              <a:cs typeface="DM Sans"/>
              <a:sym typeface="DM Sans"/>
            </a:endParaRPr>
          </a:p>
        </p:txBody>
      </p:sp>
      <p:pic>
        <p:nvPicPr>
          <p:cNvPr id="74" name="Google Shape;74;p20"/>
          <p:cNvPicPr preferRelativeResize="0"/>
          <p:nvPr/>
        </p:nvPicPr>
        <p:blipFill rotWithShape="1">
          <a:blip r:embed="rId3">
            <a:alphaModFix/>
          </a:blip>
          <a:srcRect t="9321"/>
          <a:stretch/>
        </p:blipFill>
        <p:spPr>
          <a:xfrm>
            <a:off x="4698700" y="1707775"/>
            <a:ext cx="3229199" cy="2594425"/>
          </a:xfrm>
          <a:prstGeom prst="rect">
            <a:avLst/>
          </a:prstGeom>
          <a:noFill/>
          <a:ln>
            <a:noFill/>
          </a:ln>
        </p:spPr>
      </p:pic>
      <p:sp>
        <p:nvSpPr>
          <p:cNvPr id="75" name="Google Shape;75;p20"/>
          <p:cNvSpPr txBox="1"/>
          <p:nvPr/>
        </p:nvSpPr>
        <p:spPr>
          <a:xfrm>
            <a:off x="455317" y="325875"/>
            <a:ext cx="7472582" cy="7389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4000"/>
              <a:buFont typeface="Arial"/>
              <a:buNone/>
            </a:pPr>
            <a:r>
              <a:rPr lang="es" sz="4000" b="1" dirty="0">
                <a:solidFill>
                  <a:schemeClr val="dk1"/>
                </a:solidFill>
                <a:latin typeface="DM Sans"/>
                <a:ea typeface="DM Sans"/>
                <a:cs typeface="DM Sans"/>
                <a:sym typeface="DM Sans"/>
              </a:rPr>
              <a:t>Modelo cliente-servidor</a:t>
            </a:r>
            <a:endParaRPr sz="4000" b="1" i="0" u="none" strike="noStrike" cap="none" dirty="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21"/>
          <p:cNvSpPr txBox="1"/>
          <p:nvPr/>
        </p:nvSpPr>
        <p:spPr>
          <a:xfrm>
            <a:off x="511725" y="1535025"/>
            <a:ext cx="4183500" cy="2532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El servidor inicia:</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Cliente se suscribe.</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El servidor elige el momento del inicio de la transferencia, y la envía a un servicio.</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El servicio se la provee al cliente.</a:t>
            </a: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Push genera </a:t>
            </a:r>
            <a:r>
              <a:rPr lang="es" sz="1350">
                <a:solidFill>
                  <a:schemeClr val="dk1"/>
                </a:solidFill>
                <a:highlight>
                  <a:schemeClr val="accent6"/>
                </a:highlight>
                <a:latin typeface="DM Sans"/>
                <a:ea typeface="DM Sans"/>
                <a:cs typeface="DM Sans"/>
                <a:sym typeface="DM Sans"/>
              </a:rPr>
              <a:t>engagement</a:t>
            </a:r>
            <a:r>
              <a:rPr lang="es" sz="1350">
                <a:solidFill>
                  <a:schemeClr val="dk1"/>
                </a:solidFill>
                <a:latin typeface="DM Sans"/>
                <a:ea typeface="DM Sans"/>
                <a:cs typeface="DM Sans"/>
                <a:sym typeface="DM Sans"/>
              </a:rPr>
              <a:t>, que los usuarios recuerden que la app existe, en el </a:t>
            </a:r>
            <a:r>
              <a:rPr lang="es" sz="1350">
                <a:solidFill>
                  <a:schemeClr val="dk1"/>
                </a:solidFill>
                <a:highlight>
                  <a:schemeClr val="accent6"/>
                </a:highlight>
                <a:latin typeface="DM Sans"/>
                <a:ea typeface="DM Sans"/>
                <a:cs typeface="DM Sans"/>
                <a:sym typeface="DM Sans"/>
              </a:rPr>
              <a:t>momento</a:t>
            </a:r>
            <a:r>
              <a:rPr lang="es" sz="1350">
                <a:solidFill>
                  <a:schemeClr val="dk1"/>
                </a:solidFill>
                <a:latin typeface="DM Sans"/>
                <a:ea typeface="DM Sans"/>
                <a:cs typeface="DM Sans"/>
                <a:sym typeface="DM Sans"/>
              </a:rPr>
              <a:t> en el que el servidor considere </a:t>
            </a:r>
            <a:r>
              <a:rPr lang="es" sz="1350">
                <a:solidFill>
                  <a:schemeClr val="dk1"/>
                </a:solidFill>
                <a:highlight>
                  <a:schemeClr val="accent6"/>
                </a:highlight>
                <a:latin typeface="DM Sans"/>
                <a:ea typeface="DM Sans"/>
                <a:cs typeface="DM Sans"/>
                <a:sym typeface="DM Sans"/>
              </a:rPr>
              <a:t>oportuno</a:t>
            </a:r>
            <a:r>
              <a:rPr lang="es" sz="1350">
                <a:solidFill>
                  <a:schemeClr val="dk1"/>
                </a:solidFill>
                <a:latin typeface="DM Sans"/>
                <a:ea typeface="DM Sans"/>
                <a:cs typeface="DM Sans"/>
                <a:sym typeface="DM Sans"/>
              </a:rPr>
              <a:t>.</a:t>
            </a:r>
            <a:endParaRPr sz="1350">
              <a:latin typeface="DM Sans"/>
              <a:ea typeface="DM Sans"/>
              <a:cs typeface="DM Sans"/>
              <a:sym typeface="DM Sans"/>
            </a:endParaRPr>
          </a:p>
        </p:txBody>
      </p:sp>
      <p:pic>
        <p:nvPicPr>
          <p:cNvPr id="81" name="Google Shape;81;p21"/>
          <p:cNvPicPr preferRelativeResize="0"/>
          <p:nvPr/>
        </p:nvPicPr>
        <p:blipFill rotWithShape="1">
          <a:blip r:embed="rId3">
            <a:alphaModFix/>
          </a:blip>
          <a:srcRect l="18573" t="5520" r="21141" b="7943"/>
          <a:stretch/>
        </p:blipFill>
        <p:spPr>
          <a:xfrm>
            <a:off x="5154050" y="1356825"/>
            <a:ext cx="3419545" cy="2810199"/>
          </a:xfrm>
          <a:prstGeom prst="rect">
            <a:avLst/>
          </a:prstGeom>
          <a:noFill/>
          <a:ln>
            <a:noFill/>
          </a:ln>
        </p:spPr>
      </p:pic>
      <p:sp>
        <p:nvSpPr>
          <p:cNvPr id="82" name="Google Shape;82;p21"/>
          <p:cNvSpPr txBox="1"/>
          <p:nvPr/>
        </p:nvSpPr>
        <p:spPr>
          <a:xfrm>
            <a:off x="488474" y="362500"/>
            <a:ext cx="62214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Push notifications</a:t>
            </a:r>
            <a:endParaRPr sz="4000" b="1" i="0" u="none" strike="noStrike" cap="none">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2"/>
          <p:cNvSpPr txBox="1"/>
          <p:nvPr/>
        </p:nvSpPr>
        <p:spPr>
          <a:xfrm>
            <a:off x="1404863" y="194137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4000" b="1">
                <a:solidFill>
                  <a:schemeClr val="lt1"/>
                </a:solidFill>
                <a:latin typeface="DM Sans"/>
                <a:ea typeface="DM Sans"/>
                <a:cs typeface="DM Sans"/>
                <a:sym typeface="DM Sans"/>
              </a:rPr>
              <a:t>PETICIONES (REQUESTS) VIA HTTP/S</a:t>
            </a:r>
            <a:endParaRPr sz="4000" b="1">
              <a:solidFill>
                <a:schemeClr val="lt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3"/>
          <p:cNvSpPr txBox="1"/>
          <p:nvPr/>
        </p:nvSpPr>
        <p:spPr>
          <a:xfrm>
            <a:off x="635400" y="1939050"/>
            <a:ext cx="7873200" cy="1126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400" b="1">
                <a:solidFill>
                  <a:schemeClr val="dk1"/>
                </a:solidFill>
                <a:latin typeface="DM Sans"/>
                <a:ea typeface="DM Sans"/>
                <a:cs typeface="DM Sans"/>
                <a:sym typeface="DM Sans"/>
              </a:rPr>
              <a:t>Instalar Postman </a:t>
            </a:r>
            <a:endParaRPr sz="34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r>
              <a:rPr lang="es" sz="3400" b="1">
                <a:solidFill>
                  <a:schemeClr val="dk1"/>
                </a:solidFill>
                <a:latin typeface="DM Sans"/>
                <a:ea typeface="DM Sans"/>
                <a:cs typeface="DM Sans"/>
                <a:sym typeface="DM Sans"/>
              </a:rPr>
              <a:t>o Thunder Client</a:t>
            </a:r>
            <a:endParaRPr sz="3400" b="1">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4"/>
          <p:cNvSpPr txBox="1"/>
          <p:nvPr/>
        </p:nvSpPr>
        <p:spPr>
          <a:xfrm>
            <a:off x="457725" y="1071050"/>
            <a:ext cx="5959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REQUESTS VIA HTTP/S</a:t>
            </a:r>
            <a:endParaRPr sz="4000" b="1" i="0" u="none" strike="noStrike" cap="none">
              <a:solidFill>
                <a:schemeClr val="dk1"/>
              </a:solidFill>
              <a:latin typeface="DM Sans"/>
              <a:ea typeface="DM Sans"/>
              <a:cs typeface="DM Sans"/>
              <a:sym typeface="DM Sans"/>
            </a:endParaRPr>
          </a:p>
        </p:txBody>
      </p:sp>
      <p:sp>
        <p:nvSpPr>
          <p:cNvPr id="98" name="Google Shape;98;p24"/>
          <p:cNvSpPr txBox="1"/>
          <p:nvPr/>
        </p:nvSpPr>
        <p:spPr>
          <a:xfrm>
            <a:off x="457725" y="2086975"/>
            <a:ext cx="4730100" cy="230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Permiten realizar una solicitud a un servidor, y nos permiten establecer un protocolo de transferencia definido por:</a:t>
            </a: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Dirección/URL.</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Verbo (GET, POST, PUT, DELETE +).</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Parámetros: vía query o url.</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Headers.</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Body (contenido en un POST).</a:t>
            </a:r>
            <a:endParaRPr sz="1350">
              <a:latin typeface="DM Sans"/>
              <a:ea typeface="DM Sans"/>
              <a:cs typeface="DM Sans"/>
              <a:sym typeface="DM Sans"/>
            </a:endParaRPr>
          </a:p>
        </p:txBody>
      </p:sp>
      <p:pic>
        <p:nvPicPr>
          <p:cNvPr id="99" name="Google Shape;99;p24"/>
          <p:cNvPicPr preferRelativeResize="0"/>
          <p:nvPr/>
        </p:nvPicPr>
        <p:blipFill rotWithShape="1">
          <a:blip r:embed="rId3">
            <a:alphaModFix/>
          </a:blip>
          <a:srcRect l="31411" r="37028"/>
          <a:stretch/>
        </p:blipFill>
        <p:spPr>
          <a:xfrm>
            <a:off x="5187825" y="2031100"/>
            <a:ext cx="2672350" cy="2416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5"/>
          <p:cNvSpPr txBox="1"/>
          <p:nvPr/>
        </p:nvSpPr>
        <p:spPr>
          <a:xfrm>
            <a:off x="457725" y="7662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Y VERB</a:t>
            </a:r>
            <a:endParaRPr sz="4000" b="1">
              <a:solidFill>
                <a:schemeClr val="dk1"/>
              </a:solidFill>
              <a:latin typeface="DM Sans"/>
              <a:ea typeface="DM Sans"/>
              <a:cs typeface="DM Sans"/>
              <a:sym typeface="DM Sans"/>
            </a:endParaRPr>
          </a:p>
        </p:txBody>
      </p:sp>
      <p:sp>
        <p:nvSpPr>
          <p:cNvPr id="105" name="Google Shape;105;p25"/>
          <p:cNvSpPr txBox="1"/>
          <p:nvPr/>
        </p:nvSpPr>
        <p:spPr>
          <a:xfrm>
            <a:off x="457725" y="1906825"/>
            <a:ext cx="4730100" cy="2543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b="1">
                <a:latin typeface="DM Sans"/>
                <a:ea typeface="DM Sans"/>
                <a:cs typeface="DM Sans"/>
                <a:sym typeface="DM Sans"/>
              </a:rPr>
              <a:t>VERBOS:</a:t>
            </a:r>
            <a:endParaRPr sz="1350" b="1">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Nos permiten definir una manera de explicarle al servidor la dirección y nuestras intenciones:</a:t>
            </a:r>
            <a:endParaRPr sz="1350">
              <a:latin typeface="DM Sans"/>
              <a:ea typeface="DM Sans"/>
              <a:cs typeface="DM Sans"/>
              <a:sym typeface="DM Sans"/>
            </a:endParaRPr>
          </a:p>
          <a:p>
            <a:pPr marL="0" marR="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GET: quiero obtener.</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POST: quiero crear.</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PUT: quiero crear o actualizar.</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PATCH: quiero alterar parcialmente.</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DELETE: quiero eliminar.</a:t>
            </a:r>
            <a:endParaRPr sz="1350">
              <a:latin typeface="DM Sans"/>
              <a:ea typeface="DM Sans"/>
              <a:cs typeface="DM Sans"/>
              <a:sym typeface="DM Sans"/>
            </a:endParaRPr>
          </a:p>
        </p:txBody>
      </p:sp>
      <p:pic>
        <p:nvPicPr>
          <p:cNvPr id="106" name="Google Shape;106;p25"/>
          <p:cNvPicPr preferRelativeResize="0"/>
          <p:nvPr/>
        </p:nvPicPr>
        <p:blipFill rotWithShape="1">
          <a:blip r:embed="rId3">
            <a:alphaModFix/>
          </a:blip>
          <a:srcRect/>
          <a:stretch/>
        </p:blipFill>
        <p:spPr>
          <a:xfrm>
            <a:off x="5277725" y="2267475"/>
            <a:ext cx="3324825" cy="1646100"/>
          </a:xfrm>
          <a:prstGeom prst="rect">
            <a:avLst/>
          </a:prstGeom>
          <a:noFill/>
          <a:ln>
            <a:noFill/>
          </a:ln>
        </p:spPr>
      </p:pic>
      <p:sp>
        <p:nvSpPr>
          <p:cNvPr id="107" name="Google Shape;107;p25"/>
          <p:cNvSpPr txBox="1"/>
          <p:nvPr/>
        </p:nvSpPr>
        <p:spPr>
          <a:xfrm>
            <a:off x="5333199" y="1209725"/>
            <a:ext cx="3269400" cy="4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850">
                <a:solidFill>
                  <a:schemeClr val="dk1"/>
                </a:solidFill>
                <a:highlight>
                  <a:srgbClr val="EF89D2"/>
                </a:highlight>
                <a:latin typeface="DM Sans"/>
                <a:ea typeface="DM Sans"/>
                <a:cs typeface="DM Sans"/>
                <a:sym typeface="DM Sans"/>
              </a:rPr>
              <a:t>URL: https://pet.api.com/pet</a:t>
            </a:r>
            <a:endParaRPr sz="1850">
              <a:solidFill>
                <a:schemeClr val="dk1"/>
              </a:solidFill>
              <a:highlight>
                <a:srgbClr val="EF89D2"/>
              </a:highlight>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6"/>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Y VERB</a:t>
            </a:r>
            <a:endParaRPr sz="4000" b="1">
              <a:solidFill>
                <a:schemeClr val="dk1"/>
              </a:solidFill>
              <a:latin typeface="DM Sans"/>
              <a:ea typeface="DM Sans"/>
              <a:cs typeface="DM Sans"/>
              <a:sym typeface="DM Sans"/>
            </a:endParaRPr>
          </a:p>
        </p:txBody>
      </p:sp>
      <p:sp>
        <p:nvSpPr>
          <p:cNvPr id="113" name="Google Shape;113;p26"/>
          <p:cNvSpPr txBox="1"/>
          <p:nvPr/>
        </p:nvSpPr>
        <p:spPr>
          <a:xfrm>
            <a:off x="457725" y="2211625"/>
            <a:ext cx="47301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 sz="1350">
                <a:latin typeface="DM Sans"/>
                <a:ea typeface="DM Sans"/>
                <a:cs typeface="DM Sans"/>
                <a:sym typeface="DM Sans"/>
              </a:rPr>
              <a:t>Ningún verbo representa una seguridad y/u obligación. Pero si el servidor y el consumidor los respetan, se pueden lograr algunas mejoras como por ejemplo:</a:t>
            </a:r>
            <a:endParaRPr sz="1350">
              <a:latin typeface="DM Sans"/>
              <a:ea typeface="DM Sans"/>
              <a:cs typeface="DM Sans"/>
              <a:sym typeface="DM Sans"/>
            </a:endParaRPr>
          </a:p>
          <a:p>
            <a:pPr marL="0" marR="0" lvl="0" indent="0" algn="l" rtl="0">
              <a:lnSpc>
                <a:spcPct val="100000"/>
              </a:lnSpc>
              <a:spcBef>
                <a:spcPts val="0"/>
              </a:spcBef>
              <a:spcAft>
                <a:spcPts val="0"/>
              </a:spcAft>
              <a:buNone/>
            </a:pPr>
            <a:endParaRPr sz="1350">
              <a:latin typeface="DM Sans"/>
              <a:ea typeface="DM Sans"/>
              <a:cs typeface="DM Sans"/>
              <a:sym typeface="DM Sans"/>
            </a:endParaRPr>
          </a:p>
          <a:p>
            <a:pPr marL="0" marR="0" lvl="0" indent="0" algn="l" rtl="0">
              <a:lnSpc>
                <a:spcPct val="100000"/>
              </a:lnSpc>
              <a:spcBef>
                <a:spcPts val="0"/>
              </a:spcBef>
              <a:spcAft>
                <a:spcPts val="0"/>
              </a:spcAft>
              <a:buNone/>
            </a:pPr>
            <a:r>
              <a:rPr lang="es" sz="1350">
                <a:latin typeface="DM Sans"/>
                <a:ea typeface="DM Sans"/>
                <a:cs typeface="DM Sans"/>
                <a:sym typeface="DM Sans"/>
              </a:rPr>
              <a:t>El navegador sabe que un </a:t>
            </a:r>
            <a:r>
              <a:rPr lang="es" sz="1350">
                <a:highlight>
                  <a:schemeClr val="accent6"/>
                </a:highlight>
                <a:latin typeface="DM Sans"/>
                <a:ea typeface="DM Sans"/>
                <a:cs typeface="DM Sans"/>
                <a:sym typeface="DM Sans"/>
              </a:rPr>
              <a:t>POST</a:t>
            </a:r>
            <a:r>
              <a:rPr lang="es" sz="1350">
                <a:latin typeface="DM Sans"/>
                <a:ea typeface="DM Sans"/>
                <a:cs typeface="DM Sans"/>
                <a:sym typeface="DM Sans"/>
              </a:rPr>
              <a:t> no debería ser cacheado, si hacemos un </a:t>
            </a:r>
            <a:r>
              <a:rPr lang="es" sz="1350">
                <a:highlight>
                  <a:schemeClr val="accent6"/>
                </a:highlight>
                <a:latin typeface="DM Sans"/>
                <a:ea typeface="DM Sans"/>
                <a:cs typeface="DM Sans"/>
                <a:sym typeface="DM Sans"/>
              </a:rPr>
              <a:t>GET</a:t>
            </a:r>
            <a:r>
              <a:rPr lang="es" sz="1350">
                <a:latin typeface="DM Sans"/>
                <a:ea typeface="DM Sans"/>
                <a:cs typeface="DM Sans"/>
                <a:sym typeface="DM Sans"/>
              </a:rPr>
              <a:t> y fuera cacheable el navegador podrá cachearlo, pero nunca lo hará con un recurso con verbo </a:t>
            </a:r>
            <a:r>
              <a:rPr lang="es" sz="1350">
                <a:highlight>
                  <a:schemeClr val="accent6"/>
                </a:highlight>
                <a:latin typeface="DM Sans"/>
                <a:ea typeface="DM Sans"/>
                <a:cs typeface="DM Sans"/>
                <a:sym typeface="DM Sans"/>
              </a:rPr>
              <a:t>POST</a:t>
            </a:r>
            <a:r>
              <a:rPr lang="es" sz="1350">
                <a:latin typeface="DM Sans"/>
                <a:ea typeface="DM Sans"/>
                <a:cs typeface="DM Sans"/>
                <a:sym typeface="DM Sans"/>
              </a:rPr>
              <a:t>.</a:t>
            </a:r>
            <a:endParaRPr sz="1350">
              <a:latin typeface="DM Sans"/>
              <a:ea typeface="DM Sans"/>
              <a:cs typeface="DM Sans"/>
              <a:sym typeface="DM Sans"/>
            </a:endParaRPr>
          </a:p>
        </p:txBody>
      </p:sp>
      <p:pic>
        <p:nvPicPr>
          <p:cNvPr id="114" name="Google Shape;114;p26"/>
          <p:cNvPicPr preferRelativeResize="0"/>
          <p:nvPr/>
        </p:nvPicPr>
        <p:blipFill rotWithShape="1">
          <a:blip r:embed="rId3">
            <a:alphaModFix/>
          </a:blip>
          <a:srcRect/>
          <a:stretch/>
        </p:blipFill>
        <p:spPr>
          <a:xfrm>
            <a:off x="5443800" y="1809950"/>
            <a:ext cx="2365851" cy="2365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PARAMS/SEGMENT</a:t>
            </a:r>
            <a:endParaRPr sz="4000" b="1">
              <a:solidFill>
                <a:schemeClr val="dk1"/>
              </a:solidFill>
              <a:latin typeface="DM Sans"/>
              <a:ea typeface="DM Sans"/>
              <a:cs typeface="DM Sans"/>
              <a:sym typeface="DM Sans"/>
            </a:endParaRPr>
          </a:p>
        </p:txBody>
      </p:sp>
      <p:sp>
        <p:nvSpPr>
          <p:cNvPr id="120" name="Google Shape;120;p27"/>
          <p:cNvSpPr txBox="1"/>
          <p:nvPr/>
        </p:nvSpPr>
        <p:spPr>
          <a:xfrm>
            <a:off x="473350" y="1529400"/>
            <a:ext cx="7341600" cy="10158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Son una convención para incluir el identificador del recurso dentro de la misma url, son más comunes cuando ya se conoce el recurso específico que se buscará.</a:t>
            </a:r>
            <a:endParaRPr sz="1350">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graphicFrame>
        <p:nvGraphicFramePr>
          <p:cNvPr id="121" name="Google Shape;121;p27"/>
          <p:cNvGraphicFramePr/>
          <p:nvPr/>
        </p:nvGraphicFramePr>
        <p:xfrm>
          <a:off x="981400" y="2292525"/>
          <a:ext cx="7496125" cy="1828770"/>
        </p:xfrm>
        <a:graphic>
          <a:graphicData uri="http://schemas.openxmlformats.org/drawingml/2006/table">
            <a:tbl>
              <a:tblPr>
                <a:noFill/>
                <a:tableStyleId>{8B3616F2-456C-40B4-B490-66DFA2D3AB3A}</a:tableStyleId>
              </a:tblPr>
              <a:tblGrid>
                <a:gridCol w="3877775">
                  <a:extLst>
                    <a:ext uri="{9D8B030D-6E8A-4147-A177-3AD203B41FA5}">
                      <a16:colId xmlns:a16="http://schemas.microsoft.com/office/drawing/2014/main" val="20000"/>
                    </a:ext>
                  </a:extLst>
                </a:gridCol>
                <a:gridCol w="361835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1350" u="sng" strike="noStrike" cap="none">
                          <a:solidFill>
                            <a:srgbClr val="0097A7"/>
                          </a:solidFill>
                          <a:latin typeface="DM Sans"/>
                          <a:ea typeface="DM Sans"/>
                          <a:cs typeface="DM Sans"/>
                          <a:sym typeface="DM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https://myapp.coder/student/</a:t>
                      </a:r>
                      <a:r>
                        <a:rPr lang="es" sz="1350" u="sng" strike="noStrike" cap="none">
                          <a:solidFill>
                            <a:schemeClr val="accent4"/>
                          </a:solidFill>
                          <a:latin typeface="DM Sans"/>
                          <a:ea typeface="DM Sans"/>
                          <a:cs typeface="DM Sans"/>
                          <a:sym typeface="DM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1234</a:t>
                      </a:r>
                      <a:endParaRPr sz="1350" u="none" strike="noStrike" cap="none">
                        <a:solidFill>
                          <a:schemeClr val="accent4"/>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endParaRPr sz="135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sz="1350" u="none" strike="noStrike" cap="none">
                          <a:solidFill>
                            <a:srgbClr val="000000"/>
                          </a:solidFill>
                          <a:latin typeface="DM Sans"/>
                          <a:ea typeface="DM Sans"/>
                          <a:cs typeface="DM Sans"/>
                          <a:sym typeface="DM Sans"/>
                        </a:rPr>
                        <a:t>Se puede leer como: </a:t>
                      </a:r>
                      <a:endParaRPr sz="135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busca en </a:t>
                      </a:r>
                      <a:r>
                        <a:rPr lang="es" sz="1350" b="1" i="1" u="none" strike="noStrike" cap="none">
                          <a:solidFill>
                            <a:srgbClr val="000000"/>
                          </a:solidFill>
                          <a:latin typeface="DM Sans"/>
                          <a:ea typeface="DM Sans"/>
                          <a:cs typeface="DM Sans"/>
                          <a:sym typeface="DM Sans"/>
                        </a:rPr>
                        <a:t>myapp.coder</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utilizando </a:t>
                      </a:r>
                      <a:r>
                        <a:rPr lang="es" sz="1350" b="1" i="1" u="none" strike="noStrike" cap="none">
                          <a:solidFill>
                            <a:srgbClr val="000000"/>
                          </a:solidFill>
                          <a:latin typeface="DM Sans"/>
                          <a:ea typeface="DM Sans"/>
                          <a:cs typeface="DM Sans"/>
                          <a:sym typeface="DM Sans"/>
                        </a:rPr>
                        <a:t>https…</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el recurso </a:t>
                      </a:r>
                      <a:r>
                        <a:rPr lang="es" sz="1350" b="1" i="1" u="none" strike="noStrike" cap="none">
                          <a:solidFill>
                            <a:srgbClr val="000000"/>
                          </a:solidFill>
                          <a:latin typeface="DM Sans"/>
                          <a:ea typeface="DM Sans"/>
                          <a:cs typeface="DM Sans"/>
                          <a:sym typeface="DM Sans"/>
                        </a:rPr>
                        <a:t>student</a:t>
                      </a:r>
                      <a:r>
                        <a:rPr lang="es" sz="1350" i="1" u="none" strike="noStrike" cap="none">
                          <a:solidFill>
                            <a:srgbClr val="000000"/>
                          </a:solidFill>
                          <a:latin typeface="DM Sans"/>
                          <a:ea typeface="DM Sans"/>
                          <a:cs typeface="DM Sans"/>
                          <a:sym typeface="DM Sans"/>
                        </a:rPr>
                        <a:t> </a:t>
                      </a:r>
                      <a:endParaRPr sz="1350"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i="1" u="none" strike="noStrike" cap="none">
                          <a:solidFill>
                            <a:srgbClr val="000000"/>
                          </a:solidFill>
                          <a:latin typeface="DM Sans"/>
                          <a:ea typeface="DM Sans"/>
                          <a:cs typeface="DM Sans"/>
                          <a:sym typeface="DM Sans"/>
                        </a:rPr>
                        <a:t>con id 1234</a:t>
                      </a:r>
                      <a:endParaRPr sz="1350" u="none" strike="noStrike" cap="none">
                        <a:latin typeface="DM Sans"/>
                        <a:ea typeface="DM Sans"/>
                        <a:cs typeface="DM Sans"/>
                        <a:sym typeface="DM Sans"/>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s" sz="1350" u="sng" strike="noStrike" cap="none">
                          <a:solidFill>
                            <a:srgbClr val="0097A7"/>
                          </a:solidFill>
                          <a:latin typeface="DM Sans"/>
                          <a:ea typeface="DM Sans"/>
                          <a:cs typeface="DM Sans"/>
                          <a:sym typeface="DM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https://myapp.coder/student/1234/courses</a:t>
                      </a:r>
                      <a:endParaRPr sz="135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endParaRPr sz="1350" u="none" strike="noStrike" cap="none">
                        <a:solidFill>
                          <a:srgbClr val="000000"/>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sz="1350" u="none" strike="noStrike" cap="none">
                          <a:solidFill>
                            <a:srgbClr val="000000"/>
                          </a:solidFill>
                          <a:latin typeface="DM Sans"/>
                          <a:ea typeface="DM Sans"/>
                          <a:cs typeface="DM Sans"/>
                          <a:sym typeface="DM Sans"/>
                        </a:rPr>
                        <a:t>Se puede leer como: </a:t>
                      </a:r>
                      <a:endParaRPr sz="1350"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busca en </a:t>
                      </a:r>
                      <a:r>
                        <a:rPr lang="es" sz="1350" b="1" i="1" u="none" strike="noStrike" cap="none">
                          <a:solidFill>
                            <a:srgbClr val="000000"/>
                          </a:solidFill>
                          <a:latin typeface="DM Sans"/>
                          <a:ea typeface="DM Sans"/>
                          <a:cs typeface="DM Sans"/>
                          <a:sym typeface="DM Sans"/>
                        </a:rPr>
                        <a:t>myapp.coder</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utilizando </a:t>
                      </a:r>
                      <a:r>
                        <a:rPr lang="es" sz="1350" b="1" i="1" u="none" strike="noStrike" cap="none">
                          <a:solidFill>
                            <a:srgbClr val="000000"/>
                          </a:solidFill>
                          <a:latin typeface="DM Sans"/>
                          <a:ea typeface="DM Sans"/>
                          <a:cs typeface="DM Sans"/>
                          <a:sym typeface="DM Sans"/>
                        </a:rPr>
                        <a:t>https…</a:t>
                      </a:r>
                      <a:endParaRPr sz="1350" b="1"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el recurso </a:t>
                      </a:r>
                      <a:r>
                        <a:rPr lang="es" sz="1350" b="1" i="1" u="none" strike="noStrike" cap="none">
                          <a:solidFill>
                            <a:srgbClr val="000000"/>
                          </a:solidFill>
                          <a:latin typeface="DM Sans"/>
                          <a:ea typeface="DM Sans"/>
                          <a:cs typeface="DM Sans"/>
                          <a:sym typeface="DM Sans"/>
                        </a:rPr>
                        <a:t>courses</a:t>
                      </a:r>
                      <a:r>
                        <a:rPr lang="es" sz="1350" i="1" u="none" strike="noStrike" cap="none">
                          <a:solidFill>
                            <a:srgbClr val="000000"/>
                          </a:solidFill>
                          <a:latin typeface="DM Sans"/>
                          <a:ea typeface="DM Sans"/>
                          <a:cs typeface="DM Sans"/>
                          <a:sym typeface="DM Sans"/>
                        </a:rPr>
                        <a:t> </a:t>
                      </a:r>
                      <a:endParaRPr sz="1350" i="1" u="none" strike="noStrike" cap="none">
                        <a:solidFill>
                          <a:srgbClr val="000000"/>
                        </a:solidFill>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Helvetica Neue"/>
                        <a:buChar char="✓"/>
                      </a:pPr>
                      <a:r>
                        <a:rPr lang="es" sz="1350" i="1" u="none" strike="noStrike" cap="none">
                          <a:solidFill>
                            <a:srgbClr val="000000"/>
                          </a:solidFill>
                          <a:latin typeface="DM Sans"/>
                          <a:ea typeface="DM Sans"/>
                          <a:cs typeface="DM Sans"/>
                          <a:sym typeface="DM Sans"/>
                        </a:rPr>
                        <a:t>Únicamente para </a:t>
                      </a:r>
                      <a:r>
                        <a:rPr lang="es" sz="1350" b="1" i="1" u="none" strike="noStrike" cap="none">
                          <a:solidFill>
                            <a:srgbClr val="000000"/>
                          </a:solidFill>
                          <a:latin typeface="DM Sans"/>
                          <a:ea typeface="DM Sans"/>
                          <a:cs typeface="DM Sans"/>
                          <a:sym typeface="DM Sans"/>
                        </a:rPr>
                        <a:t>student </a:t>
                      </a:r>
                      <a:r>
                        <a:rPr lang="es" sz="1350" i="1" u="none" strike="noStrike" cap="none">
                          <a:solidFill>
                            <a:srgbClr val="000000"/>
                          </a:solidFill>
                          <a:latin typeface="DM Sans"/>
                          <a:ea typeface="DM Sans"/>
                          <a:cs typeface="DM Sans"/>
                          <a:sym typeface="DM Sans"/>
                        </a:rPr>
                        <a:t>1234</a:t>
                      </a:r>
                      <a:endParaRPr sz="1350" u="none" strike="noStrike" cap="none">
                        <a:latin typeface="DM Sans"/>
                        <a:ea typeface="DM Sans"/>
                        <a:cs typeface="DM Sans"/>
                        <a:sym typeface="DM Sans"/>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8"/>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28"/>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500"/>
              <a:buFont typeface="Arial"/>
              <a:buNone/>
            </a:pPr>
            <a:r>
              <a:rPr lang="es" sz="3500" b="1">
                <a:solidFill>
                  <a:schemeClr val="lt1"/>
                </a:solidFill>
                <a:latin typeface="DM Sans"/>
                <a:ea typeface="DM Sans"/>
                <a:cs typeface="DM Sans"/>
                <a:sym typeface="DM Sans"/>
              </a:rPr>
              <a:t>Body</a:t>
            </a:r>
            <a:endParaRPr sz="3500" b="1" i="0" u="none" strike="noStrike" cap="none">
              <a:solidFill>
                <a:schemeClr val="lt1"/>
              </a:solidFill>
              <a:latin typeface="DM Sans"/>
              <a:ea typeface="DM Sans"/>
              <a:cs typeface="DM Sans"/>
              <a:sym typeface="DM Sans"/>
            </a:endParaRPr>
          </a:p>
        </p:txBody>
      </p:sp>
      <p:sp>
        <p:nvSpPr>
          <p:cNvPr id="128" name="Google Shape;128;p28"/>
          <p:cNvSpPr txBox="1"/>
          <p:nvPr/>
        </p:nvSpPr>
        <p:spPr>
          <a:xfrm>
            <a:off x="903500" y="1342300"/>
            <a:ext cx="6904800" cy="3924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Se utiliza para transferir piezas de información entre el cliente y el servidor.</a:t>
            </a:r>
            <a:endParaRPr sz="1350">
              <a:latin typeface="DM Sans"/>
              <a:ea typeface="DM Sans"/>
              <a:cs typeface="DM Sans"/>
              <a:sym typeface="DM Sans"/>
            </a:endParaRPr>
          </a:p>
        </p:txBody>
      </p:sp>
      <p:pic>
        <p:nvPicPr>
          <p:cNvPr id="129" name="Google Shape;129;p28"/>
          <p:cNvPicPr preferRelativeResize="0"/>
          <p:nvPr/>
        </p:nvPicPr>
        <p:blipFill rotWithShape="1">
          <a:blip r:embed="rId3">
            <a:alphaModFix/>
          </a:blip>
          <a:srcRect t="15682"/>
          <a:stretch/>
        </p:blipFill>
        <p:spPr>
          <a:xfrm>
            <a:off x="1947200" y="1978975"/>
            <a:ext cx="5249600" cy="2084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Query params         </a:t>
            </a:r>
            <a:endParaRPr sz="1700" b="1">
              <a:solidFill>
                <a:schemeClr val="dk1"/>
              </a:solidFill>
              <a:latin typeface="DM Sans"/>
              <a:ea typeface="DM Sans"/>
              <a:cs typeface="DM Sans"/>
              <a:sym typeface="DM Sans"/>
            </a:endParaRPr>
          </a:p>
        </p:txBody>
      </p:sp>
      <p:sp>
        <p:nvSpPr>
          <p:cNvPr id="135" name="Google Shape;135;p29"/>
          <p:cNvSpPr txBox="1"/>
          <p:nvPr/>
        </p:nvSpPr>
        <p:spPr>
          <a:xfrm>
            <a:off x="473350" y="1908175"/>
            <a:ext cx="3834600" cy="2055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es" sz="1350">
                <a:latin typeface="DM Sans"/>
                <a:ea typeface="DM Sans"/>
                <a:cs typeface="DM Sans"/>
                <a:sym typeface="DM Sans"/>
              </a:rPr>
              <a:t>Nos permiten incluir en la dirección información que se usa para especificarle al backend parámetros para efectuar una búsqueda, son más comunes para buscar recursos que no tengo la seguridad de que existan:</a:t>
            </a: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r>
              <a:rPr lang="es" sz="1350" u="sng">
                <a:solidFill>
                  <a:schemeClr val="hlink"/>
                </a:solidFill>
                <a:latin typeface="DM Sans"/>
                <a:ea typeface="DM Sans"/>
                <a:cs typeface="DM Sans"/>
                <a:sym typeface="DM Sans"/>
                <a:hlinkClick r:id="rId3"/>
              </a:rPr>
              <a:t>https://www.google.com.ar/search?q=coderhouse</a:t>
            </a:r>
            <a:endParaRPr sz="1350">
              <a:latin typeface="DM Sans"/>
              <a:ea typeface="DM Sans"/>
              <a:cs typeface="DM Sans"/>
              <a:sym typeface="DM Sans"/>
            </a:endParaRPr>
          </a:p>
        </p:txBody>
      </p:sp>
      <p:sp>
        <p:nvSpPr>
          <p:cNvPr id="136" name="Google Shape;136;p29"/>
          <p:cNvSpPr txBox="1"/>
          <p:nvPr/>
        </p:nvSpPr>
        <p:spPr>
          <a:xfrm>
            <a:off x="4527575" y="1908175"/>
            <a:ext cx="3834600" cy="184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s" sz="1350">
                <a:latin typeface="DM Sans"/>
                <a:ea typeface="DM Sans"/>
                <a:cs typeface="DM Sans"/>
                <a:sym typeface="DM Sans"/>
              </a:rPr>
              <a:t>Se puede leer como: </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busca en google.com.ar</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utilizando https…</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el recurso search (resultados de búsqueda) …</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que contengan la palabra (q = query) ‘coderhouse’</a:t>
            </a:r>
            <a:endParaRPr sz="1350">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350"/>
              <a:buFont typeface="Arial"/>
              <a:buNone/>
            </a:pPr>
            <a:endParaRPr sz="1350">
              <a:latin typeface="DM Sans"/>
              <a:ea typeface="DM Sans"/>
              <a:cs typeface="DM Sans"/>
              <a:sym typeface="DM Sans"/>
            </a:endParaRPr>
          </a:p>
        </p:txBody>
      </p:sp>
      <p:sp>
        <p:nvSpPr>
          <p:cNvPr id="137" name="Google Shape;137;p29"/>
          <p:cNvSpPr/>
          <p:nvPr/>
        </p:nvSpPr>
        <p:spPr>
          <a:xfrm>
            <a:off x="3285450" y="3444425"/>
            <a:ext cx="297000" cy="229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3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URL Query params</a:t>
            </a:r>
            <a:endParaRPr sz="4000" b="1">
              <a:solidFill>
                <a:schemeClr val="dk1"/>
              </a:solidFill>
              <a:latin typeface="DM Sans"/>
              <a:ea typeface="DM Sans"/>
              <a:cs typeface="DM Sans"/>
              <a:sym typeface="DM Sans"/>
            </a:endParaRPr>
          </a:p>
        </p:txBody>
      </p:sp>
      <p:sp>
        <p:nvSpPr>
          <p:cNvPr id="143" name="Google Shape;143;p30"/>
          <p:cNvSpPr txBox="1"/>
          <p:nvPr/>
        </p:nvSpPr>
        <p:spPr>
          <a:xfrm>
            <a:off x="473350" y="1908175"/>
            <a:ext cx="7953300" cy="20202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50000"/>
              </a:lnSpc>
              <a:spcBef>
                <a:spcPts val="0"/>
              </a:spcBef>
              <a:spcAft>
                <a:spcPts val="0"/>
              </a:spcAft>
              <a:buClr>
                <a:schemeClr val="accent4"/>
              </a:buClr>
              <a:buSzPts val="1350"/>
              <a:buFont typeface="DM Sans"/>
              <a:buChar char="✓"/>
            </a:pPr>
            <a:r>
              <a:rPr lang="es" sz="1350">
                <a:latin typeface="DM Sans"/>
                <a:ea typeface="DM Sans"/>
                <a:cs typeface="DM Sans"/>
                <a:sym typeface="DM Sans"/>
              </a:rPr>
              <a:t>Los query params viene después del signo ? </a:t>
            </a:r>
            <a:endParaRPr sz="1350">
              <a:latin typeface="DM Sans"/>
              <a:ea typeface="DM Sans"/>
              <a:cs typeface="DM Sans"/>
              <a:sym typeface="DM Sans"/>
            </a:endParaRPr>
          </a:p>
          <a:p>
            <a:pPr marL="457200" marR="0" lvl="0" indent="-314325" algn="l" rtl="0">
              <a:lnSpc>
                <a:spcPct val="150000"/>
              </a:lnSpc>
              <a:spcBef>
                <a:spcPts val="0"/>
              </a:spcBef>
              <a:spcAft>
                <a:spcPts val="0"/>
              </a:spcAft>
              <a:buClr>
                <a:schemeClr val="accent4"/>
              </a:buClr>
              <a:buSzPts val="1350"/>
              <a:buFont typeface="DM Sans"/>
              <a:buChar char="✓"/>
            </a:pPr>
            <a:r>
              <a:rPr lang="es" sz="1350">
                <a:latin typeface="DM Sans"/>
                <a:ea typeface="DM Sans"/>
                <a:cs typeface="DM Sans"/>
                <a:sym typeface="DM Sans"/>
              </a:rPr>
              <a:t>Cada parámetro tendra key=value &amp; key2=value2</a:t>
            </a:r>
            <a:endParaRPr sz="1350">
              <a:latin typeface="DM Sans"/>
              <a:ea typeface="DM Sans"/>
              <a:cs typeface="DM Sans"/>
              <a:sym typeface="DM Sans"/>
            </a:endParaRPr>
          </a:p>
          <a:p>
            <a:pPr marL="457200" marR="0" lvl="0" indent="-314325" algn="l" rtl="0">
              <a:lnSpc>
                <a:spcPct val="150000"/>
              </a:lnSpc>
              <a:spcBef>
                <a:spcPts val="0"/>
              </a:spcBef>
              <a:spcAft>
                <a:spcPts val="0"/>
              </a:spcAft>
              <a:buClr>
                <a:schemeClr val="accent4"/>
              </a:buClr>
              <a:buSzPts val="1350"/>
              <a:buFont typeface="DM Sans"/>
              <a:buChar char="✓"/>
            </a:pPr>
            <a:r>
              <a:rPr lang="es" sz="1350">
                <a:latin typeface="DM Sans"/>
                <a:ea typeface="DM Sans"/>
                <a:cs typeface="DM Sans"/>
                <a:sym typeface="DM Sans"/>
              </a:rPr>
              <a:t>Cada parámetro se puede separar por &amp;</a:t>
            </a:r>
            <a:endParaRPr sz="1350">
              <a:latin typeface="DM Sans"/>
              <a:ea typeface="DM Sans"/>
              <a:cs typeface="DM Sans"/>
              <a:sym typeface="DM Sans"/>
            </a:endParaRPr>
          </a:p>
          <a:p>
            <a:pPr marL="457200" marR="0" lvl="0" indent="0" algn="l" rtl="0">
              <a:lnSpc>
                <a:spcPct val="100000"/>
              </a:lnSpc>
              <a:spcBef>
                <a:spcPts val="0"/>
              </a:spcBef>
              <a:spcAft>
                <a:spcPts val="0"/>
              </a:spcAft>
              <a:buNone/>
            </a:pPr>
            <a:endParaRPr sz="1350">
              <a:latin typeface="DM Sans"/>
              <a:ea typeface="DM Sans"/>
              <a:cs typeface="DM Sans"/>
              <a:sym typeface="DM Sans"/>
            </a:endParaRPr>
          </a:p>
          <a:p>
            <a:pPr marL="457200" marR="0" lvl="0" indent="0" algn="l" rtl="0">
              <a:lnSpc>
                <a:spcPct val="100000"/>
              </a:lnSpc>
              <a:spcBef>
                <a:spcPts val="0"/>
              </a:spcBef>
              <a:spcAft>
                <a:spcPts val="0"/>
              </a:spcAft>
              <a:buNone/>
            </a:pPr>
            <a:r>
              <a:rPr lang="es" sz="3150" u="sng">
                <a:solidFill>
                  <a:schemeClr val="hlink"/>
                </a:solidFill>
                <a:latin typeface="DM Sans"/>
                <a:ea typeface="DM Sans"/>
                <a:cs typeface="DM Sans"/>
                <a:sym typeface="DM Sans"/>
                <a:hlinkClick r:id="rId3"/>
              </a:rPr>
              <a:t>http://url.com/find</a:t>
            </a:r>
            <a:r>
              <a:rPr lang="es" sz="3150" u="sng">
                <a:solidFill>
                  <a:schemeClr val="accent1"/>
                </a:solidFill>
                <a:latin typeface="DM Sans"/>
                <a:ea typeface="DM Sans"/>
                <a:cs typeface="DM Sans"/>
                <a:sym typeface="DM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a:t>
            </a:r>
            <a:r>
              <a:rPr lang="es" sz="3150" u="sng">
                <a:solidFill>
                  <a:srgbClr val="EF89D2"/>
                </a:solidFill>
                <a:latin typeface="DM Sans"/>
                <a:ea typeface="DM Sans"/>
                <a:cs typeface="DM Sans"/>
                <a:sym typeface="DM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type=order&amp;id=1234</a:t>
            </a:r>
            <a:endParaRPr sz="3150">
              <a:solidFill>
                <a:srgbClr val="EF89D2"/>
              </a:solidFill>
              <a:latin typeface="DM Sans"/>
              <a:ea typeface="DM Sans"/>
              <a:cs typeface="DM Sans"/>
              <a:sym typeface="DM Sans"/>
            </a:endParaRPr>
          </a:p>
          <a:p>
            <a:pPr marL="0" marR="0" lvl="0" indent="0" algn="l" rtl="0">
              <a:lnSpc>
                <a:spcPct val="100000"/>
              </a:lnSpc>
              <a:spcBef>
                <a:spcPts val="0"/>
              </a:spcBef>
              <a:spcAft>
                <a:spcPts val="0"/>
              </a:spcAft>
              <a:buClr>
                <a:schemeClr val="dk1"/>
              </a:buClr>
              <a:buSzPts val="1100"/>
              <a:buFont typeface="Arial"/>
              <a:buNone/>
            </a:pPr>
            <a:endParaRPr sz="1350">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1"/>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RECURSOS/RESTFUL</a:t>
            </a:r>
            <a:endParaRPr sz="4000" b="1">
              <a:solidFill>
                <a:schemeClr val="dk1"/>
              </a:solidFill>
              <a:latin typeface="DM Sans"/>
              <a:ea typeface="DM Sans"/>
              <a:cs typeface="DM Sans"/>
              <a:sym typeface="DM Sans"/>
            </a:endParaRPr>
          </a:p>
        </p:txBody>
      </p:sp>
      <p:sp>
        <p:nvSpPr>
          <p:cNvPr id="149" name="Google Shape;149;p31"/>
          <p:cNvSpPr txBox="1"/>
          <p:nvPr/>
        </p:nvSpPr>
        <p:spPr>
          <a:xfrm>
            <a:off x="473350" y="1908175"/>
            <a:ext cx="3834600" cy="20550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Cuando se crea y provee un servicio basado y pensado en términos de recursos, y se respetan las convenciones de verbo/método y código de respuesta, estamos frente a un diseño arquitectural de tipo REST.</a:t>
            </a:r>
            <a:endParaRPr sz="1350">
              <a:latin typeface="DM Sans"/>
              <a:ea typeface="DM Sans"/>
              <a:cs typeface="DM Sans"/>
              <a:sym typeface="DM Sans"/>
            </a:endParaRPr>
          </a:p>
          <a:p>
            <a:pPr marL="457200" marR="0" lvl="0" indent="0" algn="l" rtl="0">
              <a:lnSpc>
                <a:spcPct val="100000"/>
              </a:lnSpc>
              <a:spcBef>
                <a:spcPts val="0"/>
              </a:spcBef>
              <a:spcAft>
                <a:spcPts val="0"/>
              </a:spcAft>
              <a:buNone/>
            </a:pP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Si además transferimos javascript o xml, es conocido como AJAX. </a:t>
            </a:r>
            <a:endParaRPr sz="1350">
              <a:latin typeface="DM Sans"/>
              <a:ea typeface="DM Sans"/>
              <a:cs typeface="DM Sans"/>
              <a:sym typeface="DM Sans"/>
            </a:endParaRPr>
          </a:p>
        </p:txBody>
      </p:sp>
      <p:sp>
        <p:nvSpPr>
          <p:cNvPr id="150" name="Google Shape;150;p31"/>
          <p:cNvSpPr txBox="1"/>
          <p:nvPr/>
        </p:nvSpPr>
        <p:spPr>
          <a:xfrm>
            <a:off x="5614450" y="2354100"/>
            <a:ext cx="30000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accent4"/>
                </a:solidFill>
                <a:latin typeface="DM Sans"/>
                <a:ea typeface="DM Sans"/>
                <a:cs typeface="DM Sans"/>
                <a:sym typeface="DM Sans"/>
              </a:rPr>
              <a:t>API REST</a:t>
            </a:r>
            <a:endParaRPr>
              <a:solidFill>
                <a:schemeClr val="accent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2"/>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HEADERS</a:t>
            </a:r>
            <a:endParaRPr sz="4000" b="1" i="0" u="none" strike="noStrike" cap="none">
              <a:solidFill>
                <a:schemeClr val="dk1"/>
              </a:solidFill>
              <a:latin typeface="DM Sans"/>
              <a:ea typeface="DM Sans"/>
              <a:cs typeface="DM Sans"/>
              <a:sym typeface="DM Sans"/>
            </a:endParaRPr>
          </a:p>
        </p:txBody>
      </p:sp>
      <p:sp>
        <p:nvSpPr>
          <p:cNvPr id="156" name="Google Shape;156;p32"/>
          <p:cNvSpPr txBox="1"/>
          <p:nvPr/>
        </p:nvSpPr>
        <p:spPr>
          <a:xfrm>
            <a:off x="457725" y="2211625"/>
            <a:ext cx="4730100" cy="2065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Se usan para:</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Definir las respuestas soportadas, requeridas o preferidas.</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Agregar información extra:</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Auth tokens, cookies.</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Lenguaje preferido.</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Si acepta contenido cacheado.</a:t>
            </a:r>
            <a:endParaRPr sz="1350">
              <a:latin typeface="DM Sans"/>
              <a:ea typeface="DM Sans"/>
              <a:cs typeface="DM Sans"/>
              <a:sym typeface="DM Sans"/>
            </a:endParaRPr>
          </a:p>
          <a:p>
            <a:pPr marL="457200" marR="0" lvl="0" indent="-314325" algn="l" rtl="0">
              <a:lnSpc>
                <a:spcPct val="115000"/>
              </a:lnSpc>
              <a:spcBef>
                <a:spcPts val="0"/>
              </a:spcBef>
              <a:spcAft>
                <a:spcPts val="0"/>
              </a:spcAft>
              <a:buClr>
                <a:schemeClr val="accent4"/>
              </a:buClr>
              <a:buSzPts val="1350"/>
              <a:buFont typeface="DM Sans"/>
              <a:buChar char="✓"/>
            </a:pPr>
            <a:r>
              <a:rPr lang="es" sz="1350">
                <a:latin typeface="DM Sans"/>
                <a:ea typeface="DM Sans"/>
                <a:cs typeface="DM Sans"/>
                <a:sym typeface="DM Sans"/>
              </a:rPr>
              <a:t>Lo que quieras en forma de texto.</a:t>
            </a:r>
            <a:endParaRPr sz="1350">
              <a:latin typeface="DM Sans"/>
              <a:ea typeface="DM Sans"/>
              <a:cs typeface="DM Sans"/>
              <a:sym typeface="DM Sans"/>
            </a:endParaRPr>
          </a:p>
        </p:txBody>
      </p:sp>
      <p:pic>
        <p:nvPicPr>
          <p:cNvPr id="157" name="Google Shape;157;p32"/>
          <p:cNvPicPr preferRelativeResize="0"/>
          <p:nvPr/>
        </p:nvPicPr>
        <p:blipFill rotWithShape="1">
          <a:blip r:embed="rId3">
            <a:alphaModFix/>
          </a:blip>
          <a:srcRect r="27362"/>
          <a:stretch/>
        </p:blipFill>
        <p:spPr>
          <a:xfrm>
            <a:off x="4973250" y="737463"/>
            <a:ext cx="3742200" cy="36685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62" name="Google Shape;162;p33"/>
          <p:cNvPicPr preferRelativeResize="0"/>
          <p:nvPr/>
        </p:nvPicPr>
        <p:blipFill rotWithShape="1">
          <a:blip r:embed="rId3">
            <a:alphaModFix/>
          </a:blip>
          <a:srcRect/>
          <a:stretch/>
        </p:blipFill>
        <p:spPr>
          <a:xfrm>
            <a:off x="7811413" y="4692275"/>
            <a:ext cx="1150750" cy="267575"/>
          </a:xfrm>
          <a:prstGeom prst="rect">
            <a:avLst/>
          </a:prstGeom>
          <a:noFill/>
          <a:ln>
            <a:noFill/>
          </a:ln>
        </p:spPr>
      </p:pic>
      <p:pic>
        <p:nvPicPr>
          <p:cNvPr id="163" name="Google Shape;163;p33"/>
          <p:cNvPicPr preferRelativeResize="0"/>
          <p:nvPr/>
        </p:nvPicPr>
        <p:blipFill>
          <a:blip r:embed="rId4">
            <a:alphaModFix/>
          </a:blip>
          <a:stretch>
            <a:fillRect/>
          </a:stretch>
        </p:blipFill>
        <p:spPr>
          <a:xfrm>
            <a:off x="1049157" y="969612"/>
            <a:ext cx="6956418" cy="3204275"/>
          </a:xfrm>
          <a:prstGeom prst="rect">
            <a:avLst/>
          </a:prstGeom>
          <a:noFill/>
          <a:ln>
            <a:noFill/>
          </a:ln>
        </p:spPr>
      </p:pic>
      <p:sp>
        <p:nvSpPr>
          <p:cNvPr id="164" name="Google Shape;164;p33"/>
          <p:cNvSpPr txBox="1"/>
          <p:nvPr/>
        </p:nvSpPr>
        <p:spPr>
          <a:xfrm>
            <a:off x="937475" y="251275"/>
            <a:ext cx="4730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 sz="4000" b="1">
                <a:solidFill>
                  <a:schemeClr val="dk1"/>
                </a:solidFill>
                <a:latin typeface="DM Sans"/>
                <a:ea typeface="DM Sans"/>
                <a:cs typeface="DM Sans"/>
                <a:sym typeface="DM Sans"/>
              </a:rPr>
              <a:t>HEADERS</a:t>
            </a:r>
            <a:endParaRPr sz="4000" b="1" i="0" u="none" strike="noStrike" cap="none">
              <a:solidFill>
                <a:schemeClr val="dk1"/>
              </a:solidFill>
              <a:latin typeface="DM Sans"/>
              <a:ea typeface="DM Sans"/>
              <a:cs typeface="DM Sans"/>
              <a:sym typeface="DM Sans"/>
            </a:endParaRPr>
          </a:p>
        </p:txBody>
      </p:sp>
      <p:sp>
        <p:nvSpPr>
          <p:cNvPr id="165" name="Google Shape;165;p33"/>
          <p:cNvSpPr txBox="1"/>
          <p:nvPr/>
        </p:nvSpPr>
        <p:spPr>
          <a:xfrm>
            <a:off x="972950" y="4305725"/>
            <a:ext cx="6762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200">
                <a:highlight>
                  <a:schemeClr val="accent6"/>
                </a:highlight>
                <a:latin typeface="DM Sans"/>
                <a:ea typeface="DM Sans"/>
                <a:cs typeface="DM Sans"/>
                <a:sym typeface="DM Sans"/>
              </a:rPr>
              <a:t>Los puedes leer desde la consola de Chrome e identificar todas sus partes. Habrá headers del request y del response (los envía el servidor).</a:t>
            </a:r>
            <a:endParaRPr sz="1200">
              <a:highlight>
                <a:schemeClr val="accent6"/>
              </a:highlight>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4"/>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5000"/>
              <a:buFont typeface="Arial"/>
              <a:buNone/>
            </a:pPr>
            <a:r>
              <a:rPr lang="es" sz="5000" b="0" i="0" u="none" strike="noStrike" cap="none">
                <a:solidFill>
                  <a:srgbClr val="E8E7E3"/>
                </a:solidFill>
                <a:latin typeface="Arial"/>
                <a:ea typeface="Arial"/>
                <a:cs typeface="Arial"/>
                <a:sym typeface="Arial"/>
              </a:rPr>
              <a:t>☕</a:t>
            </a:r>
            <a:endParaRPr sz="5000" b="0" i="0" u="none" strike="noStrike" cap="none">
              <a:solidFill>
                <a:srgbClr val="E8E7E3"/>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000"/>
              <a:buFont typeface="Arial"/>
              <a:buNone/>
            </a:pPr>
            <a:r>
              <a:rPr lang="es" sz="4000" b="1" i="0" u="none" strike="noStrike" cap="none">
                <a:solidFill>
                  <a:srgbClr val="EAFF6A"/>
                </a:solidFill>
                <a:latin typeface="DM Sans"/>
                <a:ea typeface="DM Sans"/>
                <a:cs typeface="DM Sans"/>
                <a:sym typeface="DM Sans"/>
              </a:rPr>
              <a:t>Break</a:t>
            </a:r>
            <a:endParaRPr sz="4000" b="1" i="0" u="none" strike="noStrike" cap="none">
              <a:solidFill>
                <a:schemeClr val="lt1"/>
              </a:solidFill>
              <a:latin typeface="DM Sans"/>
              <a:ea typeface="DM Sans"/>
              <a:cs typeface="DM Sans"/>
              <a:sym typeface="DM Sans"/>
            </a:endParaRPr>
          </a:p>
        </p:txBody>
      </p:sp>
      <p:sp>
        <p:nvSpPr>
          <p:cNvPr id="171" name="Google Shape;171;p3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 sz="2000" b="0" i="0" u="none" strike="noStrike" cap="none">
                <a:solidFill>
                  <a:schemeClr val="lt1"/>
                </a:solidFill>
                <a:latin typeface="DM Sans"/>
                <a:ea typeface="DM Sans"/>
                <a:cs typeface="DM Sans"/>
                <a:sym typeface="DM Sans"/>
              </a:rPr>
              <a:t>¡</a:t>
            </a:r>
            <a:r>
              <a:rPr lang="es" sz="2000">
                <a:solidFill>
                  <a:schemeClr val="lt1"/>
                </a:solidFill>
                <a:latin typeface="DM Sans"/>
                <a:ea typeface="DM Sans"/>
                <a:cs typeface="DM Sans"/>
                <a:sym typeface="DM Sans"/>
              </a:rPr>
              <a:t>5</a:t>
            </a:r>
            <a:r>
              <a:rPr lang="es" sz="2000" b="0" i="0" u="none" strike="noStrike" cap="none">
                <a:solidFill>
                  <a:schemeClr val="lt1"/>
                </a:solidFill>
                <a:latin typeface="DM Sans"/>
                <a:ea typeface="DM Sans"/>
                <a:cs typeface="DM Sans"/>
                <a:sym typeface="DM Sans"/>
              </a:rPr>
              <a:t> minutos y volvemos!</a:t>
            </a:r>
            <a:endParaRPr sz="2000" b="0" i="0" u="none" strike="noStrike" cap="none">
              <a:solidFill>
                <a:schemeClr val="lt1"/>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5"/>
          <p:cNvSpPr txBox="1"/>
          <p:nvPr/>
        </p:nvSpPr>
        <p:spPr>
          <a:xfrm>
            <a:off x="1404863" y="1941375"/>
            <a:ext cx="6221400" cy="12930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4000" b="1">
                <a:solidFill>
                  <a:schemeClr val="accent4"/>
                </a:solidFill>
                <a:latin typeface="DM Sans"/>
                <a:ea typeface="DM Sans"/>
                <a:cs typeface="DM Sans"/>
                <a:sym typeface="DM Sans"/>
              </a:rPr>
              <a:t>REQUESTS EN EL BROWSER</a:t>
            </a:r>
            <a:endParaRPr sz="4000" b="1">
              <a:solidFill>
                <a:schemeClr val="accent4"/>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6"/>
          <p:cNvSpPr/>
          <p:nvPr/>
        </p:nvSpPr>
        <p:spPr>
          <a:xfrm>
            <a:off x="647400" y="1278650"/>
            <a:ext cx="7849200" cy="2960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6"/>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3500" b="1">
                <a:solidFill>
                  <a:schemeClr val="lt1"/>
                </a:solidFill>
                <a:latin typeface="DM Sans"/>
                <a:ea typeface="DM Sans"/>
                <a:cs typeface="DM Sans"/>
                <a:sym typeface="DM Sans"/>
              </a:rPr>
              <a:t>Utilizando Fetch</a:t>
            </a:r>
            <a:endParaRPr sz="3500" b="1">
              <a:solidFill>
                <a:schemeClr val="lt1"/>
              </a:solidFill>
              <a:latin typeface="DM Sans"/>
              <a:ea typeface="DM Sans"/>
              <a:cs typeface="DM Sans"/>
              <a:sym typeface="DM Sans"/>
            </a:endParaRPr>
          </a:p>
        </p:txBody>
      </p:sp>
      <p:sp>
        <p:nvSpPr>
          <p:cNvPr id="183" name="Google Shape;183;p36"/>
          <p:cNvSpPr txBox="1"/>
          <p:nvPr/>
        </p:nvSpPr>
        <p:spPr>
          <a:xfrm>
            <a:off x="897275" y="1329038"/>
            <a:ext cx="6904800" cy="8082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Podemos hacer un request de manera simple, utilizando Fetch API.</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Esta nos provee una promesa, que se resuelve al terminar el request.</a:t>
            </a:r>
            <a:endParaRPr sz="1350">
              <a:latin typeface="DM Sans"/>
              <a:ea typeface="DM Sans"/>
              <a:cs typeface="DM Sans"/>
              <a:sym typeface="DM Sans"/>
            </a:endParaRPr>
          </a:p>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Esta respuesta nos permite hacer varias cosas, como almacenar datos.</a:t>
            </a:r>
            <a:endParaRPr sz="1350">
              <a:latin typeface="DM Sans"/>
              <a:ea typeface="DM Sans"/>
              <a:cs typeface="DM Sans"/>
              <a:sym typeface="DM Sans"/>
            </a:endParaRPr>
          </a:p>
        </p:txBody>
      </p:sp>
      <p:sp>
        <p:nvSpPr>
          <p:cNvPr id="184" name="Google Shape;184;p36"/>
          <p:cNvSpPr txBox="1"/>
          <p:nvPr/>
        </p:nvSpPr>
        <p:spPr>
          <a:xfrm>
            <a:off x="1712300" y="2388550"/>
            <a:ext cx="5203200" cy="1659300"/>
          </a:xfrm>
          <a:prstGeom prst="rect">
            <a:avLst/>
          </a:prstGeom>
          <a:solidFill>
            <a:srgbClr val="666666"/>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fetch('https://api.coder.com.ar/user/1234')</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.then(function(response)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return response.json();</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.then(function(user)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console.log(user);</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100"/>
              <a:buFont typeface="Arial"/>
              <a:buNone/>
            </a:pPr>
            <a:r>
              <a:rPr lang="es" i="0" u="none" strike="noStrike" cap="none">
                <a:solidFill>
                  <a:srgbClr val="EFEFEF"/>
                </a:solidFill>
                <a:latin typeface="DM Sans"/>
                <a:ea typeface="DM Sans"/>
                <a:cs typeface="DM Sans"/>
                <a:sym typeface="DM Sans"/>
              </a:rPr>
              <a:t>  });</a:t>
            </a:r>
            <a:endParaRPr i="0" u="none" strike="noStrike" cap="none">
              <a:solidFill>
                <a:srgbClr val="EFEFEF"/>
              </a:solidFill>
              <a:latin typeface="DM Sans"/>
              <a:ea typeface="DM Sans"/>
              <a:cs typeface="DM Sans"/>
              <a:sym typeface="DM Sans"/>
            </a:endParaRPr>
          </a:p>
          <a:p>
            <a:pPr marL="0" marR="0" lvl="0" indent="0" algn="l" rtl="0">
              <a:lnSpc>
                <a:spcPct val="100000"/>
              </a:lnSpc>
              <a:spcBef>
                <a:spcPts val="0"/>
              </a:spcBef>
              <a:spcAft>
                <a:spcPts val="0"/>
              </a:spcAft>
              <a:buClr>
                <a:srgbClr val="000000"/>
              </a:buClr>
              <a:buSzPts val="1700"/>
              <a:buFont typeface="Arial"/>
              <a:buNone/>
            </a:pPr>
            <a:endParaRPr sz="1700" b="0" i="0" u="none" strike="noStrike" cap="none">
              <a:solidFill>
                <a:srgbClr val="EFEFEF"/>
              </a:solidFill>
              <a:latin typeface="Didact Gothic"/>
              <a:ea typeface="Didact Gothic"/>
              <a:cs typeface="Didact Gothic"/>
              <a:sym typeface="Didact Gothic"/>
            </a:endParaRPr>
          </a:p>
        </p:txBody>
      </p:sp>
      <p:sp>
        <p:nvSpPr>
          <p:cNvPr id="185" name="Google Shape;185;p36"/>
          <p:cNvSpPr txBox="1"/>
          <p:nvPr/>
        </p:nvSpPr>
        <p:spPr>
          <a:xfrm>
            <a:off x="557531" y="4502125"/>
            <a:ext cx="6375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a:t>Repo: https://github.com/julioavantt/teacher_js_fetch.git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7"/>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37"/>
          <p:cNvSpPr txBox="1"/>
          <p:nvPr/>
        </p:nvSpPr>
        <p:spPr>
          <a:xfrm>
            <a:off x="1461300" y="345975"/>
            <a:ext cx="6221400" cy="669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chemeClr val="dk1"/>
              </a:buClr>
              <a:buSzPts val="1100"/>
              <a:buFont typeface="Arial"/>
              <a:buNone/>
            </a:pPr>
            <a:r>
              <a:rPr lang="es" sz="3500" b="1">
                <a:solidFill>
                  <a:schemeClr val="lt1"/>
                </a:solidFill>
                <a:latin typeface="DM Sans"/>
                <a:ea typeface="DM Sans"/>
                <a:cs typeface="DM Sans"/>
                <a:sym typeface="DM Sans"/>
              </a:rPr>
              <a:t>CORS</a:t>
            </a:r>
            <a:endParaRPr sz="3500" b="1">
              <a:solidFill>
                <a:schemeClr val="lt1"/>
              </a:solidFill>
              <a:latin typeface="DM Sans"/>
              <a:ea typeface="DM Sans"/>
              <a:cs typeface="DM Sans"/>
              <a:sym typeface="DM Sans"/>
            </a:endParaRPr>
          </a:p>
        </p:txBody>
      </p:sp>
      <p:sp>
        <p:nvSpPr>
          <p:cNvPr id="192" name="Google Shape;192;p37"/>
          <p:cNvSpPr txBox="1"/>
          <p:nvPr/>
        </p:nvSpPr>
        <p:spPr>
          <a:xfrm>
            <a:off x="903500" y="1342300"/>
            <a:ext cx="6904800" cy="392400"/>
          </a:xfrm>
          <a:prstGeom prst="rect">
            <a:avLst/>
          </a:prstGeom>
          <a:noFill/>
          <a:ln>
            <a:noFill/>
          </a:ln>
        </p:spPr>
        <p:txBody>
          <a:bodyPr spcFirstLastPara="1" wrap="square" lIns="91425" tIns="91425" rIns="91425" bIns="91425" anchor="t" anchorCtr="0">
            <a:spAutoFit/>
          </a:bodyPr>
          <a:lstStyle/>
          <a:p>
            <a:pPr marL="457200" marR="0" lvl="0" indent="-314325" algn="l" rtl="0">
              <a:lnSpc>
                <a:spcPct val="100000"/>
              </a:lnSpc>
              <a:spcBef>
                <a:spcPts val="0"/>
              </a:spcBef>
              <a:spcAft>
                <a:spcPts val="0"/>
              </a:spcAft>
              <a:buClr>
                <a:schemeClr val="accent4"/>
              </a:buClr>
              <a:buSzPts val="1350"/>
              <a:buFont typeface="DM Sans"/>
              <a:buChar char="✓"/>
            </a:pPr>
            <a:r>
              <a:rPr lang="es" sz="1350">
                <a:latin typeface="DM Sans"/>
                <a:ea typeface="DM Sans"/>
                <a:cs typeface="DM Sans"/>
                <a:sym typeface="DM Sans"/>
              </a:rPr>
              <a:t>Al realizar un request, nos podemos encontrar con este error/problema:</a:t>
            </a:r>
            <a:endParaRPr sz="1350">
              <a:latin typeface="DM Sans"/>
              <a:ea typeface="DM Sans"/>
              <a:cs typeface="DM Sans"/>
              <a:sym typeface="DM Sans"/>
            </a:endParaRPr>
          </a:p>
        </p:txBody>
      </p:sp>
      <p:pic>
        <p:nvPicPr>
          <p:cNvPr id="193" name="Google Shape;193;p37"/>
          <p:cNvPicPr preferRelativeResize="0"/>
          <p:nvPr/>
        </p:nvPicPr>
        <p:blipFill rotWithShape="1">
          <a:blip r:embed="rId3">
            <a:alphaModFix/>
          </a:blip>
          <a:srcRect/>
          <a:stretch/>
        </p:blipFill>
        <p:spPr>
          <a:xfrm>
            <a:off x="1217349" y="1910101"/>
            <a:ext cx="6709301" cy="22523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4"/>
          <p:cNvSpPr txBox="1"/>
          <p:nvPr/>
        </p:nvSpPr>
        <p:spPr>
          <a:xfrm>
            <a:off x="1556994" y="790250"/>
            <a:ext cx="6221400" cy="1985129"/>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endParaRPr sz="5000" dirty="0">
              <a:solidFill>
                <a:srgbClr val="E8E7E3"/>
              </a:solidFill>
            </a:endParaRPr>
          </a:p>
          <a:p>
            <a:pPr marL="0" lvl="0" indent="0" algn="ctr" rtl="0">
              <a:lnSpc>
                <a:spcPct val="90000"/>
              </a:lnSpc>
              <a:spcBef>
                <a:spcPts val="0"/>
              </a:spcBef>
              <a:spcAft>
                <a:spcPts val="0"/>
              </a:spcAft>
              <a:buNone/>
            </a:pPr>
            <a:r>
              <a:rPr lang="es-419" sz="4000" b="1" dirty="0" smtClean="0">
                <a:solidFill>
                  <a:srgbClr val="EAFF6A"/>
                </a:solidFill>
                <a:latin typeface="DM Sans"/>
                <a:ea typeface="DM Sans"/>
                <a:cs typeface="DM Sans"/>
                <a:sym typeface="DM Sans"/>
              </a:rPr>
              <a:t>Llegamos al final de la clase!!!!</a:t>
            </a:r>
            <a:endParaRPr sz="4000" b="1" dirty="0">
              <a:solidFill>
                <a:schemeClr val="lt1"/>
              </a:solidFill>
              <a:latin typeface="DM Sans"/>
              <a:ea typeface="DM Sans"/>
              <a:cs typeface="DM Sans"/>
              <a:sym typeface="DM Sans"/>
            </a:endParaRPr>
          </a:p>
        </p:txBody>
      </p:sp>
      <p:sp>
        <p:nvSpPr>
          <p:cNvPr id="219" name="Google Shape;219;p4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000" dirty="0" smtClean="0">
                <a:solidFill>
                  <a:schemeClr val="lt1"/>
                </a:solidFill>
                <a:latin typeface="DM Sans"/>
                <a:ea typeface="DM Sans"/>
                <a:cs typeface="DM Sans"/>
                <a:sym typeface="DM Sans"/>
              </a:rPr>
              <a:t>Dudas? Consultas?</a:t>
            </a:r>
            <a:endParaRPr sz="2000"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3026504472"/>
      </p:ext>
    </p:extLst>
  </p:cSld>
  <p:clrMapOvr>
    <a:masterClrMapping/>
  </p:clrMapOvr>
</p:sld>
</file>

<file path=ppt/theme/theme1.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1437</Words>
  <Application>Microsoft Office PowerPoint</Application>
  <PresentationFormat>Presentación en pantalla (16:9)</PresentationFormat>
  <Paragraphs>156</Paragraphs>
  <Slides>24</Slides>
  <Notes>24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24</vt:i4>
      </vt:variant>
    </vt:vector>
  </HeadingPairs>
  <TitlesOfParts>
    <vt:vector size="30" baseType="lpstr">
      <vt:lpstr>Helvetica Neue</vt:lpstr>
      <vt:lpstr>Helvetica Neue Light</vt:lpstr>
      <vt:lpstr>DM Sans</vt:lpstr>
      <vt:lpstr>Arial</vt:lpstr>
      <vt:lpstr>Didact Gothic</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Turi</cp:lastModifiedBy>
  <cp:revision>3</cp:revision>
  <dcterms:modified xsi:type="dcterms:W3CDTF">2025-10-28T21:33:02Z</dcterms:modified>
</cp:coreProperties>
</file>