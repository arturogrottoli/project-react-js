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2" r:id="rId1"/>
  </p:sldMasterIdLst>
  <p:notesMasterIdLst>
    <p:notesMasterId r:id="rId60"/>
  </p:notesMasterIdLst>
  <p:sldIdLst>
    <p:sldId id="319" r:id="rId2"/>
    <p:sldId id="257" r:id="rId3"/>
    <p:sldId id="258" r:id="rId4"/>
    <p:sldId id="259" r:id="rId5"/>
    <p:sldId id="260" r:id="rId6"/>
    <p:sldId id="261" r:id="rId7"/>
    <p:sldId id="262" r:id="rId8"/>
    <p:sldId id="263" r:id="rId9"/>
    <p:sldId id="264" r:id="rId10"/>
    <p:sldId id="265" r:id="rId11"/>
    <p:sldId id="266" r:id="rId12"/>
    <p:sldId id="267" r:id="rId13"/>
    <p:sldId id="320"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 id="300" r:id="rId41"/>
    <p:sldId id="301" r:id="rId42"/>
    <p:sldId id="302" r:id="rId43"/>
    <p:sldId id="303" r:id="rId44"/>
    <p:sldId id="304" r:id="rId45"/>
    <p:sldId id="305" r:id="rId46"/>
    <p:sldId id="306" r:id="rId47"/>
    <p:sldId id="307" r:id="rId48"/>
    <p:sldId id="308" r:id="rId49"/>
    <p:sldId id="309" r:id="rId50"/>
    <p:sldId id="310" r:id="rId51"/>
    <p:sldId id="311" r:id="rId52"/>
    <p:sldId id="312" r:id="rId53"/>
    <p:sldId id="313" r:id="rId54"/>
    <p:sldId id="314" r:id="rId55"/>
    <p:sldId id="315" r:id="rId56"/>
    <p:sldId id="316" r:id="rId57"/>
    <p:sldId id="317" r:id="rId58"/>
    <p:sldId id="318" r:id="rId59"/>
  </p:sldIdLst>
  <p:sldSz cx="9144000" cy="5143500" type="screen16x9"/>
  <p:notesSz cx="6858000" cy="9144000"/>
  <p:embeddedFontLst>
    <p:embeddedFont>
      <p:font typeface="Helvetica Neue" panose="020B0604020202020204" charset="0"/>
      <p:regular r:id="rId61"/>
      <p:bold r:id="rId62"/>
      <p:italic r:id="rId63"/>
      <p:boldItalic r:id="rId64"/>
    </p:embeddedFont>
    <p:embeddedFont>
      <p:font typeface="Helvetica Neue Light" panose="020B0604020202020204" charset="0"/>
      <p:regular r:id="rId65"/>
      <p:bold r:id="rId66"/>
      <p:italic r:id="rId67"/>
      <p:boldItalic r:id="rId68"/>
    </p:embeddedFont>
    <p:embeddedFont>
      <p:font typeface="DM Sans" panose="020B0604020202020204" charset="0"/>
      <p:regular r:id="rId69"/>
      <p:bold r:id="rId70"/>
      <p:italic r:id="rId71"/>
      <p:boldItalic r:id="rId7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95">
          <p15:clr>
            <a:srgbClr val="A4A3A4"/>
          </p15:clr>
        </p15:guide>
        <p15:guide id="2" pos="5460">
          <p15:clr>
            <a:srgbClr val="A4A3A4"/>
          </p15:clr>
        </p15:guide>
        <p15:guide id="3" pos="300">
          <p15:clr>
            <a:srgbClr val="9AA0A6"/>
          </p15:clr>
        </p15:guide>
        <p15:guide id="4" orient="horz" pos="2892">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0" d="100"/>
          <a:sy n="90" d="100"/>
        </p:scale>
        <p:origin x="816" y="78"/>
      </p:cViewPr>
      <p:guideLst>
        <p:guide orient="horz" pos="295"/>
        <p:guide pos="5460"/>
        <p:guide pos="300"/>
        <p:guide orient="horz" pos="2892"/>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3.fntdata"/><Relationship Id="rId68" Type="http://schemas.openxmlformats.org/officeDocument/2006/relationships/font" Target="fonts/font8.fntdata"/><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font" Target="fonts/font6.fntdata"/><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1.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font" Target="fonts/font4.fntdata"/><Relationship Id="rId69" Type="http://schemas.openxmlformats.org/officeDocument/2006/relationships/font" Target="fonts/font9.fntdata"/><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font" Target="fonts/font12.fntdata"/><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font" Target="fonts/font7.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font" Target="fonts/font2.fntdata"/><Relationship Id="rId70" Type="http://schemas.openxmlformats.org/officeDocument/2006/relationships/font" Target="fonts/font10.fntdata"/><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openxmlformats.org/officeDocument/2006/relationships/font" Target="fonts/font5.fntdata"/><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3365b5acdf_0_3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3365b5acdf_0_3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419">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extLst>
      <p:ext uri="{BB962C8B-B14F-4D97-AF65-F5344CB8AC3E}">
        <p14:creationId xmlns:p14="http://schemas.microsoft.com/office/powerpoint/2010/main" val="15372760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
        <p:cNvGrpSpPr/>
        <p:nvPr/>
      </p:nvGrpSpPr>
      <p:grpSpPr>
        <a:xfrm>
          <a:off x="0" y="0"/>
          <a:ext cx="0" cy="0"/>
          <a:chOff x="0" y="0"/>
          <a:chExt cx="0" cy="0"/>
        </a:xfrm>
      </p:grpSpPr>
      <p:sp>
        <p:nvSpPr>
          <p:cNvPr id="48" name="Google Shape;48;g1469de882e7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 name="Google Shape;49;g1469de882e7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latin typeface="DM Sans"/>
                <a:ea typeface="DM Sans"/>
                <a:cs typeface="DM Sans"/>
                <a:sym typeface="DM Sans"/>
              </a:rPr>
              <a:t>Se presenta en la primera clase. </a:t>
            </a:r>
            <a:r>
              <a:rPr lang="es">
                <a:solidFill>
                  <a:schemeClr val="dk1"/>
                </a:solidFill>
                <a:highlight>
                  <a:schemeClr val="accent3"/>
                </a:highlight>
                <a:latin typeface="DM Sans"/>
                <a:ea typeface="DM Sans"/>
                <a:cs typeface="DM Sans"/>
                <a:sym typeface="DM Sans"/>
              </a:rPr>
              <a:t>Colocar el número de comisión correspondiente</a:t>
            </a:r>
            <a:r>
              <a:rPr lang="es">
                <a:solidFill>
                  <a:schemeClr val="dk1"/>
                </a:solidFill>
                <a:latin typeface="DM Sans"/>
                <a:ea typeface="DM Sans"/>
                <a:cs typeface="DM Sans"/>
                <a:sym typeface="DM Sans"/>
              </a:rPr>
              <a:t>. </a:t>
            </a:r>
            <a:r>
              <a:rPr lang="es">
                <a:latin typeface="DM Sans"/>
                <a:ea typeface="DM Sans"/>
                <a:cs typeface="DM Sans"/>
                <a:sym typeface="DM Sans"/>
              </a:rPr>
              <a:t>Se debe editar y completar con los nombres del equipo a cargo. Se sugiere linkearlos a los perfiles de Linkedin (quienes quieran).</a:t>
            </a:r>
            <a:endParaRPr>
              <a:latin typeface="DM Sans"/>
              <a:ea typeface="DM Sans"/>
              <a:cs typeface="DM Sans"/>
              <a:sym typeface="DM Sans"/>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g1e921cbaab3_0_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 name="Google Shape;57;g1e921cbaab3_0_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Colocar todas las clases.</a:t>
            </a:r>
            <a:endParaRPr>
              <a:latin typeface="DM Sans"/>
              <a:ea typeface="DM Sans"/>
              <a:cs typeface="DM Sans"/>
              <a:sym typeface="DM Sans"/>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g1469de882e7_0_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 name="Google Shape;64;g1469de882e7_0_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g2d849c382c6_0_12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9" name="Google Shape;69;g2d849c382c6_0_12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2d849c382c6_0_1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5" name="Google Shape;75;g2d849c382c6_0_1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Primera clase.</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2d849c382c6_0_10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2d849c382c6_0_10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Sólo se muestra la primera clase.</a:t>
            </a:r>
            <a:br>
              <a:rPr lang="es">
                <a:solidFill>
                  <a:schemeClr val="dk1"/>
                </a:solidFill>
                <a:latin typeface="DM Sans"/>
                <a:ea typeface="DM Sans"/>
                <a:cs typeface="DM Sans"/>
                <a:sym typeface="DM Sans"/>
              </a:rPr>
            </a:b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Sugerencias:</a:t>
            </a:r>
            <a:endParaRPr b="1">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No solicitar más de un desafío entregable por clase a los estudiantes.</a:t>
            </a:r>
            <a:endParaRPr>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Si se utiliza una Actividad en clase, si bien no se entregan, que demuestre una finalidad. Por ejemplo, puede utilizarse para solicitar algo puntual de tarea: “Para la próxima clase traer anotado…” o ser la práctica necesaria para otro entregable vinculado con el Proyecto.</a:t>
            </a:r>
            <a:endParaRPr>
              <a:latin typeface="DM Sans"/>
              <a:ea typeface="DM Sans"/>
              <a:cs typeface="DM Sans"/>
              <a:sym typeface="DM Sans"/>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143efd25ae5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4" name="Google Shape;94;g143efd25ae5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g2d849c382c6_0_11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g2d849c382c6_0_11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accent4"/>
                </a:highlight>
                <a:latin typeface="DM Sans"/>
                <a:ea typeface="DM Sans"/>
                <a:cs typeface="DM Sans"/>
                <a:sym typeface="DM Sans"/>
              </a:rPr>
              <a:t>LOS VIDEOS DE ONBOARDING ESTÁN DISPONIBLES EN EL ESPACIO DE LA CLASE 1</a:t>
            </a:r>
            <a:endParaRPr>
              <a:highlight>
                <a:schemeClr val="accent4"/>
              </a:highlight>
              <a:latin typeface="DM Sans"/>
              <a:ea typeface="DM Sans"/>
              <a:cs typeface="DM Sans"/>
              <a:sym typeface="DM Sans"/>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g2d849c382c6_0_11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4" name="Google Shape;104;g2d849c382c6_0_117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2d849c382c6_0_11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1" name="Google Shape;111;g2d849c382c6_0_11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d84aeddda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d84aeddda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Verbal</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2d84aeddda0_0_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8" name="Google Shape;118;g2d84aeddda0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Verbal</a:t>
            </a:r>
            <a:endParaRPr/>
          </a:p>
        </p:txBody>
      </p:sp>
    </p:spTree>
    <p:extLst>
      <p:ext uri="{BB962C8B-B14F-4D97-AF65-F5344CB8AC3E}">
        <p14:creationId xmlns:p14="http://schemas.microsoft.com/office/powerpoint/2010/main" val="62632483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d84aeddda0_0_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2d84aeddda0_0_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2d84aeddda0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9" name="Google Shape;169;g2d84aeddda0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4"/>
        <p:cNvGrpSpPr/>
        <p:nvPr/>
      </p:nvGrpSpPr>
      <p:grpSpPr>
        <a:xfrm>
          <a:off x="0" y="0"/>
          <a:ext cx="0" cy="0"/>
          <a:chOff x="0" y="0"/>
          <a:chExt cx="0" cy="0"/>
        </a:xfrm>
      </p:grpSpPr>
      <p:sp>
        <p:nvSpPr>
          <p:cNvPr id="175" name="Google Shape;175;g2d84aeddda0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6" name="Google Shape;176;g2d84aeddda0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0"/>
        <p:cNvGrpSpPr/>
        <p:nvPr/>
      </p:nvGrpSpPr>
      <p:grpSpPr>
        <a:xfrm>
          <a:off x="0" y="0"/>
          <a:ext cx="0" cy="0"/>
          <a:chOff x="0" y="0"/>
          <a:chExt cx="0" cy="0"/>
        </a:xfrm>
      </p:grpSpPr>
      <p:sp>
        <p:nvSpPr>
          <p:cNvPr id="181" name="Google Shape;181;g2d84aeddda0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 name="Google Shape;182;g2d84aeddda0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g2d84aeddda0_0_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 name="Google Shape;189;g2d84aeddda0_0_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d84aeddda0_0_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d84aeddda0_0_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Obligatoria siempre.</a:t>
            </a:r>
            <a:r>
              <a:rPr lang="es">
                <a:solidFill>
                  <a:schemeClr val="dk1"/>
                </a:solidFill>
                <a:latin typeface="DM Sans"/>
                <a:ea typeface="DM Sans"/>
                <a:cs typeface="DM Sans"/>
                <a:sym typeface="DM Sans"/>
              </a:rPr>
              <a:t> A la hora del Break, entre 5 y 10 minutos. Considerar ubicar este espacio en un momento adecuado de la clase. Al volver, mostrar los resultados de la pregunta del anterior slide y generar un breve intercambio.</a:t>
            </a:r>
            <a:endParaRPr>
              <a:latin typeface="DM Sans"/>
              <a:ea typeface="DM Sans"/>
              <a:cs typeface="DM Sans"/>
              <a:sym typeface="DM Sans"/>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
        <p:cNvGrpSpPr/>
        <p:nvPr/>
      </p:nvGrpSpPr>
      <p:grpSpPr>
        <a:xfrm>
          <a:off x="0" y="0"/>
          <a:ext cx="0" cy="0"/>
          <a:chOff x="0" y="0"/>
          <a:chExt cx="0" cy="0"/>
        </a:xfrm>
      </p:grpSpPr>
      <p:sp>
        <p:nvSpPr>
          <p:cNvPr id="202" name="Google Shape;202;g1455f3c4fd4_0_3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3" name="Google Shape;203;g1455f3c4fd4_0_3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módulos más importantes de la clase, donde se introducen conceptos que se ven en varios slides. No hay que usarla para todos los módulos.</a:t>
            </a:r>
            <a:endParaRPr>
              <a:latin typeface="DM Sans"/>
              <a:ea typeface="DM Sans"/>
              <a:cs typeface="DM Sans"/>
              <a:sym typeface="DM Sans"/>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g2e830cb0810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8" name="Google Shape;208;g2e830cb0810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g24b98852c93_0_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3" name="Google Shape;213;g24b98852c93_0_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g1455f3c4fd4_0_4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0" name="Google Shape;220;g1455f3c4fd4_0_4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3"/>
        <p:cNvGrpSpPr/>
        <p:nvPr/>
      </p:nvGrpSpPr>
      <p:grpSpPr>
        <a:xfrm>
          <a:off x="0" y="0"/>
          <a:ext cx="0" cy="0"/>
          <a:chOff x="0" y="0"/>
          <a:chExt cx="0" cy="0"/>
        </a:xfrm>
      </p:grpSpPr>
      <p:sp>
        <p:nvSpPr>
          <p:cNvPr id="234" name="Google Shape;234;g24b98852c93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5" name="Google Shape;235;g24b98852c93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9"/>
        <p:cNvGrpSpPr/>
        <p:nvPr/>
      </p:nvGrpSpPr>
      <p:grpSpPr>
        <a:xfrm>
          <a:off x="0" y="0"/>
          <a:ext cx="0" cy="0"/>
          <a:chOff x="0" y="0"/>
          <a:chExt cx="0" cy="0"/>
        </a:xfrm>
      </p:grpSpPr>
      <p:sp>
        <p:nvSpPr>
          <p:cNvPr id="240" name="Google Shape;240;g24b98852c93_0_1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1" name="Google Shape;241;g24b98852c93_0_1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24b98852c93_0_20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24b98852c93_0_20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2"/>
        <p:cNvGrpSpPr/>
        <p:nvPr/>
      </p:nvGrpSpPr>
      <p:grpSpPr>
        <a:xfrm>
          <a:off x="0" y="0"/>
          <a:ext cx="0" cy="0"/>
          <a:chOff x="0" y="0"/>
          <a:chExt cx="0" cy="0"/>
        </a:xfrm>
      </p:grpSpPr>
      <p:sp>
        <p:nvSpPr>
          <p:cNvPr id="253" name="Google Shape;253;g1dc4e612093_0_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4" name="Google Shape;254;g1dc4e612093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los subtemas de un módulo.</a:t>
            </a:r>
            <a:endParaRPr>
              <a:latin typeface="DM Sans"/>
              <a:ea typeface="DM Sans"/>
              <a:cs typeface="DM Sans"/>
              <a:sym typeface="DM Sans"/>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24b98852c93_0_2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9" name="Google Shape;259;g24b98852c93_0_2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d84aeddda0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d84aeddda0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slides de texto e imagen. Si no alcanza, no sobrecargar, usar otra con el mismo título para indicar que continúa el mismo módulo.</a:t>
            </a:r>
            <a:endParaRPr>
              <a:latin typeface="DM Sans"/>
              <a:ea typeface="DM Sans"/>
              <a:cs typeface="DM Sans"/>
              <a:sym typeface="DM Sans"/>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146c9b3ed55_0_76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3" name="Google Shape;273;g146c9b3ed55_0_76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“Ejemplo en vivo”</a:t>
            </a:r>
            <a:endParaRPr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El docente realizará una tarea compartiendo la pantalla en vivo. Se centrará en los pasos y los aspectos a tener en cuenta.</a:t>
            </a:r>
            <a:endParaRPr>
              <a:latin typeface="DM Sans"/>
              <a:ea typeface="DM Sans"/>
              <a:cs typeface="DM Sans"/>
              <a:sym typeface="DM Sans"/>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g2d849c382c6_0_6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2" name="Google Shape;282;g2d849c382c6_0_6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Recurso: Glosario</a:t>
            </a:r>
            <a:endParaRPr b="1">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Repasa y define rápidamente los conceptos centrales acumulados. Ayuda a los estudiantes a recuperar aquellos saberes que se darán por dados.</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Sugerencia:</a:t>
            </a:r>
            <a:endParaRPr>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Puede incorporarse links e imágenes que apoyen al concepto presentado.</a:t>
            </a:r>
            <a:endParaRPr>
              <a:latin typeface="DM Sans"/>
              <a:ea typeface="DM Sans"/>
              <a:cs typeface="DM Sans"/>
              <a:sym typeface="DM Sans"/>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8"/>
        <p:cNvGrpSpPr/>
        <p:nvPr/>
      </p:nvGrpSpPr>
      <p:grpSpPr>
        <a:xfrm>
          <a:off x="0" y="0"/>
          <a:ext cx="0" cy="0"/>
          <a:chOff x="0" y="0"/>
          <a:chExt cx="0" cy="0"/>
        </a:xfrm>
      </p:grpSpPr>
      <p:sp>
        <p:nvSpPr>
          <p:cNvPr id="289" name="Google Shape;289;g2d849c382c6_0_6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0" name="Google Shape;290;g2d849c382c6_0_6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Se puede usar para comenzar o finalizar la clase, según sea más conveniente.. </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b="1">
                <a:solidFill>
                  <a:schemeClr val="dk1"/>
                </a:solidFill>
                <a:latin typeface="DM Sans"/>
                <a:ea typeface="DM Sans"/>
                <a:cs typeface="DM Sans"/>
                <a:sym typeface="DM Sans"/>
              </a:rPr>
              <a:t>Recurso: Glosario</a:t>
            </a:r>
            <a:endParaRPr b="1">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Repasa y define rápidamente los conceptos centrales acumulados. Ayuda a los estudiantes a recuperar aquellos saberes que se darán por dados.</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Sugerencia:</a:t>
            </a:r>
            <a:endParaRPr>
              <a:solidFill>
                <a:schemeClr val="dk1"/>
              </a:solidFill>
              <a:latin typeface="DM Sans"/>
              <a:ea typeface="DM Sans"/>
              <a:cs typeface="DM Sans"/>
              <a:sym typeface="DM Sans"/>
            </a:endParaRPr>
          </a:p>
          <a:p>
            <a:pPr marL="457200" lvl="0" indent="-298450" algn="l" rtl="0">
              <a:spcBef>
                <a:spcPts val="0"/>
              </a:spcBef>
              <a:spcAft>
                <a:spcPts val="0"/>
              </a:spcAft>
              <a:buClr>
                <a:schemeClr val="dk1"/>
              </a:buClr>
              <a:buSzPts val="1100"/>
              <a:buFont typeface="DM Sans"/>
              <a:buChar char="-"/>
            </a:pPr>
            <a:r>
              <a:rPr lang="es">
                <a:solidFill>
                  <a:schemeClr val="dk1"/>
                </a:solidFill>
                <a:latin typeface="DM Sans"/>
                <a:ea typeface="DM Sans"/>
                <a:cs typeface="DM Sans"/>
                <a:sym typeface="DM Sans"/>
              </a:rPr>
              <a:t>Puede incorporarse links e imágenes que apoyen al concepto presentado.</a:t>
            </a:r>
            <a:endParaRPr>
              <a:latin typeface="DM Sans"/>
              <a:ea typeface="DM Sans"/>
              <a:cs typeface="DM Sans"/>
              <a:sym typeface="DM Sans"/>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6"/>
        <p:cNvGrpSpPr/>
        <p:nvPr/>
      </p:nvGrpSpPr>
      <p:grpSpPr>
        <a:xfrm>
          <a:off x="0" y="0"/>
          <a:ext cx="0" cy="0"/>
          <a:chOff x="0" y="0"/>
          <a:chExt cx="0" cy="0"/>
        </a:xfrm>
      </p:grpSpPr>
      <p:sp>
        <p:nvSpPr>
          <p:cNvPr id="297" name="Google Shape;297;g2d849c382c6_0_7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 name="Google Shape;298;g2d849c382c6_0_7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s"/>
              <a:t>Verbal</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2d849c382c6_0_7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3" name="Google Shape;303;g2d849c382c6_0_7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0"/>
        <p:cNvGrpSpPr/>
        <p:nvPr/>
      </p:nvGrpSpPr>
      <p:grpSpPr>
        <a:xfrm>
          <a:off x="0" y="0"/>
          <a:ext cx="0" cy="0"/>
          <a:chOff x="0" y="0"/>
          <a:chExt cx="0" cy="0"/>
        </a:xfrm>
      </p:grpSpPr>
      <p:sp>
        <p:nvSpPr>
          <p:cNvPr id="311" name="Google Shape;311;g2d849c382c6_0_7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2" name="Google Shape;312;g2d849c382c6_0_7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2d849c382c6_0_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1" name="Google Shape;321;g2d849c382c6_0_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5"/>
        <p:cNvGrpSpPr/>
        <p:nvPr/>
      </p:nvGrpSpPr>
      <p:grpSpPr>
        <a:xfrm>
          <a:off x="0" y="0"/>
          <a:ext cx="0" cy="0"/>
          <a:chOff x="0" y="0"/>
          <a:chExt cx="0" cy="0"/>
        </a:xfrm>
      </p:grpSpPr>
      <p:sp>
        <p:nvSpPr>
          <p:cNvPr id="326" name="Google Shape;326;g2d849c382c6_0_7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7" name="Google Shape;327;g2d849c382c6_0_7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Obligatoria. Se sugiere ubicar al finalizar la explicación de algún tema, para abrir formalmente el espacio de preguntas y ordenar la interacción.</a:t>
            </a:r>
            <a:endParaRPr>
              <a:latin typeface="DM Sans"/>
              <a:ea typeface="DM Sans"/>
              <a:cs typeface="DM Sans"/>
              <a:sym typeface="DM Sans"/>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849c382c6_0_7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2" name="Google Shape;332;g2d849c382c6_0_7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37b17b6bb64_0_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5" name="Google Shape;345;g37b17b6bb64_0_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g37b17b6bb64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0" name="Google Shape;350;g37b17b6bb64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4"/>
        <p:cNvGrpSpPr/>
        <p:nvPr/>
      </p:nvGrpSpPr>
      <p:grpSpPr>
        <a:xfrm>
          <a:off x="0" y="0"/>
          <a:ext cx="0" cy="0"/>
          <a:chOff x="0" y="0"/>
          <a:chExt cx="0" cy="0"/>
        </a:xfrm>
      </p:grpSpPr>
      <p:sp>
        <p:nvSpPr>
          <p:cNvPr id="355" name="Google Shape;355;g37b17b6bb64_0_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 name="Google Shape;356;g37b17b6bb64_0_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g37b17b6bb64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2" name="Google Shape;362;g37b17b6bb64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g37b17b6bb64_0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8" name="Google Shape;368;g37b17b6bb64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2"/>
        <p:cNvGrpSpPr/>
        <p:nvPr/>
      </p:nvGrpSpPr>
      <p:grpSpPr>
        <a:xfrm>
          <a:off x="0" y="0"/>
          <a:ext cx="0" cy="0"/>
          <a:chOff x="0" y="0"/>
          <a:chExt cx="0" cy="0"/>
        </a:xfrm>
      </p:grpSpPr>
      <p:sp>
        <p:nvSpPr>
          <p:cNvPr id="373" name="Google Shape;373;g37b17b6bb64_0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4" name="Google Shape;374;g37b17b6bb64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37b17b6bb64_0_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37b17b6bb64_0_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g37b17b6bb64_0_4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4" name="Google Shape;394;g37b17b6bb64_0_4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latin typeface="DM Sans"/>
                <a:ea typeface="DM Sans"/>
                <a:cs typeface="DM Sans"/>
                <a:sym typeface="DM Sans"/>
              </a:rPr>
              <a:t>Usar para Actividades en clase.</a:t>
            </a:r>
            <a:endParaRPr>
              <a:latin typeface="DM Sans"/>
              <a:ea typeface="DM Sans"/>
              <a:cs typeface="DM Sans"/>
              <a:sym typeface="DM Sans"/>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g2d849c382c6_0_7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1" name="Google Shape;401;g2d849c382c6_0_7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g2d849c382c6_0_7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6" name="Google Shape;406;g2d849c382c6_0_7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El secreto de ReactJS para tener un </a:t>
            </a:r>
            <a:r>
              <a:rPr lang="es" b="1">
                <a:solidFill>
                  <a:schemeClr val="dk1"/>
                </a:solidFill>
                <a:highlight>
                  <a:schemeClr val="lt1"/>
                </a:highlight>
                <a:latin typeface="DM Sans"/>
                <a:ea typeface="DM Sans"/>
                <a:cs typeface="DM Sans"/>
                <a:sym typeface="DM Sans"/>
              </a:rPr>
              <a:t>performance muy alto </a:t>
            </a:r>
            <a:r>
              <a:rPr lang="es">
                <a:solidFill>
                  <a:schemeClr val="dk1"/>
                </a:solidFill>
                <a:highlight>
                  <a:schemeClr val="lt1"/>
                </a:highlight>
                <a:latin typeface="DM Sans"/>
                <a:ea typeface="DM Sans"/>
                <a:cs typeface="DM Sans"/>
                <a:sym typeface="DM Sans"/>
              </a:rPr>
              <a:t>es que implementa un </a:t>
            </a:r>
            <a:r>
              <a:rPr lang="es" b="1">
                <a:solidFill>
                  <a:schemeClr val="dk1"/>
                </a:solidFill>
                <a:highlight>
                  <a:schemeClr val="lt1"/>
                </a:highlight>
                <a:latin typeface="DM Sans"/>
                <a:ea typeface="DM Sans"/>
                <a:cs typeface="DM Sans"/>
                <a:sym typeface="DM Sans"/>
              </a:rPr>
              <a:t>Virtual DOM</a:t>
            </a:r>
            <a:r>
              <a:rPr lang="es">
                <a:solidFill>
                  <a:schemeClr val="dk1"/>
                </a:solidFill>
                <a:highlight>
                  <a:schemeClr val="lt1"/>
                </a:highlight>
                <a:latin typeface="DM Sans"/>
                <a:ea typeface="DM Sans"/>
                <a:cs typeface="DM Sans"/>
                <a:sym typeface="DM Sans"/>
              </a:rPr>
              <a:t>. En lugar de renderizar todo, como normalmente se hace, ReactJS hace los </a:t>
            </a:r>
            <a:r>
              <a:rPr lang="es" b="1">
                <a:solidFill>
                  <a:schemeClr val="dk1"/>
                </a:solidFill>
                <a:highlight>
                  <a:schemeClr val="lt1"/>
                </a:highlight>
                <a:latin typeface="DM Sans"/>
                <a:ea typeface="DM Sans"/>
                <a:cs typeface="DM Sans"/>
                <a:sym typeface="DM Sans"/>
              </a:rPr>
              <a:t>cambios </a:t>
            </a:r>
            <a:r>
              <a:rPr lang="es">
                <a:solidFill>
                  <a:schemeClr val="dk1"/>
                </a:solidFill>
                <a:highlight>
                  <a:schemeClr val="lt1"/>
                </a:highlight>
                <a:latin typeface="DM Sans"/>
                <a:ea typeface="DM Sans"/>
                <a:cs typeface="DM Sans"/>
                <a:sym typeface="DM Sans"/>
              </a:rPr>
              <a:t>en una </a:t>
            </a:r>
            <a:r>
              <a:rPr lang="es" b="1">
                <a:solidFill>
                  <a:schemeClr val="dk1"/>
                </a:solidFill>
                <a:highlight>
                  <a:schemeClr val="lt1"/>
                </a:highlight>
                <a:latin typeface="DM Sans"/>
                <a:ea typeface="DM Sans"/>
                <a:cs typeface="DM Sans"/>
                <a:sym typeface="DM Sans"/>
              </a:rPr>
              <a:t>copia en memoria</a:t>
            </a:r>
            <a:r>
              <a:rPr lang="es">
                <a:solidFill>
                  <a:schemeClr val="dk1"/>
                </a:solidFill>
                <a:highlight>
                  <a:schemeClr val="lt1"/>
                </a:highlight>
                <a:latin typeface="DM Sans"/>
                <a:ea typeface="DM Sans"/>
                <a:cs typeface="DM Sans"/>
                <a:sym typeface="DM Sans"/>
              </a:rPr>
              <a:t>. Luego utiliza un algoritmo para comparar sus propiedades con las de la versión del DOM, y así </a:t>
            </a:r>
            <a:r>
              <a:rPr lang="es" b="1">
                <a:solidFill>
                  <a:schemeClr val="dk1"/>
                </a:solidFill>
                <a:highlight>
                  <a:schemeClr val="lt1"/>
                </a:highlight>
                <a:latin typeface="DM Sans"/>
                <a:ea typeface="DM Sans"/>
                <a:cs typeface="DM Sans"/>
                <a:sym typeface="DM Sans"/>
              </a:rPr>
              <a:t>aplicar cambios exclusivamente en las partes que varían</a:t>
            </a:r>
            <a:r>
              <a:rPr lang="es">
                <a:solidFill>
                  <a:schemeClr val="dk1"/>
                </a:solidFill>
                <a:highlight>
                  <a:schemeClr val="lt1"/>
                </a:highlight>
                <a:latin typeface="DM Sans"/>
                <a:ea typeface="DM Sans"/>
                <a:cs typeface="DM Sans"/>
                <a:sym typeface="DM Sans"/>
              </a:rPr>
              <a:t>.</a:t>
            </a:r>
            <a:endParaRPr>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latin typeface="DM Sans"/>
              <a:ea typeface="DM Sans"/>
              <a:cs typeface="DM Sans"/>
              <a:sym typeface="DM Sans"/>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1"/>
        <p:cNvGrpSpPr/>
        <p:nvPr/>
      </p:nvGrpSpPr>
      <p:grpSpPr>
        <a:xfrm>
          <a:off x="0" y="0"/>
          <a:ext cx="0" cy="0"/>
          <a:chOff x="0" y="0"/>
          <a:chExt cx="0" cy="0"/>
        </a:xfrm>
      </p:grpSpPr>
      <p:sp>
        <p:nvSpPr>
          <p:cNvPr id="412" name="Google Shape;412;g2d849c382c6_0_76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13" name="Google Shape;413;g2d849c382c6_0_7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1"/>
        <p:cNvGrpSpPr/>
        <p:nvPr/>
      </p:nvGrpSpPr>
      <p:grpSpPr>
        <a:xfrm>
          <a:off x="0" y="0"/>
          <a:ext cx="0" cy="0"/>
          <a:chOff x="0" y="0"/>
          <a:chExt cx="0" cy="0"/>
        </a:xfrm>
      </p:grpSpPr>
      <p:sp>
        <p:nvSpPr>
          <p:cNvPr id="422" name="Google Shape;422;g2d849c382c6_0_7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3" name="Google Shape;423;g2d849c382c6_0_7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7"/>
        <p:cNvGrpSpPr/>
        <p:nvPr/>
      </p:nvGrpSpPr>
      <p:grpSpPr>
        <a:xfrm>
          <a:off x="0" y="0"/>
          <a:ext cx="0" cy="0"/>
          <a:chOff x="0" y="0"/>
          <a:chExt cx="0" cy="0"/>
        </a:xfrm>
      </p:grpSpPr>
      <p:sp>
        <p:nvSpPr>
          <p:cNvPr id="428" name="Google Shape;428;g2d849c382c6_0_78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9" name="Google Shape;429;g2d849c382c6_0_7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2d849c382c6_0_78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5" name="Google Shape;435;g2d849c382c6_0_78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g2d849c382c6_0_7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3" name="Google Shape;443;g2d849c382c6_0_7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2d849c382c6_0_8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2d849c382c6_0_80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5"/>
        <p:cNvGrpSpPr/>
        <p:nvPr/>
      </p:nvGrpSpPr>
      <p:grpSpPr>
        <a:xfrm>
          <a:off x="0" y="0"/>
          <a:ext cx="0" cy="0"/>
          <a:chOff x="0" y="0"/>
          <a:chExt cx="0" cy="0"/>
        </a:xfrm>
      </p:grpSpPr>
      <p:sp>
        <p:nvSpPr>
          <p:cNvPr id="466" name="Google Shape;466;g2d849c382c6_0_8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7" name="Google Shape;467;g2d849c382c6_0_8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Esto puede sonar como mucho trabajo, pero en la práctica es mucho más eficiente que el método tradicional.</a:t>
            </a: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a:solidFill>
                  <a:schemeClr val="dk1"/>
                </a:solidFill>
                <a:highlight>
                  <a:schemeClr val="lt1"/>
                </a:highlight>
                <a:latin typeface="DM Sans"/>
                <a:ea typeface="DM Sans"/>
                <a:cs typeface="DM Sans"/>
                <a:sym typeface="DM Sans"/>
              </a:rPr>
              <a:t>Por ejemplo: si tenemos una lista de 2000 elementos en la interfaz y ocurren 10 cambios, es más eficiente aplicar 10 cambios, ubicar los componentes que tuvieron un cambio en sus propiedades y renderizar estos 10 elementos, en lugar de aplicar 10 cambios y renderizar 2000 elementos.</a:t>
            </a: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2d849c382c6_0_8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2d849c382c6_0_8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2d849c382c6_0_8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1" name="Google Shape;481;g2d849c382c6_0_8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a:solidFill>
                <a:schemeClr val="dk1"/>
              </a:solidFill>
              <a:highlight>
                <a:schemeClr val="lt1"/>
              </a:highlight>
              <a:latin typeface="DM Sans"/>
              <a:ea typeface="DM Sans"/>
              <a:cs typeface="DM Sans"/>
              <a:sym typeface="DM Sans"/>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3365b5acdf_0_18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6" name="Google Shape;216;g33365b5acdf_0_18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Clr>
                <a:schemeClr val="dk1"/>
              </a:buClr>
              <a:buSzPts val="1100"/>
              <a:buFont typeface="Arial"/>
              <a:buNone/>
            </a:pPr>
            <a:endParaRPr>
              <a:latin typeface="DM Sans"/>
              <a:ea typeface="DM Sans"/>
              <a:cs typeface="DM Sans"/>
              <a:sym typeface="DM Sans"/>
            </a:endParaRPr>
          </a:p>
        </p:txBody>
      </p:sp>
    </p:spTree>
    <p:extLst>
      <p:ext uri="{BB962C8B-B14F-4D97-AF65-F5344CB8AC3E}">
        <p14:creationId xmlns:p14="http://schemas.microsoft.com/office/powerpoint/2010/main" val="416552652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co 1"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4000"/>
              <a:buFont typeface="DM Sans"/>
              <a:buNone/>
              <a:defRPr sz="4000" b="1">
                <a:latin typeface="DM Sans"/>
                <a:ea typeface="DM Sans"/>
                <a:cs typeface="DM Sans"/>
                <a:sym typeface="DM Sans"/>
              </a:defRPr>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000"/>
              <a:buFont typeface="Helvetica Neue Light"/>
              <a:buNone/>
              <a:defRPr sz="2000">
                <a:latin typeface="Helvetica Neue Light"/>
                <a:ea typeface="Helvetica Neue Light"/>
                <a:cs typeface="Helvetica Neue Light"/>
                <a:sym typeface="Helvetica Neue Light"/>
              </a:defRPr>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pic>
        <p:nvPicPr>
          <p:cNvPr id="12" name="Google Shape;12;p2"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2-B">
  <p:cSld name="SECTION_HEADER_1">
    <p:bg>
      <p:bgPr>
        <a:blipFill>
          <a:blip r:embed="rId2">
            <a:alphaModFix/>
          </a:blip>
          <a:stretch>
            <a:fillRect/>
          </a:stretch>
        </a:blipFill>
        <a:effectLst/>
      </p:bgPr>
    </p:bg>
    <p:spTree>
      <p:nvGrpSpPr>
        <p:cNvPr id="1" name="Shape 13"/>
        <p:cNvGrpSpPr/>
        <p:nvPr/>
      </p:nvGrpSpPr>
      <p:grpSpPr>
        <a:xfrm>
          <a:off x="0" y="0"/>
          <a:ext cx="0" cy="0"/>
          <a:chOff x="0" y="0"/>
          <a:chExt cx="0" cy="0"/>
        </a:xfrm>
      </p:grpSpPr>
      <p:pic>
        <p:nvPicPr>
          <p:cNvPr id="14" name="Google Shape;14;p3" title="logo coderhouse"/>
          <p:cNvPicPr preferRelativeResize="0"/>
          <p:nvPr/>
        </p:nvPicPr>
        <p:blipFill>
          <a:blip r:embed="rId3">
            <a:alphaModFix/>
          </a:blip>
          <a:stretch>
            <a:fillRect/>
          </a:stretch>
        </p:blipFill>
        <p:spPr>
          <a:xfrm>
            <a:off x="7874775" y="4720250"/>
            <a:ext cx="1024025" cy="21162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3-A">
  <p:cSld name="SECTION_HEADER_1_1">
    <p:bg>
      <p:bgPr>
        <a:blipFill>
          <a:blip r:embed="rId2">
            <a:alphaModFix/>
          </a:blip>
          <a:stretch>
            <a:fillRect/>
          </a:stretch>
        </a:blipFill>
        <a:effectLst/>
      </p:bgPr>
    </p:bg>
    <p:spTree>
      <p:nvGrpSpPr>
        <p:cNvPr id="1" name="Shape 15"/>
        <p:cNvGrpSpPr/>
        <p:nvPr/>
      </p:nvGrpSpPr>
      <p:grpSpPr>
        <a:xfrm>
          <a:off x="0" y="0"/>
          <a:ext cx="0" cy="0"/>
          <a:chOff x="0" y="0"/>
          <a:chExt cx="0" cy="0"/>
        </a:xfrm>
      </p:grpSpPr>
      <p:pic>
        <p:nvPicPr>
          <p:cNvPr id="16" name="Google Shape;16;p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arátula 1">
  <p:cSld name="SECTION_HEADER_1_1_1">
    <p:bg>
      <p:bgPr>
        <a:blipFill>
          <a:blip r:embed="rId2">
            <a:alphaModFix/>
          </a:blip>
          <a:stretch>
            <a:fillRect/>
          </a:stretch>
        </a:blipFill>
        <a:effectLst/>
      </p:bgPr>
    </p:bg>
    <p:spTree>
      <p:nvGrpSpPr>
        <p:cNvPr id="1" name="Shape 17"/>
        <p:cNvGrpSpPr/>
        <p:nvPr/>
      </p:nvGrpSpPr>
      <p:grpSpPr>
        <a:xfrm>
          <a:off x="0" y="0"/>
          <a:ext cx="0" cy="0"/>
          <a:chOff x="0" y="0"/>
          <a:chExt cx="0" cy="0"/>
        </a:xfrm>
      </p:grpSpPr>
      <p:pic>
        <p:nvPicPr>
          <p:cNvPr id="18" name="Google Shape;18;p5"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arátula 2">
  <p:cSld name="SECTION_HEADER_1_1_1_1">
    <p:bg>
      <p:bgPr>
        <a:blipFill>
          <a:blip r:embed="rId2">
            <a:alphaModFix/>
          </a:blip>
          <a:stretch>
            <a:fillRect/>
          </a:stretch>
        </a:blipFill>
        <a:effectLst/>
      </p:bgPr>
    </p:bg>
    <p:spTree>
      <p:nvGrpSpPr>
        <p:cNvPr id="1" name="Shape 19"/>
        <p:cNvGrpSpPr/>
        <p:nvPr/>
      </p:nvGrpSpPr>
      <p:grpSpPr>
        <a:xfrm>
          <a:off x="0" y="0"/>
          <a:ext cx="0" cy="0"/>
          <a:chOff x="0" y="0"/>
          <a:chExt cx="0" cy="0"/>
        </a:xfrm>
      </p:grpSpPr>
      <p:pic>
        <p:nvPicPr>
          <p:cNvPr id="20" name="Google Shape;20;p6"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arátula 3">
  <p:cSld name="SECTION_HEADER_1_1_1_1_1">
    <p:bg>
      <p:bgPr>
        <a:blipFill>
          <a:blip r:embed="rId2">
            <a:alphaModFix/>
          </a:blip>
          <a:stretch>
            <a:fillRect/>
          </a:stretch>
        </a:blipFill>
        <a:effectLst/>
      </p:bgPr>
    </p:bg>
    <p:spTree>
      <p:nvGrpSpPr>
        <p:cNvPr id="1" name="Shape 21"/>
        <p:cNvGrpSpPr/>
        <p:nvPr/>
      </p:nvGrpSpPr>
      <p:grpSpPr>
        <a:xfrm>
          <a:off x="0" y="0"/>
          <a:ext cx="0" cy="0"/>
          <a:chOff x="0" y="0"/>
          <a:chExt cx="0" cy="0"/>
        </a:xfrm>
      </p:grpSpPr>
      <p:pic>
        <p:nvPicPr>
          <p:cNvPr id="22" name="Google Shape;22;p7"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uadro">
  <p:cSld name="SECTION_HEADER_1_1_1_1_1_1">
    <p:bg>
      <p:bgPr>
        <a:blipFill>
          <a:blip r:embed="rId2">
            <a:alphaModFix/>
          </a:blip>
          <a:stretch>
            <a:fillRect/>
          </a:stretch>
        </a:blipFill>
        <a:effectLst/>
      </p:bgPr>
    </p:bg>
    <p:spTree>
      <p:nvGrpSpPr>
        <p:cNvPr id="1" name="Shape 23"/>
        <p:cNvGrpSpPr/>
        <p:nvPr/>
      </p:nvGrpSpPr>
      <p:grpSpPr>
        <a:xfrm>
          <a:off x="0" y="0"/>
          <a:ext cx="0" cy="0"/>
          <a:chOff x="0" y="0"/>
          <a:chExt cx="0" cy="0"/>
        </a:xfrm>
      </p:grpSpPr>
      <p:pic>
        <p:nvPicPr>
          <p:cNvPr id="24" name="Google Shape;24;p8"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 imagen">
  <p:cSld name="SECTION_HEADER_1_1_1_1_1_1_1">
    <p:bg>
      <p:bgPr>
        <a:blipFill>
          <a:blip r:embed="rId2">
            <a:alphaModFix/>
          </a:blip>
          <a:stretch>
            <a:fillRect/>
          </a:stretch>
        </a:blipFill>
        <a:effectLst/>
      </p:bgPr>
    </p:bg>
    <p:spTree>
      <p:nvGrpSpPr>
        <p:cNvPr id="1" name="Shape 25"/>
        <p:cNvGrpSpPr/>
        <p:nvPr/>
      </p:nvGrpSpPr>
      <p:grpSpPr>
        <a:xfrm>
          <a:off x="0" y="0"/>
          <a:ext cx="0" cy="0"/>
          <a:chOff x="0" y="0"/>
          <a:chExt cx="0" cy="0"/>
        </a:xfrm>
      </p:grpSpPr>
      <p:sp>
        <p:nvSpPr>
          <p:cNvPr id="26" name="Google Shape;26;p9"/>
          <p:cNvSpPr/>
          <p:nvPr/>
        </p:nvSpPr>
        <p:spPr>
          <a:xfrm>
            <a:off x="6592475" y="0"/>
            <a:ext cx="2551500" cy="51435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 name="Google Shape;27;p9"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ondo blanco">
  <p:cSld name="SECTION_HEADER_1_1_1_1_1_1_1_1">
    <p:spTree>
      <p:nvGrpSpPr>
        <p:cNvPr id="1" name="Shape 28"/>
        <p:cNvGrpSpPr/>
        <p:nvPr/>
      </p:nvGrpSpPr>
      <p:grpSpPr>
        <a:xfrm>
          <a:off x="0" y="0"/>
          <a:ext cx="0" cy="0"/>
          <a:chOff x="0" y="0"/>
          <a:chExt cx="0" cy="0"/>
        </a:xfrm>
      </p:grpSpPr>
      <p:pic>
        <p:nvPicPr>
          <p:cNvPr id="29" name="Google Shape;29;p10" title="logo coderhouse"/>
          <p:cNvPicPr preferRelativeResize="0"/>
          <p:nvPr/>
        </p:nvPicPr>
        <p:blipFill>
          <a:blip r:embed="rId2">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03-B">
  <p:cSld name="SECTION_HEADER_1_1_1_1_1_1_1_1_1">
    <p:bg>
      <p:bgPr>
        <a:blipFill>
          <a:blip r:embed="rId2">
            <a:alphaModFix/>
          </a:blip>
          <a:stretch>
            <a:fillRect/>
          </a:stretch>
        </a:blipFill>
        <a:effectLst/>
      </p:bgPr>
    </p:bg>
    <p:spTree>
      <p:nvGrpSpPr>
        <p:cNvPr id="1" name="Shape 30"/>
        <p:cNvGrpSpPr/>
        <p:nvPr/>
      </p:nvGrpSpPr>
      <p:grpSpPr>
        <a:xfrm>
          <a:off x="0" y="0"/>
          <a:ext cx="0" cy="0"/>
          <a:chOff x="0" y="0"/>
          <a:chExt cx="0" cy="0"/>
        </a:xfrm>
      </p:grpSpPr>
      <p:pic>
        <p:nvPicPr>
          <p:cNvPr id="31" name="Google Shape;31;p11"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02-A">
  <p:cSld name="SECTION_HEADER_1_1_1_1_1_1_1_1_1_1">
    <p:bg>
      <p:bgPr>
        <a:blipFill>
          <a:blip r:embed="rId2">
            <a:alphaModFix/>
          </a:blip>
          <a:stretch>
            <a:fillRect/>
          </a:stretch>
        </a:blipFill>
        <a:effectLst/>
      </p:bgPr>
    </p:bg>
    <p:spTree>
      <p:nvGrpSpPr>
        <p:cNvPr id="1" name="Shape 32"/>
        <p:cNvGrpSpPr/>
        <p:nvPr/>
      </p:nvGrpSpPr>
      <p:grpSpPr>
        <a:xfrm>
          <a:off x="0" y="0"/>
          <a:ext cx="0" cy="0"/>
          <a:chOff x="0" y="0"/>
          <a:chExt cx="0" cy="0"/>
        </a:xfrm>
      </p:grpSpPr>
      <p:pic>
        <p:nvPicPr>
          <p:cNvPr id="33" name="Google Shape;33;p12"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4"/>
        <p:cNvGrpSpPr/>
        <p:nvPr/>
      </p:nvGrpSpPr>
      <p:grpSpPr>
        <a:xfrm>
          <a:off x="0" y="0"/>
          <a:ext cx="0" cy="0"/>
          <a:chOff x="0" y="0"/>
          <a:chExt cx="0" cy="0"/>
        </a:xfrm>
      </p:grpSpPr>
      <p:sp>
        <p:nvSpPr>
          <p:cNvPr id="35" name="Google Shape;35;p13"/>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a:endParaRPr/>
          </a:p>
        </p:txBody>
      </p:sp>
      <p:sp>
        <p:nvSpPr>
          <p:cNvPr id="36" name="Google Shape;36;p13"/>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rtl="0">
              <a:spcBef>
                <a:spcPts val="0"/>
              </a:spcBef>
              <a:spcAft>
                <a:spcPts val="0"/>
              </a:spcAft>
              <a:buSzPts val="1800"/>
              <a:buChar char="●"/>
              <a:defRPr/>
            </a:lvl1pPr>
            <a:lvl2pPr marL="914400" lvl="1" indent="-317500" rtl="0">
              <a:spcBef>
                <a:spcPts val="0"/>
              </a:spcBef>
              <a:spcAft>
                <a:spcPts val="0"/>
              </a:spcAft>
              <a:buSzPts val="1400"/>
              <a:buChar char="○"/>
              <a:defRPr/>
            </a:lvl2pPr>
            <a:lvl3pPr marL="1371600" lvl="2" indent="-317500" rtl="0">
              <a:spcBef>
                <a:spcPts val="0"/>
              </a:spcBef>
              <a:spcAft>
                <a:spcPts val="0"/>
              </a:spcAft>
              <a:buSzPts val="1400"/>
              <a:buChar char="■"/>
              <a:defRPr/>
            </a:lvl3pPr>
            <a:lvl4pPr marL="1828800" lvl="3" indent="-317500" rtl="0">
              <a:spcBef>
                <a:spcPts val="0"/>
              </a:spcBef>
              <a:spcAft>
                <a:spcPts val="0"/>
              </a:spcAft>
              <a:buSzPts val="1400"/>
              <a:buChar char="●"/>
              <a:defRPr/>
            </a:lvl4pPr>
            <a:lvl5pPr marL="2286000" lvl="4" indent="-317500" rtl="0">
              <a:spcBef>
                <a:spcPts val="0"/>
              </a:spcBef>
              <a:spcAft>
                <a:spcPts val="0"/>
              </a:spcAft>
              <a:buSzPts val="1400"/>
              <a:buChar char="○"/>
              <a:defRPr/>
            </a:lvl5pPr>
            <a:lvl6pPr marL="2743200" lvl="5" indent="-317500" rtl="0">
              <a:spcBef>
                <a:spcPts val="0"/>
              </a:spcBef>
              <a:spcAft>
                <a:spcPts val="0"/>
              </a:spcAft>
              <a:buSzPts val="1400"/>
              <a:buChar char="■"/>
              <a:defRPr/>
            </a:lvl6pPr>
            <a:lvl7pPr marL="3200400" lvl="6" indent="-317500" rtl="0">
              <a:spcBef>
                <a:spcPts val="0"/>
              </a:spcBef>
              <a:spcAft>
                <a:spcPts val="0"/>
              </a:spcAft>
              <a:buSzPts val="1400"/>
              <a:buChar char="●"/>
              <a:defRPr/>
            </a:lvl7pPr>
            <a:lvl8pPr marL="3657600" lvl="7" indent="-317500" rtl="0">
              <a:spcBef>
                <a:spcPts val="0"/>
              </a:spcBef>
              <a:spcAft>
                <a:spcPts val="0"/>
              </a:spcAft>
              <a:buSzPts val="1400"/>
              <a:buChar char="○"/>
              <a:defRPr/>
            </a:lvl8pPr>
            <a:lvl9pPr marL="4114800" lvl="8" indent="-317500" rtl="0">
              <a:spcBef>
                <a:spcPts val="0"/>
              </a:spcBef>
              <a:spcAft>
                <a:spcPts val="0"/>
              </a:spcAft>
              <a:buSzPts val="1400"/>
              <a:buChar char="■"/>
              <a:defRPr/>
            </a:lvl9pPr>
          </a:lstStyle>
          <a:p>
            <a:endParaRPr/>
          </a:p>
        </p:txBody>
      </p:sp>
      <p:sp>
        <p:nvSpPr>
          <p:cNvPr id="37" name="Google Shape;37;p1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marL="0" lvl="0" indent="0" algn="r" rtl="0">
              <a:spcBef>
                <a:spcPts val="0"/>
              </a:spcBef>
              <a:spcAft>
                <a:spcPts val="0"/>
              </a:spcAft>
              <a:buNone/>
            </a:pPr>
            <a:fld id="{00000000-1234-1234-1234-123412341234}" type="slidenum">
              <a:rPr lang="e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03-B 5">
  <p:cSld name="SECTION_HEADER_1_1_1_1_1_1_1_1_1_8">
    <p:bg>
      <p:bgPr>
        <a:blipFill>
          <a:blip r:embed="rId2">
            <a:alphaModFix/>
          </a:blip>
          <a:stretch>
            <a:fillRect/>
          </a:stretch>
        </a:blipFill>
        <a:effectLst/>
      </p:bgPr>
    </p:bg>
    <p:spTree>
      <p:nvGrpSpPr>
        <p:cNvPr id="1" name="Shape 38"/>
        <p:cNvGrpSpPr/>
        <p:nvPr/>
      </p:nvGrpSpPr>
      <p:grpSpPr>
        <a:xfrm>
          <a:off x="0" y="0"/>
          <a:ext cx="0" cy="0"/>
          <a:chOff x="0" y="0"/>
          <a:chExt cx="0" cy="0"/>
        </a:xfrm>
      </p:grpSpPr>
      <p:pic>
        <p:nvPicPr>
          <p:cNvPr id="39" name="Google Shape;39;p14" title="logo coderhouse"/>
          <p:cNvPicPr preferRelativeResize="0"/>
          <p:nvPr/>
        </p:nvPicPr>
        <p:blipFill>
          <a:blip r:embed="rId3">
            <a:alphaModFix/>
          </a:blip>
          <a:stretch>
            <a:fillRect/>
          </a:stretch>
        </p:blipFill>
        <p:spPr>
          <a:xfrm>
            <a:off x="7811413" y="4692275"/>
            <a:ext cx="1150750" cy="267575"/>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03-B 1">
  <p:cSld name="SECTION_HEADER_1_1_1_1_1_1_1_1_1_3">
    <p:bg>
      <p:bgPr>
        <a:blipFill>
          <a:blip r:embed="rId2">
            <a:alphaModFix/>
          </a:blip>
          <a:stretch>
            <a:fillRect/>
          </a:stretch>
        </a:blipFill>
        <a:effectLst/>
      </p:bgPr>
    </p:bg>
    <p:spTree>
      <p:nvGrpSpPr>
        <p:cNvPr id="1" name="Shape 40"/>
        <p:cNvGrpSpPr/>
        <p:nvPr/>
      </p:nvGrpSpPr>
      <p:grpSpPr>
        <a:xfrm>
          <a:off x="0" y="0"/>
          <a:ext cx="0" cy="0"/>
          <a:chOff x="0" y="0"/>
          <a:chExt cx="0" cy="0"/>
        </a:xfrm>
      </p:grpSpPr>
      <p:pic>
        <p:nvPicPr>
          <p:cNvPr id="41" name="Google Shape;41;p15" title="logo coderhouse"/>
          <p:cNvPicPr preferRelativeResize="0"/>
          <p:nvPr/>
        </p:nvPicPr>
        <p:blipFill rotWithShape="1">
          <a:blip r:embed="rId3">
            <a:alphaModFix/>
          </a:blip>
          <a:srcRect/>
          <a:stretch/>
        </p:blipFill>
        <p:spPr>
          <a:xfrm>
            <a:off x="7811413" y="4692275"/>
            <a:ext cx="1150750" cy="26757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s"/>
              <a:t>‹Nº›</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4.gi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3" Type="http://schemas.openxmlformats.org/officeDocument/2006/relationships/hyperlink" Target="https://www.youtube.com/watch?v=J82zzv_2RPc&amp;list=PLG2TTAOwfN5-UnGx6o1u-pQ5P1BSImoBQ&amp;index=9&amp;ab_channel=JuniorPride" TargetMode="External"/><Relationship Id="rId2" Type="http://schemas.openxmlformats.org/officeDocument/2006/relationships/notesSlide" Target="../notesSlides/notesSlide11.xml"/><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1.xml"/><Relationship Id="rId1" Type="http://schemas.openxmlformats.org/officeDocument/2006/relationships/slideLayout" Target="../slideLayouts/slideLayout9.xml"/></Relationships>
</file>

<file path=ppt/slides/_rels/slide2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23.xml"/><Relationship Id="rId1" Type="http://schemas.openxmlformats.org/officeDocument/2006/relationships/slideLayout" Target="../slideLayouts/slideLayout9.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24.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4.xml"/></Relationships>
</file>

<file path=ppt/slides/_rels/slide2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9.xml"/><Relationship Id="rId1" Type="http://schemas.openxmlformats.org/officeDocument/2006/relationships/slideLayout" Target="../slideLayouts/slideLayout8.xml"/></Relationships>
</file>

<file path=ppt/slides/_rels/slide3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0.xml"/><Relationship Id="rId1" Type="http://schemas.openxmlformats.org/officeDocument/2006/relationships/slideLayout" Target="../slideLayouts/slideLayout10.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9.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9.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9.xml"/><Relationship Id="rId4" Type="http://schemas.openxmlformats.org/officeDocument/2006/relationships/image" Target="../media/image32.png"/></Relationships>
</file>

<file path=ppt/slides/_rels/slide3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9.xml"/><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36.xml"/><Relationship Id="rId1" Type="http://schemas.openxmlformats.org/officeDocument/2006/relationships/slideLayout" Target="../slideLayouts/slideLayout9.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35.png"/><Relationship Id="rId7" Type="http://schemas.openxmlformats.org/officeDocument/2006/relationships/image" Target="../media/image38.png"/><Relationship Id="rId2" Type="http://schemas.openxmlformats.org/officeDocument/2006/relationships/notesSlide" Target="../notesSlides/notesSlide38.xml"/><Relationship Id="rId1" Type="http://schemas.openxmlformats.org/officeDocument/2006/relationships/slideLayout" Target="../slideLayouts/slideLayout9.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4.png"/></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4.xml"/><Relationship Id="rId1" Type="http://schemas.openxmlformats.org/officeDocument/2006/relationships/slideLayout" Target="../slideLayouts/slideLayout7.xml"/><Relationship Id="rId4" Type="http://schemas.openxmlformats.org/officeDocument/2006/relationships/image" Target="../media/image43.png"/></Relationships>
</file>

<file path=ppt/slides/_rels/slide4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45.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46.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46.xml"/><Relationship Id="rId1" Type="http://schemas.openxmlformats.org/officeDocument/2006/relationships/slideLayout" Target="../slideLayouts/slideLayout1.xml"/><Relationship Id="rId5" Type="http://schemas.openxmlformats.org/officeDocument/2006/relationships/hyperlink" Target="https://www.youtube.com/shorts/yx9as2yqS8Y" TargetMode="External"/><Relationship Id="rId4" Type="http://schemas.openxmlformats.org/officeDocument/2006/relationships/hyperlink" Target="https://www.youtube.com/watch?v=jcKoP-FvPsY&amp;ab_channel=JuniorPride" TargetMode="Externa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48.xml"/><Relationship Id="rId1" Type="http://schemas.openxmlformats.org/officeDocument/2006/relationships/slideLayout" Target="../slideLayouts/slideLayout8.xml"/></Relationships>
</file>

<file path=ppt/slides/_rels/slide4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49.xml"/><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50.xml"/><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51.xml"/><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2.xml"/><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3.xml"/><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56.xml"/><Relationship Id="rId1" Type="http://schemas.openxmlformats.org/officeDocument/2006/relationships/slideLayout" Target="../slideLayouts/slideLayout8.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4" name="Google Shape;46;p16"/>
          <p:cNvSpPr txBox="1"/>
          <p:nvPr/>
        </p:nvSpPr>
        <p:spPr>
          <a:xfrm>
            <a:off x="723014" y="927149"/>
            <a:ext cx="6959674" cy="3453223"/>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7200" b="1" u="sng" dirty="0">
                <a:solidFill>
                  <a:schemeClr val="lt1"/>
                </a:solidFill>
                <a:latin typeface="DM Sans"/>
                <a:ea typeface="DM Sans"/>
                <a:cs typeface="DM Sans"/>
                <a:sym typeface="DM Sans"/>
              </a:rPr>
              <a:t>React</a:t>
            </a:r>
            <a:endParaRPr sz="72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Flex </a:t>
            </a:r>
          </a:p>
          <a:p>
            <a:pPr marL="0" lvl="0" indent="0" algn="ctr" rtl="0">
              <a:lnSpc>
                <a:spcPct val="90000"/>
              </a:lnSpc>
              <a:spcBef>
                <a:spcPts val="0"/>
              </a:spcBef>
              <a:spcAft>
                <a:spcPts val="0"/>
              </a:spcAft>
              <a:buNone/>
            </a:pPr>
            <a:r>
              <a:rPr lang="es" sz="6000" b="1" u="sng" dirty="0" smtClean="0">
                <a:solidFill>
                  <a:srgbClr val="EAFF6A"/>
                </a:solidFill>
                <a:latin typeface="DM Sans"/>
                <a:ea typeface="DM Sans"/>
                <a:cs typeface="DM Sans"/>
                <a:sym typeface="DM Sans"/>
              </a:rPr>
              <a:t>Clase 1 </a:t>
            </a:r>
            <a:r>
              <a:rPr lang="es" sz="6000" b="1" u="sng" dirty="0">
                <a:solidFill>
                  <a:srgbClr val="EAFF6A"/>
                </a:solidFill>
                <a:latin typeface="DM Sans"/>
                <a:ea typeface="DM Sans"/>
                <a:cs typeface="DM Sans"/>
                <a:sym typeface="DM Sans"/>
              </a:rPr>
              <a:t/>
            </a:r>
            <a:br>
              <a:rPr lang="es" sz="6000" b="1" u="sng" dirty="0">
                <a:solidFill>
                  <a:srgbClr val="EAFF6A"/>
                </a:solidFill>
                <a:latin typeface="DM Sans"/>
                <a:ea typeface="DM Sans"/>
                <a:cs typeface="DM Sans"/>
                <a:sym typeface="DM Sans"/>
              </a:rPr>
            </a:b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600" b="1" u="sng" dirty="0">
              <a:solidFill>
                <a:srgbClr val="EAFF6A"/>
              </a:solidFill>
              <a:latin typeface="DM Sans"/>
              <a:ea typeface="DM Sans"/>
              <a:cs typeface="DM Sans"/>
              <a:sym typeface="DM Sans"/>
            </a:endParaRPr>
          </a:p>
          <a:p>
            <a:pPr marL="0" lvl="0" indent="0" algn="ctr" rtl="0">
              <a:lnSpc>
                <a:spcPct val="90000"/>
              </a:lnSpc>
              <a:spcBef>
                <a:spcPts val="0"/>
              </a:spcBef>
              <a:spcAft>
                <a:spcPts val="0"/>
              </a:spcAft>
              <a:buNone/>
            </a:pPr>
            <a:endParaRPr sz="1600" b="1" u="sng"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1600" u="sng" dirty="0" smtClean="0">
                <a:solidFill>
                  <a:schemeClr val="lt1"/>
                </a:solidFill>
                <a:latin typeface="DM Sans"/>
                <a:ea typeface="DM Sans"/>
                <a:cs typeface="DM Sans"/>
                <a:sym typeface="DM Sans"/>
              </a:rPr>
              <a:t>Curso dictado por Arturo Grottoli</a:t>
            </a:r>
            <a:endParaRPr sz="1600" b="1" u="sng"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888264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0"/>
        <p:cNvGrpSpPr/>
        <p:nvPr/>
      </p:nvGrpSpPr>
      <p:grpSpPr>
        <a:xfrm>
          <a:off x="0" y="0"/>
          <a:ext cx="0" cy="0"/>
          <a:chOff x="0" y="0"/>
          <a:chExt cx="0" cy="0"/>
        </a:xfrm>
      </p:grpSpPr>
      <p:sp>
        <p:nvSpPr>
          <p:cNvPr id="51" name="Google Shape;51;p17"/>
          <p:cNvSpPr txBox="1"/>
          <p:nvPr/>
        </p:nvSpPr>
        <p:spPr>
          <a:xfrm>
            <a:off x="382772" y="1114625"/>
            <a:ext cx="8285728" cy="636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None/>
            </a:pPr>
            <a:r>
              <a:rPr lang="es" sz="3000" b="1" dirty="0">
                <a:solidFill>
                  <a:schemeClr val="lt1"/>
                </a:solidFill>
                <a:latin typeface="Helvetica Neue"/>
                <a:ea typeface="Helvetica Neue"/>
                <a:cs typeface="Helvetica Neue"/>
                <a:sym typeface="Helvetica Neue"/>
              </a:rPr>
              <a:t>Presentación </a:t>
            </a:r>
            <a:r>
              <a:rPr lang="es" sz="3000" b="1" dirty="0">
                <a:solidFill>
                  <a:schemeClr val="accent6"/>
                </a:solidFill>
                <a:latin typeface="Helvetica Neue"/>
                <a:ea typeface="Helvetica Neue"/>
                <a:cs typeface="Helvetica Neue"/>
                <a:sym typeface="Helvetica Neue"/>
              </a:rPr>
              <a:t>del equipo </a:t>
            </a:r>
            <a:endParaRPr sz="3000" b="1" dirty="0">
              <a:solidFill>
                <a:schemeClr val="lt1"/>
              </a:solidFill>
              <a:latin typeface="Helvetica Neue"/>
              <a:ea typeface="Helvetica Neue"/>
              <a:cs typeface="Helvetica Neue"/>
              <a:sym typeface="Helvetica Neue"/>
            </a:endParaRPr>
          </a:p>
        </p:txBody>
      </p:sp>
      <p:sp>
        <p:nvSpPr>
          <p:cNvPr id="52" name="Google Shape;52;p17"/>
          <p:cNvSpPr txBox="1"/>
          <p:nvPr/>
        </p:nvSpPr>
        <p:spPr>
          <a:xfrm>
            <a:off x="297851" y="2531357"/>
            <a:ext cx="6889758" cy="1179780"/>
          </a:xfrm>
          <a:prstGeom prst="rect">
            <a:avLst/>
          </a:prstGeom>
          <a:noFill/>
          <a:ln>
            <a:noFill/>
          </a:ln>
        </p:spPr>
        <p:txBody>
          <a:bodyPr spcFirstLastPara="1" wrap="square" lIns="91425" tIns="91425" rIns="91425" bIns="91425" anchor="t" anchorCtr="0">
            <a:spAutoFit/>
          </a:bodyPr>
          <a:lstStyle/>
          <a:p>
            <a:pPr marL="457200" lvl="0" indent="-381000" algn="l" rtl="0">
              <a:spcBef>
                <a:spcPts val="0"/>
              </a:spcBef>
              <a:spcAft>
                <a:spcPts val="0"/>
              </a:spcAft>
              <a:buClr>
                <a:srgbClr val="EAFF6A"/>
              </a:buClr>
              <a:buSzPts val="2400"/>
              <a:buFont typeface="DM Sans"/>
              <a:buChar char="✔"/>
            </a:pPr>
            <a:r>
              <a:rPr lang="es" sz="2400" b="1" dirty="0">
                <a:solidFill>
                  <a:schemeClr val="lt1"/>
                </a:solidFill>
                <a:latin typeface="DM Sans"/>
                <a:ea typeface="DM Sans"/>
                <a:cs typeface="DM Sans"/>
                <a:sym typeface="DM Sans"/>
              </a:rPr>
              <a:t>Profesor/a: </a:t>
            </a:r>
            <a:r>
              <a:rPr lang="es-MX" sz="2400" dirty="0" smtClean="0">
                <a:solidFill>
                  <a:schemeClr val="lt1"/>
                </a:solidFill>
                <a:latin typeface="DM Sans"/>
                <a:ea typeface="DM Sans"/>
                <a:cs typeface="DM Sans"/>
                <a:sym typeface="DM Sans"/>
              </a:rPr>
              <a:t>Arturo </a:t>
            </a:r>
            <a:r>
              <a:rPr lang="es-MX" sz="2400" dirty="0" err="1" smtClean="0">
                <a:solidFill>
                  <a:schemeClr val="lt1"/>
                </a:solidFill>
                <a:latin typeface="DM Sans"/>
                <a:ea typeface="DM Sans"/>
                <a:cs typeface="DM Sans"/>
                <a:sym typeface="DM Sans"/>
              </a:rPr>
              <a:t>Grottoli</a:t>
            </a:r>
            <a:endParaRPr sz="2400" b="1" dirty="0">
              <a:solidFill>
                <a:schemeClr val="lt1"/>
              </a:solidFill>
              <a:latin typeface="DM Sans"/>
              <a:ea typeface="DM Sans"/>
              <a:cs typeface="DM Sans"/>
              <a:sym typeface="DM Sans"/>
            </a:endParaRPr>
          </a:p>
          <a:p>
            <a:pPr marL="457200" lvl="0" indent="-381000">
              <a:spcBef>
                <a:spcPts val="1000"/>
              </a:spcBef>
              <a:spcAft>
                <a:spcPts val="1000"/>
              </a:spcAft>
              <a:buClr>
                <a:srgbClr val="EAFF6A"/>
              </a:buClr>
              <a:buSzPts val="2400"/>
              <a:buFont typeface="DM Sans"/>
              <a:buChar char="✔"/>
            </a:pPr>
            <a:r>
              <a:rPr lang="es" sz="2400" b="1" dirty="0" smtClean="0">
                <a:solidFill>
                  <a:schemeClr val="lt1"/>
                </a:solidFill>
                <a:latin typeface="DM Sans"/>
                <a:ea typeface="DM Sans"/>
                <a:cs typeface="DM Sans"/>
                <a:sym typeface="DM Sans"/>
              </a:rPr>
              <a:t>Tutor adjunto:</a:t>
            </a:r>
            <a:endParaRPr sz="2400" dirty="0">
              <a:solidFill>
                <a:schemeClr val="lt1"/>
              </a:solidFill>
              <a:latin typeface="DM Sans"/>
              <a:ea typeface="DM Sans"/>
              <a:cs typeface="DM Sans"/>
              <a:sym typeface="DM Sans"/>
            </a:endParaRPr>
          </a:p>
        </p:txBody>
      </p:sp>
      <p:sp>
        <p:nvSpPr>
          <p:cNvPr id="53" name="Google Shape;53;p17"/>
          <p:cNvSpPr txBox="1"/>
          <p:nvPr/>
        </p:nvSpPr>
        <p:spPr>
          <a:xfrm>
            <a:off x="489362" y="1751225"/>
            <a:ext cx="4925700" cy="392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dirty="0">
                <a:solidFill>
                  <a:srgbClr val="B7B7B7"/>
                </a:solidFill>
                <a:latin typeface="DM Sans"/>
                <a:ea typeface="DM Sans"/>
                <a:cs typeface="DM Sans"/>
                <a:sym typeface="DM Sans"/>
              </a:rPr>
              <a:t>COMISIÓN N</a:t>
            </a:r>
            <a:r>
              <a:rPr lang="es" sz="1350" dirty="0" smtClean="0">
                <a:solidFill>
                  <a:srgbClr val="B7B7B7"/>
                </a:solidFill>
                <a:latin typeface="DM Sans"/>
                <a:ea typeface="DM Sans"/>
                <a:cs typeface="DM Sans"/>
                <a:sym typeface="DM Sans"/>
              </a:rPr>
              <a:t>°</a:t>
            </a:r>
            <a:endParaRPr sz="1350" dirty="0">
              <a:solidFill>
                <a:srgbClr val="B7B7B7"/>
              </a:solidFill>
              <a:latin typeface="DM Sans"/>
              <a:ea typeface="DM Sans"/>
              <a:cs typeface="DM Sans"/>
              <a:sym typeface="DM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sp>
        <p:nvSpPr>
          <p:cNvPr id="59" name="Google Shape;59;p18"/>
          <p:cNvSpPr txBox="1"/>
          <p:nvPr/>
        </p:nvSpPr>
        <p:spPr>
          <a:xfrm>
            <a:off x="651674" y="506363"/>
            <a:ext cx="7152623" cy="1292631"/>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dirty="0" smtClean="0">
                <a:solidFill>
                  <a:schemeClr val="lt1"/>
                </a:solidFill>
                <a:latin typeface="DM Sans"/>
                <a:ea typeface="DM Sans"/>
                <a:cs typeface="DM Sans"/>
                <a:sym typeface="DM Sans"/>
              </a:rPr>
              <a:t>Datos a tener en cuenta en la cursada</a:t>
            </a:r>
            <a:endParaRPr sz="4000" b="1" dirty="0">
              <a:solidFill>
                <a:srgbClr val="DEFC52"/>
              </a:solidFill>
              <a:latin typeface="DM Sans"/>
              <a:ea typeface="DM Sans"/>
              <a:cs typeface="DM Sans"/>
              <a:sym typeface="DM Sans"/>
            </a:endParaRPr>
          </a:p>
        </p:txBody>
      </p:sp>
      <p:sp>
        <p:nvSpPr>
          <p:cNvPr id="60" name="Google Shape;60;p18"/>
          <p:cNvSpPr txBox="1"/>
          <p:nvPr/>
        </p:nvSpPr>
        <p:spPr>
          <a:xfrm>
            <a:off x="476175" y="1689649"/>
            <a:ext cx="7423816" cy="3649687"/>
          </a:xfrm>
          <a:prstGeom prst="rect">
            <a:avLst/>
          </a:prstGeom>
          <a:noFill/>
          <a:ln>
            <a:noFill/>
          </a:ln>
        </p:spPr>
        <p:txBody>
          <a:bodyPr spcFirstLastPara="1" wrap="square" lIns="91425" tIns="91425" rIns="91425" bIns="91425" anchor="t" anchorCtr="0">
            <a:spAutoFit/>
          </a:bodyPr>
          <a:lstStyle/>
          <a:p>
            <a:pPr marL="457200" lvl="0" indent="-320675">
              <a:buClr>
                <a:srgbClr val="EAFF6A"/>
              </a:buClr>
              <a:buSzPts val="1450"/>
              <a:buFont typeface="DM Sans"/>
              <a:buChar char="✓"/>
            </a:pPr>
            <a:r>
              <a:rPr lang="es" sz="1450" dirty="0">
                <a:solidFill>
                  <a:schemeClr val="lt1"/>
                </a:solidFill>
                <a:latin typeface="DM Sans"/>
                <a:ea typeface="DM Sans"/>
                <a:cs typeface="DM Sans"/>
                <a:sym typeface="DM Sans"/>
              </a:rPr>
              <a:t>Me gusta </a:t>
            </a:r>
            <a:r>
              <a:rPr lang="es" sz="1450" dirty="0" smtClean="0">
                <a:solidFill>
                  <a:schemeClr val="lt1"/>
                </a:solidFill>
                <a:latin typeface="DM Sans"/>
                <a:ea typeface="DM Sans"/>
                <a:cs typeface="DM Sans"/>
                <a:sym typeface="DM Sans"/>
              </a:rPr>
              <a:t>el </a:t>
            </a:r>
            <a:r>
              <a:rPr lang="es" sz="1450" b="1" dirty="0" smtClean="0">
                <a:solidFill>
                  <a:schemeClr val="accent6"/>
                </a:solidFill>
                <a:latin typeface="DM Sans"/>
                <a:ea typeface="DM Sans"/>
                <a:cs typeface="DM Sans"/>
                <a:sym typeface="DM Sans"/>
              </a:rPr>
              <a:t>ida y vuelta en la clase,</a:t>
            </a:r>
            <a:r>
              <a:rPr lang="es" sz="1450" dirty="0">
                <a:solidFill>
                  <a:schemeClr val="lt1"/>
                </a:solidFill>
                <a:latin typeface="DM Sans"/>
                <a:ea typeface="DM Sans"/>
                <a:cs typeface="DM Sans"/>
                <a:sym typeface="DM Sans"/>
              </a:rPr>
              <a:t> </a:t>
            </a:r>
            <a:r>
              <a:rPr lang="es" sz="1450" dirty="0" smtClean="0">
                <a:solidFill>
                  <a:schemeClr val="lt1"/>
                </a:solidFill>
                <a:latin typeface="DM Sans"/>
                <a:ea typeface="DM Sans"/>
                <a:cs typeface="DM Sans"/>
                <a:sym typeface="DM Sans"/>
              </a:rPr>
              <a:t>pregunten, participen</a:t>
            </a:r>
            <a:r>
              <a:rPr lang="es" sz="1450" b="1" dirty="0" smtClean="0">
                <a:solidFill>
                  <a:schemeClr val="accent6"/>
                </a:solidFill>
                <a:latin typeface="DM Sans"/>
                <a:ea typeface="DM Sans"/>
                <a:cs typeface="DM Sans"/>
                <a:sym typeface="DM Sans"/>
              </a:rPr>
              <a:t> .</a:t>
            </a:r>
            <a:endParaRPr sz="1450" b="1" dirty="0">
              <a:solidFill>
                <a:schemeClr val="accent6"/>
              </a:solidFill>
              <a:latin typeface="DM Sans"/>
              <a:ea typeface="DM Sans"/>
              <a:cs typeface="DM Sans"/>
              <a:sym typeface="DM Sans"/>
            </a:endParaRPr>
          </a:p>
          <a:p>
            <a:pPr marL="457200" lvl="0" indent="-320675" algn="l" rtl="0">
              <a:spcBef>
                <a:spcPts val="1000"/>
              </a:spcBef>
              <a:spcAft>
                <a:spcPts val="0"/>
              </a:spcAft>
              <a:buClr>
                <a:srgbClr val="EAFF6A"/>
              </a:buClr>
              <a:buSzPts val="1450"/>
              <a:buFont typeface="DM Sans"/>
              <a:buChar char="✓"/>
            </a:pPr>
            <a:r>
              <a:rPr lang="es" sz="1450" dirty="0" smtClean="0">
                <a:solidFill>
                  <a:schemeClr val="lt1"/>
                </a:solidFill>
                <a:latin typeface="DM Sans"/>
                <a:ea typeface="DM Sans"/>
                <a:cs typeface="DM Sans"/>
                <a:sym typeface="DM Sans"/>
              </a:rPr>
              <a:t>Sirve mucho que interactuen entre </a:t>
            </a:r>
            <a:r>
              <a:rPr lang="es" sz="1450" dirty="0">
                <a:solidFill>
                  <a:schemeClr val="lt1"/>
                </a:solidFill>
                <a:latin typeface="DM Sans"/>
                <a:ea typeface="DM Sans"/>
                <a:cs typeface="DM Sans"/>
                <a:sym typeface="DM Sans"/>
              </a:rPr>
              <a:t>ustedes, </a:t>
            </a:r>
            <a:r>
              <a:rPr lang="es" sz="1450" b="1" dirty="0" smtClean="0">
                <a:solidFill>
                  <a:schemeClr val="accent6"/>
                </a:solidFill>
                <a:latin typeface="DM Sans"/>
                <a:ea typeface="DM Sans"/>
                <a:cs typeface="DM Sans"/>
                <a:sym typeface="DM Sans"/>
              </a:rPr>
              <a:t>conozcanse, hagan grupo</a:t>
            </a:r>
            <a:r>
              <a:rPr lang="es" sz="1450" dirty="0" smtClean="0">
                <a:solidFill>
                  <a:schemeClr val="lt1"/>
                </a:solidFill>
                <a:latin typeface="DM Sans"/>
                <a:ea typeface="DM Sans"/>
                <a:cs typeface="DM Sans"/>
                <a:sym typeface="DM Sans"/>
              </a:rPr>
              <a:t>.</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rgbClr val="EAFF6A"/>
              </a:buClr>
              <a:buSzPts val="1450"/>
              <a:buFont typeface="DM Sans"/>
              <a:buChar char="✓"/>
            </a:pPr>
            <a:r>
              <a:rPr lang="es" sz="1450" dirty="0" smtClean="0">
                <a:solidFill>
                  <a:schemeClr val="lt1"/>
                </a:solidFill>
                <a:latin typeface="DM Sans"/>
                <a:ea typeface="DM Sans"/>
                <a:cs typeface="DM Sans"/>
                <a:sym typeface="DM Sans"/>
              </a:rPr>
              <a:t>Lo mejor es traer el material flex ya </a:t>
            </a:r>
            <a:r>
              <a:rPr lang="es" sz="1450" b="1" dirty="0" smtClean="0">
                <a:solidFill>
                  <a:schemeClr val="accent6"/>
                </a:solidFill>
                <a:latin typeface="DM Sans"/>
                <a:ea typeface="DM Sans"/>
                <a:cs typeface="DM Sans"/>
                <a:sym typeface="DM Sans"/>
              </a:rPr>
              <a:t>visto para reforzarlo en clase y hacer </a:t>
            </a:r>
            <a:r>
              <a:rPr lang="es" sz="1450" b="1" dirty="0" smtClean="0">
                <a:solidFill>
                  <a:schemeClr val="accent6"/>
                </a:solidFill>
                <a:latin typeface="DM Sans"/>
                <a:ea typeface="DM Sans"/>
                <a:cs typeface="DM Sans"/>
                <a:sym typeface="DM Sans"/>
              </a:rPr>
              <a:t>practica e indagar al respecto</a:t>
            </a:r>
            <a:r>
              <a:rPr lang="es" sz="1450" dirty="0" smtClean="0">
                <a:solidFill>
                  <a:schemeClr val="lt1"/>
                </a:solidFill>
                <a:latin typeface="DM Sans"/>
                <a:ea typeface="DM Sans"/>
                <a:cs typeface="DM Sans"/>
                <a:sym typeface="DM Sans"/>
              </a:rPr>
              <a:t>.</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smtClean="0">
                <a:solidFill>
                  <a:schemeClr val="lt1"/>
                </a:solidFill>
                <a:latin typeface="DM Sans"/>
                <a:ea typeface="DM Sans"/>
                <a:cs typeface="DM Sans"/>
                <a:sym typeface="DM Sans"/>
              </a:rPr>
              <a:t>IA es una herramienta, </a:t>
            </a:r>
            <a:r>
              <a:rPr lang="es" sz="1450" b="1" dirty="0" smtClean="0">
                <a:solidFill>
                  <a:schemeClr val="accent6"/>
                </a:solidFill>
                <a:latin typeface="DM Sans"/>
                <a:ea typeface="DM Sans"/>
                <a:cs typeface="DM Sans"/>
                <a:sym typeface="DM Sans"/>
              </a:rPr>
              <a:t>por favor usar con moderación, recuerden que estan aprendiendo</a:t>
            </a:r>
            <a:r>
              <a:rPr lang="es" sz="1450" dirty="0" smtClean="0">
                <a:solidFill>
                  <a:schemeClr val="lt1"/>
                </a:solidFill>
                <a:latin typeface="DM Sans"/>
                <a:ea typeface="DM Sans"/>
                <a:cs typeface="DM Sans"/>
                <a:sym typeface="DM Sans"/>
              </a:rPr>
              <a:t>. (Se nota mucho si hacen las entregas con eso)</a:t>
            </a:r>
          </a:p>
          <a:p>
            <a:pPr marL="457200" indent="-320675">
              <a:spcBef>
                <a:spcPts val="1000"/>
              </a:spcBef>
              <a:buClr>
                <a:schemeClr val="accent6"/>
              </a:buClr>
              <a:buSzPts val="1450"/>
              <a:buFont typeface="DM Sans"/>
              <a:buChar char="✓"/>
            </a:pPr>
            <a:r>
              <a:rPr lang="es-MX" sz="1450" dirty="0">
                <a:solidFill>
                  <a:schemeClr val="lt1"/>
                </a:solidFill>
                <a:latin typeface="DM Sans"/>
                <a:ea typeface="DM Sans"/>
                <a:cs typeface="DM Sans"/>
                <a:sym typeface="DM Sans"/>
              </a:rPr>
              <a:t>Pregunten, sin timidez, </a:t>
            </a:r>
            <a:r>
              <a:rPr lang="es-MX" sz="1450" b="1" dirty="0">
                <a:solidFill>
                  <a:schemeClr val="accent6"/>
                </a:solidFill>
                <a:latin typeface="DM Sans"/>
                <a:ea typeface="DM Sans"/>
                <a:cs typeface="DM Sans"/>
                <a:sym typeface="DM Sans"/>
              </a:rPr>
              <a:t>usen el chat</a:t>
            </a:r>
            <a:r>
              <a:rPr lang="es-MX" sz="1450" dirty="0">
                <a:solidFill>
                  <a:schemeClr val="lt1"/>
                </a:solidFill>
                <a:latin typeface="DM Sans"/>
                <a:ea typeface="DM Sans"/>
                <a:cs typeface="DM Sans"/>
                <a:sym typeface="DM Sans"/>
              </a:rPr>
              <a:t> </a:t>
            </a:r>
            <a:r>
              <a:rPr lang="es-MX" sz="1450" dirty="0" smtClean="0">
                <a:solidFill>
                  <a:schemeClr val="lt1"/>
                </a:solidFill>
                <a:latin typeface="DM Sans"/>
                <a:ea typeface="DM Sans"/>
                <a:cs typeface="DM Sans"/>
                <a:sym typeface="DM Sans"/>
              </a:rPr>
              <a:t>general</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smtClean="0">
                <a:solidFill>
                  <a:schemeClr val="lt1"/>
                </a:solidFill>
                <a:latin typeface="DM Sans"/>
                <a:ea typeface="DM Sans"/>
                <a:cs typeface="DM Sans"/>
                <a:sym typeface="DM Sans"/>
              </a:rPr>
              <a:t>Cada clase va a tener su  </a:t>
            </a:r>
            <a:r>
              <a:rPr lang="es" sz="1450" b="1" dirty="0" smtClean="0">
                <a:solidFill>
                  <a:schemeClr val="accent6"/>
                </a:solidFill>
                <a:latin typeface="DM Sans"/>
                <a:ea typeface="DM Sans"/>
                <a:cs typeface="DM Sans"/>
                <a:sym typeface="DM Sans"/>
              </a:rPr>
              <a:t>repositorio, vamos a ir paso a paso creando un proyecto</a:t>
            </a:r>
            <a:r>
              <a:rPr lang="es" sz="1450" dirty="0" smtClean="0">
                <a:solidFill>
                  <a:schemeClr val="lt1"/>
                </a:solidFill>
                <a:latin typeface="DM Sans"/>
                <a:ea typeface="DM Sans"/>
                <a:cs typeface="DM Sans"/>
                <a:sym typeface="DM Sans"/>
              </a:rPr>
              <a:t>. Si van al dia con las clases llegan al final con el proyecto hecho.</a:t>
            </a:r>
            <a:endParaRPr sz="1450" dirty="0">
              <a:solidFill>
                <a:schemeClr val="lt1"/>
              </a:solidFill>
              <a:latin typeface="DM Sans"/>
              <a:ea typeface="DM Sans"/>
              <a:cs typeface="DM Sans"/>
              <a:sym typeface="DM Sans"/>
            </a:endParaRPr>
          </a:p>
          <a:p>
            <a:pPr marL="457200" lvl="0" indent="-320675" algn="l" rtl="0">
              <a:spcBef>
                <a:spcPts val="1000"/>
              </a:spcBef>
              <a:spcAft>
                <a:spcPts val="0"/>
              </a:spcAft>
              <a:buClr>
                <a:schemeClr val="accent6"/>
              </a:buClr>
              <a:buSzPts val="1450"/>
              <a:buFont typeface="DM Sans"/>
              <a:buChar char="✓"/>
            </a:pPr>
            <a:r>
              <a:rPr lang="es" sz="1450" dirty="0" smtClean="0">
                <a:solidFill>
                  <a:schemeClr val="lt1"/>
                </a:solidFill>
                <a:latin typeface="DM Sans"/>
                <a:ea typeface="DM Sans"/>
                <a:cs typeface="DM Sans"/>
                <a:sym typeface="DM Sans"/>
              </a:rPr>
              <a:t>Puedo crear </a:t>
            </a:r>
            <a:r>
              <a:rPr lang="es" sz="1450" b="1" dirty="0">
                <a:solidFill>
                  <a:schemeClr val="accent6"/>
                </a:solidFill>
                <a:latin typeface="DM Sans"/>
                <a:ea typeface="DM Sans"/>
                <a:cs typeface="DM Sans"/>
                <a:sym typeface="DM Sans"/>
              </a:rPr>
              <a:t>videos</a:t>
            </a:r>
            <a:r>
              <a:rPr lang="es" sz="1450" dirty="0">
                <a:solidFill>
                  <a:schemeClr val="lt1"/>
                </a:solidFill>
                <a:latin typeface="DM Sans"/>
                <a:ea typeface="DM Sans"/>
                <a:cs typeface="DM Sans"/>
                <a:sym typeface="DM Sans"/>
              </a:rPr>
              <a:t> para dudas comunes</a:t>
            </a:r>
            <a:r>
              <a:rPr lang="es" sz="1450" dirty="0" smtClean="0">
                <a:solidFill>
                  <a:schemeClr val="lt1"/>
                </a:solidFill>
                <a:latin typeface="DM Sans"/>
                <a:ea typeface="DM Sans"/>
                <a:cs typeface="DM Sans"/>
                <a:sym typeface="DM Sans"/>
              </a:rPr>
              <a:t>.</a:t>
            </a:r>
            <a:endParaRPr sz="1650" dirty="0">
              <a:solidFill>
                <a:schemeClr val="lt1"/>
              </a:solidFill>
              <a:latin typeface="DM Sans"/>
              <a:ea typeface="DM Sans"/>
              <a:cs typeface="DM Sans"/>
              <a:sym typeface="DM Sans"/>
            </a:endParaRPr>
          </a:p>
          <a:p>
            <a:pPr marL="457200" lvl="0" indent="0" algn="l" rtl="0">
              <a:spcBef>
                <a:spcPts val="1000"/>
              </a:spcBef>
              <a:spcAft>
                <a:spcPts val="1000"/>
              </a:spcAft>
              <a:buNone/>
            </a:pPr>
            <a:endParaRPr sz="1350" dirty="0">
              <a:solidFill>
                <a:schemeClr val="lt1"/>
              </a:solidFill>
              <a:latin typeface="DM Sans"/>
              <a:ea typeface="DM Sans"/>
              <a:cs typeface="DM Sans"/>
              <a:sym typeface="DM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19"/>
          <p:cNvSpPr txBox="1"/>
          <p:nvPr/>
        </p:nvSpPr>
        <p:spPr>
          <a:xfrm>
            <a:off x="1404863" y="2238463"/>
            <a:ext cx="6221400" cy="738900"/>
          </a:xfrm>
          <a:prstGeom prst="rect">
            <a:avLst/>
          </a:prstGeom>
          <a:noFill/>
          <a:ln>
            <a:noFill/>
          </a:ln>
        </p:spPr>
        <p:txBody>
          <a:bodyPr spcFirstLastPara="1" wrap="square" lIns="91425" tIns="91425" rIns="91425" bIns="91425" anchor="t" anchorCtr="0">
            <a:spAutoFit/>
          </a:bodyPr>
          <a:lstStyle/>
          <a:p>
            <a:pPr lvl="0" algn="ctr">
              <a:lnSpc>
                <a:spcPct val="90000"/>
              </a:lnSpc>
            </a:pPr>
            <a:r>
              <a:rPr lang="es" sz="4000" b="1" dirty="0">
                <a:solidFill>
                  <a:schemeClr val="lt1"/>
                </a:solidFill>
                <a:latin typeface="DM Sans"/>
                <a:ea typeface="DM Sans"/>
                <a:cs typeface="DM Sans"/>
                <a:sym typeface="DM Sans"/>
              </a:rPr>
              <a:t>¿</a:t>
            </a:r>
            <a:r>
              <a:rPr lang="es" sz="4000" b="1" dirty="0" smtClean="0">
                <a:solidFill>
                  <a:schemeClr val="lt1"/>
                </a:solidFill>
                <a:latin typeface="DM Sans"/>
                <a:ea typeface="DM Sans"/>
                <a:cs typeface="DM Sans"/>
                <a:sym typeface="DM Sans"/>
              </a:rPr>
              <a:t>Du</a:t>
            </a:r>
            <a:r>
              <a:rPr lang="es" sz="4000" b="1" dirty="0" smtClean="0">
                <a:solidFill>
                  <a:srgbClr val="EAFF6A"/>
                </a:solidFill>
                <a:latin typeface="DM Sans"/>
                <a:ea typeface="DM Sans"/>
                <a:cs typeface="DM Sans"/>
                <a:sym typeface="DM Sans"/>
              </a:rPr>
              <a:t>das, </a:t>
            </a:r>
            <a:r>
              <a:rPr lang="es" sz="4000" b="1" dirty="0" smtClean="0">
                <a:solidFill>
                  <a:schemeClr val="lt1"/>
                </a:solidFill>
                <a:latin typeface="DM Sans"/>
                <a:ea typeface="DM Sans"/>
                <a:cs typeface="DM Sans"/>
                <a:sym typeface="DM Sans"/>
              </a:rPr>
              <a:t>consu</a:t>
            </a:r>
            <a:r>
              <a:rPr lang="es" sz="4000" b="1" dirty="0">
                <a:solidFill>
                  <a:srgbClr val="EAFF6A"/>
                </a:solidFill>
                <a:latin typeface="DM Sans"/>
                <a:ea typeface="DM Sans"/>
                <a:cs typeface="DM Sans"/>
                <a:sym typeface="DM Sans"/>
              </a:rPr>
              <a:t>l</a:t>
            </a:r>
            <a:r>
              <a:rPr lang="es" sz="4000" b="1" dirty="0" smtClean="0">
                <a:solidFill>
                  <a:srgbClr val="EAFF6A"/>
                </a:solidFill>
                <a:latin typeface="DM Sans"/>
                <a:ea typeface="DM Sans"/>
                <a:cs typeface="DM Sans"/>
                <a:sym typeface="DM Sans"/>
              </a:rPr>
              <a:t>tas</a:t>
            </a:r>
            <a:r>
              <a:rPr lang="es" sz="4000" b="1" dirty="0" smtClean="0">
                <a:solidFill>
                  <a:schemeClr val="lt1"/>
                </a:solidFill>
                <a:latin typeface="DM Sans"/>
                <a:ea typeface="DM Sans"/>
                <a:cs typeface="DM Sans"/>
                <a:sym typeface="DM Sans"/>
              </a:rPr>
              <a:t>?</a:t>
            </a:r>
            <a:endParaRPr sz="4000" b="1" dirty="0">
              <a:solidFill>
                <a:srgbClr val="EAFF6A"/>
              </a:solidFill>
              <a:latin typeface="DM Sans"/>
              <a:ea typeface="DM Sans"/>
              <a:cs typeface="DM Sans"/>
              <a:sym typeface="DM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0"/>
        <p:cNvGrpSpPr/>
        <p:nvPr/>
      </p:nvGrpSpPr>
      <p:grpSpPr>
        <a:xfrm>
          <a:off x="0" y="0"/>
          <a:ext cx="0" cy="0"/>
          <a:chOff x="0" y="0"/>
          <a:chExt cx="0" cy="0"/>
        </a:xfrm>
      </p:grpSpPr>
      <p:sp>
        <p:nvSpPr>
          <p:cNvPr id="71" name="Google Shape;71;p20"/>
          <p:cNvSpPr txBox="1"/>
          <p:nvPr/>
        </p:nvSpPr>
        <p:spPr>
          <a:xfrm>
            <a:off x="202019" y="322288"/>
            <a:ext cx="8623004" cy="1292631"/>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dirty="0" smtClean="0">
                <a:solidFill>
                  <a:schemeClr val="lt1"/>
                </a:solidFill>
                <a:latin typeface="DM Sans"/>
                <a:ea typeface="DM Sans"/>
                <a:cs typeface="DM Sans"/>
                <a:sym typeface="DM Sans"/>
              </a:rPr>
              <a:t>¿En que consiste el </a:t>
            </a:r>
            <a:r>
              <a:rPr lang="es" sz="4000" b="1" u="sng" dirty="0">
                <a:solidFill>
                  <a:schemeClr val="lt1"/>
                </a:solidFill>
                <a:latin typeface="DM Sans"/>
                <a:ea typeface="DM Sans"/>
                <a:cs typeface="DM Sans"/>
                <a:sym typeface="DM Sans"/>
              </a:rPr>
              <a:t>Proyecto final?</a:t>
            </a:r>
            <a:endParaRPr sz="4000" b="1" u="sng" dirty="0">
              <a:solidFill>
                <a:schemeClr val="lt1"/>
              </a:solidFill>
              <a:latin typeface="DM Sans"/>
              <a:ea typeface="DM Sans"/>
              <a:cs typeface="DM Sans"/>
              <a:sym typeface="DM Sans"/>
            </a:endParaRPr>
          </a:p>
        </p:txBody>
      </p:sp>
      <p:pic>
        <p:nvPicPr>
          <p:cNvPr id="72" name="Google Shape;72;p20"/>
          <p:cNvPicPr preferRelativeResize="0"/>
          <p:nvPr/>
        </p:nvPicPr>
        <p:blipFill>
          <a:blip r:embed="rId3">
            <a:alphaModFix/>
          </a:blip>
          <a:stretch>
            <a:fillRect/>
          </a:stretch>
        </p:blipFill>
        <p:spPr>
          <a:xfrm>
            <a:off x="3100826" y="1949050"/>
            <a:ext cx="2942350" cy="271875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21"/>
          <p:cNvSpPr txBox="1"/>
          <p:nvPr/>
        </p:nvSpPr>
        <p:spPr>
          <a:xfrm>
            <a:off x="457350" y="1084475"/>
            <a:ext cx="4931700" cy="1182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600" b="1" dirty="0">
                <a:solidFill>
                  <a:schemeClr val="dk1"/>
                </a:solidFill>
                <a:latin typeface="DM Sans"/>
                <a:ea typeface="DM Sans"/>
                <a:cs typeface="DM Sans"/>
                <a:sym typeface="DM Sans"/>
              </a:rPr>
              <a:t>Crea tu </a:t>
            </a:r>
            <a:r>
              <a:rPr lang="es" sz="3600" b="1" dirty="0" smtClean="0">
                <a:solidFill>
                  <a:schemeClr val="dk1"/>
                </a:solidFill>
                <a:latin typeface="DM Sans"/>
                <a:ea typeface="DM Sans"/>
                <a:cs typeface="DM Sans"/>
                <a:sym typeface="DM Sans"/>
              </a:rPr>
              <a:t>propio </a:t>
            </a:r>
          </a:p>
          <a:p>
            <a:pPr marL="0" lvl="0" indent="0" algn="l" rtl="0">
              <a:lnSpc>
                <a:spcPct val="90000"/>
              </a:lnSpc>
              <a:spcBef>
                <a:spcPts val="0"/>
              </a:spcBef>
              <a:spcAft>
                <a:spcPts val="0"/>
              </a:spcAft>
              <a:buNone/>
            </a:pPr>
            <a:r>
              <a:rPr lang="es" sz="3600" b="1" dirty="0" smtClean="0">
                <a:solidFill>
                  <a:schemeClr val="dk1"/>
                </a:solidFill>
                <a:latin typeface="DM Sans"/>
                <a:ea typeface="DM Sans"/>
                <a:cs typeface="DM Sans"/>
                <a:sym typeface="DM Sans"/>
              </a:rPr>
              <a:t>E-commerce</a:t>
            </a:r>
            <a:endParaRPr sz="3600" b="1" dirty="0">
              <a:solidFill>
                <a:schemeClr val="dk1"/>
              </a:solidFill>
              <a:latin typeface="DM Sans"/>
              <a:ea typeface="DM Sans"/>
              <a:cs typeface="DM Sans"/>
              <a:sym typeface="DM Sans"/>
            </a:endParaRPr>
          </a:p>
        </p:txBody>
      </p:sp>
      <p:sp>
        <p:nvSpPr>
          <p:cNvPr id="78" name="Google Shape;78;p21"/>
          <p:cNvSpPr txBox="1"/>
          <p:nvPr/>
        </p:nvSpPr>
        <p:spPr>
          <a:xfrm>
            <a:off x="457350" y="2451575"/>
            <a:ext cx="4730100" cy="1846629"/>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dirty="0">
                <a:latin typeface="DM Sans"/>
                <a:ea typeface="DM Sans"/>
                <a:cs typeface="DM Sans"/>
                <a:sym typeface="DM Sans"/>
              </a:rPr>
              <a:t>Desarrollarás el front end de una tienda online con carrito de </a:t>
            </a:r>
            <a:r>
              <a:rPr lang="es" sz="1350" dirty="0" smtClean="0">
                <a:latin typeface="DM Sans"/>
                <a:ea typeface="DM Sans"/>
                <a:cs typeface="DM Sans"/>
                <a:sym typeface="DM Sans"/>
              </a:rPr>
              <a:t>compras (Que me van a querer vender?) </a:t>
            </a:r>
            <a:r>
              <a:rPr lang="es" sz="1350" dirty="0">
                <a:latin typeface="DM Sans"/>
                <a:ea typeface="DM Sans"/>
                <a:cs typeface="DM Sans"/>
                <a:sym typeface="DM Sans"/>
              </a:rPr>
              <a:t>utilizando los componentes de React y Firebase </a:t>
            </a:r>
            <a:r>
              <a:rPr lang="es" sz="1350" dirty="0" smtClean="0">
                <a:latin typeface="DM Sans"/>
                <a:ea typeface="DM Sans"/>
                <a:cs typeface="DM Sans"/>
                <a:sym typeface="DM Sans"/>
              </a:rPr>
              <a:t>(BBDD pequeñita online)</a:t>
            </a:r>
          </a:p>
          <a:p>
            <a:pPr marL="0" lvl="0" indent="0" algn="l" rtl="0">
              <a:spcBef>
                <a:spcPts val="0"/>
              </a:spcBef>
              <a:spcAft>
                <a:spcPts val="0"/>
              </a:spcAft>
              <a:buNone/>
            </a:pPr>
            <a:endParaRPr sz="1350" dirty="0">
              <a:latin typeface="DM Sans"/>
              <a:ea typeface="DM Sans"/>
              <a:cs typeface="DM Sans"/>
              <a:sym typeface="DM Sans"/>
            </a:endParaRPr>
          </a:p>
          <a:p>
            <a:pPr marL="0" lvl="0" indent="0" algn="l" rtl="0">
              <a:lnSpc>
                <a:spcPct val="150000"/>
              </a:lnSpc>
              <a:spcBef>
                <a:spcPts val="0"/>
              </a:spcBef>
              <a:spcAft>
                <a:spcPts val="0"/>
              </a:spcAft>
              <a:buClr>
                <a:schemeClr val="dk1"/>
              </a:buClr>
              <a:buSzPts val="1350"/>
              <a:buFont typeface="Arial"/>
              <a:buNone/>
            </a:pPr>
            <a:r>
              <a:rPr lang="es" sz="1350" dirty="0" smtClean="0">
                <a:solidFill>
                  <a:schemeClr val="dk1"/>
                </a:solidFill>
                <a:highlight>
                  <a:schemeClr val="accent6"/>
                </a:highlight>
                <a:latin typeface="DM Sans"/>
                <a:ea typeface="DM Sans"/>
                <a:cs typeface="DM Sans"/>
                <a:sym typeface="DM Sans"/>
              </a:rPr>
              <a:t>Ejemplo: </a:t>
            </a:r>
            <a:r>
              <a:rPr lang="es" sz="1350" dirty="0">
                <a:solidFill>
                  <a:schemeClr val="dk1"/>
                </a:solidFill>
                <a:highlight>
                  <a:schemeClr val="accent6"/>
                </a:highlight>
                <a:latin typeface="DM Sans"/>
                <a:ea typeface="DM Sans"/>
                <a:cs typeface="DM Sans"/>
                <a:sym typeface="DM Sans"/>
              </a:rPr>
              <a:t/>
            </a:r>
            <a:br>
              <a:rPr lang="es" sz="1350" dirty="0">
                <a:solidFill>
                  <a:schemeClr val="dk1"/>
                </a:solidFill>
                <a:highlight>
                  <a:schemeClr val="accent6"/>
                </a:highlight>
                <a:latin typeface="DM Sans"/>
                <a:ea typeface="DM Sans"/>
                <a:cs typeface="DM Sans"/>
                <a:sym typeface="DM Sans"/>
              </a:rPr>
            </a:br>
            <a:r>
              <a:rPr lang="es" sz="1350" dirty="0">
                <a:solidFill>
                  <a:schemeClr val="dk1"/>
                </a:solidFill>
                <a:latin typeface="DM Sans"/>
                <a:ea typeface="DM Sans"/>
                <a:cs typeface="DM Sans"/>
                <a:sym typeface="DM Sans"/>
              </a:rPr>
              <a:t>https://get-growing.netlify.app/</a:t>
            </a:r>
            <a:endParaRPr sz="1350" dirty="0">
              <a:latin typeface="DM Sans"/>
              <a:ea typeface="DM Sans"/>
              <a:cs typeface="DM Sans"/>
              <a:sym typeface="DM Sans"/>
            </a:endParaRPr>
          </a:p>
        </p:txBody>
      </p:sp>
      <p:sp>
        <p:nvSpPr>
          <p:cNvPr id="79" name="Google Shape;79;p21"/>
          <p:cNvSpPr txBox="1"/>
          <p:nvPr/>
        </p:nvSpPr>
        <p:spPr>
          <a:xfrm>
            <a:off x="930550" y="468275"/>
            <a:ext cx="24612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00">
                <a:solidFill>
                  <a:schemeClr val="dk1"/>
                </a:solidFill>
                <a:latin typeface="DM Sans"/>
                <a:ea typeface="DM Sans"/>
                <a:cs typeface="DM Sans"/>
                <a:sym typeface="DM Sans"/>
              </a:rPr>
              <a:t>PROYECTO FINAL</a:t>
            </a:r>
            <a:endParaRPr>
              <a:latin typeface="DM Sans"/>
              <a:ea typeface="DM Sans"/>
              <a:cs typeface="DM Sans"/>
              <a:sym typeface="DM Sans"/>
            </a:endParaRPr>
          </a:p>
        </p:txBody>
      </p:sp>
      <p:pic>
        <p:nvPicPr>
          <p:cNvPr id="80" name="Google Shape;80;p21"/>
          <p:cNvPicPr preferRelativeResize="0"/>
          <p:nvPr/>
        </p:nvPicPr>
        <p:blipFill rotWithShape="1">
          <a:blip r:embed="rId3">
            <a:alphaModFix/>
          </a:blip>
          <a:srcRect l="3956" r="48715"/>
          <a:stretch/>
        </p:blipFill>
        <p:spPr>
          <a:xfrm>
            <a:off x="5712875" y="468275"/>
            <a:ext cx="2923973" cy="4118748"/>
          </a:xfrm>
          <a:prstGeom prst="rect">
            <a:avLst/>
          </a:prstGeom>
          <a:noFill/>
          <a:ln>
            <a:noFill/>
          </a:ln>
        </p:spPr>
      </p:pic>
      <p:grpSp>
        <p:nvGrpSpPr>
          <p:cNvPr id="81" name="Google Shape;81;p21"/>
          <p:cNvGrpSpPr/>
          <p:nvPr/>
        </p:nvGrpSpPr>
        <p:grpSpPr>
          <a:xfrm>
            <a:off x="457343" y="468298"/>
            <a:ext cx="431074" cy="431074"/>
            <a:chOff x="7208351" y="2467173"/>
            <a:chExt cx="738900" cy="738900"/>
          </a:xfrm>
        </p:grpSpPr>
        <p:sp>
          <p:nvSpPr>
            <p:cNvPr id="82" name="Google Shape;82;p21"/>
            <p:cNvSpPr/>
            <p:nvPr/>
          </p:nvSpPr>
          <p:spPr>
            <a:xfrm>
              <a:off x="7208351" y="2467173"/>
              <a:ext cx="738900" cy="738900"/>
            </a:xfrm>
            <a:prstGeom prst="ellipse">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83" name="Google Shape;83;p21" title="ícono de proyecto final"/>
            <p:cNvPicPr preferRelativeResize="0"/>
            <p:nvPr/>
          </p:nvPicPr>
          <p:blipFill>
            <a:blip r:embed="rId4">
              <a:alphaModFix/>
            </a:blip>
            <a:stretch>
              <a:fillRect/>
            </a:stretch>
          </p:blipFill>
          <p:spPr>
            <a:xfrm>
              <a:off x="7352500" y="2611301"/>
              <a:ext cx="450600" cy="450622"/>
            </a:xfrm>
            <a:prstGeom prst="rect">
              <a:avLst/>
            </a:prstGeom>
            <a:noFill/>
            <a:ln>
              <a:noFill/>
            </a:ln>
          </p:spPr>
        </p:pic>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22"/>
          <p:cNvSpPr/>
          <p:nvPr/>
        </p:nvSpPr>
        <p:spPr>
          <a:xfrm>
            <a:off x="588525" y="686550"/>
            <a:ext cx="2708700" cy="1209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9" name="Google Shape;89;p22"/>
          <p:cNvSpPr txBox="1"/>
          <p:nvPr/>
        </p:nvSpPr>
        <p:spPr>
          <a:xfrm>
            <a:off x="588525" y="484650"/>
            <a:ext cx="47301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00">
                <a:solidFill>
                  <a:schemeClr val="dk1"/>
                </a:solidFill>
                <a:latin typeface="DM Sans"/>
                <a:ea typeface="DM Sans"/>
                <a:cs typeface="DM Sans"/>
                <a:sym typeface="DM Sans"/>
              </a:rPr>
              <a:t>ENTREGAS </a:t>
            </a:r>
            <a:endParaRPr>
              <a:latin typeface="DM Sans"/>
              <a:ea typeface="DM Sans"/>
              <a:cs typeface="DM Sans"/>
              <a:sym typeface="DM Sans"/>
            </a:endParaRPr>
          </a:p>
        </p:txBody>
      </p:sp>
      <p:sp>
        <p:nvSpPr>
          <p:cNvPr id="90" name="Google Shape;90;p22"/>
          <p:cNvSpPr txBox="1"/>
          <p:nvPr/>
        </p:nvSpPr>
        <p:spPr>
          <a:xfrm>
            <a:off x="501449" y="894975"/>
            <a:ext cx="4091815" cy="738633"/>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dirty="0" smtClean="0">
                <a:solidFill>
                  <a:schemeClr val="dk1"/>
                </a:solidFill>
                <a:latin typeface="DM Sans"/>
                <a:ea typeface="DM Sans"/>
                <a:cs typeface="DM Sans"/>
                <a:sym typeface="DM Sans"/>
              </a:rPr>
              <a:t>¿Cómo </a:t>
            </a:r>
            <a:r>
              <a:rPr lang="es" sz="4000" b="1" dirty="0">
                <a:solidFill>
                  <a:schemeClr val="dk1"/>
                </a:solidFill>
                <a:latin typeface="DM Sans"/>
                <a:ea typeface="DM Sans"/>
                <a:cs typeface="DM Sans"/>
                <a:sym typeface="DM Sans"/>
              </a:rPr>
              <a:t>son?</a:t>
            </a:r>
            <a:endParaRPr sz="4000" b="1" dirty="0">
              <a:solidFill>
                <a:schemeClr val="dk1"/>
              </a:solidFill>
              <a:latin typeface="DM Sans"/>
              <a:ea typeface="DM Sans"/>
              <a:cs typeface="DM Sans"/>
              <a:sym typeface="DM Sans"/>
            </a:endParaRPr>
          </a:p>
        </p:txBody>
      </p:sp>
      <p:sp>
        <p:nvSpPr>
          <p:cNvPr id="91" name="Google Shape;91;p22"/>
          <p:cNvSpPr txBox="1"/>
          <p:nvPr/>
        </p:nvSpPr>
        <p:spPr>
          <a:xfrm>
            <a:off x="588525" y="1826013"/>
            <a:ext cx="8166900" cy="3202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A lo largo del curso iremos trabajando en un </a:t>
            </a:r>
            <a:r>
              <a:rPr lang="es" sz="1550" b="1" dirty="0">
                <a:solidFill>
                  <a:srgbClr val="EAFF6A"/>
                </a:solidFill>
                <a:highlight>
                  <a:schemeClr val="dk1"/>
                </a:highlight>
                <a:latin typeface="DM Sans"/>
                <a:ea typeface="DM Sans"/>
                <a:cs typeface="DM Sans"/>
                <a:sym typeface="DM Sans"/>
              </a:rPr>
              <a:t>único</a:t>
            </a:r>
            <a:r>
              <a:rPr lang="es" sz="1550" dirty="0">
                <a:solidFill>
                  <a:schemeClr val="dk1"/>
                </a:solidFill>
                <a:latin typeface="DM Sans"/>
                <a:ea typeface="DM Sans"/>
                <a:cs typeface="DM Sans"/>
                <a:sym typeface="DM Sans"/>
              </a:rPr>
              <a:t> proyecto: E-Commerce</a:t>
            </a:r>
            <a:r>
              <a:rPr lang="es" sz="1550" dirty="0" smtClean="0">
                <a:solidFill>
                  <a:schemeClr val="dk1"/>
                </a:solidFill>
                <a:latin typeface="DM Sans"/>
                <a:ea typeface="DM Sans"/>
                <a:cs typeface="DM Sans"/>
                <a:sym typeface="DM Sans"/>
              </a:rPr>
              <a:t>. (Tiren sus ideas en el chat!!!)</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Habrá 2 entregas parciales del proyecto a lo largo de la cursada</a:t>
            </a:r>
            <a:r>
              <a:rPr lang="es" sz="1550" dirty="0" smtClean="0">
                <a:solidFill>
                  <a:schemeClr val="dk1"/>
                </a:solidFill>
                <a:latin typeface="DM Sans"/>
                <a:ea typeface="DM Sans"/>
                <a:cs typeface="DM Sans"/>
                <a:sym typeface="DM Sans"/>
              </a:rPr>
              <a:t>. (Clase 02 y 06)</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Y una entrega final, al concluir el curso.</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a:solidFill>
                  <a:schemeClr val="dk1"/>
                </a:solidFill>
                <a:latin typeface="DM Sans"/>
                <a:ea typeface="DM Sans"/>
                <a:cs typeface="DM Sans"/>
                <a:sym typeface="DM Sans"/>
              </a:rPr>
              <a:t>Deben, en cada entrega, subir el link del repositorio a GitHub con el último commit</a:t>
            </a:r>
            <a:r>
              <a:rPr lang="es" sz="1550" dirty="0" smtClean="0">
                <a:solidFill>
                  <a:schemeClr val="dk1"/>
                </a:solidFill>
                <a:latin typeface="DM Sans"/>
                <a:ea typeface="DM Sans"/>
                <a:cs typeface="DM Sans"/>
                <a:sym typeface="DM Sans"/>
              </a:rPr>
              <a:t>.</a:t>
            </a:r>
          </a:p>
          <a:p>
            <a:pPr marL="0" lvl="0" indent="0" algn="l" rtl="0">
              <a:lnSpc>
                <a:spcPct val="115000"/>
              </a:lnSpc>
              <a:spcBef>
                <a:spcPts val="0"/>
              </a:spcBef>
              <a:spcAft>
                <a:spcPts val="0"/>
              </a:spcAft>
              <a:buNone/>
            </a:pPr>
            <a:r>
              <a:rPr lang="es" sz="1550" dirty="0" smtClean="0">
                <a:solidFill>
                  <a:schemeClr val="dk1"/>
                </a:solidFill>
                <a:latin typeface="DM Sans"/>
                <a:ea typeface="DM Sans"/>
                <a:cs typeface="DM Sans"/>
                <a:sym typeface="DM Sans"/>
              </a:rPr>
              <a:t>(NO SE ACEPTAN MAS ENTREGAS EN GDRIVE!!!!)</a:t>
            </a: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endParaRPr sz="1550" dirty="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550" dirty="0" smtClean="0">
                <a:solidFill>
                  <a:schemeClr val="dk1"/>
                </a:solidFill>
                <a:latin typeface="DM Sans"/>
                <a:ea typeface="DM Sans"/>
                <a:cs typeface="DM Sans"/>
                <a:sym typeface="DM Sans"/>
              </a:rPr>
              <a:t>Se corrigen entre el profesor y el tutor adjunto.</a:t>
            </a:r>
            <a:endParaRPr sz="1550" dirty="0">
              <a:solidFill>
                <a:schemeClr val="dk1"/>
              </a:solidFill>
              <a:latin typeface="DM Sans"/>
              <a:ea typeface="DM Sans"/>
              <a:cs typeface="DM Sans"/>
              <a:sym typeface="DM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23"/>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Instalaciones</a:t>
            </a:r>
            <a:endParaRPr sz="40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obligatorias</a:t>
            </a:r>
            <a:endParaRPr sz="4000" b="1">
              <a:solidFill>
                <a:schemeClr val="dk1"/>
              </a:solidFill>
              <a:latin typeface="DM Sans"/>
              <a:ea typeface="DM Sans"/>
              <a:cs typeface="DM Sans"/>
              <a:sym typeface="DM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4"/>
          <p:cNvSpPr txBox="1"/>
          <p:nvPr/>
        </p:nvSpPr>
        <p:spPr>
          <a:xfrm>
            <a:off x="494550" y="1265900"/>
            <a:ext cx="8154900" cy="2331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800" b="1" dirty="0">
                <a:solidFill>
                  <a:schemeClr val="accent6"/>
                </a:solidFill>
                <a:latin typeface="DM Sans"/>
                <a:ea typeface="DM Sans"/>
                <a:cs typeface="DM Sans"/>
                <a:sym typeface="DM Sans"/>
              </a:rPr>
              <a:t>Obligatorio</a:t>
            </a:r>
            <a:endParaRPr sz="4800" b="1" dirty="0">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endParaRPr sz="3500" b="1" dirty="0">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r>
              <a:rPr lang="es" sz="3600" b="1" dirty="0">
                <a:solidFill>
                  <a:schemeClr val="lt1"/>
                </a:solidFill>
                <a:latin typeface="DM Sans"/>
                <a:ea typeface="DM Sans"/>
                <a:cs typeface="DM Sans"/>
                <a:sym typeface="DM Sans"/>
              </a:rPr>
              <a:t>Node Js</a:t>
            </a:r>
            <a:endParaRPr sz="3600" b="1" dirty="0">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3600" b="1" dirty="0" smtClean="0">
                <a:solidFill>
                  <a:schemeClr val="lt1"/>
                </a:solidFill>
                <a:latin typeface="DM Sans"/>
                <a:ea typeface="DM Sans"/>
                <a:cs typeface="DM Sans"/>
                <a:sym typeface="DM Sans"/>
              </a:rPr>
              <a:t>VSCode</a:t>
            </a:r>
            <a:endParaRPr sz="3600" b="1" dirty="0">
              <a:solidFill>
                <a:schemeClr val="lt1"/>
              </a:solidFill>
              <a:latin typeface="DM Sans"/>
              <a:ea typeface="DM Sans"/>
              <a:cs typeface="DM Sans"/>
              <a:sym typeface="DM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sp>
        <p:nvSpPr>
          <p:cNvPr id="106" name="Google Shape;106;p25"/>
          <p:cNvSpPr txBox="1"/>
          <p:nvPr/>
        </p:nvSpPr>
        <p:spPr>
          <a:xfrm>
            <a:off x="191386" y="288775"/>
            <a:ext cx="8952614" cy="1071032"/>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200" b="1" dirty="0">
                <a:solidFill>
                  <a:srgbClr val="27282D"/>
                </a:solidFill>
                <a:latin typeface="DM Sans"/>
                <a:ea typeface="DM Sans"/>
                <a:cs typeface="DM Sans"/>
                <a:sym typeface="DM Sans"/>
              </a:rPr>
              <a:t>Repaso completo de Git y </a:t>
            </a:r>
            <a:r>
              <a:rPr lang="es" sz="3200" b="1" dirty="0" smtClean="0">
                <a:solidFill>
                  <a:srgbClr val="27282D"/>
                </a:solidFill>
                <a:latin typeface="DM Sans"/>
                <a:ea typeface="DM Sans"/>
                <a:cs typeface="DM Sans"/>
                <a:sym typeface="DM Sans"/>
              </a:rPr>
              <a:t>Github</a:t>
            </a:r>
          </a:p>
          <a:p>
            <a:pPr marL="0" lvl="0" indent="0" algn="l" rtl="0">
              <a:lnSpc>
                <a:spcPct val="90000"/>
              </a:lnSpc>
              <a:spcBef>
                <a:spcPts val="0"/>
              </a:spcBef>
              <a:spcAft>
                <a:spcPts val="0"/>
              </a:spcAft>
              <a:buNone/>
            </a:pPr>
            <a:r>
              <a:rPr lang="es" sz="3200" b="1" dirty="0" smtClean="0">
                <a:solidFill>
                  <a:srgbClr val="27282D"/>
                </a:solidFill>
                <a:latin typeface="DM Sans"/>
                <a:ea typeface="DM Sans"/>
                <a:cs typeface="DM Sans"/>
                <a:sym typeface="DM Sans"/>
              </a:rPr>
              <a:t>(Importantisimo para cualquier trabajo IT)</a:t>
            </a:r>
            <a:endParaRPr sz="3000" b="1" dirty="0">
              <a:solidFill>
                <a:srgbClr val="27282D"/>
              </a:solidFill>
              <a:latin typeface="DM Sans"/>
              <a:ea typeface="DM Sans"/>
              <a:cs typeface="DM Sans"/>
              <a:sym typeface="DM Sans"/>
            </a:endParaRPr>
          </a:p>
        </p:txBody>
      </p:sp>
      <p:sp>
        <p:nvSpPr>
          <p:cNvPr id="107" name="Google Shape;107;p25"/>
          <p:cNvSpPr txBox="1"/>
          <p:nvPr/>
        </p:nvSpPr>
        <p:spPr>
          <a:xfrm>
            <a:off x="457350" y="244612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08" name="Google Shape;108;p25"/>
          <p:cNvSpPr txBox="1"/>
          <p:nvPr/>
        </p:nvSpPr>
        <p:spPr>
          <a:xfrm>
            <a:off x="425100" y="1360075"/>
            <a:ext cx="7493100" cy="3876031"/>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dirty="0">
                <a:latin typeface="DM Sans"/>
                <a:ea typeface="DM Sans"/>
                <a:cs typeface="DM Sans"/>
                <a:sym typeface="DM Sans"/>
              </a:rPr>
              <a:t>Video: https://www.youtube.com/watch?v=pSU7HIHN4Iw</a:t>
            </a:r>
            <a:endParaRPr sz="1350" dirty="0">
              <a:latin typeface="DM Sans"/>
              <a:ea typeface="DM Sans"/>
              <a:cs typeface="DM Sans"/>
              <a:sym typeface="DM Sans"/>
            </a:endParaRPr>
          </a:p>
          <a:p>
            <a:pPr marL="0" lvl="0" indent="0" algn="l" rtl="0">
              <a:spcBef>
                <a:spcPts val="0"/>
              </a:spcBef>
              <a:spcAft>
                <a:spcPts val="0"/>
              </a:spcAft>
              <a:buNone/>
            </a:pPr>
            <a:endParaRPr sz="13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b="1" dirty="0">
                <a:solidFill>
                  <a:schemeClr val="accent4"/>
                </a:solidFill>
                <a:latin typeface="DM Sans"/>
                <a:ea typeface="DM Sans"/>
                <a:cs typeface="DM Sans"/>
                <a:sym typeface="DM Sans"/>
              </a:rPr>
              <a:t>Contenido</a:t>
            </a:r>
            <a:r>
              <a:rPr lang="es" sz="1250" b="1" dirty="0" smtClean="0">
                <a:solidFill>
                  <a:schemeClr val="accent4"/>
                </a:solidFill>
                <a:latin typeface="DM Sans"/>
                <a:ea typeface="DM Sans"/>
                <a:cs typeface="DM Sans"/>
                <a:sym typeface="DM Sans"/>
              </a:rPr>
              <a:t>:</a:t>
            </a:r>
            <a:r>
              <a:rPr lang="es" sz="1250" dirty="0">
                <a:latin typeface="DM Sans"/>
                <a:ea typeface="DM Sans"/>
                <a:cs typeface="DM Sans"/>
                <a:sym typeface="DM Sans"/>
              </a:rPr>
              <a:t/>
            </a:r>
            <a:br>
              <a:rPr lang="es" sz="1250" dirty="0">
                <a:latin typeface="DM Sans"/>
                <a:ea typeface="DM Sans"/>
                <a:cs typeface="DM Sans"/>
                <a:sym typeface="DM Sans"/>
              </a:rPr>
            </a:br>
            <a:r>
              <a:rPr lang="es" sz="1250" dirty="0">
                <a:latin typeface="DM Sans"/>
                <a:ea typeface="DM Sans"/>
                <a:cs typeface="DM Sans"/>
                <a:sym typeface="DM Sans"/>
              </a:rPr>
              <a:t>Cómo instalar GIT</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Como verificar que lo instalamos bien</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Crear credenciales en git</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Crear un repo remoto</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Iniciar un repo en git</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Corroborar que lo iniciamos</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Agregar al monitoreo de git archivos</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Vincular git con remoto</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Hacer commits</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Hacer el primer push y los siguientes</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Ver el estado del repo</a:t>
            </a:r>
            <a:endParaRPr sz="1250" dirty="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dirty="0">
                <a:latin typeface="DM Sans"/>
                <a:ea typeface="DM Sans"/>
                <a:cs typeface="DM Sans"/>
                <a:sym typeface="DM Sans"/>
              </a:rPr>
              <a:t>Volver al último commit</a:t>
            </a:r>
            <a:endParaRPr sz="1250" dirty="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dirty="0">
              <a:latin typeface="DM Sans"/>
              <a:ea typeface="DM Sans"/>
              <a:cs typeface="DM Sans"/>
              <a:sym typeface="DM Sans"/>
            </a:endParaRPr>
          </a:p>
          <a:p>
            <a:pPr marL="0" lvl="0" indent="0" algn="l" rtl="0">
              <a:spcBef>
                <a:spcPts val="0"/>
              </a:spcBef>
              <a:spcAft>
                <a:spcPts val="0"/>
              </a:spcAft>
              <a:buNone/>
            </a:pPr>
            <a:endParaRPr sz="1350" dirty="0">
              <a:latin typeface="DM Sans"/>
              <a:ea typeface="DM Sans"/>
              <a:cs typeface="DM Sans"/>
              <a:sym typeface="DM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p26"/>
          <p:cNvSpPr txBox="1"/>
          <p:nvPr/>
        </p:nvSpPr>
        <p:spPr>
          <a:xfrm>
            <a:off x="457350" y="390025"/>
            <a:ext cx="8154900" cy="168043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600" b="1" dirty="0" smtClean="0">
                <a:solidFill>
                  <a:srgbClr val="EA90FF"/>
                </a:solidFill>
                <a:latin typeface="DM Sans"/>
                <a:ea typeface="DM Sans"/>
                <a:cs typeface="DM Sans"/>
                <a:sym typeface="DM Sans"/>
              </a:rPr>
              <a:t>Extensiones</a:t>
            </a:r>
            <a:r>
              <a:rPr lang="es" sz="3600" b="1" dirty="0" smtClean="0">
                <a:solidFill>
                  <a:schemeClr val="dk1"/>
                </a:solidFill>
                <a:latin typeface="DM Sans"/>
                <a:ea typeface="DM Sans"/>
                <a:cs typeface="DM Sans"/>
                <a:sym typeface="DM Sans"/>
              </a:rPr>
              <a:t> </a:t>
            </a:r>
            <a:r>
              <a:rPr lang="es" sz="3600" b="1" dirty="0">
                <a:solidFill>
                  <a:schemeClr val="dk1"/>
                </a:solidFill>
                <a:latin typeface="DM Sans"/>
                <a:ea typeface="DM Sans"/>
                <a:cs typeface="DM Sans"/>
                <a:sym typeface="DM Sans"/>
              </a:rPr>
              <a:t>instalar Prettier correctamente para la próxima clase </a:t>
            </a:r>
            <a:r>
              <a:rPr lang="es" sz="3600" b="1" dirty="0" smtClean="0">
                <a:solidFill>
                  <a:schemeClr val="dk1"/>
                </a:solidFill>
                <a:latin typeface="DM Sans"/>
                <a:ea typeface="DM Sans"/>
                <a:cs typeface="DM Sans"/>
                <a:sym typeface="DM Sans"/>
              </a:rPr>
              <a:t>(Opcional)</a:t>
            </a:r>
            <a:endParaRPr sz="3400" b="1" dirty="0">
              <a:solidFill>
                <a:schemeClr val="dk1"/>
              </a:solidFill>
              <a:latin typeface="DM Sans"/>
              <a:ea typeface="DM Sans"/>
              <a:cs typeface="DM Sans"/>
              <a:sym typeface="DM Sans"/>
            </a:endParaRPr>
          </a:p>
        </p:txBody>
      </p:sp>
      <p:sp>
        <p:nvSpPr>
          <p:cNvPr id="114" name="Google Shape;114;p26"/>
          <p:cNvSpPr txBox="1"/>
          <p:nvPr/>
        </p:nvSpPr>
        <p:spPr>
          <a:xfrm>
            <a:off x="457350" y="2446125"/>
            <a:ext cx="30000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p>
        </p:txBody>
      </p:sp>
      <p:sp>
        <p:nvSpPr>
          <p:cNvPr id="115" name="Google Shape;115;p26"/>
          <p:cNvSpPr txBox="1"/>
          <p:nvPr/>
        </p:nvSpPr>
        <p:spPr>
          <a:xfrm>
            <a:off x="423775" y="2167650"/>
            <a:ext cx="7646700" cy="236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Video: </a:t>
            </a:r>
            <a:r>
              <a:rPr lang="es" sz="1350" u="sng">
                <a:solidFill>
                  <a:schemeClr val="hlink"/>
                </a:solidFill>
                <a:latin typeface="DM Sans"/>
                <a:ea typeface="DM Sans"/>
                <a:cs typeface="DM Sans"/>
                <a:sym typeface="DM Sans"/>
                <a:hlinkClick r:id="rId3"/>
              </a:rPr>
              <a:t>https://www.youtube.com/watch?v=J82zzv_2RPc</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Qué es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Para qué usamos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instalamos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Por qué no me anda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establecer Prettier como formateador predeterminado.</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establecer una configuración personalizada de Prettier.</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Cómo compartir la configuración de Prettier con GIT / GITHUB</a:t>
            </a:r>
            <a:endParaRPr sz="12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7"/>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RECAP: JAVASCRIPT</a:t>
            </a:r>
            <a:endParaRPr sz="4000" b="1">
              <a:solidFill>
                <a:schemeClr val="dk1"/>
              </a:solidFill>
              <a:latin typeface="DM Sans"/>
              <a:ea typeface="DM Sans"/>
              <a:cs typeface="DM Sans"/>
              <a:sym typeface="DM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7"/>
          <p:cNvSpPr txBox="1"/>
          <p:nvPr/>
        </p:nvSpPr>
        <p:spPr>
          <a:xfrm>
            <a:off x="1493198" y="1447388"/>
            <a:ext cx="6221400" cy="1846629"/>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dirty="0" smtClean="0">
                <a:solidFill>
                  <a:schemeClr val="dk1"/>
                </a:solidFill>
                <a:latin typeface="DM Sans"/>
                <a:ea typeface="DM Sans"/>
                <a:cs typeface="DM Sans"/>
                <a:sym typeface="DM Sans"/>
              </a:rPr>
              <a:t>QUE NECESITAMOS PARA HACER NUESTRA APP DE REACT JS?</a:t>
            </a:r>
            <a:endParaRPr sz="4000" b="1" dirty="0">
              <a:solidFill>
                <a:schemeClr val="dk1"/>
              </a:solidFill>
              <a:latin typeface="DM Sans"/>
              <a:ea typeface="DM Sans"/>
              <a:cs typeface="DM Sans"/>
              <a:sym typeface="DM Sans"/>
            </a:endParaRPr>
          </a:p>
        </p:txBody>
      </p:sp>
    </p:spTree>
    <p:extLst>
      <p:ext uri="{BB962C8B-B14F-4D97-AF65-F5344CB8AC3E}">
        <p14:creationId xmlns:p14="http://schemas.microsoft.com/office/powerpoint/2010/main" val="35047068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34"/>
          <p:cNvSpPr txBox="1"/>
          <p:nvPr/>
        </p:nvSpPr>
        <p:spPr>
          <a:xfrm>
            <a:off x="475500" y="941400"/>
            <a:ext cx="70854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dirty="0" smtClean="0">
                <a:solidFill>
                  <a:schemeClr val="dk1"/>
                </a:solidFill>
                <a:latin typeface="DM Sans"/>
                <a:ea typeface="DM Sans"/>
                <a:cs typeface="DM Sans"/>
                <a:sym typeface="DM Sans"/>
              </a:rPr>
              <a:t>NODE</a:t>
            </a:r>
            <a:endParaRPr sz="4000" b="1" dirty="0">
              <a:solidFill>
                <a:schemeClr val="dk1"/>
              </a:solidFill>
              <a:latin typeface="DM Sans"/>
              <a:ea typeface="DM Sans"/>
              <a:cs typeface="DM Sans"/>
              <a:sym typeface="DM Sans"/>
            </a:endParaRPr>
          </a:p>
        </p:txBody>
      </p:sp>
      <p:sp>
        <p:nvSpPr>
          <p:cNvPr id="165" name="Google Shape;165;p34"/>
          <p:cNvSpPr txBox="1"/>
          <p:nvPr/>
        </p:nvSpPr>
        <p:spPr>
          <a:xfrm>
            <a:off x="475500" y="1931500"/>
            <a:ext cx="4730100" cy="2470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Node.js es un entorno de ejecución (runtime) de </a:t>
            </a:r>
            <a:r>
              <a:rPr lang="es" sz="1350">
                <a:highlight>
                  <a:schemeClr val="accent1"/>
                </a:highlight>
                <a:latin typeface="DM Sans"/>
                <a:ea typeface="DM Sans"/>
                <a:cs typeface="DM Sans"/>
                <a:sym typeface="DM Sans"/>
              </a:rPr>
              <a:t>JavaScript.</a:t>
            </a:r>
            <a:r>
              <a:rPr lang="es" sz="1350">
                <a:highlight>
                  <a:schemeClr val="lt1"/>
                </a:highlight>
                <a:latin typeface="DM Sans"/>
                <a:ea typeface="DM Sans"/>
                <a:cs typeface="DM Sans"/>
                <a:sym typeface="DM Sans"/>
              </a:rPr>
              <a:t> </a:t>
            </a:r>
            <a:r>
              <a:rPr lang="es" sz="1350">
                <a:latin typeface="DM Sans"/>
                <a:ea typeface="DM Sans"/>
                <a:cs typeface="DM Sans"/>
                <a:sym typeface="DM Sans"/>
              </a:rPr>
              <a:t>Permite ejecutar código </a:t>
            </a:r>
            <a:r>
              <a:rPr lang="es" sz="1350">
                <a:highlight>
                  <a:schemeClr val="accent1"/>
                </a:highlight>
                <a:latin typeface="DM Sans"/>
                <a:ea typeface="DM Sans"/>
                <a:cs typeface="DM Sans"/>
                <a:sym typeface="DM Sans"/>
              </a:rPr>
              <a:t>Javascript</a:t>
            </a:r>
            <a:r>
              <a:rPr lang="es" sz="1350">
                <a:latin typeface="DM Sans"/>
                <a:ea typeface="DM Sans"/>
                <a:cs typeface="DM Sans"/>
                <a:sym typeface="DM Sans"/>
              </a:rPr>
              <a:t> en nuestra computadora.</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Está diseñado para crear aplicaciones escalables.</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Podemos darle a node un archivo de Javascript y éste puede ejecutarlo, y darle acceso a recursos de nuestra computadora (IO, Network, Etc).</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pic>
        <p:nvPicPr>
          <p:cNvPr id="166" name="Google Shape;166;p34"/>
          <p:cNvPicPr preferRelativeResize="0"/>
          <p:nvPr/>
        </p:nvPicPr>
        <p:blipFill rotWithShape="1">
          <a:blip r:embed="rId3">
            <a:alphaModFix/>
          </a:blip>
          <a:srcRect r="48633"/>
          <a:stretch/>
        </p:blipFill>
        <p:spPr>
          <a:xfrm>
            <a:off x="5517650" y="1638275"/>
            <a:ext cx="2459950" cy="19639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35"/>
          <p:cNvSpPr txBox="1"/>
          <p:nvPr/>
        </p:nvSpPr>
        <p:spPr>
          <a:xfrm>
            <a:off x="298400" y="433200"/>
            <a:ext cx="7085400" cy="1442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800" b="1">
                <a:solidFill>
                  <a:schemeClr val="accent5"/>
                </a:solidFill>
                <a:latin typeface="DM Sans"/>
                <a:ea typeface="DM Sans"/>
                <a:cs typeface="DM Sans"/>
                <a:sym typeface="DM Sans"/>
              </a:rPr>
              <a:t>N</a:t>
            </a:r>
            <a:r>
              <a:rPr lang="es" sz="3800" b="1">
                <a:solidFill>
                  <a:schemeClr val="dk1"/>
                </a:solidFill>
                <a:latin typeface="DM Sans"/>
                <a:ea typeface="DM Sans"/>
                <a:cs typeface="DM Sans"/>
                <a:sym typeface="DM Sans"/>
              </a:rPr>
              <a:t>ode </a:t>
            </a:r>
            <a:r>
              <a:rPr lang="es" sz="3800" b="1">
                <a:solidFill>
                  <a:schemeClr val="accent5"/>
                </a:solidFill>
                <a:latin typeface="DM Sans"/>
                <a:ea typeface="DM Sans"/>
                <a:cs typeface="DM Sans"/>
                <a:sym typeface="DM Sans"/>
              </a:rPr>
              <a:t>P</a:t>
            </a:r>
            <a:r>
              <a:rPr lang="es" sz="3800" b="1">
                <a:solidFill>
                  <a:schemeClr val="dk1"/>
                </a:solidFill>
                <a:latin typeface="DM Sans"/>
                <a:ea typeface="DM Sans"/>
                <a:cs typeface="DM Sans"/>
                <a:sym typeface="DM Sans"/>
              </a:rPr>
              <a:t>ackage </a:t>
            </a:r>
            <a:r>
              <a:rPr lang="es" sz="3800" b="1">
                <a:solidFill>
                  <a:schemeClr val="accent5"/>
                </a:solidFill>
                <a:latin typeface="DM Sans"/>
                <a:ea typeface="DM Sans"/>
                <a:cs typeface="DM Sans"/>
                <a:sym typeface="DM Sans"/>
              </a:rPr>
              <a:t>M</a:t>
            </a:r>
            <a:r>
              <a:rPr lang="es" sz="3800" b="1">
                <a:solidFill>
                  <a:schemeClr val="dk1"/>
                </a:solidFill>
                <a:latin typeface="DM Sans"/>
                <a:ea typeface="DM Sans"/>
                <a:cs typeface="DM Sans"/>
                <a:sym typeface="DM Sans"/>
              </a:rPr>
              <a:t>anager  </a:t>
            </a:r>
            <a:endParaRPr sz="38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3800" b="1">
                <a:solidFill>
                  <a:schemeClr val="dk1"/>
                </a:solidFill>
                <a:latin typeface="DM Sans"/>
                <a:ea typeface="DM Sans"/>
                <a:cs typeface="DM Sans"/>
                <a:sym typeface="DM Sans"/>
              </a:rPr>
              <a:t>NPM</a:t>
            </a:r>
            <a:endParaRPr sz="3800" b="1">
              <a:solidFill>
                <a:schemeClr val="dk1"/>
              </a:solidFill>
              <a:latin typeface="DM Sans"/>
              <a:ea typeface="DM Sans"/>
              <a:cs typeface="DM Sans"/>
              <a:sym typeface="DM Sans"/>
            </a:endParaRPr>
          </a:p>
        </p:txBody>
      </p:sp>
      <p:sp>
        <p:nvSpPr>
          <p:cNvPr id="172" name="Google Shape;172;p35"/>
          <p:cNvSpPr txBox="1"/>
          <p:nvPr/>
        </p:nvSpPr>
        <p:spPr>
          <a:xfrm>
            <a:off x="298400" y="2040050"/>
            <a:ext cx="4923600" cy="25431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Cuando usamos Node.js, es necesario instalar y gestionar un gran número de bibliotecas, ya que al ser un sistema fuertemente modular viene prácticamente “vacío”. </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latin typeface="DM Sans"/>
                <a:ea typeface="DM Sans"/>
                <a:cs typeface="DM Sans"/>
                <a:sym typeface="DM Sans"/>
              </a:rPr>
              <a:t>Para esto Nodejs cuenta con una herramienta llamada NPM que, nos permite instalar dependencias, ejecutar scripts, ejecutar servidores de desarrollo, construir build de nuestras aplicaciones, etc..</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latin typeface="DM Sans"/>
                <a:ea typeface="DM Sans"/>
                <a:cs typeface="DM Sans"/>
                <a:sym typeface="DM Sans"/>
              </a:rPr>
              <a:t>Todo a través de instrucciones por medio de una terminal.</a:t>
            </a:r>
            <a:endParaRPr sz="1350">
              <a:latin typeface="DM Sans"/>
              <a:ea typeface="DM Sans"/>
              <a:cs typeface="DM Sans"/>
              <a:sym typeface="DM Sans"/>
            </a:endParaRPr>
          </a:p>
        </p:txBody>
      </p:sp>
      <p:pic>
        <p:nvPicPr>
          <p:cNvPr id="173" name="Google Shape;173;p35"/>
          <p:cNvPicPr preferRelativeResize="0"/>
          <p:nvPr/>
        </p:nvPicPr>
        <p:blipFill rotWithShape="1">
          <a:blip r:embed="rId3">
            <a:alphaModFix/>
          </a:blip>
          <a:srcRect l="50782"/>
          <a:stretch/>
        </p:blipFill>
        <p:spPr>
          <a:xfrm>
            <a:off x="6928375" y="1678850"/>
            <a:ext cx="1912500" cy="159357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36"/>
          <p:cNvSpPr txBox="1"/>
          <p:nvPr/>
        </p:nvSpPr>
        <p:spPr>
          <a:xfrm>
            <a:off x="420550" y="2105950"/>
            <a:ext cx="7085400" cy="769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800" b="1">
                <a:solidFill>
                  <a:schemeClr val="accent5"/>
                </a:solidFill>
                <a:latin typeface="DM Sans"/>
                <a:ea typeface="DM Sans"/>
                <a:cs typeface="DM Sans"/>
                <a:sym typeface="DM Sans"/>
              </a:rPr>
              <a:t>package.json</a:t>
            </a:r>
            <a:endParaRPr sz="3800" b="1">
              <a:solidFill>
                <a:schemeClr val="dk1"/>
              </a:solidFill>
              <a:latin typeface="DM Sans"/>
              <a:ea typeface="DM Sans"/>
              <a:cs typeface="DM Sans"/>
              <a:sym typeface="DM Sans"/>
            </a:endParaRPr>
          </a:p>
        </p:txBody>
      </p:sp>
      <p:pic>
        <p:nvPicPr>
          <p:cNvPr id="179" name="Google Shape;179;p36"/>
          <p:cNvPicPr preferRelativeResize="0"/>
          <p:nvPr/>
        </p:nvPicPr>
        <p:blipFill>
          <a:blip r:embed="rId3">
            <a:alphaModFix/>
          </a:blip>
          <a:stretch>
            <a:fillRect/>
          </a:stretch>
        </p:blipFill>
        <p:spPr>
          <a:xfrm>
            <a:off x="4492998" y="303700"/>
            <a:ext cx="4319574" cy="4246924"/>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83"/>
        <p:cNvGrpSpPr/>
        <p:nvPr/>
      </p:nvGrpSpPr>
      <p:grpSpPr>
        <a:xfrm>
          <a:off x="0" y="0"/>
          <a:ext cx="0" cy="0"/>
          <a:chOff x="0" y="0"/>
          <a:chExt cx="0" cy="0"/>
        </a:xfrm>
      </p:grpSpPr>
      <p:sp>
        <p:nvSpPr>
          <p:cNvPr id="184" name="Google Shape;184;p37"/>
          <p:cNvSpPr txBox="1"/>
          <p:nvPr/>
        </p:nvSpPr>
        <p:spPr>
          <a:xfrm>
            <a:off x="375475" y="419925"/>
            <a:ext cx="7085400" cy="18609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300" b="1">
                <a:solidFill>
                  <a:schemeClr val="dk1"/>
                </a:solidFill>
                <a:latin typeface="DM Sans"/>
                <a:ea typeface="DM Sans"/>
                <a:cs typeface="DM Sans"/>
                <a:sym typeface="DM Sans"/>
              </a:rPr>
              <a:t>NPM como registro </a:t>
            </a:r>
            <a:endParaRPr sz="33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3300" b="1">
                <a:solidFill>
                  <a:schemeClr val="dk1"/>
                </a:solidFill>
                <a:latin typeface="DM Sans"/>
                <a:ea typeface="DM Sans"/>
                <a:cs typeface="DM Sans"/>
                <a:sym typeface="DM Sans"/>
              </a:rPr>
              <a:t>público mundial de proyectos</a:t>
            </a:r>
            <a:endParaRPr sz="33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3300" b="1">
                <a:solidFill>
                  <a:schemeClr val="accent1"/>
                </a:solidFill>
                <a:latin typeface="DM Sans"/>
                <a:ea typeface="DM Sans"/>
                <a:cs typeface="DM Sans"/>
                <a:sym typeface="DM Sans"/>
              </a:rPr>
              <a:t>+2.000.000</a:t>
            </a:r>
            <a:endParaRPr sz="3300" b="1">
              <a:solidFill>
                <a:schemeClr val="accent1"/>
              </a:solidFill>
              <a:latin typeface="DM Sans"/>
              <a:ea typeface="DM Sans"/>
              <a:cs typeface="DM Sans"/>
              <a:sym typeface="DM Sans"/>
            </a:endParaRPr>
          </a:p>
        </p:txBody>
      </p:sp>
      <p:pic>
        <p:nvPicPr>
          <p:cNvPr id="185" name="Google Shape;185;p37"/>
          <p:cNvPicPr preferRelativeResize="0"/>
          <p:nvPr/>
        </p:nvPicPr>
        <p:blipFill rotWithShape="1">
          <a:blip r:embed="rId3">
            <a:alphaModFix/>
          </a:blip>
          <a:srcRect l="50782"/>
          <a:stretch/>
        </p:blipFill>
        <p:spPr>
          <a:xfrm>
            <a:off x="7102874" y="649775"/>
            <a:ext cx="1489426" cy="1241050"/>
          </a:xfrm>
          <a:prstGeom prst="rect">
            <a:avLst/>
          </a:prstGeom>
          <a:noFill/>
          <a:ln>
            <a:noFill/>
          </a:ln>
        </p:spPr>
      </p:pic>
      <p:pic>
        <p:nvPicPr>
          <p:cNvPr id="186" name="Google Shape;186;p37"/>
          <p:cNvPicPr preferRelativeResize="0"/>
          <p:nvPr/>
        </p:nvPicPr>
        <p:blipFill>
          <a:blip r:embed="rId4">
            <a:alphaModFix/>
          </a:blip>
          <a:stretch>
            <a:fillRect/>
          </a:stretch>
        </p:blipFill>
        <p:spPr>
          <a:xfrm>
            <a:off x="475500" y="2423525"/>
            <a:ext cx="6415325" cy="223182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90"/>
        <p:cNvGrpSpPr/>
        <p:nvPr/>
      </p:nvGrpSpPr>
      <p:grpSpPr>
        <a:xfrm>
          <a:off x="0" y="0"/>
          <a:ext cx="0" cy="0"/>
          <a:chOff x="0" y="0"/>
          <a:chExt cx="0" cy="0"/>
        </a:xfrm>
      </p:grpSpPr>
      <p:sp>
        <p:nvSpPr>
          <p:cNvPr id="191" name="Google Shape;191;p38"/>
          <p:cNvSpPr txBox="1"/>
          <p:nvPr/>
        </p:nvSpPr>
        <p:spPr>
          <a:xfrm>
            <a:off x="375475" y="419925"/>
            <a:ext cx="7085400" cy="692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3300" b="1">
                <a:solidFill>
                  <a:schemeClr val="dk1"/>
                </a:solidFill>
                <a:latin typeface="DM Sans"/>
                <a:ea typeface="DM Sans"/>
                <a:cs typeface="DM Sans"/>
                <a:sym typeface="DM Sans"/>
              </a:rPr>
              <a:t>React en NPM</a:t>
            </a:r>
            <a:endParaRPr sz="3300" b="1">
              <a:solidFill>
                <a:schemeClr val="accent1"/>
              </a:solidFill>
              <a:latin typeface="DM Sans"/>
              <a:ea typeface="DM Sans"/>
              <a:cs typeface="DM Sans"/>
              <a:sym typeface="DM Sans"/>
            </a:endParaRPr>
          </a:p>
        </p:txBody>
      </p:sp>
      <p:pic>
        <p:nvPicPr>
          <p:cNvPr id="192" name="Google Shape;192;p38"/>
          <p:cNvPicPr preferRelativeResize="0"/>
          <p:nvPr/>
        </p:nvPicPr>
        <p:blipFill>
          <a:blip r:embed="rId3">
            <a:alphaModFix/>
          </a:blip>
          <a:stretch>
            <a:fillRect/>
          </a:stretch>
        </p:blipFill>
        <p:spPr>
          <a:xfrm>
            <a:off x="427625" y="1569350"/>
            <a:ext cx="6427374" cy="2907399"/>
          </a:xfrm>
          <a:prstGeom prst="rect">
            <a:avLst/>
          </a:prstGeom>
          <a:noFill/>
          <a:ln>
            <a:noFill/>
          </a:ln>
        </p:spPr>
      </p:pic>
      <p:pic>
        <p:nvPicPr>
          <p:cNvPr id="193" name="Google Shape;193;p38"/>
          <p:cNvPicPr preferRelativeResize="0"/>
          <p:nvPr/>
        </p:nvPicPr>
        <p:blipFill>
          <a:blip r:embed="rId4">
            <a:alphaModFix/>
          </a:blip>
          <a:stretch>
            <a:fillRect/>
          </a:stretch>
        </p:blipFill>
        <p:spPr>
          <a:xfrm>
            <a:off x="7132825" y="1199700"/>
            <a:ext cx="1779973" cy="692701"/>
          </a:xfrm>
          <a:prstGeom prst="rect">
            <a:avLst/>
          </a:prstGeom>
          <a:noFill/>
          <a:ln>
            <a:noFill/>
          </a:ln>
        </p:spPr>
      </p:pic>
      <p:pic>
        <p:nvPicPr>
          <p:cNvPr id="194" name="Google Shape;194;p38"/>
          <p:cNvPicPr preferRelativeResize="0"/>
          <p:nvPr/>
        </p:nvPicPr>
        <p:blipFill>
          <a:blip r:embed="rId5">
            <a:alphaModFix/>
          </a:blip>
          <a:stretch>
            <a:fillRect/>
          </a:stretch>
        </p:blipFill>
        <p:spPr>
          <a:xfrm>
            <a:off x="7085200" y="2383566"/>
            <a:ext cx="1779975" cy="154708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9"/>
          <p:cNvSpPr txBox="1"/>
          <p:nvPr/>
        </p:nvSpPr>
        <p:spPr>
          <a:xfrm>
            <a:off x="1461300" y="1598325"/>
            <a:ext cx="6221400" cy="1431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5000">
                <a:solidFill>
                  <a:srgbClr val="E8E7E3"/>
                </a:solidFill>
              </a:rPr>
              <a:t>☕</a:t>
            </a:r>
            <a:endParaRPr sz="5000">
              <a:solidFill>
                <a:srgbClr val="E8E7E3"/>
              </a:solidFill>
            </a:endParaRPr>
          </a:p>
          <a:p>
            <a:pPr marL="0" lvl="0" indent="0" algn="ctr" rtl="0">
              <a:lnSpc>
                <a:spcPct val="90000"/>
              </a:lnSpc>
              <a:spcBef>
                <a:spcPts val="0"/>
              </a:spcBef>
              <a:spcAft>
                <a:spcPts val="0"/>
              </a:spcAft>
              <a:buNone/>
            </a:pPr>
            <a:r>
              <a:rPr lang="es" sz="4000" b="1">
                <a:solidFill>
                  <a:srgbClr val="EAFF6A"/>
                </a:solidFill>
                <a:latin typeface="DM Sans"/>
                <a:ea typeface="DM Sans"/>
                <a:cs typeface="DM Sans"/>
                <a:sym typeface="DM Sans"/>
              </a:rPr>
              <a:t>Break</a:t>
            </a:r>
            <a:endParaRPr sz="4000" b="1">
              <a:solidFill>
                <a:schemeClr val="lt1"/>
              </a:solidFill>
              <a:latin typeface="DM Sans"/>
              <a:ea typeface="DM Sans"/>
              <a:cs typeface="DM Sans"/>
              <a:sym typeface="DM Sans"/>
            </a:endParaRPr>
          </a:p>
        </p:txBody>
      </p:sp>
      <p:sp>
        <p:nvSpPr>
          <p:cNvPr id="200" name="Google Shape;200;p39"/>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 sz="2000">
                <a:solidFill>
                  <a:schemeClr val="lt1"/>
                </a:solidFill>
                <a:latin typeface="DM Sans"/>
                <a:ea typeface="DM Sans"/>
                <a:cs typeface="DM Sans"/>
                <a:sym typeface="DM Sans"/>
              </a:rPr>
              <a:t>¡5 minutos y volvemos!</a:t>
            </a:r>
            <a:endParaRPr sz="2000">
              <a:solidFill>
                <a:schemeClr val="lt1"/>
              </a:solidFill>
              <a:latin typeface="DM Sans"/>
              <a:ea typeface="DM Sans"/>
              <a:cs typeface="DM Sans"/>
              <a:sym typeface="DM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04"/>
        <p:cNvGrpSpPr/>
        <p:nvPr/>
      </p:nvGrpSpPr>
      <p:grpSpPr>
        <a:xfrm>
          <a:off x="0" y="0"/>
          <a:ext cx="0" cy="0"/>
          <a:chOff x="0" y="0"/>
          <a:chExt cx="0" cy="0"/>
        </a:xfrm>
      </p:grpSpPr>
      <p:sp>
        <p:nvSpPr>
          <p:cNvPr id="205" name="Google Shape;205;p40"/>
          <p:cNvSpPr txBox="1"/>
          <p:nvPr/>
        </p:nvSpPr>
        <p:spPr>
          <a:xfrm>
            <a:off x="1461288" y="1939407"/>
            <a:ext cx="6221400" cy="1182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7200" b="1">
                <a:solidFill>
                  <a:schemeClr val="lt1"/>
                </a:solidFill>
                <a:latin typeface="DM Sans"/>
                <a:ea typeface="DM Sans"/>
                <a:cs typeface="DM Sans"/>
                <a:sym typeface="DM Sans"/>
              </a:rPr>
              <a:t>React </a:t>
            </a:r>
            <a:r>
              <a:rPr lang="es" sz="7200" b="1">
                <a:solidFill>
                  <a:srgbClr val="EAFF6A"/>
                </a:solidFill>
                <a:latin typeface="DM Sans"/>
                <a:ea typeface="DM Sans"/>
                <a:cs typeface="DM Sans"/>
                <a:sym typeface="DM Sans"/>
              </a:rPr>
              <a:t>Js</a:t>
            </a:r>
            <a:endParaRPr sz="7200" b="1">
              <a:solidFill>
                <a:srgbClr val="EAFF6A"/>
              </a:solidFill>
              <a:latin typeface="DM Sans"/>
              <a:ea typeface="DM Sans"/>
              <a:cs typeface="DM Sans"/>
              <a:sym typeface="DM San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9"/>
        <p:cNvGrpSpPr/>
        <p:nvPr/>
      </p:nvGrpSpPr>
      <p:grpSpPr>
        <a:xfrm>
          <a:off x="0" y="0"/>
          <a:ext cx="0" cy="0"/>
          <a:chOff x="0" y="0"/>
          <a:chExt cx="0" cy="0"/>
        </a:xfrm>
      </p:grpSpPr>
      <p:pic>
        <p:nvPicPr>
          <p:cNvPr id="210" name="Google Shape;210;p41"/>
          <p:cNvPicPr preferRelativeResize="0"/>
          <p:nvPr/>
        </p:nvPicPr>
        <p:blipFill>
          <a:blip r:embed="rId3">
            <a:alphaModFix/>
          </a:blip>
          <a:stretch>
            <a:fillRect/>
          </a:stretch>
        </p:blipFill>
        <p:spPr>
          <a:xfrm>
            <a:off x="152400" y="152400"/>
            <a:ext cx="8839201" cy="4311231"/>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42"/>
          <p:cNvSpPr txBox="1"/>
          <p:nvPr/>
        </p:nvSpPr>
        <p:spPr>
          <a:xfrm>
            <a:off x="457725" y="1071050"/>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Los inicios</a:t>
            </a:r>
            <a:endParaRPr sz="4000" b="1">
              <a:solidFill>
                <a:schemeClr val="dk1"/>
              </a:solidFill>
              <a:latin typeface="DM Sans"/>
              <a:ea typeface="DM Sans"/>
              <a:cs typeface="DM Sans"/>
              <a:sym typeface="DM Sans"/>
            </a:endParaRPr>
          </a:p>
        </p:txBody>
      </p:sp>
      <p:sp>
        <p:nvSpPr>
          <p:cNvPr id="216" name="Google Shape;216;p42"/>
          <p:cNvSpPr txBox="1"/>
          <p:nvPr/>
        </p:nvSpPr>
        <p:spPr>
          <a:xfrm>
            <a:off x="475500" y="2104150"/>
            <a:ext cx="4730100" cy="228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React JS fue creada por Jordan Walke, un ingeniero de software en Facebook, inspirado por los problemas que tenía la compañía con el mantenimiento del código de de su plataforma, que no paraba de crecer.</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b="1">
                <a:solidFill>
                  <a:srgbClr val="83AEFB"/>
                </a:solidFill>
                <a:latin typeface="DM Sans"/>
                <a:ea typeface="DM Sans"/>
                <a:cs typeface="DM Sans"/>
                <a:sym typeface="DM Sans"/>
              </a:rPr>
              <a:t>React fue liberado el 29 de mayo de 2013. </a:t>
            </a:r>
            <a:endParaRPr sz="1350" b="1">
              <a:solidFill>
                <a:srgbClr val="83AEFB"/>
              </a:solidFill>
              <a:latin typeface="DM Sans"/>
              <a:ea typeface="DM Sans"/>
              <a:cs typeface="DM Sans"/>
              <a:sym typeface="DM Sans"/>
            </a:endParaRPr>
          </a:p>
          <a:p>
            <a:pPr marL="0" lvl="0" indent="0" algn="l" rtl="0">
              <a:spcBef>
                <a:spcPts val="0"/>
              </a:spcBef>
              <a:spcAft>
                <a:spcPts val="0"/>
              </a:spcAft>
              <a:buNone/>
            </a:pPr>
            <a:endParaRPr sz="1350" b="1">
              <a:solidFill>
                <a:srgbClr val="83AEFB"/>
              </a:solidFill>
              <a:latin typeface="DM Sans"/>
              <a:ea typeface="DM Sans"/>
              <a:cs typeface="DM Sans"/>
              <a:sym typeface="DM Sans"/>
            </a:endParaRPr>
          </a:p>
          <a:p>
            <a:pPr marL="0" lvl="0" indent="0" algn="l" rtl="0">
              <a:lnSpc>
                <a:spcPct val="150000"/>
              </a:lnSpc>
              <a:spcBef>
                <a:spcPts val="0"/>
              </a:spcBef>
              <a:spcAft>
                <a:spcPts val="0"/>
              </a:spcAft>
              <a:buNone/>
            </a:pPr>
            <a:r>
              <a:rPr lang="es" sz="1350">
                <a:solidFill>
                  <a:schemeClr val="dk1"/>
                </a:solidFill>
                <a:latin typeface="DM Sans"/>
                <a:ea typeface="DM Sans"/>
                <a:cs typeface="DM Sans"/>
                <a:sym typeface="DM Sans"/>
              </a:rPr>
              <a:t>Short sobre los inicios de React:</a:t>
            </a:r>
            <a:br>
              <a:rPr lang="es" sz="1350">
                <a:solidFill>
                  <a:schemeClr val="dk1"/>
                </a:solidFill>
                <a:latin typeface="DM Sans"/>
                <a:ea typeface="DM Sans"/>
                <a:cs typeface="DM Sans"/>
                <a:sym typeface="DM Sans"/>
              </a:rPr>
            </a:br>
            <a:r>
              <a:rPr lang="es" sz="1350">
                <a:solidFill>
                  <a:schemeClr val="dk1"/>
                </a:solidFill>
                <a:latin typeface="DM Sans"/>
                <a:ea typeface="DM Sans"/>
                <a:cs typeface="DM Sans"/>
                <a:sym typeface="DM Sans"/>
              </a:rPr>
              <a:t>https://www.youtube.com/shorts/PPIaoKdyXCw</a:t>
            </a:r>
            <a:endParaRPr sz="1350">
              <a:solidFill>
                <a:schemeClr val="dk1"/>
              </a:solidFill>
              <a:latin typeface="DM Sans"/>
              <a:ea typeface="DM Sans"/>
              <a:cs typeface="DM Sans"/>
              <a:sym typeface="DM Sans"/>
            </a:endParaRPr>
          </a:p>
        </p:txBody>
      </p:sp>
      <p:pic>
        <p:nvPicPr>
          <p:cNvPr id="217" name="Google Shape;217;p42"/>
          <p:cNvPicPr preferRelativeResize="0"/>
          <p:nvPr/>
        </p:nvPicPr>
        <p:blipFill>
          <a:blip r:embed="rId3">
            <a:alphaModFix/>
          </a:blip>
          <a:stretch>
            <a:fillRect/>
          </a:stretch>
        </p:blipFill>
        <p:spPr>
          <a:xfrm>
            <a:off x="6880525" y="1500425"/>
            <a:ext cx="1989726" cy="17294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1"/>
        <p:cNvGrpSpPr/>
        <p:nvPr/>
      </p:nvGrpSpPr>
      <p:grpSpPr>
        <a:xfrm>
          <a:off x="0" y="0"/>
          <a:ext cx="0" cy="0"/>
          <a:chOff x="0" y="0"/>
          <a:chExt cx="0" cy="0"/>
        </a:xfrm>
      </p:grpSpPr>
      <p:sp>
        <p:nvSpPr>
          <p:cNvPr id="222" name="Google Shape;222;p4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Sitios basados en React Js</a:t>
            </a:r>
            <a:endParaRPr sz="4000" b="1">
              <a:solidFill>
                <a:schemeClr val="dk1"/>
              </a:solidFill>
              <a:latin typeface="DM Sans"/>
              <a:ea typeface="DM Sans"/>
              <a:cs typeface="DM Sans"/>
              <a:sym typeface="DM Sans"/>
            </a:endParaRPr>
          </a:p>
        </p:txBody>
      </p:sp>
      <p:pic>
        <p:nvPicPr>
          <p:cNvPr id="223" name="Google Shape;223;p43"/>
          <p:cNvPicPr preferRelativeResize="0"/>
          <p:nvPr/>
        </p:nvPicPr>
        <p:blipFill>
          <a:blip r:embed="rId3">
            <a:alphaModFix/>
          </a:blip>
          <a:stretch>
            <a:fillRect/>
          </a:stretch>
        </p:blipFill>
        <p:spPr>
          <a:xfrm>
            <a:off x="1391998" y="1741750"/>
            <a:ext cx="1143974" cy="1143976"/>
          </a:xfrm>
          <a:prstGeom prst="rect">
            <a:avLst/>
          </a:prstGeom>
          <a:noFill/>
          <a:ln>
            <a:noFill/>
          </a:ln>
        </p:spPr>
      </p:pic>
      <p:pic>
        <p:nvPicPr>
          <p:cNvPr id="224" name="Google Shape;224;p43"/>
          <p:cNvPicPr preferRelativeResize="0"/>
          <p:nvPr/>
        </p:nvPicPr>
        <p:blipFill>
          <a:blip r:embed="rId4">
            <a:alphaModFix/>
          </a:blip>
          <a:stretch>
            <a:fillRect/>
          </a:stretch>
        </p:blipFill>
        <p:spPr>
          <a:xfrm>
            <a:off x="3959979" y="1823008"/>
            <a:ext cx="1224052" cy="1143976"/>
          </a:xfrm>
          <a:prstGeom prst="rect">
            <a:avLst/>
          </a:prstGeom>
          <a:noFill/>
          <a:ln>
            <a:noFill/>
          </a:ln>
        </p:spPr>
      </p:pic>
      <p:pic>
        <p:nvPicPr>
          <p:cNvPr id="225" name="Google Shape;225;p43"/>
          <p:cNvPicPr preferRelativeResize="0"/>
          <p:nvPr/>
        </p:nvPicPr>
        <p:blipFill>
          <a:blip r:embed="rId5">
            <a:alphaModFix/>
          </a:blip>
          <a:stretch>
            <a:fillRect/>
          </a:stretch>
        </p:blipFill>
        <p:spPr>
          <a:xfrm>
            <a:off x="6451680" y="1889410"/>
            <a:ext cx="1244143" cy="848656"/>
          </a:xfrm>
          <a:prstGeom prst="rect">
            <a:avLst/>
          </a:prstGeom>
          <a:noFill/>
          <a:ln>
            <a:noFill/>
          </a:ln>
        </p:spPr>
      </p:pic>
      <p:pic>
        <p:nvPicPr>
          <p:cNvPr id="226" name="Google Shape;226;p43"/>
          <p:cNvPicPr preferRelativeResize="0"/>
          <p:nvPr/>
        </p:nvPicPr>
        <p:blipFill rotWithShape="1">
          <a:blip r:embed="rId6">
            <a:alphaModFix/>
          </a:blip>
          <a:srcRect l="9489" t="18538" r="9956" b="15135"/>
          <a:stretch/>
        </p:blipFill>
        <p:spPr>
          <a:xfrm>
            <a:off x="2216502" y="3433634"/>
            <a:ext cx="1704581" cy="848656"/>
          </a:xfrm>
          <a:prstGeom prst="rect">
            <a:avLst/>
          </a:prstGeom>
          <a:noFill/>
          <a:ln>
            <a:noFill/>
          </a:ln>
        </p:spPr>
      </p:pic>
      <p:pic>
        <p:nvPicPr>
          <p:cNvPr id="227" name="Google Shape;227;p43"/>
          <p:cNvPicPr preferRelativeResize="0"/>
          <p:nvPr/>
        </p:nvPicPr>
        <p:blipFill>
          <a:blip r:embed="rId7">
            <a:alphaModFix/>
          </a:blip>
          <a:stretch>
            <a:fillRect/>
          </a:stretch>
        </p:blipFill>
        <p:spPr>
          <a:xfrm>
            <a:off x="5344039" y="3285974"/>
            <a:ext cx="1143974" cy="1143976"/>
          </a:xfrm>
          <a:prstGeom prst="rect">
            <a:avLst/>
          </a:prstGeom>
          <a:noFill/>
          <a:ln>
            <a:noFill/>
          </a:ln>
        </p:spPr>
      </p:pic>
      <p:sp>
        <p:nvSpPr>
          <p:cNvPr id="228" name="Google Shape;228;p43"/>
          <p:cNvSpPr txBox="1"/>
          <p:nvPr/>
        </p:nvSpPr>
        <p:spPr>
          <a:xfrm>
            <a:off x="6825600" y="3615263"/>
            <a:ext cx="1842900" cy="4854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s" sz="2000">
                <a:solidFill>
                  <a:srgbClr val="202122"/>
                </a:solidFill>
                <a:highlight>
                  <a:srgbClr val="FFFFFF"/>
                </a:highlight>
                <a:latin typeface="DM Sans"/>
                <a:ea typeface="DM Sans"/>
                <a:cs typeface="DM Sans"/>
                <a:sym typeface="DM Sans"/>
              </a:rPr>
              <a:t>y más...</a:t>
            </a:r>
            <a:endParaRPr>
              <a:latin typeface="DM Sans"/>
              <a:ea typeface="DM Sans"/>
              <a:cs typeface="DM Sans"/>
              <a:sym typeface="DM Sans"/>
            </a:endParaRPr>
          </a:p>
        </p:txBody>
      </p:sp>
      <p:pic>
        <p:nvPicPr>
          <p:cNvPr id="229" name="Google Shape;229;p43"/>
          <p:cNvPicPr preferRelativeResize="0"/>
          <p:nvPr/>
        </p:nvPicPr>
        <p:blipFill>
          <a:blip r:embed="rId3">
            <a:alphaModFix/>
          </a:blip>
          <a:stretch>
            <a:fillRect/>
          </a:stretch>
        </p:blipFill>
        <p:spPr>
          <a:xfrm>
            <a:off x="1391986" y="1741750"/>
            <a:ext cx="1143974" cy="1143976"/>
          </a:xfrm>
          <a:prstGeom prst="rect">
            <a:avLst/>
          </a:prstGeom>
          <a:noFill/>
          <a:ln>
            <a:noFill/>
          </a:ln>
        </p:spPr>
      </p:pic>
      <p:pic>
        <p:nvPicPr>
          <p:cNvPr id="230" name="Google Shape;230;p43"/>
          <p:cNvPicPr preferRelativeResize="0"/>
          <p:nvPr/>
        </p:nvPicPr>
        <p:blipFill>
          <a:blip r:embed="rId4">
            <a:alphaModFix/>
          </a:blip>
          <a:stretch>
            <a:fillRect/>
          </a:stretch>
        </p:blipFill>
        <p:spPr>
          <a:xfrm>
            <a:off x="3959967" y="1823008"/>
            <a:ext cx="1224052" cy="1143976"/>
          </a:xfrm>
          <a:prstGeom prst="rect">
            <a:avLst/>
          </a:prstGeom>
          <a:noFill/>
          <a:ln>
            <a:noFill/>
          </a:ln>
        </p:spPr>
      </p:pic>
      <p:pic>
        <p:nvPicPr>
          <p:cNvPr id="231" name="Google Shape;231;p43"/>
          <p:cNvPicPr preferRelativeResize="0"/>
          <p:nvPr/>
        </p:nvPicPr>
        <p:blipFill>
          <a:blip r:embed="rId5">
            <a:alphaModFix/>
          </a:blip>
          <a:stretch>
            <a:fillRect/>
          </a:stretch>
        </p:blipFill>
        <p:spPr>
          <a:xfrm>
            <a:off x="6451667" y="1889410"/>
            <a:ext cx="1244143" cy="848656"/>
          </a:xfrm>
          <a:prstGeom prst="rect">
            <a:avLst/>
          </a:prstGeom>
          <a:noFill/>
          <a:ln>
            <a:noFill/>
          </a:ln>
        </p:spPr>
      </p:pic>
      <p:pic>
        <p:nvPicPr>
          <p:cNvPr id="232" name="Google Shape;232;p43"/>
          <p:cNvPicPr preferRelativeResize="0"/>
          <p:nvPr/>
        </p:nvPicPr>
        <p:blipFill>
          <a:blip r:embed="rId7">
            <a:alphaModFix/>
          </a:blip>
          <a:stretch>
            <a:fillRect/>
          </a:stretch>
        </p:blipFill>
        <p:spPr>
          <a:xfrm>
            <a:off x="5344027" y="3285974"/>
            <a:ext cx="1143974" cy="1143976"/>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6"/>
        <p:cNvGrpSpPr/>
        <p:nvPr/>
      </p:nvGrpSpPr>
      <p:grpSpPr>
        <a:xfrm>
          <a:off x="0" y="0"/>
          <a:ext cx="0" cy="0"/>
          <a:chOff x="0" y="0"/>
          <a:chExt cx="0" cy="0"/>
        </a:xfrm>
      </p:grpSpPr>
      <p:sp>
        <p:nvSpPr>
          <p:cNvPr id="237" name="Google Shape;237;p44"/>
          <p:cNvSpPr txBox="1"/>
          <p:nvPr/>
        </p:nvSpPr>
        <p:spPr>
          <a:xfrm>
            <a:off x="280375" y="322750"/>
            <a:ext cx="68235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Razones para usar React</a:t>
            </a:r>
            <a:endParaRPr sz="4000" b="1">
              <a:solidFill>
                <a:schemeClr val="dk1"/>
              </a:solidFill>
              <a:latin typeface="DM Sans"/>
              <a:ea typeface="DM Sans"/>
              <a:cs typeface="DM Sans"/>
              <a:sym typeface="DM Sans"/>
            </a:endParaRPr>
          </a:p>
        </p:txBody>
      </p:sp>
      <p:pic>
        <p:nvPicPr>
          <p:cNvPr id="238" name="Google Shape;238;p44"/>
          <p:cNvPicPr preferRelativeResize="0"/>
          <p:nvPr/>
        </p:nvPicPr>
        <p:blipFill>
          <a:blip r:embed="rId3">
            <a:alphaModFix/>
          </a:blip>
          <a:stretch>
            <a:fillRect/>
          </a:stretch>
        </p:blipFill>
        <p:spPr>
          <a:xfrm>
            <a:off x="385775" y="1173675"/>
            <a:ext cx="5952427" cy="36602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42"/>
        <p:cNvGrpSpPr/>
        <p:nvPr/>
      </p:nvGrpSpPr>
      <p:grpSpPr>
        <a:xfrm>
          <a:off x="0" y="0"/>
          <a:ext cx="0" cy="0"/>
          <a:chOff x="0" y="0"/>
          <a:chExt cx="0" cy="0"/>
        </a:xfrm>
      </p:grpSpPr>
      <p:sp>
        <p:nvSpPr>
          <p:cNvPr id="243" name="Google Shape;243;p45"/>
          <p:cNvSpPr txBox="1"/>
          <p:nvPr/>
        </p:nvSpPr>
        <p:spPr>
          <a:xfrm>
            <a:off x="533925" y="1144825"/>
            <a:ext cx="5052600" cy="3191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Es una </a:t>
            </a:r>
            <a:r>
              <a:rPr lang="es" sz="1350" b="1">
                <a:solidFill>
                  <a:srgbClr val="83AEFB"/>
                </a:solidFill>
                <a:latin typeface="DM Sans"/>
                <a:ea typeface="DM Sans"/>
                <a:cs typeface="DM Sans"/>
                <a:sym typeface="DM Sans"/>
              </a:rPr>
              <a:t>biblioteca</a:t>
            </a:r>
            <a:r>
              <a:rPr lang="es" sz="1350">
                <a:latin typeface="DM Sans"/>
                <a:ea typeface="DM Sans"/>
                <a:cs typeface="DM Sans"/>
                <a:sym typeface="DM Sans"/>
              </a:rPr>
              <a:t> de Javascript para construir </a:t>
            </a:r>
            <a:r>
              <a:rPr lang="es" sz="1350" b="1">
                <a:solidFill>
                  <a:srgbClr val="83AEFB"/>
                </a:solidFill>
                <a:latin typeface="DM Sans"/>
                <a:ea typeface="DM Sans"/>
                <a:cs typeface="DM Sans"/>
                <a:sym typeface="DM Sans"/>
              </a:rPr>
              <a:t>interfaces de usuario</a:t>
            </a:r>
            <a:r>
              <a:rPr lang="es" sz="1350">
                <a:latin typeface="DM Sans"/>
                <a:ea typeface="DM Sans"/>
                <a:cs typeface="DM Sans"/>
                <a:sym typeface="DM Sans"/>
              </a:rPr>
              <a:t>. Las interfaces son el espacio que tiene el usuario para interactuar con la aplicación.</a:t>
            </a:r>
            <a:endParaRPr sz="1350">
              <a:latin typeface="DM Sans"/>
              <a:ea typeface="DM Sans"/>
              <a:cs typeface="DM Sans"/>
              <a:sym typeface="DM Sans"/>
            </a:endParaRPr>
          </a:p>
          <a:p>
            <a:pPr marL="0" lvl="0" indent="0" algn="l" rtl="0">
              <a:spcBef>
                <a:spcPts val="1000"/>
              </a:spcBef>
              <a:spcAft>
                <a:spcPts val="0"/>
              </a:spcAft>
              <a:buNone/>
            </a:pPr>
            <a:r>
              <a:rPr lang="es" sz="1350">
                <a:latin typeface="DM Sans"/>
                <a:ea typeface="DM Sans"/>
                <a:cs typeface="DM Sans"/>
                <a:sym typeface="DM Sans"/>
              </a:rPr>
              <a:t>React se enfoca en la creación y gestión de la lógica interna de la interfaz de usuario. </a:t>
            </a:r>
            <a:endParaRPr sz="1350">
              <a:latin typeface="DM Sans"/>
              <a:ea typeface="DM Sans"/>
              <a:cs typeface="DM Sans"/>
              <a:sym typeface="DM Sans"/>
            </a:endParaRPr>
          </a:p>
          <a:p>
            <a:pPr marL="0" lvl="0" indent="0" algn="l" rtl="0">
              <a:spcBef>
                <a:spcPts val="1000"/>
              </a:spcBef>
              <a:spcAft>
                <a:spcPts val="0"/>
              </a:spcAft>
              <a:buNone/>
            </a:pPr>
            <a:r>
              <a:rPr lang="es" sz="1350">
                <a:latin typeface="DM Sans"/>
                <a:ea typeface="DM Sans"/>
                <a:cs typeface="DM Sans"/>
                <a:sym typeface="DM Sans"/>
              </a:rPr>
              <a:t>React Js nos permite crear aplicaciones web, aplicaciones móviles y aplicaciones de escritorio interactivas y reactivas, estructurando la interfaz a través de componentes modulares y reutilizables. </a:t>
            </a:r>
            <a:endParaRPr sz="1350">
              <a:latin typeface="DM Sans"/>
              <a:ea typeface="DM Sans"/>
              <a:cs typeface="DM Sans"/>
              <a:sym typeface="DM Sans"/>
            </a:endParaRPr>
          </a:p>
          <a:p>
            <a:pPr marL="0" lvl="0" indent="0" algn="l" rtl="0">
              <a:spcBef>
                <a:spcPts val="1000"/>
              </a:spcBef>
              <a:spcAft>
                <a:spcPts val="0"/>
              </a:spcAft>
              <a:buNone/>
            </a:pPr>
            <a:endParaRPr sz="1350">
              <a:latin typeface="DM Sans"/>
              <a:ea typeface="DM Sans"/>
              <a:cs typeface="DM Sans"/>
              <a:sym typeface="DM Sans"/>
            </a:endParaRPr>
          </a:p>
          <a:p>
            <a:pPr marL="0" lvl="0" indent="0" algn="l" rtl="0">
              <a:spcBef>
                <a:spcPts val="1000"/>
              </a:spcBef>
              <a:spcAft>
                <a:spcPts val="1000"/>
              </a:spcAft>
              <a:buNone/>
            </a:pPr>
            <a:r>
              <a:rPr lang="es" sz="1350" b="1">
                <a:latin typeface="DM Sans"/>
                <a:ea typeface="DM Sans"/>
                <a:cs typeface="DM Sans"/>
                <a:sym typeface="DM Sans"/>
              </a:rPr>
              <a:t>En este curso veremos interfaces de usuario para aplicaciones web.</a:t>
            </a:r>
            <a:r>
              <a:rPr lang="es" sz="1350">
                <a:latin typeface="DM Sans"/>
                <a:ea typeface="DM Sans"/>
                <a:cs typeface="DM Sans"/>
                <a:sym typeface="DM Sans"/>
              </a:rPr>
              <a:t> 😎</a:t>
            </a:r>
            <a:endParaRPr sz="1350">
              <a:latin typeface="DM Sans"/>
              <a:ea typeface="DM Sans"/>
              <a:cs typeface="DM Sans"/>
              <a:sym typeface="DM Sans"/>
            </a:endParaRPr>
          </a:p>
        </p:txBody>
      </p:sp>
      <p:sp>
        <p:nvSpPr>
          <p:cNvPr id="244" name="Google Shape;244;p45"/>
          <p:cNvSpPr txBox="1"/>
          <p:nvPr/>
        </p:nvSpPr>
        <p:spPr>
          <a:xfrm>
            <a:off x="526800" y="406125"/>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React Js</a:t>
            </a:r>
            <a:endParaRPr sz="4000" b="1">
              <a:solidFill>
                <a:schemeClr val="dk1"/>
              </a:solidFill>
              <a:latin typeface="DM Sans"/>
              <a:ea typeface="DM Sans"/>
              <a:cs typeface="DM Sans"/>
              <a:sym typeface="DM Sans"/>
            </a:endParaRPr>
          </a:p>
        </p:txBody>
      </p:sp>
      <p:pic>
        <p:nvPicPr>
          <p:cNvPr id="245" name="Google Shape;245;p45"/>
          <p:cNvPicPr preferRelativeResize="0"/>
          <p:nvPr/>
        </p:nvPicPr>
        <p:blipFill>
          <a:blip r:embed="rId3">
            <a:alphaModFix/>
          </a:blip>
          <a:stretch>
            <a:fillRect/>
          </a:stretch>
        </p:blipFill>
        <p:spPr>
          <a:xfrm>
            <a:off x="6813375" y="229250"/>
            <a:ext cx="2133726" cy="1854574"/>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6"/>
          <p:cNvSpPr txBox="1"/>
          <p:nvPr/>
        </p:nvSpPr>
        <p:spPr>
          <a:xfrm>
            <a:off x="533925" y="1387000"/>
            <a:ext cx="5155800" cy="2904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React.Js es, en inglés, una </a:t>
            </a:r>
            <a:r>
              <a:rPr lang="es" sz="1350" b="1">
                <a:solidFill>
                  <a:srgbClr val="83AEFB"/>
                </a:solidFill>
                <a:latin typeface="DM Sans"/>
                <a:ea typeface="DM Sans"/>
                <a:cs typeface="DM Sans"/>
                <a:sym typeface="DM Sans"/>
              </a:rPr>
              <a:t>library</a:t>
            </a:r>
            <a:r>
              <a:rPr lang="es" sz="1350">
                <a:solidFill>
                  <a:schemeClr val="dk1"/>
                </a:solidFill>
                <a:latin typeface="DM Sans"/>
                <a:ea typeface="DM Sans"/>
                <a:cs typeface="DM Sans"/>
                <a:sym typeface="DM Sans"/>
              </a:rPr>
              <a:t>. Es muy habitual encontrar la polémica traducción al español: </a:t>
            </a:r>
            <a:r>
              <a:rPr lang="es" sz="1350" b="1">
                <a:solidFill>
                  <a:srgbClr val="83AEFB"/>
                </a:solidFill>
                <a:highlight>
                  <a:schemeClr val="lt1"/>
                </a:highlight>
                <a:latin typeface="DM Sans"/>
                <a:ea typeface="DM Sans"/>
                <a:cs typeface="DM Sans"/>
                <a:sym typeface="DM Sans"/>
              </a:rPr>
              <a:t>librería</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Pero la traducción correcta es </a:t>
            </a:r>
            <a:r>
              <a:rPr lang="es" sz="1350" b="1">
                <a:solidFill>
                  <a:srgbClr val="83AEFB"/>
                </a:solidFill>
                <a:latin typeface="DM Sans"/>
                <a:ea typeface="DM Sans"/>
                <a:cs typeface="DM Sans"/>
                <a:sym typeface="DM Sans"/>
              </a:rPr>
              <a:t>biblioteca</a:t>
            </a:r>
            <a:r>
              <a:rPr lang="es" sz="1350">
                <a:solidFill>
                  <a:schemeClr val="dk1"/>
                </a:solidFill>
                <a:latin typeface="DM Sans"/>
                <a:ea typeface="DM Sans"/>
                <a:cs typeface="DM Sans"/>
                <a:sym typeface="DM Sans"/>
              </a:rPr>
              <a:t>. Es una biblioteca de recursos y archivos.</a:t>
            </a:r>
            <a:endParaRPr sz="1350">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r>
              <a:rPr lang="es" sz="1350" b="1">
                <a:solidFill>
                  <a:schemeClr val="dk1"/>
                </a:solidFill>
                <a:latin typeface="DM Sans"/>
                <a:ea typeface="DM Sans"/>
                <a:cs typeface="DM Sans"/>
                <a:sym typeface="DM Sans"/>
              </a:rPr>
              <a:t>No es un framework</a:t>
            </a:r>
            <a:endParaRPr sz="1350" b="1">
              <a:solidFill>
                <a:schemeClr val="dk1"/>
              </a:solidFill>
              <a:latin typeface="DM Sans"/>
              <a:ea typeface="DM Sans"/>
              <a:cs typeface="DM Sans"/>
              <a:sym typeface="DM Sans"/>
            </a:endParaRPr>
          </a:p>
          <a:p>
            <a:pPr marL="0" lvl="0" indent="0" algn="l" rtl="0">
              <a:spcBef>
                <a:spcPts val="1000"/>
              </a:spcBef>
              <a:spcAft>
                <a:spcPts val="0"/>
              </a:spcAft>
              <a:buClr>
                <a:schemeClr val="dk1"/>
              </a:buClr>
              <a:buSzPts val="1100"/>
              <a:buFont typeface="Arial"/>
              <a:buNone/>
            </a:pPr>
            <a:r>
              <a:rPr lang="es" sz="1350">
                <a:solidFill>
                  <a:schemeClr val="dk1"/>
                </a:solidFill>
                <a:latin typeface="DM Sans"/>
                <a:ea typeface="DM Sans"/>
                <a:cs typeface="DM Sans"/>
                <a:sym typeface="DM Sans"/>
              </a:rPr>
              <a:t>Un framework como, por ejemplo, Angular, es una solución que nos brinda todas las herramientas para resolver un problema.</a:t>
            </a:r>
            <a:endParaRPr sz="1350">
              <a:solidFill>
                <a:schemeClr val="dk1"/>
              </a:solidFill>
              <a:latin typeface="DM Sans"/>
              <a:ea typeface="DM Sans"/>
              <a:cs typeface="DM Sans"/>
              <a:sym typeface="DM Sans"/>
            </a:endParaRPr>
          </a:p>
          <a:p>
            <a:pPr marL="0" lvl="0" indent="0" algn="l" rtl="0">
              <a:spcBef>
                <a:spcPts val="1000"/>
              </a:spcBef>
              <a:spcAft>
                <a:spcPts val="1000"/>
              </a:spcAft>
              <a:buClr>
                <a:schemeClr val="dk1"/>
              </a:buClr>
              <a:buSzPts val="1100"/>
              <a:buFont typeface="Arial"/>
              <a:buNone/>
            </a:pPr>
            <a:r>
              <a:rPr lang="es" sz="1350">
                <a:solidFill>
                  <a:schemeClr val="dk1"/>
                </a:solidFill>
                <a:latin typeface="DM Sans"/>
                <a:ea typeface="DM Sans"/>
                <a:cs typeface="DM Sans"/>
                <a:sym typeface="DM Sans"/>
              </a:rPr>
              <a:t>Una biblioteca en cambio trabaja en conjunto con otras herramientas lo que permite más flexibilidad.</a:t>
            </a:r>
            <a:endParaRPr sz="1350">
              <a:solidFill>
                <a:schemeClr val="dk1"/>
              </a:solidFill>
              <a:latin typeface="DM Sans"/>
              <a:ea typeface="DM Sans"/>
              <a:cs typeface="DM Sans"/>
              <a:sym typeface="DM Sans"/>
            </a:endParaRPr>
          </a:p>
        </p:txBody>
      </p:sp>
      <p:sp>
        <p:nvSpPr>
          <p:cNvPr id="251" name="Google Shape;251;p46"/>
          <p:cNvSpPr txBox="1"/>
          <p:nvPr/>
        </p:nvSpPr>
        <p:spPr>
          <a:xfrm>
            <a:off x="533925" y="391825"/>
            <a:ext cx="5953800" cy="711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800" b="1">
                <a:solidFill>
                  <a:schemeClr val="dk1"/>
                </a:solidFill>
                <a:latin typeface="DM Sans"/>
                <a:ea typeface="DM Sans"/>
                <a:cs typeface="DM Sans"/>
                <a:sym typeface="DM Sans"/>
              </a:rPr>
              <a:t>React es una biblioteca</a:t>
            </a:r>
            <a:endParaRPr sz="3800" b="1">
              <a:solidFill>
                <a:schemeClr val="dk1"/>
              </a:solidFill>
              <a:latin typeface="DM Sans"/>
              <a:ea typeface="DM Sans"/>
              <a:cs typeface="DM Sans"/>
              <a:sym typeface="DM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47"/>
          <p:cNvSpPr txBox="1"/>
          <p:nvPr/>
        </p:nvSpPr>
        <p:spPr>
          <a:xfrm>
            <a:off x="1461300" y="1925250"/>
            <a:ext cx="6221400" cy="1293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Basado en componentes</a:t>
            </a:r>
            <a:endParaRPr sz="4000" b="1">
              <a:solidFill>
                <a:schemeClr val="dk1"/>
              </a:solidFill>
              <a:latin typeface="DM Sans"/>
              <a:ea typeface="DM Sans"/>
              <a:cs typeface="DM Sans"/>
              <a:sym typeface="DM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1" name="Google Shape;261;p48"/>
          <p:cNvSpPr txBox="1"/>
          <p:nvPr/>
        </p:nvSpPr>
        <p:spPr>
          <a:xfrm>
            <a:off x="569875" y="1700675"/>
            <a:ext cx="5536500" cy="256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Las </a:t>
            </a:r>
            <a:r>
              <a:rPr lang="es" sz="1350" b="1">
                <a:solidFill>
                  <a:srgbClr val="83AEFB"/>
                </a:solidFill>
                <a:latin typeface="DM Sans"/>
                <a:ea typeface="DM Sans"/>
                <a:cs typeface="DM Sans"/>
                <a:sym typeface="DM Sans"/>
              </a:rPr>
              <a:t>interfaces de usuario (UI)</a:t>
            </a:r>
            <a:r>
              <a:rPr lang="es" sz="1350">
                <a:solidFill>
                  <a:schemeClr val="dk1"/>
                </a:solidFill>
                <a:latin typeface="DM Sans"/>
                <a:ea typeface="DM Sans"/>
                <a:cs typeface="DM Sans"/>
                <a:sym typeface="DM Sans"/>
              </a:rPr>
              <a:t> que crearemos están basadas en componentes. </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0"/>
              </a:spcAft>
              <a:buNone/>
            </a:pPr>
            <a:r>
              <a:rPr lang="es" sz="1350" b="1">
                <a:solidFill>
                  <a:schemeClr val="dk1"/>
                </a:solidFill>
                <a:latin typeface="DM Sans"/>
                <a:ea typeface="DM Sans"/>
                <a:cs typeface="DM Sans"/>
                <a:sym typeface="DM Sans"/>
              </a:rPr>
              <a:t>Un componente, hoy en día es una </a:t>
            </a:r>
            <a:r>
              <a:rPr lang="es" sz="1350" b="1">
                <a:solidFill>
                  <a:schemeClr val="accent5"/>
                </a:solidFill>
                <a:latin typeface="DM Sans"/>
                <a:ea typeface="DM Sans"/>
                <a:cs typeface="DM Sans"/>
                <a:sym typeface="DM Sans"/>
              </a:rPr>
              <a:t>función</a:t>
            </a:r>
            <a:r>
              <a:rPr lang="es" sz="1350" b="1">
                <a:solidFill>
                  <a:schemeClr val="dk1"/>
                </a:solidFill>
                <a:latin typeface="DM Sans"/>
                <a:ea typeface="DM Sans"/>
                <a:cs typeface="DM Sans"/>
                <a:sym typeface="DM Sans"/>
              </a:rPr>
              <a:t> que renderiza (muestra) un elemento en la interfaz de usuario</a:t>
            </a:r>
            <a:r>
              <a:rPr lang="es" sz="1350">
                <a:solidFill>
                  <a:schemeClr val="dk1"/>
                </a:solidFill>
                <a:latin typeface="DM Sans"/>
                <a:ea typeface="DM Sans"/>
                <a:cs typeface="DM Sans"/>
                <a:sym typeface="DM Sans"/>
              </a:rPr>
              <a:t>. Por ejemplo, </a:t>
            </a:r>
            <a:r>
              <a:rPr lang="es" sz="1350" b="1">
                <a:solidFill>
                  <a:srgbClr val="83AEFB"/>
                </a:solidFill>
                <a:latin typeface="DM Sans"/>
                <a:ea typeface="DM Sans"/>
                <a:cs typeface="DM Sans"/>
                <a:sym typeface="DM Sans"/>
              </a:rPr>
              <a:t>un botón</a:t>
            </a:r>
            <a:r>
              <a:rPr lang="es" sz="1350">
                <a:solidFill>
                  <a:schemeClr val="dk1"/>
                </a:solidFill>
                <a:latin typeface="DM Sans"/>
                <a:ea typeface="DM Sans"/>
                <a:cs typeface="DM Sans"/>
                <a:sym typeface="DM Sans"/>
              </a:rPr>
              <a:t>.</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1000"/>
              </a:spcAft>
              <a:buNone/>
            </a:pPr>
            <a:r>
              <a:rPr lang="es" sz="1350">
                <a:solidFill>
                  <a:schemeClr val="dk1"/>
                </a:solidFill>
                <a:latin typeface="DM Sans"/>
                <a:ea typeface="DM Sans"/>
                <a:cs typeface="DM Sans"/>
                <a:sym typeface="DM Sans"/>
              </a:rPr>
              <a:t>Además, puedo tener componentes compuestos por otros componentes. Esto quiere decir que la UI está compuesta por componentes padres/madres y componentes hijos permitiendo un desarrollo jerárquico, modular y la reutilización de código. </a:t>
            </a:r>
            <a:endParaRPr sz="1350">
              <a:solidFill>
                <a:schemeClr val="dk1"/>
              </a:solidFill>
              <a:latin typeface="DM Sans"/>
              <a:ea typeface="DM Sans"/>
              <a:cs typeface="DM Sans"/>
              <a:sym typeface="DM Sans"/>
            </a:endParaRPr>
          </a:p>
        </p:txBody>
      </p:sp>
      <p:sp>
        <p:nvSpPr>
          <p:cNvPr id="262" name="Google Shape;262;p48"/>
          <p:cNvSpPr txBox="1"/>
          <p:nvPr/>
        </p:nvSpPr>
        <p:spPr>
          <a:xfrm>
            <a:off x="526800" y="863325"/>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Componentes</a:t>
            </a:r>
            <a:endParaRPr sz="4000" b="1">
              <a:solidFill>
                <a:schemeClr val="dk1"/>
              </a:solidFill>
              <a:latin typeface="DM Sans"/>
              <a:ea typeface="DM Sans"/>
              <a:cs typeface="DM Sans"/>
              <a:sym typeface="DM Sans"/>
            </a:endParaRPr>
          </a:p>
        </p:txBody>
      </p:sp>
      <p:pic>
        <p:nvPicPr>
          <p:cNvPr id="263" name="Google Shape;263;p48"/>
          <p:cNvPicPr preferRelativeResize="0"/>
          <p:nvPr/>
        </p:nvPicPr>
        <p:blipFill>
          <a:blip r:embed="rId3">
            <a:alphaModFix/>
          </a:blip>
          <a:stretch>
            <a:fillRect/>
          </a:stretch>
        </p:blipFill>
        <p:spPr>
          <a:xfrm>
            <a:off x="6898775" y="1582050"/>
            <a:ext cx="1953726" cy="1698124"/>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49"/>
          <p:cNvSpPr txBox="1"/>
          <p:nvPr/>
        </p:nvSpPr>
        <p:spPr>
          <a:xfrm>
            <a:off x="569875" y="1700675"/>
            <a:ext cx="5536500" cy="1954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solidFill>
                  <a:schemeClr val="dk1"/>
                </a:solidFill>
                <a:latin typeface="DM Sans"/>
                <a:ea typeface="DM Sans"/>
                <a:cs typeface="DM Sans"/>
                <a:sym typeface="DM Sans"/>
              </a:rPr>
              <a:t>Al dividir la interfaz en pequeños módulos independientes llamados componentes, los desarrolladores pueden trabajar en diferentes partes de la aplicación simultáneamente, facilitando el trabajo en equipo. </a:t>
            </a:r>
            <a:endParaRPr sz="1350">
              <a:solidFill>
                <a:schemeClr val="dk1"/>
              </a:solidFill>
              <a:latin typeface="DM Sans"/>
              <a:ea typeface="DM Sans"/>
              <a:cs typeface="DM Sans"/>
              <a:sym typeface="DM Sans"/>
            </a:endParaRPr>
          </a:p>
          <a:p>
            <a:pPr marL="0" lvl="0" indent="0" algn="l" rtl="0">
              <a:lnSpc>
                <a:spcPct val="115000"/>
              </a:lnSpc>
              <a:spcBef>
                <a:spcPts val="1000"/>
              </a:spcBef>
              <a:spcAft>
                <a:spcPts val="1000"/>
              </a:spcAft>
              <a:buNone/>
            </a:pPr>
            <a:r>
              <a:rPr lang="es" sz="1350">
                <a:solidFill>
                  <a:schemeClr val="dk1"/>
                </a:solidFill>
                <a:latin typeface="DM Sans"/>
                <a:ea typeface="DM Sans"/>
                <a:cs typeface="DM Sans"/>
                <a:sym typeface="DM Sans"/>
              </a:rPr>
              <a:t>Además, los componentes pueden ser reutilizados en distintos lugares de la aplicación o incluso en otros proyectos, ahorrando tiempo y esfuerzo.</a:t>
            </a:r>
            <a:endParaRPr sz="1350">
              <a:solidFill>
                <a:schemeClr val="dk1"/>
              </a:solidFill>
              <a:latin typeface="DM Sans"/>
              <a:ea typeface="DM Sans"/>
              <a:cs typeface="DM Sans"/>
              <a:sym typeface="DM Sans"/>
            </a:endParaRPr>
          </a:p>
        </p:txBody>
      </p:sp>
      <p:sp>
        <p:nvSpPr>
          <p:cNvPr id="269" name="Google Shape;269;p49"/>
          <p:cNvSpPr txBox="1"/>
          <p:nvPr/>
        </p:nvSpPr>
        <p:spPr>
          <a:xfrm>
            <a:off x="526800" y="863325"/>
            <a:ext cx="4730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Modularidad</a:t>
            </a:r>
            <a:endParaRPr sz="4000" b="1">
              <a:solidFill>
                <a:schemeClr val="dk1"/>
              </a:solidFill>
              <a:latin typeface="DM Sans"/>
              <a:ea typeface="DM Sans"/>
              <a:cs typeface="DM Sans"/>
              <a:sym typeface="DM Sans"/>
            </a:endParaRPr>
          </a:p>
        </p:txBody>
      </p:sp>
      <p:pic>
        <p:nvPicPr>
          <p:cNvPr id="270" name="Google Shape;270;p49"/>
          <p:cNvPicPr preferRelativeResize="0"/>
          <p:nvPr/>
        </p:nvPicPr>
        <p:blipFill>
          <a:blip r:embed="rId3">
            <a:alphaModFix/>
          </a:blip>
          <a:stretch>
            <a:fillRect/>
          </a:stretch>
        </p:blipFill>
        <p:spPr>
          <a:xfrm>
            <a:off x="6898775" y="1582050"/>
            <a:ext cx="1953726" cy="1698124"/>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0"/>
          <p:cNvSpPr txBox="1"/>
          <p:nvPr/>
        </p:nvSpPr>
        <p:spPr>
          <a:xfrm>
            <a:off x="1445150" y="688825"/>
            <a:ext cx="7169400" cy="6696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3500" b="1">
                <a:solidFill>
                  <a:srgbClr val="EAFF6A"/>
                </a:solidFill>
                <a:latin typeface="DM Sans"/>
                <a:ea typeface="DM Sans"/>
                <a:cs typeface="DM Sans"/>
                <a:sym typeface="DM Sans"/>
              </a:rPr>
              <a:t>Ejemplo en vivo</a:t>
            </a:r>
            <a:endParaRPr sz="3500" b="1">
              <a:solidFill>
                <a:srgbClr val="EAFF6A"/>
              </a:solidFill>
              <a:latin typeface="DM Sans"/>
              <a:ea typeface="DM Sans"/>
              <a:cs typeface="DM Sans"/>
              <a:sym typeface="DM Sans"/>
            </a:endParaRPr>
          </a:p>
        </p:txBody>
      </p:sp>
      <p:sp>
        <p:nvSpPr>
          <p:cNvPr id="276" name="Google Shape;276;p50"/>
          <p:cNvSpPr txBox="1"/>
          <p:nvPr/>
        </p:nvSpPr>
        <p:spPr>
          <a:xfrm>
            <a:off x="473350" y="1626100"/>
            <a:ext cx="7169400" cy="2270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2500">
              <a:solidFill>
                <a:srgbClr val="B7B7B7"/>
              </a:solidFill>
              <a:latin typeface="DM Sans"/>
              <a:ea typeface="DM Sans"/>
              <a:cs typeface="DM Sans"/>
              <a:sym typeface="DM Sans"/>
            </a:endParaRPr>
          </a:p>
          <a:p>
            <a:pPr marL="0" lvl="0" indent="0" algn="l" rtl="0">
              <a:lnSpc>
                <a:spcPct val="150000"/>
              </a:lnSpc>
              <a:spcBef>
                <a:spcPts val="0"/>
              </a:spcBef>
              <a:spcAft>
                <a:spcPts val="0"/>
              </a:spcAft>
              <a:buNone/>
            </a:pPr>
            <a:r>
              <a:rPr lang="es" sz="1900">
                <a:solidFill>
                  <a:schemeClr val="lt1"/>
                </a:solidFill>
                <a:latin typeface="DM Sans"/>
                <a:ea typeface="DM Sans"/>
                <a:cs typeface="DM Sans"/>
                <a:sym typeface="DM Sans"/>
              </a:rPr>
              <a:t>Creación de componente con HTML.</a:t>
            </a:r>
            <a:endParaRPr sz="1900">
              <a:solidFill>
                <a:schemeClr val="lt1"/>
              </a:solidFill>
              <a:latin typeface="DM Sans"/>
              <a:ea typeface="DM Sans"/>
              <a:cs typeface="DM Sans"/>
              <a:sym typeface="DM Sans"/>
            </a:endParaRPr>
          </a:p>
          <a:p>
            <a:pPr marL="0" lvl="0" indent="0" algn="l" rtl="0">
              <a:lnSpc>
                <a:spcPct val="150000"/>
              </a:lnSpc>
              <a:spcBef>
                <a:spcPts val="0"/>
              </a:spcBef>
              <a:spcAft>
                <a:spcPts val="0"/>
              </a:spcAft>
              <a:buNone/>
            </a:pPr>
            <a:r>
              <a:rPr lang="es" sz="1900">
                <a:solidFill>
                  <a:schemeClr val="lt1"/>
                </a:solidFill>
                <a:latin typeface="DM Sans"/>
                <a:ea typeface="DM Sans"/>
                <a:cs typeface="DM Sans"/>
                <a:sym typeface="DM Sans"/>
              </a:rPr>
              <a:t>Creación de componente con Vanilla JavaScript.</a:t>
            </a:r>
            <a:endParaRPr sz="1900">
              <a:solidFill>
                <a:schemeClr val="lt1"/>
              </a:solidFill>
              <a:latin typeface="DM Sans"/>
              <a:ea typeface="DM Sans"/>
              <a:cs typeface="DM Sans"/>
              <a:sym typeface="DM Sans"/>
            </a:endParaRPr>
          </a:p>
          <a:p>
            <a:pPr marL="0" lvl="0" indent="0" algn="l" rtl="0">
              <a:lnSpc>
                <a:spcPct val="150000"/>
              </a:lnSpc>
              <a:spcBef>
                <a:spcPts val="0"/>
              </a:spcBef>
              <a:spcAft>
                <a:spcPts val="0"/>
              </a:spcAft>
              <a:buClr>
                <a:schemeClr val="dk1"/>
              </a:buClr>
              <a:buSzPts val="1100"/>
              <a:buFont typeface="Arial"/>
              <a:buNone/>
            </a:pPr>
            <a:r>
              <a:rPr lang="es" sz="1900">
                <a:solidFill>
                  <a:schemeClr val="lt1"/>
                </a:solidFill>
                <a:latin typeface="DM Sans"/>
                <a:ea typeface="DM Sans"/>
                <a:cs typeface="DM Sans"/>
                <a:sym typeface="DM Sans"/>
              </a:rPr>
              <a:t>Creación de componente con React en su forma más pura.</a:t>
            </a:r>
            <a:endParaRPr sz="1900">
              <a:solidFill>
                <a:schemeClr val="lt1"/>
              </a:solidFill>
              <a:latin typeface="DM Sans"/>
              <a:ea typeface="DM Sans"/>
              <a:cs typeface="DM Sans"/>
              <a:sym typeface="DM Sans"/>
            </a:endParaRPr>
          </a:p>
          <a:p>
            <a:pPr marL="0" lvl="0" indent="0" algn="l" rtl="0">
              <a:lnSpc>
                <a:spcPct val="150000"/>
              </a:lnSpc>
              <a:spcBef>
                <a:spcPts val="0"/>
              </a:spcBef>
              <a:spcAft>
                <a:spcPts val="0"/>
              </a:spcAft>
              <a:buNone/>
            </a:pPr>
            <a:endParaRPr sz="2500" b="1">
              <a:solidFill>
                <a:srgbClr val="B7B7B7"/>
              </a:solidFill>
              <a:latin typeface="Helvetica Neue"/>
              <a:ea typeface="Helvetica Neue"/>
              <a:cs typeface="Helvetica Neue"/>
              <a:sym typeface="Helvetica Neue"/>
            </a:endParaRPr>
          </a:p>
        </p:txBody>
      </p:sp>
      <p:grpSp>
        <p:nvGrpSpPr>
          <p:cNvPr id="277" name="Google Shape;277;p50"/>
          <p:cNvGrpSpPr/>
          <p:nvPr/>
        </p:nvGrpSpPr>
        <p:grpSpPr>
          <a:xfrm>
            <a:off x="473351" y="619523"/>
            <a:ext cx="738900" cy="738900"/>
            <a:chOff x="473351" y="619523"/>
            <a:chExt cx="738900" cy="738900"/>
          </a:xfrm>
        </p:grpSpPr>
        <p:sp>
          <p:nvSpPr>
            <p:cNvPr id="278" name="Google Shape;278;p50"/>
            <p:cNvSpPr/>
            <p:nvPr/>
          </p:nvSpPr>
          <p:spPr>
            <a:xfrm>
              <a:off x="473351" y="619523"/>
              <a:ext cx="738900" cy="738900"/>
            </a:xfrm>
            <a:prstGeom prst="ellipse">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pic>
          <p:nvPicPr>
            <p:cNvPr id="279" name="Google Shape;279;p50" title="ícono de ejemplo en vivo"/>
            <p:cNvPicPr preferRelativeResize="0"/>
            <p:nvPr/>
          </p:nvPicPr>
          <p:blipFill>
            <a:blip r:embed="rId3">
              <a:alphaModFix/>
            </a:blip>
            <a:stretch>
              <a:fillRect/>
            </a:stretch>
          </p:blipFill>
          <p:spPr>
            <a:xfrm>
              <a:off x="616475" y="762650"/>
              <a:ext cx="452650" cy="452650"/>
            </a:xfrm>
            <a:prstGeom prst="rect">
              <a:avLst/>
            </a:prstGeom>
            <a:noFill/>
            <a:ln>
              <a:noFill/>
            </a:ln>
          </p:spPr>
        </p:pic>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283"/>
        <p:cNvGrpSpPr/>
        <p:nvPr/>
      </p:nvGrpSpPr>
      <p:grpSpPr>
        <a:xfrm>
          <a:off x="0" y="0"/>
          <a:ext cx="0" cy="0"/>
          <a:chOff x="0" y="0"/>
          <a:chExt cx="0" cy="0"/>
        </a:xfrm>
      </p:grpSpPr>
      <p:sp>
        <p:nvSpPr>
          <p:cNvPr id="284" name="Google Shape;284;p51"/>
          <p:cNvSpPr txBox="1"/>
          <p:nvPr/>
        </p:nvSpPr>
        <p:spPr>
          <a:xfrm>
            <a:off x="465275" y="468275"/>
            <a:ext cx="3003900" cy="431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600">
                <a:solidFill>
                  <a:schemeClr val="dk1"/>
                </a:solidFill>
                <a:latin typeface="DM Sans"/>
                <a:ea typeface="DM Sans"/>
                <a:cs typeface="DM Sans"/>
                <a:sym typeface="DM Sans"/>
              </a:rPr>
              <a:t>CLASE N°1 - PRIMERA HORA</a:t>
            </a:r>
            <a:endParaRPr>
              <a:latin typeface="DM Sans"/>
              <a:ea typeface="DM Sans"/>
              <a:cs typeface="DM Sans"/>
              <a:sym typeface="DM Sans"/>
            </a:endParaRPr>
          </a:p>
        </p:txBody>
      </p:sp>
      <p:sp>
        <p:nvSpPr>
          <p:cNvPr id="285" name="Google Shape;285;p51"/>
          <p:cNvSpPr txBox="1"/>
          <p:nvPr/>
        </p:nvSpPr>
        <p:spPr>
          <a:xfrm>
            <a:off x="465275" y="82227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Glosario</a:t>
            </a:r>
            <a:endParaRPr sz="4000" b="1">
              <a:solidFill>
                <a:schemeClr val="dk1"/>
              </a:solidFill>
              <a:latin typeface="DM Sans"/>
              <a:ea typeface="DM Sans"/>
              <a:cs typeface="DM Sans"/>
              <a:sym typeface="DM Sans"/>
            </a:endParaRPr>
          </a:p>
        </p:txBody>
      </p:sp>
      <p:sp>
        <p:nvSpPr>
          <p:cNvPr id="286" name="Google Shape;286;p51"/>
          <p:cNvSpPr txBox="1"/>
          <p:nvPr/>
        </p:nvSpPr>
        <p:spPr>
          <a:xfrm>
            <a:off x="465275" y="1559850"/>
            <a:ext cx="3834600" cy="31917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React JS</a:t>
            </a:r>
            <a:r>
              <a:rPr lang="es" sz="1250" b="1">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una biblioteca de Javascript para construir interfaces de usuario.</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Interfaz de usuario: </a:t>
            </a:r>
            <a:r>
              <a:rPr lang="es" sz="1350">
                <a:solidFill>
                  <a:schemeClr val="dk1"/>
                </a:solidFill>
                <a:latin typeface="DM Sans"/>
                <a:ea typeface="DM Sans"/>
                <a:cs typeface="DM Sans"/>
                <a:sym typeface="DM Sans"/>
              </a:rPr>
              <a:t>Las interfaces de usuario son el espacio que tiene el usuario para interactuar con la aplicación.</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chemeClr val="accent6"/>
                </a:highlight>
                <a:latin typeface="DM Sans"/>
                <a:ea typeface="DM Sans"/>
                <a:cs typeface="DM Sans"/>
                <a:sym typeface="DM Sans"/>
              </a:rPr>
              <a:t>Componente:</a:t>
            </a:r>
            <a:r>
              <a:rPr lang="es" sz="1350">
                <a:solidFill>
                  <a:schemeClr val="dk1"/>
                </a:solidFill>
                <a:latin typeface="DM Sans"/>
                <a:ea typeface="DM Sans"/>
                <a:cs typeface="DM Sans"/>
                <a:sym typeface="DM Sans"/>
              </a:rPr>
              <a:t> Son funciones a través de la cual se construye la interfaz de usuario. Tienen como objetivo </a:t>
            </a:r>
            <a:r>
              <a:rPr lang="es" sz="1350" b="1">
                <a:solidFill>
                  <a:schemeClr val="dk1"/>
                </a:solidFill>
                <a:latin typeface="DM Sans"/>
                <a:ea typeface="DM Sans"/>
                <a:cs typeface="DM Sans"/>
                <a:sym typeface="DM Sans"/>
              </a:rPr>
              <a:t>final </a:t>
            </a:r>
            <a:r>
              <a:rPr lang="es" sz="1350">
                <a:solidFill>
                  <a:schemeClr val="dk1"/>
                </a:solidFill>
                <a:latin typeface="DM Sans"/>
                <a:ea typeface="DM Sans"/>
                <a:cs typeface="DM Sans"/>
                <a:sym typeface="DM Sans"/>
              </a:rPr>
              <a:t>renderizar (representar) algo parecido a HTML.</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
        <p:nvSpPr>
          <p:cNvPr id="287" name="Google Shape;287;p51"/>
          <p:cNvSpPr txBox="1"/>
          <p:nvPr/>
        </p:nvSpPr>
        <p:spPr>
          <a:xfrm>
            <a:off x="4519500" y="1561175"/>
            <a:ext cx="3834600" cy="2811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Biblioteca:</a:t>
            </a:r>
            <a:r>
              <a:rPr lang="es" sz="1250" b="1">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Es una grupo de recursos y archivos que permite trabajar en algún problema. Trabaja en interacción con otras bibliotecas. Es más flexible.</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chemeClr val="accent6"/>
                </a:highlight>
                <a:latin typeface="DM Sans"/>
                <a:ea typeface="DM Sans"/>
                <a:cs typeface="DM Sans"/>
                <a:sym typeface="DM Sans"/>
              </a:rPr>
              <a:t>Framework:</a:t>
            </a:r>
            <a:r>
              <a:rPr lang="es" sz="1250" b="1">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Es un marco que nos brinda todas las herramientas para resolver un problema.</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250">
                <a:solidFill>
                  <a:schemeClr val="dk1"/>
                </a:solidFill>
                <a:latin typeface="DM Sans"/>
                <a:ea typeface="DM Sans"/>
                <a:cs typeface="DM Sans"/>
                <a:sym typeface="DM Sans"/>
              </a:rPr>
              <a:t>Ej: Angular. Es rígido y a veces excesivo.</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52"/>
          <p:cNvSpPr txBox="1"/>
          <p:nvPr/>
        </p:nvSpPr>
        <p:spPr>
          <a:xfrm>
            <a:off x="465275" y="468275"/>
            <a:ext cx="2952300" cy="677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600">
                <a:solidFill>
                  <a:schemeClr val="dk1"/>
                </a:solidFill>
                <a:latin typeface="DM Sans"/>
                <a:ea typeface="DM Sans"/>
                <a:cs typeface="DM Sans"/>
                <a:sym typeface="DM Sans"/>
              </a:rPr>
              <a:t>CLASE N°1 - PRIMERA HORA</a:t>
            </a:r>
            <a:endParaRPr>
              <a:solidFill>
                <a:schemeClr val="dk1"/>
              </a:solidFill>
              <a:latin typeface="DM Sans"/>
              <a:ea typeface="DM Sans"/>
              <a:cs typeface="DM Sans"/>
              <a:sym typeface="DM Sans"/>
            </a:endParaRPr>
          </a:p>
          <a:p>
            <a:pPr marL="0" lvl="0" indent="0" algn="l" rtl="0">
              <a:spcBef>
                <a:spcPts val="0"/>
              </a:spcBef>
              <a:spcAft>
                <a:spcPts val="0"/>
              </a:spcAft>
              <a:buNone/>
            </a:pPr>
            <a:endParaRPr sz="1600">
              <a:solidFill>
                <a:schemeClr val="dk1"/>
              </a:solidFill>
              <a:latin typeface="DM Sans"/>
              <a:ea typeface="DM Sans"/>
              <a:cs typeface="DM Sans"/>
              <a:sym typeface="DM Sans"/>
            </a:endParaRPr>
          </a:p>
        </p:txBody>
      </p:sp>
      <p:sp>
        <p:nvSpPr>
          <p:cNvPr id="293" name="Google Shape;293;p52"/>
          <p:cNvSpPr txBox="1"/>
          <p:nvPr/>
        </p:nvSpPr>
        <p:spPr>
          <a:xfrm>
            <a:off x="465275" y="82227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Glosario</a:t>
            </a:r>
            <a:endParaRPr sz="4000" b="1">
              <a:solidFill>
                <a:schemeClr val="dk1"/>
              </a:solidFill>
              <a:latin typeface="DM Sans"/>
              <a:ea typeface="DM Sans"/>
              <a:cs typeface="DM Sans"/>
              <a:sym typeface="DM Sans"/>
            </a:endParaRPr>
          </a:p>
        </p:txBody>
      </p:sp>
      <p:sp>
        <p:nvSpPr>
          <p:cNvPr id="294" name="Google Shape;294;p52"/>
          <p:cNvSpPr txBox="1"/>
          <p:nvPr/>
        </p:nvSpPr>
        <p:spPr>
          <a:xfrm>
            <a:off x="465275" y="1559850"/>
            <a:ext cx="3834600" cy="327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Código declarativo</a:t>
            </a:r>
            <a:r>
              <a:rPr lang="es" sz="1250" b="1">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 estilo de programación en el que se declaran las intenciones y la lógica detrás de un componente o aplicación. </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chemeClr val="accent6"/>
                </a:highlight>
                <a:latin typeface="DM Sans"/>
                <a:ea typeface="DM Sans"/>
                <a:cs typeface="DM Sans"/>
                <a:sym typeface="DM Sans"/>
              </a:rPr>
              <a:t>Código imperativo</a:t>
            </a:r>
            <a:r>
              <a:rPr lang="es" sz="1250" b="1">
                <a:solidFill>
                  <a:schemeClr val="dk1"/>
                </a:solidFill>
                <a:latin typeface="DM Sans"/>
                <a:ea typeface="DM Sans"/>
                <a:cs typeface="DM Sans"/>
                <a:sym typeface="DM Sans"/>
              </a:rPr>
              <a:t>:</a:t>
            </a:r>
            <a:r>
              <a:rPr lang="es" sz="1250">
                <a:solidFill>
                  <a:schemeClr val="dk1"/>
                </a:solidFill>
                <a:latin typeface="DM Sans"/>
                <a:ea typeface="DM Sans"/>
                <a:cs typeface="DM Sans"/>
                <a:sym typeface="DM Sans"/>
              </a:rPr>
              <a:t> Es un estilo de programación en el que se especifican los pasos detallados que se deben realizar para lograr un resultado específico. Es decir, se enfoca en cómo se logra un resultado. </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
        <p:nvSpPr>
          <p:cNvPr id="295" name="Google Shape;295;p52"/>
          <p:cNvSpPr txBox="1"/>
          <p:nvPr/>
        </p:nvSpPr>
        <p:spPr>
          <a:xfrm>
            <a:off x="4519500" y="1561175"/>
            <a:ext cx="3834600" cy="1483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2000"/>
              <a:buFont typeface="Arial"/>
              <a:buNone/>
            </a:pPr>
            <a:r>
              <a:rPr lang="es" sz="1250" b="1">
                <a:solidFill>
                  <a:schemeClr val="dk1"/>
                </a:solidFill>
                <a:highlight>
                  <a:srgbClr val="EAFF6A"/>
                </a:highlight>
                <a:latin typeface="DM Sans"/>
                <a:ea typeface="DM Sans"/>
                <a:cs typeface="DM Sans"/>
                <a:sym typeface="DM Sans"/>
              </a:rPr>
              <a:t>Expresión:</a:t>
            </a:r>
            <a:r>
              <a:rPr lang="es" sz="1250" b="1">
                <a:solidFill>
                  <a:schemeClr val="dk1"/>
                </a:solidFill>
                <a:latin typeface="DM Sans"/>
                <a:ea typeface="DM Sans"/>
                <a:cs typeface="DM Sans"/>
                <a:sym typeface="DM Sans"/>
              </a:rPr>
              <a:t> </a:t>
            </a:r>
            <a:r>
              <a:rPr lang="es" sz="1250">
                <a:solidFill>
                  <a:schemeClr val="dk1"/>
                </a:solidFill>
                <a:latin typeface="DM Sans"/>
                <a:ea typeface="DM Sans"/>
                <a:cs typeface="DM Sans"/>
                <a:sym typeface="DM Sans"/>
              </a:rPr>
              <a:t>Las expresiones son preguntas que JavaScript puede responder, de la única manera que conoce: con valores. </a:t>
            </a: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2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2000"/>
              <a:buFont typeface="Arial"/>
              <a:buNone/>
            </a:pPr>
            <a:endParaRPr sz="1250">
              <a:solidFill>
                <a:schemeClr val="dk1"/>
              </a:solidFill>
              <a:latin typeface="DM Sans"/>
              <a:ea typeface="DM Sans"/>
              <a:cs typeface="DM Sans"/>
              <a:sym typeface="DM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299"/>
        <p:cNvGrpSpPr/>
        <p:nvPr/>
      </p:nvGrpSpPr>
      <p:grpSpPr>
        <a:xfrm>
          <a:off x="0" y="0"/>
          <a:ext cx="0" cy="0"/>
          <a:chOff x="0" y="0"/>
          <a:chExt cx="0" cy="0"/>
        </a:xfrm>
      </p:grpSpPr>
      <p:sp>
        <p:nvSpPr>
          <p:cNvPr id="300" name="Google Shape;300;p53"/>
          <p:cNvSpPr txBox="1"/>
          <p:nvPr/>
        </p:nvSpPr>
        <p:spPr>
          <a:xfrm>
            <a:off x="1461300" y="2202300"/>
            <a:ext cx="62214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RECAP: DOM</a:t>
            </a:r>
            <a:endParaRPr sz="4000" b="1">
              <a:solidFill>
                <a:schemeClr val="dk1"/>
              </a:solidFill>
              <a:latin typeface="DM Sans"/>
              <a:ea typeface="DM Sans"/>
              <a:cs typeface="DM Sans"/>
              <a:sym typeface="DM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4"/>
          <p:cNvSpPr txBox="1"/>
          <p:nvPr/>
        </p:nvSpPr>
        <p:spPr>
          <a:xfrm>
            <a:off x="473350" y="390925"/>
            <a:ext cx="8141100" cy="114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DOM DEL NAVEGADOR</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650" b="1">
                <a:solidFill>
                  <a:schemeClr val="dk1"/>
                </a:solidFill>
                <a:highlight>
                  <a:schemeClr val="accent4"/>
                </a:highlight>
                <a:latin typeface="DM Sans"/>
                <a:ea typeface="DM Sans"/>
                <a:cs typeface="DM Sans"/>
                <a:sym typeface="DM Sans"/>
              </a:rPr>
              <a:t>Document Model Object</a:t>
            </a:r>
            <a:endParaRPr sz="4300" b="1">
              <a:solidFill>
                <a:schemeClr val="dk1"/>
              </a:solidFill>
              <a:latin typeface="DM Sans"/>
              <a:ea typeface="DM Sans"/>
              <a:cs typeface="DM Sans"/>
              <a:sym typeface="DM Sans"/>
            </a:endParaRPr>
          </a:p>
        </p:txBody>
      </p:sp>
      <p:sp>
        <p:nvSpPr>
          <p:cNvPr id="306" name="Google Shape;306;p54"/>
          <p:cNvSpPr txBox="1"/>
          <p:nvPr/>
        </p:nvSpPr>
        <p:spPr>
          <a:xfrm>
            <a:off x="519200" y="1668350"/>
            <a:ext cx="3834600" cy="3917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Al dar clic en el buscador Google a un </a:t>
            </a:r>
            <a:r>
              <a:rPr lang="es" sz="1250" u="sng">
                <a:solidFill>
                  <a:srgbClr val="3C78D8"/>
                </a:solidFill>
                <a:latin typeface="DM Sans"/>
                <a:ea typeface="DM Sans"/>
                <a:cs typeface="DM Sans"/>
                <a:sym typeface="DM Sans"/>
              </a:rPr>
              <a:t>enlace</a:t>
            </a:r>
            <a:r>
              <a:rPr lang="es" sz="1250">
                <a:latin typeface="DM Sans"/>
                <a:ea typeface="DM Sans"/>
                <a:cs typeface="DM Sans"/>
                <a:sym typeface="DM Sans"/>
              </a:rPr>
              <a:t>, este nos redirige a una página web.</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El navegador hace una petición a un servidor que nos devuelve un archivo HTML.</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Este archivo HTML se convierte en el </a:t>
            </a:r>
            <a:r>
              <a:rPr lang="es" sz="1250" b="1">
                <a:latin typeface="DM Sans"/>
                <a:ea typeface="DM Sans"/>
                <a:cs typeface="DM Sans"/>
                <a:sym typeface="DM Sans"/>
              </a:rPr>
              <a:t>DOM</a:t>
            </a:r>
            <a:r>
              <a:rPr lang="es" sz="1250">
                <a:latin typeface="DM Sans"/>
                <a:ea typeface="DM Sans"/>
                <a:cs typeface="DM Sans"/>
                <a:sym typeface="DM Sans"/>
              </a:rPr>
              <a:t> que es un modelo del árbol del archivo HTML original y es pintado en la interfaz de usuario del navegador. </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El </a:t>
            </a:r>
            <a:r>
              <a:rPr lang="es" sz="1250" b="1">
                <a:latin typeface="DM Sans"/>
                <a:ea typeface="DM Sans"/>
                <a:cs typeface="DM Sans"/>
                <a:sym typeface="DM Sans"/>
              </a:rPr>
              <a:t>DOM</a:t>
            </a:r>
            <a:r>
              <a:rPr lang="es" sz="1250">
                <a:latin typeface="DM Sans"/>
                <a:ea typeface="DM Sans"/>
                <a:cs typeface="DM Sans"/>
                <a:sym typeface="DM Sans"/>
              </a:rPr>
              <a:t> es u</a:t>
            </a:r>
            <a:r>
              <a:rPr lang="es" sz="1250">
                <a:solidFill>
                  <a:schemeClr val="dk1"/>
                </a:solidFill>
                <a:latin typeface="DM Sans"/>
                <a:ea typeface="DM Sans"/>
                <a:cs typeface="DM Sans"/>
                <a:sym typeface="DM Sans"/>
              </a:rPr>
              <a:t>na estructura jerárquica de nodos compuesta por etiquetas y su contenido que permite su manipulación usando Javascript.</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b="1">
              <a:highlight>
                <a:schemeClr val="accent4"/>
              </a:highlight>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sp>
        <p:nvSpPr>
          <p:cNvPr id="307" name="Google Shape;307;p54"/>
          <p:cNvSpPr txBox="1"/>
          <p:nvPr/>
        </p:nvSpPr>
        <p:spPr>
          <a:xfrm>
            <a:off x="4674200" y="1668362"/>
            <a:ext cx="3834600" cy="2701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latin typeface="DM Sans"/>
                <a:ea typeface="DM Sans"/>
                <a:cs typeface="DM Sans"/>
                <a:sym typeface="DM Sans"/>
              </a:rPr>
              <a:t>La manipulación directa del DOM conlleva ciertos </a:t>
            </a:r>
            <a:r>
              <a:rPr lang="es" sz="1250" b="1">
                <a:latin typeface="DM Sans"/>
                <a:ea typeface="DM Sans"/>
                <a:cs typeface="DM Sans"/>
                <a:sym typeface="DM Sans"/>
              </a:rPr>
              <a:t>problemas</a:t>
            </a:r>
            <a:r>
              <a:rPr lang="es" sz="1250">
                <a:latin typeface="DM Sans"/>
                <a:ea typeface="DM Sans"/>
                <a:cs typeface="DM Sans"/>
                <a:sym typeface="DM Sans"/>
              </a:rPr>
              <a:t>:</a:t>
            </a: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250">
                <a:highlight>
                  <a:srgbClr val="EA90FF"/>
                </a:highlight>
                <a:latin typeface="DM Sans"/>
                <a:ea typeface="DM Sans"/>
                <a:cs typeface="DM Sans"/>
                <a:sym typeface="DM Sans"/>
              </a:rPr>
              <a:t>Su manipulación directa a veces puede ser costosa en rendimiento </a:t>
            </a:r>
            <a:r>
              <a:rPr lang="es" sz="1250">
                <a:solidFill>
                  <a:schemeClr val="dk1"/>
                </a:solidFill>
                <a:highlight>
                  <a:schemeClr val="accent4"/>
                </a:highlight>
                <a:latin typeface="DM Sans"/>
                <a:ea typeface="DM Sans"/>
                <a:cs typeface="DM Sans"/>
                <a:sym typeface="DM Sans"/>
              </a:rPr>
              <a:t>y ser compleja y poco práctica.</a:t>
            </a:r>
            <a:endParaRPr sz="1250">
              <a:highlight>
                <a:srgbClr val="EA90FF"/>
              </a:highlight>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pic>
        <p:nvPicPr>
          <p:cNvPr id="308" name="Google Shape;308;p54"/>
          <p:cNvPicPr preferRelativeResize="0"/>
          <p:nvPr/>
        </p:nvPicPr>
        <p:blipFill>
          <a:blip r:embed="rId3">
            <a:alphaModFix/>
          </a:blip>
          <a:stretch>
            <a:fillRect/>
          </a:stretch>
        </p:blipFill>
        <p:spPr>
          <a:xfrm>
            <a:off x="6472225" y="387719"/>
            <a:ext cx="738898" cy="738898"/>
          </a:xfrm>
          <a:prstGeom prst="rect">
            <a:avLst/>
          </a:prstGeom>
          <a:noFill/>
          <a:ln>
            <a:noFill/>
          </a:ln>
        </p:spPr>
      </p:pic>
      <p:pic>
        <p:nvPicPr>
          <p:cNvPr id="309" name="Google Shape;309;p54"/>
          <p:cNvPicPr preferRelativeResize="0"/>
          <p:nvPr/>
        </p:nvPicPr>
        <p:blipFill>
          <a:blip r:embed="rId4">
            <a:alphaModFix/>
          </a:blip>
          <a:stretch>
            <a:fillRect/>
          </a:stretch>
        </p:blipFill>
        <p:spPr>
          <a:xfrm flipH="1">
            <a:off x="5936625" y="1668350"/>
            <a:ext cx="1034525" cy="1034525"/>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13"/>
        <p:cNvGrpSpPr/>
        <p:nvPr/>
      </p:nvGrpSpPr>
      <p:grpSpPr>
        <a:xfrm>
          <a:off x="0" y="0"/>
          <a:ext cx="0" cy="0"/>
          <a:chOff x="0" y="0"/>
          <a:chExt cx="0" cy="0"/>
        </a:xfrm>
      </p:grpSpPr>
      <p:sp>
        <p:nvSpPr>
          <p:cNvPr id="314" name="Google Shape;314;p55"/>
          <p:cNvSpPr txBox="1"/>
          <p:nvPr/>
        </p:nvSpPr>
        <p:spPr>
          <a:xfrm>
            <a:off x="473350" y="390925"/>
            <a:ext cx="8141100" cy="11466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DOM DEL NAVEGADOR</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650" b="1">
                <a:solidFill>
                  <a:schemeClr val="dk1"/>
                </a:solidFill>
                <a:highlight>
                  <a:schemeClr val="accent4"/>
                </a:highlight>
                <a:latin typeface="DM Sans"/>
                <a:ea typeface="DM Sans"/>
                <a:cs typeface="DM Sans"/>
                <a:sym typeface="DM Sans"/>
              </a:rPr>
              <a:t>Document Model Object</a:t>
            </a:r>
            <a:endParaRPr sz="4300" b="1">
              <a:solidFill>
                <a:schemeClr val="dk1"/>
              </a:solidFill>
              <a:latin typeface="DM Sans"/>
              <a:ea typeface="DM Sans"/>
              <a:cs typeface="DM Sans"/>
              <a:sym typeface="DM Sans"/>
            </a:endParaRPr>
          </a:p>
        </p:txBody>
      </p:sp>
      <p:sp>
        <p:nvSpPr>
          <p:cNvPr id="315" name="Google Shape;315;p55"/>
          <p:cNvSpPr txBox="1"/>
          <p:nvPr/>
        </p:nvSpPr>
        <p:spPr>
          <a:xfrm>
            <a:off x="519200" y="1668350"/>
            <a:ext cx="3834600" cy="1223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s" sz="1350">
                <a:latin typeface="DM Sans"/>
                <a:ea typeface="DM Sans"/>
                <a:cs typeface="DM Sans"/>
                <a:sym typeface="DM Sans"/>
              </a:rPr>
              <a:t>Si escribimos </a:t>
            </a:r>
            <a:r>
              <a:rPr lang="es" sz="1350" b="1">
                <a:solidFill>
                  <a:schemeClr val="accent5"/>
                </a:solidFill>
                <a:latin typeface="DM Sans"/>
                <a:ea typeface="DM Sans"/>
                <a:cs typeface="DM Sans"/>
                <a:sym typeface="DM Sans"/>
              </a:rPr>
              <a:t>document</a:t>
            </a:r>
            <a:r>
              <a:rPr lang="es" sz="1350">
                <a:latin typeface="DM Sans"/>
                <a:ea typeface="DM Sans"/>
                <a:cs typeface="DM Sans"/>
                <a:sym typeface="DM Sans"/>
              </a:rPr>
              <a:t> en la consola de Dev Tools veremos el </a:t>
            </a:r>
            <a:r>
              <a:rPr lang="es" sz="1350" b="1">
                <a:solidFill>
                  <a:schemeClr val="accent5"/>
                </a:solidFill>
                <a:latin typeface="DM Sans"/>
                <a:ea typeface="DM Sans"/>
                <a:cs typeface="DM Sans"/>
                <a:sym typeface="DM Sans"/>
              </a:rPr>
              <a:t>DOM</a:t>
            </a:r>
            <a:r>
              <a:rPr lang="es" sz="1350">
                <a:latin typeface="DM Sans"/>
                <a:ea typeface="DM Sans"/>
                <a:cs typeface="DM Sans"/>
                <a:sym typeface="DM Sans"/>
              </a:rPr>
              <a:t>.</a:t>
            </a: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350">
                <a:latin typeface="DM Sans"/>
                <a:ea typeface="DM Sans"/>
                <a:cs typeface="DM Sans"/>
                <a:sym typeface="DM Sans"/>
              </a:rPr>
              <a:t>Si escribimos console.dir(document) </a:t>
            </a:r>
            <a:endParaRPr sz="13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r>
              <a:rPr lang="es" sz="1350">
                <a:latin typeface="DM Sans"/>
                <a:ea typeface="DM Sans"/>
                <a:cs typeface="DM Sans"/>
                <a:sym typeface="DM Sans"/>
              </a:rPr>
              <a:t>veremos sus propiedades.</a:t>
            </a:r>
            <a:endParaRPr sz="1450">
              <a:latin typeface="DM Sans"/>
              <a:ea typeface="DM Sans"/>
              <a:cs typeface="DM Sans"/>
              <a:sym typeface="DM Sans"/>
            </a:endParaRPr>
          </a:p>
        </p:txBody>
      </p:sp>
      <p:sp>
        <p:nvSpPr>
          <p:cNvPr id="316" name="Google Shape;316;p55"/>
          <p:cNvSpPr txBox="1"/>
          <p:nvPr/>
        </p:nvSpPr>
        <p:spPr>
          <a:xfrm>
            <a:off x="4674200" y="1668362"/>
            <a:ext cx="3834600" cy="1354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2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pic>
        <p:nvPicPr>
          <p:cNvPr id="317" name="Google Shape;317;p55"/>
          <p:cNvPicPr preferRelativeResize="0"/>
          <p:nvPr/>
        </p:nvPicPr>
        <p:blipFill>
          <a:blip r:embed="rId3">
            <a:alphaModFix/>
          </a:blip>
          <a:stretch>
            <a:fillRect/>
          </a:stretch>
        </p:blipFill>
        <p:spPr>
          <a:xfrm>
            <a:off x="6472225" y="387719"/>
            <a:ext cx="738898" cy="738898"/>
          </a:xfrm>
          <a:prstGeom prst="rect">
            <a:avLst/>
          </a:prstGeom>
          <a:noFill/>
          <a:ln>
            <a:noFill/>
          </a:ln>
        </p:spPr>
      </p:pic>
      <p:pic>
        <p:nvPicPr>
          <p:cNvPr id="318" name="Google Shape;318;p55"/>
          <p:cNvPicPr preferRelativeResize="0"/>
          <p:nvPr/>
        </p:nvPicPr>
        <p:blipFill>
          <a:blip r:embed="rId4">
            <a:alphaModFix/>
          </a:blip>
          <a:stretch>
            <a:fillRect/>
          </a:stretch>
        </p:blipFill>
        <p:spPr>
          <a:xfrm>
            <a:off x="4310525" y="1537525"/>
            <a:ext cx="4623751" cy="2656975"/>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p56"/>
          <p:cNvSpPr txBox="1"/>
          <p:nvPr/>
        </p:nvSpPr>
        <p:spPr>
          <a:xfrm>
            <a:off x="473350" y="619525"/>
            <a:ext cx="8141100" cy="29244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FRAGMENTO </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DE UN </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4000" b="1">
                <a:solidFill>
                  <a:srgbClr val="93C47D"/>
                </a:solidFill>
                <a:latin typeface="DM Sans"/>
                <a:ea typeface="DM Sans"/>
                <a:cs typeface="DM Sans"/>
                <a:sym typeface="DM Sans"/>
              </a:rPr>
              <a:t>ÁRBOL</a:t>
            </a:r>
            <a:r>
              <a:rPr lang="es" sz="4000" b="1">
                <a:solidFill>
                  <a:schemeClr val="dk1"/>
                </a:solidFill>
                <a:latin typeface="DM Sans"/>
                <a:ea typeface="DM Sans"/>
                <a:cs typeface="DM Sans"/>
                <a:sym typeface="DM Sans"/>
              </a:rPr>
              <a:t> </a:t>
            </a:r>
            <a:endParaRPr sz="4000" b="1">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4000" b="1">
                <a:solidFill>
                  <a:schemeClr val="dk1"/>
                </a:solidFill>
                <a:latin typeface="DM Sans"/>
                <a:ea typeface="DM Sans"/>
                <a:cs typeface="DM Sans"/>
                <a:sym typeface="DM Sans"/>
              </a:rPr>
              <a:t>DOM </a:t>
            </a:r>
            <a:endParaRPr sz="4300" b="1">
              <a:solidFill>
                <a:schemeClr val="dk1"/>
              </a:solidFill>
              <a:latin typeface="DM Sans"/>
              <a:ea typeface="DM Sans"/>
              <a:cs typeface="DM Sans"/>
              <a:sym typeface="DM Sans"/>
            </a:endParaRPr>
          </a:p>
        </p:txBody>
      </p:sp>
      <p:pic>
        <p:nvPicPr>
          <p:cNvPr id="324" name="Google Shape;324;p56"/>
          <p:cNvPicPr preferRelativeResize="0"/>
          <p:nvPr/>
        </p:nvPicPr>
        <p:blipFill>
          <a:blip r:embed="rId3">
            <a:alphaModFix/>
          </a:blip>
          <a:stretch>
            <a:fillRect/>
          </a:stretch>
        </p:blipFill>
        <p:spPr>
          <a:xfrm>
            <a:off x="3677725" y="1724325"/>
            <a:ext cx="5049824" cy="1535950"/>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57"/>
          <p:cNvSpPr txBox="1"/>
          <p:nvPr/>
        </p:nvSpPr>
        <p:spPr>
          <a:xfrm>
            <a:off x="843000" y="1519500"/>
            <a:ext cx="7458000" cy="36240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Clr>
                <a:schemeClr val="dk1"/>
              </a:buClr>
              <a:buSzPts val="1100"/>
              <a:buFont typeface="Arial"/>
              <a:buNone/>
            </a:pPr>
            <a:r>
              <a:rPr lang="es" sz="4000" b="1">
                <a:solidFill>
                  <a:srgbClr val="93C47D"/>
                </a:solidFill>
                <a:latin typeface="DM Sans"/>
                <a:ea typeface="DM Sans"/>
                <a:cs typeface="DM Sans"/>
                <a:sym typeface="DM Sans"/>
              </a:rPr>
              <a:t>A VECES ME PREGUNTO,</a:t>
            </a:r>
            <a:endParaRPr sz="4000" b="1">
              <a:solidFill>
                <a:srgbClr val="93C47D"/>
              </a:solidFill>
              <a:latin typeface="DM Sans"/>
              <a:ea typeface="DM Sans"/>
              <a:cs typeface="DM Sans"/>
              <a:sym typeface="DM Sans"/>
            </a:endParaRPr>
          </a:p>
          <a:p>
            <a:pPr marL="0" lvl="0" indent="0" algn="ctr" rtl="0">
              <a:lnSpc>
                <a:spcPct val="115000"/>
              </a:lnSpc>
              <a:spcBef>
                <a:spcPts val="0"/>
              </a:spcBef>
              <a:spcAft>
                <a:spcPts val="0"/>
              </a:spcAft>
              <a:buNone/>
            </a:pPr>
            <a:r>
              <a:rPr lang="es" sz="4000" b="1">
                <a:solidFill>
                  <a:srgbClr val="93C47D"/>
                </a:solidFill>
                <a:latin typeface="DM Sans"/>
                <a:ea typeface="DM Sans"/>
                <a:cs typeface="DM Sans"/>
                <a:sym typeface="DM Sans"/>
              </a:rPr>
              <a:t>¿POR QUÉ LE DICEN ÁRBOL?</a:t>
            </a:r>
            <a:endParaRPr sz="4000" b="1">
              <a:solidFill>
                <a:srgbClr val="93C47D"/>
              </a:solidFill>
              <a:latin typeface="DM Sans"/>
              <a:ea typeface="DM Sans"/>
              <a:cs typeface="DM Sans"/>
              <a:sym typeface="DM Sans"/>
            </a:endParaRPr>
          </a:p>
          <a:p>
            <a:pPr marL="0" lvl="0" indent="0" algn="ctr" rtl="0">
              <a:lnSpc>
                <a:spcPct val="115000"/>
              </a:lnSpc>
              <a:spcBef>
                <a:spcPts val="0"/>
              </a:spcBef>
              <a:spcAft>
                <a:spcPts val="0"/>
              </a:spcAft>
              <a:buClr>
                <a:schemeClr val="dk1"/>
              </a:buClr>
              <a:buSzPts val="1100"/>
              <a:buFont typeface="Arial"/>
              <a:buNone/>
            </a:pPr>
            <a:r>
              <a:rPr lang="es" sz="4000" b="1">
                <a:solidFill>
                  <a:srgbClr val="93C47D"/>
                </a:solidFill>
                <a:latin typeface="DM Sans"/>
                <a:ea typeface="DM Sans"/>
                <a:cs typeface="DM Sans"/>
                <a:sym typeface="DM Sans"/>
              </a:rPr>
              <a:t>E IMAGINO…</a:t>
            </a:r>
            <a:endParaRPr sz="4000" b="1">
              <a:solidFill>
                <a:srgbClr val="93C47D"/>
              </a:solidFill>
              <a:latin typeface="DM Sans"/>
              <a:ea typeface="DM Sans"/>
              <a:cs typeface="DM Sans"/>
              <a:sym typeface="DM Sans"/>
            </a:endParaRPr>
          </a:p>
          <a:p>
            <a:pPr marL="0" lvl="0" indent="0" algn="ctr" rtl="0">
              <a:lnSpc>
                <a:spcPct val="115000"/>
              </a:lnSpc>
              <a:spcBef>
                <a:spcPts val="0"/>
              </a:spcBef>
              <a:spcAft>
                <a:spcPts val="0"/>
              </a:spcAft>
              <a:buClr>
                <a:schemeClr val="dk1"/>
              </a:buClr>
              <a:buSzPts val="1100"/>
              <a:buFont typeface="Arial"/>
              <a:buNone/>
            </a:pPr>
            <a:endParaRPr sz="4300" b="1">
              <a:solidFill>
                <a:schemeClr val="dk1"/>
              </a:solidFill>
              <a:latin typeface="DM Sans"/>
              <a:ea typeface="DM Sans"/>
              <a:cs typeface="DM Sans"/>
              <a:sym typeface="DM Sans"/>
            </a:endParaRPr>
          </a:p>
          <a:p>
            <a:pPr marL="0" lvl="0" indent="0" algn="ctr" rtl="0">
              <a:lnSpc>
                <a:spcPct val="90000"/>
              </a:lnSpc>
              <a:spcBef>
                <a:spcPts val="0"/>
              </a:spcBef>
              <a:spcAft>
                <a:spcPts val="0"/>
              </a:spcAft>
              <a:buNone/>
            </a:pPr>
            <a:endParaRPr sz="4000" b="1">
              <a:solidFill>
                <a:srgbClr val="EAFF6A"/>
              </a:solidFill>
              <a:latin typeface="DM Sans"/>
              <a:ea typeface="DM Sans"/>
              <a:cs typeface="DM Sans"/>
              <a:sym typeface="DM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pic>
        <p:nvPicPr>
          <p:cNvPr id="334" name="Google Shape;334;p58"/>
          <p:cNvPicPr preferRelativeResize="0"/>
          <p:nvPr/>
        </p:nvPicPr>
        <p:blipFill>
          <a:blip r:embed="rId3">
            <a:alphaModFix/>
          </a:blip>
          <a:stretch>
            <a:fillRect/>
          </a:stretch>
        </p:blipFill>
        <p:spPr>
          <a:xfrm>
            <a:off x="-12650" y="0"/>
            <a:ext cx="9156650" cy="4533900"/>
          </a:xfrm>
          <a:prstGeom prst="rect">
            <a:avLst/>
          </a:prstGeom>
          <a:noFill/>
          <a:ln>
            <a:noFill/>
          </a:ln>
        </p:spPr>
      </p:pic>
      <p:pic>
        <p:nvPicPr>
          <p:cNvPr id="335" name="Google Shape;335;p58"/>
          <p:cNvPicPr preferRelativeResize="0"/>
          <p:nvPr/>
        </p:nvPicPr>
        <p:blipFill>
          <a:blip r:embed="rId4">
            <a:alphaModFix/>
          </a:blip>
          <a:stretch>
            <a:fillRect/>
          </a:stretch>
        </p:blipFill>
        <p:spPr>
          <a:xfrm rot="5400000">
            <a:off x="67089" y="1826786"/>
            <a:ext cx="4193225" cy="1221002"/>
          </a:xfrm>
          <a:prstGeom prst="rect">
            <a:avLst/>
          </a:prstGeom>
          <a:noFill/>
          <a:ln>
            <a:noFill/>
          </a:ln>
        </p:spPr>
      </p:pic>
      <p:pic>
        <p:nvPicPr>
          <p:cNvPr id="336" name="Google Shape;336;p58"/>
          <p:cNvPicPr preferRelativeResize="0"/>
          <p:nvPr/>
        </p:nvPicPr>
        <p:blipFill>
          <a:blip r:embed="rId4">
            <a:alphaModFix/>
          </a:blip>
          <a:stretch>
            <a:fillRect/>
          </a:stretch>
        </p:blipFill>
        <p:spPr>
          <a:xfrm rot="-5400000" flipH="1">
            <a:off x="1272773" y="1872837"/>
            <a:ext cx="4193203" cy="1128901"/>
          </a:xfrm>
          <a:prstGeom prst="rect">
            <a:avLst/>
          </a:prstGeom>
          <a:noFill/>
          <a:ln>
            <a:noFill/>
          </a:ln>
        </p:spPr>
      </p:pic>
      <p:pic>
        <p:nvPicPr>
          <p:cNvPr id="337" name="Google Shape;337;p58"/>
          <p:cNvPicPr preferRelativeResize="0"/>
          <p:nvPr/>
        </p:nvPicPr>
        <p:blipFill>
          <a:blip r:embed="rId5">
            <a:alphaModFix/>
          </a:blip>
          <a:stretch>
            <a:fillRect/>
          </a:stretch>
        </p:blipFill>
        <p:spPr>
          <a:xfrm>
            <a:off x="1553200" y="1553900"/>
            <a:ext cx="510150" cy="510150"/>
          </a:xfrm>
          <a:prstGeom prst="rect">
            <a:avLst/>
          </a:prstGeom>
          <a:noFill/>
          <a:ln>
            <a:noFill/>
          </a:ln>
        </p:spPr>
      </p:pic>
      <p:pic>
        <p:nvPicPr>
          <p:cNvPr id="338" name="Google Shape;338;p58"/>
          <p:cNvPicPr preferRelativeResize="0"/>
          <p:nvPr/>
        </p:nvPicPr>
        <p:blipFill>
          <a:blip r:embed="rId5">
            <a:alphaModFix/>
          </a:blip>
          <a:stretch>
            <a:fillRect/>
          </a:stretch>
        </p:blipFill>
        <p:spPr>
          <a:xfrm>
            <a:off x="2207700" y="1661975"/>
            <a:ext cx="510150" cy="510150"/>
          </a:xfrm>
          <a:prstGeom prst="rect">
            <a:avLst/>
          </a:prstGeom>
          <a:noFill/>
          <a:ln>
            <a:noFill/>
          </a:ln>
        </p:spPr>
      </p:pic>
      <p:pic>
        <p:nvPicPr>
          <p:cNvPr id="339" name="Google Shape;339;p58"/>
          <p:cNvPicPr preferRelativeResize="0"/>
          <p:nvPr/>
        </p:nvPicPr>
        <p:blipFill>
          <a:blip r:embed="rId5">
            <a:alphaModFix/>
          </a:blip>
          <a:stretch>
            <a:fillRect/>
          </a:stretch>
        </p:blipFill>
        <p:spPr>
          <a:xfrm>
            <a:off x="3209225" y="1105550"/>
            <a:ext cx="510150" cy="510150"/>
          </a:xfrm>
          <a:prstGeom prst="rect">
            <a:avLst/>
          </a:prstGeom>
          <a:noFill/>
          <a:ln>
            <a:noFill/>
          </a:ln>
        </p:spPr>
      </p:pic>
      <p:pic>
        <p:nvPicPr>
          <p:cNvPr id="340" name="Google Shape;340;p58"/>
          <p:cNvPicPr preferRelativeResize="0"/>
          <p:nvPr/>
        </p:nvPicPr>
        <p:blipFill>
          <a:blip r:embed="rId5">
            <a:alphaModFix/>
          </a:blip>
          <a:stretch>
            <a:fillRect/>
          </a:stretch>
        </p:blipFill>
        <p:spPr>
          <a:xfrm>
            <a:off x="3590525" y="1826650"/>
            <a:ext cx="510150" cy="510150"/>
          </a:xfrm>
          <a:prstGeom prst="rect">
            <a:avLst/>
          </a:prstGeom>
          <a:noFill/>
          <a:ln>
            <a:noFill/>
          </a:ln>
        </p:spPr>
      </p:pic>
      <p:pic>
        <p:nvPicPr>
          <p:cNvPr id="341" name="Google Shape;341;p58"/>
          <p:cNvPicPr preferRelativeResize="0"/>
          <p:nvPr/>
        </p:nvPicPr>
        <p:blipFill>
          <a:blip r:embed="rId6">
            <a:alphaModFix/>
          </a:blip>
          <a:stretch>
            <a:fillRect/>
          </a:stretch>
        </p:blipFill>
        <p:spPr>
          <a:xfrm>
            <a:off x="4711750" y="2729175"/>
            <a:ext cx="1502150" cy="1502150"/>
          </a:xfrm>
          <a:prstGeom prst="rect">
            <a:avLst/>
          </a:prstGeom>
          <a:noFill/>
          <a:ln>
            <a:noFill/>
          </a:ln>
        </p:spPr>
      </p:pic>
      <p:pic>
        <p:nvPicPr>
          <p:cNvPr id="342" name="Google Shape;342;p58"/>
          <p:cNvPicPr preferRelativeResize="0"/>
          <p:nvPr/>
        </p:nvPicPr>
        <p:blipFill>
          <a:blip r:embed="rId7">
            <a:alphaModFix/>
          </a:blip>
          <a:stretch>
            <a:fillRect/>
          </a:stretch>
        </p:blipFill>
        <p:spPr>
          <a:xfrm>
            <a:off x="5527775" y="122513"/>
            <a:ext cx="3840925" cy="2476225"/>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sp>
        <p:nvSpPr>
          <p:cNvPr id="347" name="Google Shape;347;p59"/>
          <p:cNvSpPr txBox="1"/>
          <p:nvPr/>
        </p:nvSpPr>
        <p:spPr>
          <a:xfrm>
            <a:off x="1404863" y="1941375"/>
            <a:ext cx="6221400" cy="12930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lt1"/>
                </a:solidFill>
                <a:latin typeface="DM Sans"/>
                <a:ea typeface="DM Sans"/>
                <a:cs typeface="DM Sans"/>
                <a:sym typeface="DM Sans"/>
              </a:rPr>
              <a:t>Crear una aplicación utilizando</a:t>
            </a:r>
            <a:r>
              <a:rPr lang="es" sz="4000" b="1">
                <a:solidFill>
                  <a:schemeClr val="accent5"/>
                </a:solidFill>
                <a:latin typeface="DM Sans"/>
                <a:ea typeface="DM Sans"/>
                <a:cs typeface="DM Sans"/>
                <a:sym typeface="DM Sans"/>
              </a:rPr>
              <a:t> el CLI </a:t>
            </a:r>
            <a:endParaRPr sz="4000" b="1">
              <a:solidFill>
                <a:schemeClr val="accent5"/>
              </a:solidFill>
              <a:latin typeface="DM Sans"/>
              <a:ea typeface="DM Sans"/>
              <a:cs typeface="DM Sans"/>
              <a:sym typeface="DM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6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¿Qué es el CLI?</a:t>
            </a:r>
            <a:endParaRPr sz="4000" b="1">
              <a:solidFill>
                <a:schemeClr val="dk1"/>
              </a:solidFill>
              <a:latin typeface="DM Sans"/>
              <a:ea typeface="DM Sans"/>
              <a:cs typeface="DM Sans"/>
              <a:sym typeface="DM Sans"/>
            </a:endParaRPr>
          </a:p>
        </p:txBody>
      </p:sp>
      <p:sp>
        <p:nvSpPr>
          <p:cNvPr id="353" name="Google Shape;353;p60"/>
          <p:cNvSpPr txBox="1"/>
          <p:nvPr/>
        </p:nvSpPr>
        <p:spPr>
          <a:xfrm>
            <a:off x="527250" y="1600200"/>
            <a:ext cx="5714100" cy="2973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CLI, son las siglas en inglés de:</a:t>
            </a:r>
            <a:r>
              <a:rPr lang="es" sz="1350" b="1">
                <a:latin typeface="DM Sans"/>
                <a:ea typeface="DM Sans"/>
                <a:cs typeface="DM Sans"/>
                <a:sym typeface="DM Sans"/>
              </a:rPr>
              <a:t> interfaz de línea de comandos. </a:t>
            </a:r>
            <a:r>
              <a:rPr lang="es" sz="1350">
                <a:latin typeface="DM Sans"/>
                <a:ea typeface="DM Sans"/>
                <a:cs typeface="DM Sans"/>
                <a:sym typeface="DM Sans"/>
              </a:rPr>
              <a:t>Es una interfaz de texto que funciona en una Terminal (como, por ejemplo </a:t>
            </a:r>
            <a:r>
              <a:rPr lang="es" sz="1350" b="1">
                <a:latin typeface="DM Sans"/>
                <a:ea typeface="DM Sans"/>
                <a:cs typeface="DM Sans"/>
                <a:sym typeface="DM Sans"/>
              </a:rPr>
              <a:t>CMD</a:t>
            </a:r>
            <a:r>
              <a:rPr lang="es" sz="1350">
                <a:latin typeface="DM Sans"/>
                <a:ea typeface="DM Sans"/>
                <a:cs typeface="DM Sans"/>
                <a:sym typeface="DM Sans"/>
              </a:rPr>
              <a:t>) y permite a los usuarios </a:t>
            </a:r>
            <a:r>
              <a:rPr lang="es" sz="1350" b="1">
                <a:latin typeface="DM Sans"/>
                <a:ea typeface="DM Sans"/>
                <a:cs typeface="DM Sans"/>
                <a:sym typeface="DM Sans"/>
              </a:rPr>
              <a:t>dar instrucciones</a:t>
            </a:r>
            <a:r>
              <a:rPr lang="es" sz="1350">
                <a:latin typeface="DM Sans"/>
                <a:ea typeface="DM Sans"/>
                <a:cs typeface="DM Sans"/>
                <a:sym typeface="DM Sans"/>
              </a:rPr>
              <a:t> a algún programa informático </a:t>
            </a:r>
            <a:r>
              <a:rPr lang="es" sz="1350" b="1">
                <a:latin typeface="DM Sans"/>
                <a:ea typeface="DM Sans"/>
                <a:cs typeface="DM Sans"/>
                <a:sym typeface="DM Sans"/>
              </a:rPr>
              <a:t>por medio de comandos escritos</a:t>
            </a:r>
            <a:r>
              <a:rPr lang="es" sz="1350">
                <a:latin typeface="DM Sans"/>
                <a:ea typeface="DM Sans"/>
                <a:cs typeface="DM Sans"/>
                <a:sym typeface="DM Sans"/>
              </a:rPr>
              <a:t>.</a:t>
            </a:r>
            <a:endParaRPr sz="1350">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a:p>
            <a:pPr marL="0" lvl="0" indent="0" algn="l" rtl="0">
              <a:lnSpc>
                <a:spcPct val="115000"/>
              </a:lnSpc>
              <a:spcBef>
                <a:spcPts val="0"/>
              </a:spcBef>
              <a:spcAft>
                <a:spcPts val="0"/>
              </a:spcAft>
              <a:buNone/>
            </a:pPr>
            <a:r>
              <a:rPr lang="es" sz="1350">
                <a:latin typeface="DM Sans"/>
                <a:ea typeface="DM Sans"/>
                <a:cs typeface="DM Sans"/>
                <a:sym typeface="DM Sans"/>
              </a:rPr>
              <a:t>Visual Code también tiene la suya. Puedes abrir Visual Studio Code </a:t>
            </a:r>
            <a:r>
              <a:rPr lang="es" sz="1350">
                <a:solidFill>
                  <a:schemeClr val="dk1"/>
                </a:solidFill>
                <a:latin typeface="DM Sans"/>
                <a:ea typeface="DM Sans"/>
                <a:cs typeface="DM Sans"/>
                <a:sym typeface="DM Sans"/>
              </a:rPr>
              <a:t>desde CMD,</a:t>
            </a:r>
            <a:r>
              <a:rPr lang="es" sz="1350">
                <a:latin typeface="DM Sans"/>
                <a:ea typeface="DM Sans"/>
                <a:cs typeface="DM Sans"/>
                <a:sym typeface="DM Sans"/>
              </a:rPr>
              <a:t> escribiendo:</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850">
                <a:highlight>
                  <a:schemeClr val="accent1"/>
                </a:highlight>
                <a:latin typeface="DM Sans"/>
                <a:ea typeface="DM Sans"/>
                <a:cs typeface="DM Sans"/>
                <a:sym typeface="DM Sans"/>
              </a:rPr>
              <a:t>&gt; code</a:t>
            </a:r>
            <a:endParaRPr sz="1850">
              <a:highlight>
                <a:schemeClr val="accent1"/>
              </a:highlight>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57"/>
        <p:cNvGrpSpPr/>
        <p:nvPr/>
      </p:nvGrpSpPr>
      <p:grpSpPr>
        <a:xfrm>
          <a:off x="0" y="0"/>
          <a:ext cx="0" cy="0"/>
          <a:chOff x="0" y="0"/>
          <a:chExt cx="0" cy="0"/>
        </a:xfrm>
      </p:grpSpPr>
      <p:sp>
        <p:nvSpPr>
          <p:cNvPr id="358" name="Google Shape;358;p61"/>
          <p:cNvSpPr txBox="1"/>
          <p:nvPr/>
        </p:nvSpPr>
        <p:spPr>
          <a:xfrm>
            <a:off x="381600" y="302750"/>
            <a:ext cx="8380800" cy="16392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Abrir una terminal</a:t>
            </a:r>
            <a:endParaRPr sz="3500" b="1">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en Visual Studio Code</a:t>
            </a:r>
            <a:endParaRPr sz="3500" b="1">
              <a:solidFill>
                <a:schemeClr val="lt1"/>
              </a:solidFill>
              <a:latin typeface="DM Sans"/>
              <a:ea typeface="DM Sans"/>
              <a:cs typeface="DM Sans"/>
              <a:sym typeface="DM Sans"/>
            </a:endParaRPr>
          </a:p>
          <a:p>
            <a:pPr marL="0" lvl="0" indent="0" algn="l" rtl="0">
              <a:lnSpc>
                <a:spcPct val="90000"/>
              </a:lnSpc>
              <a:spcBef>
                <a:spcPts val="0"/>
              </a:spcBef>
              <a:spcAft>
                <a:spcPts val="0"/>
              </a:spcAft>
              <a:buNone/>
            </a:pPr>
            <a:endParaRPr sz="3500" b="1">
              <a:solidFill>
                <a:schemeClr val="lt1"/>
              </a:solidFill>
              <a:latin typeface="DM Sans"/>
              <a:ea typeface="DM Sans"/>
              <a:cs typeface="DM Sans"/>
              <a:sym typeface="DM Sans"/>
            </a:endParaRPr>
          </a:p>
        </p:txBody>
      </p:sp>
      <p:pic>
        <p:nvPicPr>
          <p:cNvPr id="359" name="Google Shape;359;p61"/>
          <p:cNvPicPr preferRelativeResize="0"/>
          <p:nvPr/>
        </p:nvPicPr>
        <p:blipFill>
          <a:blip r:embed="rId3">
            <a:alphaModFix/>
          </a:blip>
          <a:stretch>
            <a:fillRect/>
          </a:stretch>
        </p:blipFill>
        <p:spPr>
          <a:xfrm>
            <a:off x="777425" y="2472050"/>
            <a:ext cx="7587925" cy="9641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62"/>
          <p:cNvSpPr txBox="1"/>
          <p:nvPr/>
        </p:nvSpPr>
        <p:spPr>
          <a:xfrm>
            <a:off x="383250" y="345975"/>
            <a:ext cx="8380800" cy="16392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Se abrirá un panel inferior </a:t>
            </a:r>
            <a:endParaRPr sz="3500" b="1">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en Visual Studio Code</a:t>
            </a:r>
            <a:endParaRPr sz="3500" b="1">
              <a:solidFill>
                <a:schemeClr val="lt1"/>
              </a:solidFill>
              <a:latin typeface="DM Sans"/>
              <a:ea typeface="DM Sans"/>
              <a:cs typeface="DM Sans"/>
              <a:sym typeface="DM Sans"/>
            </a:endParaRPr>
          </a:p>
          <a:p>
            <a:pPr marL="0" lvl="0" indent="0" algn="l" rtl="0">
              <a:lnSpc>
                <a:spcPct val="90000"/>
              </a:lnSpc>
              <a:spcBef>
                <a:spcPts val="0"/>
              </a:spcBef>
              <a:spcAft>
                <a:spcPts val="0"/>
              </a:spcAft>
              <a:buNone/>
            </a:pPr>
            <a:endParaRPr sz="3500" b="1">
              <a:solidFill>
                <a:schemeClr val="lt1"/>
              </a:solidFill>
              <a:latin typeface="DM Sans"/>
              <a:ea typeface="DM Sans"/>
              <a:cs typeface="DM Sans"/>
              <a:sym typeface="DM Sans"/>
            </a:endParaRPr>
          </a:p>
        </p:txBody>
      </p:sp>
      <p:pic>
        <p:nvPicPr>
          <p:cNvPr id="365" name="Google Shape;365;p62"/>
          <p:cNvPicPr preferRelativeResize="0"/>
          <p:nvPr/>
        </p:nvPicPr>
        <p:blipFill>
          <a:blip r:embed="rId3">
            <a:alphaModFix/>
          </a:blip>
          <a:stretch>
            <a:fillRect/>
          </a:stretch>
        </p:blipFill>
        <p:spPr>
          <a:xfrm>
            <a:off x="1245862" y="1679200"/>
            <a:ext cx="6807976" cy="2682325"/>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369"/>
        <p:cNvGrpSpPr/>
        <p:nvPr/>
      </p:nvGrpSpPr>
      <p:grpSpPr>
        <a:xfrm>
          <a:off x="0" y="0"/>
          <a:ext cx="0" cy="0"/>
          <a:chOff x="0" y="0"/>
          <a:chExt cx="0" cy="0"/>
        </a:xfrm>
      </p:grpSpPr>
      <p:pic>
        <p:nvPicPr>
          <p:cNvPr id="370" name="Google Shape;370;p63"/>
          <p:cNvPicPr preferRelativeResize="0"/>
          <p:nvPr/>
        </p:nvPicPr>
        <p:blipFill>
          <a:blip r:embed="rId3">
            <a:alphaModFix/>
          </a:blip>
          <a:stretch>
            <a:fillRect/>
          </a:stretch>
        </p:blipFill>
        <p:spPr>
          <a:xfrm>
            <a:off x="-675" y="0"/>
            <a:ext cx="9621362" cy="5143500"/>
          </a:xfrm>
          <a:prstGeom prst="rect">
            <a:avLst/>
          </a:prstGeom>
          <a:noFill/>
          <a:ln>
            <a:noFill/>
          </a:ln>
        </p:spPr>
      </p:pic>
      <p:sp>
        <p:nvSpPr>
          <p:cNvPr id="371" name="Google Shape;371;p63"/>
          <p:cNvSpPr txBox="1"/>
          <p:nvPr/>
        </p:nvSpPr>
        <p:spPr>
          <a:xfrm>
            <a:off x="761551" y="1049300"/>
            <a:ext cx="8439600" cy="8913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5100" b="1">
                <a:solidFill>
                  <a:schemeClr val="lt1"/>
                </a:solidFill>
                <a:latin typeface="DM Sans"/>
                <a:ea typeface="DM Sans"/>
                <a:cs typeface="DM Sans"/>
                <a:sym typeface="DM Sans"/>
              </a:rPr>
              <a:t>Cuantos programas ves?</a:t>
            </a:r>
            <a:endParaRPr sz="5100" b="1">
              <a:solidFill>
                <a:schemeClr val="lt1"/>
              </a:solidFill>
              <a:highlight>
                <a:srgbClr val="EAFF6A"/>
              </a:highlight>
              <a:latin typeface="DM Sans"/>
              <a:ea typeface="DM Sans"/>
              <a:cs typeface="DM Sans"/>
              <a:sym typeface="DM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375"/>
        <p:cNvGrpSpPr/>
        <p:nvPr/>
      </p:nvGrpSpPr>
      <p:grpSpPr>
        <a:xfrm>
          <a:off x="0" y="0"/>
          <a:ext cx="0" cy="0"/>
          <a:chOff x="0" y="0"/>
          <a:chExt cx="0" cy="0"/>
        </a:xfrm>
      </p:grpSpPr>
      <p:sp>
        <p:nvSpPr>
          <p:cNvPr id="376" name="Google Shape;376;p64"/>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64"/>
          <p:cNvSpPr txBox="1"/>
          <p:nvPr/>
        </p:nvSpPr>
        <p:spPr>
          <a:xfrm>
            <a:off x="383250" y="345975"/>
            <a:ext cx="8380800" cy="669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Crear App de react con vite</a:t>
            </a:r>
            <a:endParaRPr sz="3500" b="1">
              <a:solidFill>
                <a:schemeClr val="lt1"/>
              </a:solidFill>
              <a:latin typeface="DM Sans"/>
              <a:ea typeface="DM Sans"/>
              <a:cs typeface="DM Sans"/>
              <a:sym typeface="DM Sans"/>
            </a:endParaRPr>
          </a:p>
        </p:txBody>
      </p:sp>
      <p:sp>
        <p:nvSpPr>
          <p:cNvPr id="378" name="Google Shape;378;p64"/>
          <p:cNvSpPr txBox="1"/>
          <p:nvPr/>
        </p:nvSpPr>
        <p:spPr>
          <a:xfrm>
            <a:off x="5415700" y="1605713"/>
            <a:ext cx="2166300" cy="143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Debemos ejecutar el comando npm create vite@latest seguido del nombre del proyecto, apreta enter para ejecutar el comando.</a:t>
            </a:r>
            <a:endParaRPr sz="1350">
              <a:latin typeface="DM Sans"/>
              <a:ea typeface="DM Sans"/>
              <a:cs typeface="DM Sans"/>
              <a:sym typeface="DM Sans"/>
            </a:endParaRPr>
          </a:p>
        </p:txBody>
      </p:sp>
      <p:sp>
        <p:nvSpPr>
          <p:cNvPr id="379" name="Google Shape;379;p64"/>
          <p:cNvSpPr txBox="1"/>
          <p:nvPr/>
        </p:nvSpPr>
        <p:spPr>
          <a:xfrm>
            <a:off x="5415700" y="3004050"/>
            <a:ext cx="2840700" cy="1119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350" b="1" u="sng">
                <a:solidFill>
                  <a:schemeClr val="dk1"/>
                </a:solidFill>
                <a:latin typeface="DM Sans"/>
                <a:ea typeface="DM Sans"/>
                <a:cs typeface="DM Sans"/>
                <a:sym typeface="DM Sans"/>
              </a:rPr>
              <a:t>Elige el framework</a:t>
            </a:r>
            <a:endParaRPr sz="1350" b="1" u="sng">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1350" b="1">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r>
              <a:rPr lang="es" sz="1350" b="1">
                <a:solidFill>
                  <a:schemeClr val="dk1"/>
                </a:solidFill>
                <a:latin typeface="DM Sans"/>
                <a:ea typeface="DM Sans"/>
                <a:cs typeface="DM Sans"/>
                <a:sym typeface="DM Sans"/>
              </a:rPr>
              <a:t>Con las flechas vamos a bajar hasta React y apretamos enter para seleccionarlo.</a:t>
            </a:r>
            <a:endParaRPr sz="1350">
              <a:solidFill>
                <a:schemeClr val="dk1"/>
              </a:solidFill>
              <a:latin typeface="DM Sans"/>
              <a:ea typeface="DM Sans"/>
              <a:cs typeface="DM Sans"/>
              <a:sym typeface="DM Sans"/>
            </a:endParaRPr>
          </a:p>
        </p:txBody>
      </p:sp>
      <p:pic>
        <p:nvPicPr>
          <p:cNvPr id="380" name="Google Shape;380;p64"/>
          <p:cNvPicPr preferRelativeResize="0"/>
          <p:nvPr/>
        </p:nvPicPr>
        <p:blipFill>
          <a:blip r:embed="rId3">
            <a:alphaModFix/>
          </a:blip>
          <a:stretch>
            <a:fillRect/>
          </a:stretch>
        </p:blipFill>
        <p:spPr>
          <a:xfrm>
            <a:off x="808925" y="1605725"/>
            <a:ext cx="4529150" cy="657225"/>
          </a:xfrm>
          <a:prstGeom prst="rect">
            <a:avLst/>
          </a:prstGeom>
          <a:noFill/>
          <a:ln>
            <a:noFill/>
          </a:ln>
        </p:spPr>
      </p:pic>
      <p:pic>
        <p:nvPicPr>
          <p:cNvPr id="381" name="Google Shape;381;p64"/>
          <p:cNvPicPr preferRelativeResize="0"/>
          <p:nvPr/>
        </p:nvPicPr>
        <p:blipFill rotWithShape="1">
          <a:blip r:embed="rId4">
            <a:alphaModFix/>
          </a:blip>
          <a:srcRect b="36126"/>
          <a:stretch/>
        </p:blipFill>
        <p:spPr>
          <a:xfrm>
            <a:off x="831088" y="2897813"/>
            <a:ext cx="4484825" cy="13323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385"/>
        <p:cNvGrpSpPr/>
        <p:nvPr/>
      </p:nvGrpSpPr>
      <p:grpSpPr>
        <a:xfrm>
          <a:off x="0" y="0"/>
          <a:ext cx="0" cy="0"/>
          <a:chOff x="0" y="0"/>
          <a:chExt cx="0" cy="0"/>
        </a:xfrm>
      </p:grpSpPr>
      <p:sp>
        <p:nvSpPr>
          <p:cNvPr id="386" name="Google Shape;386;p65"/>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65"/>
          <p:cNvSpPr txBox="1"/>
          <p:nvPr/>
        </p:nvSpPr>
        <p:spPr>
          <a:xfrm>
            <a:off x="383250" y="345975"/>
            <a:ext cx="8380800" cy="6696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3500" b="1">
                <a:solidFill>
                  <a:schemeClr val="lt1"/>
                </a:solidFill>
                <a:latin typeface="DM Sans"/>
                <a:ea typeface="DM Sans"/>
                <a:cs typeface="DM Sans"/>
                <a:sym typeface="DM Sans"/>
              </a:rPr>
              <a:t>Crear App de react con vite</a:t>
            </a:r>
            <a:endParaRPr sz="3500" b="1">
              <a:solidFill>
                <a:schemeClr val="lt1"/>
              </a:solidFill>
              <a:latin typeface="DM Sans"/>
              <a:ea typeface="DM Sans"/>
              <a:cs typeface="DM Sans"/>
              <a:sym typeface="DM Sans"/>
            </a:endParaRPr>
          </a:p>
        </p:txBody>
      </p:sp>
      <p:sp>
        <p:nvSpPr>
          <p:cNvPr id="388" name="Google Shape;388;p65"/>
          <p:cNvSpPr txBox="1"/>
          <p:nvPr/>
        </p:nvSpPr>
        <p:spPr>
          <a:xfrm>
            <a:off x="5415700" y="1605713"/>
            <a:ext cx="2166300" cy="8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latin typeface="DM Sans"/>
                <a:ea typeface="DM Sans"/>
                <a:cs typeface="DM Sans"/>
                <a:sym typeface="DM Sans"/>
              </a:rPr>
              <a:t>Nuevamente con las flechas bajamos para seleccionar JavaScript.</a:t>
            </a:r>
            <a:endParaRPr sz="1350">
              <a:latin typeface="DM Sans"/>
              <a:ea typeface="DM Sans"/>
              <a:cs typeface="DM Sans"/>
              <a:sym typeface="DM Sans"/>
            </a:endParaRPr>
          </a:p>
        </p:txBody>
      </p:sp>
      <p:sp>
        <p:nvSpPr>
          <p:cNvPr id="389" name="Google Shape;389;p65"/>
          <p:cNvSpPr txBox="1"/>
          <p:nvPr/>
        </p:nvSpPr>
        <p:spPr>
          <a:xfrm>
            <a:off x="3586200" y="2897800"/>
            <a:ext cx="4864500" cy="1265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350" b="1" u="sng">
                <a:solidFill>
                  <a:schemeClr val="dk1"/>
                </a:solidFill>
                <a:latin typeface="DM Sans"/>
                <a:ea typeface="DM Sans"/>
                <a:cs typeface="DM Sans"/>
                <a:sym typeface="DM Sans"/>
              </a:rPr>
              <a:t>Una vez creado:</a:t>
            </a:r>
            <a:endParaRPr sz="1350" b="1" u="sng">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1350" b="1">
              <a:solidFill>
                <a:schemeClr val="dk1"/>
              </a:solidFill>
              <a:latin typeface="DM Sans"/>
              <a:ea typeface="DM Sans"/>
              <a:cs typeface="DM Sans"/>
              <a:sym typeface="DM Sans"/>
            </a:endParaRPr>
          </a:p>
          <a:p>
            <a:pPr marL="457200" lvl="0" indent="-307975" algn="l" rtl="0">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Nos movemos a la carpeta con cd + &lt;nombre de la app&gt;</a:t>
            </a:r>
            <a:endParaRPr sz="1250">
              <a:solidFill>
                <a:schemeClr val="dk1"/>
              </a:solidFill>
              <a:latin typeface="DM Sans"/>
              <a:ea typeface="DM Sans"/>
              <a:cs typeface="DM Sans"/>
              <a:sym typeface="DM Sans"/>
            </a:endParaRPr>
          </a:p>
          <a:p>
            <a:pPr marL="457200" lvl="0" indent="-307975" algn="l" rtl="0">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Instalamos dependencias con npm install</a:t>
            </a:r>
            <a:endParaRPr sz="1250">
              <a:solidFill>
                <a:schemeClr val="dk1"/>
              </a:solidFill>
              <a:latin typeface="DM Sans"/>
              <a:ea typeface="DM Sans"/>
              <a:cs typeface="DM Sans"/>
              <a:sym typeface="DM Sans"/>
            </a:endParaRPr>
          </a:p>
          <a:p>
            <a:pPr marL="457200" lvl="0" indent="-307975" algn="l" rtl="0">
              <a:lnSpc>
                <a:spcPct val="90000"/>
              </a:lnSpc>
              <a:spcBef>
                <a:spcPts val="0"/>
              </a:spcBef>
              <a:spcAft>
                <a:spcPts val="0"/>
              </a:spcAft>
              <a:buClr>
                <a:schemeClr val="dk1"/>
              </a:buClr>
              <a:buSzPts val="1250"/>
              <a:buFont typeface="DM Sans"/>
              <a:buChar char="-"/>
            </a:pPr>
            <a:r>
              <a:rPr lang="es" sz="1250">
                <a:solidFill>
                  <a:schemeClr val="dk1"/>
                </a:solidFill>
                <a:latin typeface="DM Sans"/>
                <a:ea typeface="DM Sans"/>
                <a:cs typeface="DM Sans"/>
                <a:sym typeface="DM Sans"/>
              </a:rPr>
              <a:t>npm run dev, levantamos al servidor local</a:t>
            </a:r>
            <a:endParaRPr sz="1250">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1350">
              <a:solidFill>
                <a:schemeClr val="dk1"/>
              </a:solidFill>
              <a:latin typeface="DM Sans"/>
              <a:ea typeface="DM Sans"/>
              <a:cs typeface="DM Sans"/>
              <a:sym typeface="DM Sans"/>
            </a:endParaRPr>
          </a:p>
        </p:txBody>
      </p:sp>
      <p:pic>
        <p:nvPicPr>
          <p:cNvPr id="390" name="Google Shape;390;p65"/>
          <p:cNvPicPr preferRelativeResize="0"/>
          <p:nvPr/>
        </p:nvPicPr>
        <p:blipFill>
          <a:blip r:embed="rId3">
            <a:alphaModFix/>
          </a:blip>
          <a:stretch>
            <a:fillRect/>
          </a:stretch>
        </p:blipFill>
        <p:spPr>
          <a:xfrm>
            <a:off x="831099" y="1409000"/>
            <a:ext cx="4447975" cy="1095375"/>
          </a:xfrm>
          <a:prstGeom prst="rect">
            <a:avLst/>
          </a:prstGeom>
          <a:noFill/>
          <a:ln>
            <a:noFill/>
          </a:ln>
        </p:spPr>
      </p:pic>
      <p:pic>
        <p:nvPicPr>
          <p:cNvPr id="391" name="Google Shape;391;p65"/>
          <p:cNvPicPr preferRelativeResize="0"/>
          <p:nvPr/>
        </p:nvPicPr>
        <p:blipFill>
          <a:blip r:embed="rId4">
            <a:alphaModFix/>
          </a:blip>
          <a:stretch>
            <a:fillRect/>
          </a:stretch>
        </p:blipFill>
        <p:spPr>
          <a:xfrm>
            <a:off x="831100" y="2942850"/>
            <a:ext cx="2533650" cy="1181100"/>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395"/>
        <p:cNvGrpSpPr/>
        <p:nvPr/>
      </p:nvGrpSpPr>
      <p:grpSpPr>
        <a:xfrm>
          <a:off x="0" y="0"/>
          <a:ext cx="0" cy="0"/>
          <a:chOff x="0" y="0"/>
          <a:chExt cx="0" cy="0"/>
        </a:xfrm>
      </p:grpSpPr>
      <p:pic>
        <p:nvPicPr>
          <p:cNvPr id="396" name="Google Shape;396;p66"/>
          <p:cNvPicPr preferRelativeResize="0"/>
          <p:nvPr/>
        </p:nvPicPr>
        <p:blipFill>
          <a:blip r:embed="rId3">
            <a:alphaModFix/>
          </a:blip>
          <a:stretch>
            <a:fillRect/>
          </a:stretch>
        </p:blipFill>
        <p:spPr>
          <a:xfrm>
            <a:off x="288225" y="755900"/>
            <a:ext cx="2059225" cy="2034926"/>
          </a:xfrm>
          <a:prstGeom prst="rect">
            <a:avLst/>
          </a:prstGeom>
          <a:noFill/>
          <a:ln>
            <a:noFill/>
          </a:ln>
        </p:spPr>
      </p:pic>
      <p:sp>
        <p:nvSpPr>
          <p:cNvPr id="397" name="Google Shape;397;p66"/>
          <p:cNvSpPr txBox="1"/>
          <p:nvPr/>
        </p:nvSpPr>
        <p:spPr>
          <a:xfrm>
            <a:off x="2437994" y="862855"/>
            <a:ext cx="5994600" cy="1736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6000" b="1">
                <a:solidFill>
                  <a:schemeClr val="dk1"/>
                </a:solidFill>
                <a:latin typeface="DM Sans"/>
                <a:ea typeface="DM Sans"/>
                <a:cs typeface="DM Sans"/>
                <a:sym typeface="DM Sans"/>
              </a:rPr>
              <a:t>VITE</a:t>
            </a:r>
            <a:endParaRPr sz="6000" b="1">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r>
              <a:rPr lang="es" sz="2600" b="1">
                <a:solidFill>
                  <a:schemeClr val="dk1"/>
                </a:solidFill>
                <a:latin typeface="DM Sans"/>
                <a:ea typeface="DM Sans"/>
                <a:cs typeface="DM Sans"/>
                <a:sym typeface="DM Sans"/>
              </a:rPr>
              <a:t>Estos 2 videos tienen todos los comandos de Terminal que usarás.</a:t>
            </a:r>
            <a:endParaRPr sz="2600" b="1">
              <a:solidFill>
                <a:schemeClr val="dk1"/>
              </a:solidFill>
              <a:latin typeface="DM Sans"/>
              <a:ea typeface="DM Sans"/>
              <a:cs typeface="DM Sans"/>
              <a:sym typeface="DM Sans"/>
            </a:endParaRPr>
          </a:p>
        </p:txBody>
      </p:sp>
      <p:sp>
        <p:nvSpPr>
          <p:cNvPr id="398" name="Google Shape;398;p66"/>
          <p:cNvSpPr txBox="1"/>
          <p:nvPr/>
        </p:nvSpPr>
        <p:spPr>
          <a:xfrm>
            <a:off x="206825" y="3311800"/>
            <a:ext cx="8538600" cy="9975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600" u="sng">
                <a:solidFill>
                  <a:schemeClr val="hlink"/>
                </a:solidFill>
                <a:latin typeface="DM Sans"/>
                <a:ea typeface="DM Sans"/>
                <a:cs typeface="DM Sans"/>
                <a:sym typeface="DM Sans"/>
                <a:hlinkClick r:id="rId4"/>
              </a:rPr>
              <a:t>https://www.youtube.com/watch?v=jcKoP-FvPsY&amp;ab_channel=JuniorPride</a:t>
            </a:r>
            <a:endParaRPr sz="1600">
              <a:solidFill>
                <a:schemeClr val="dk1"/>
              </a:solidFill>
              <a:latin typeface="DM Sans"/>
              <a:ea typeface="DM Sans"/>
              <a:cs typeface="DM Sans"/>
              <a:sym typeface="DM Sans"/>
            </a:endParaRPr>
          </a:p>
          <a:p>
            <a:pPr marL="0" lvl="0" indent="0" algn="l" rtl="0">
              <a:lnSpc>
                <a:spcPct val="115000"/>
              </a:lnSpc>
              <a:spcBef>
                <a:spcPts val="0"/>
              </a:spcBef>
              <a:spcAft>
                <a:spcPts val="0"/>
              </a:spcAft>
              <a:buNone/>
            </a:pPr>
            <a:r>
              <a:rPr lang="es" sz="1600" u="sng">
                <a:solidFill>
                  <a:schemeClr val="hlink"/>
                </a:solidFill>
                <a:latin typeface="DM Sans"/>
                <a:ea typeface="DM Sans"/>
                <a:cs typeface="DM Sans"/>
                <a:sym typeface="DM Sans"/>
                <a:hlinkClick r:id="rId5"/>
              </a:rPr>
              <a:t>https://www.youtube.com/shorts/yx9as2yqS8Y</a:t>
            </a:r>
            <a:endParaRPr sz="1600">
              <a:solidFill>
                <a:schemeClr val="dk1"/>
              </a:solidFill>
              <a:latin typeface="DM Sans"/>
              <a:ea typeface="DM Sans"/>
              <a:cs typeface="DM Sans"/>
              <a:sym typeface="DM Sans"/>
            </a:endParaRPr>
          </a:p>
          <a:p>
            <a:pPr marL="0" lvl="0" indent="0" algn="l" rtl="0">
              <a:spcBef>
                <a:spcPts val="0"/>
              </a:spcBef>
              <a:spcAft>
                <a:spcPts val="0"/>
              </a:spcAft>
              <a:buNone/>
            </a:pPr>
            <a:endParaRPr sz="1600">
              <a:solidFill>
                <a:schemeClr val="dk1"/>
              </a:solidFill>
              <a:latin typeface="DM Sans"/>
              <a:ea typeface="DM Sans"/>
              <a:cs typeface="DM Sans"/>
              <a:sym typeface="DM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67"/>
          <p:cNvSpPr txBox="1"/>
          <p:nvPr/>
        </p:nvSpPr>
        <p:spPr>
          <a:xfrm>
            <a:off x="1404863" y="1941375"/>
            <a:ext cx="6221400" cy="24012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Clr>
                <a:schemeClr val="dk1"/>
              </a:buClr>
              <a:buSzPts val="1100"/>
              <a:buFont typeface="Arial"/>
              <a:buNone/>
            </a:pPr>
            <a:r>
              <a:rPr lang="es" sz="4000" b="1">
                <a:solidFill>
                  <a:schemeClr val="lt1"/>
                </a:solidFill>
                <a:latin typeface="DM Sans"/>
                <a:ea typeface="DM Sans"/>
                <a:cs typeface="DM Sans"/>
                <a:sym typeface="DM Sans"/>
              </a:rPr>
              <a:t>Funcionamiento de</a:t>
            </a:r>
            <a:endParaRPr sz="4000" b="1">
              <a:solidFill>
                <a:schemeClr val="lt1"/>
              </a:solidFill>
              <a:latin typeface="DM Sans"/>
              <a:ea typeface="DM Sans"/>
              <a:cs typeface="DM Sans"/>
              <a:sym typeface="DM Sans"/>
            </a:endParaRPr>
          </a:p>
          <a:p>
            <a:pPr marL="0" lvl="0" indent="0" algn="ctr" rtl="0">
              <a:lnSpc>
                <a:spcPct val="90000"/>
              </a:lnSpc>
              <a:spcBef>
                <a:spcPts val="0"/>
              </a:spcBef>
              <a:spcAft>
                <a:spcPts val="0"/>
              </a:spcAft>
              <a:buClr>
                <a:schemeClr val="dk1"/>
              </a:buClr>
              <a:buSzPts val="1100"/>
              <a:buFont typeface="Arial"/>
              <a:buNone/>
            </a:pPr>
            <a:r>
              <a:rPr lang="es" sz="4000" b="1">
                <a:solidFill>
                  <a:schemeClr val="accent6"/>
                </a:solidFill>
                <a:latin typeface="DM Sans"/>
                <a:ea typeface="DM Sans"/>
                <a:cs typeface="DM Sans"/>
                <a:sym typeface="DM Sans"/>
              </a:rPr>
              <a:t>REACT JS</a:t>
            </a:r>
            <a:endParaRPr sz="4000" b="1">
              <a:solidFill>
                <a:schemeClr val="accent6"/>
              </a:solidFill>
              <a:latin typeface="DM Sans"/>
              <a:ea typeface="DM Sans"/>
              <a:cs typeface="DM Sans"/>
              <a:sym typeface="DM Sans"/>
            </a:endParaRPr>
          </a:p>
          <a:p>
            <a:pPr marL="0" lvl="0" indent="0" algn="ctr" rtl="0">
              <a:lnSpc>
                <a:spcPct val="90000"/>
              </a:lnSpc>
              <a:spcBef>
                <a:spcPts val="0"/>
              </a:spcBef>
              <a:spcAft>
                <a:spcPts val="0"/>
              </a:spcAft>
              <a:buClr>
                <a:schemeClr val="dk1"/>
              </a:buClr>
              <a:buSzPts val="1100"/>
              <a:buFont typeface="Arial"/>
              <a:buNone/>
            </a:pPr>
            <a:endParaRPr sz="4000" b="1">
              <a:solidFill>
                <a:schemeClr val="lt1"/>
              </a:solidFill>
              <a:latin typeface="DM Sans"/>
              <a:ea typeface="DM Sans"/>
              <a:cs typeface="DM Sans"/>
              <a:sym typeface="DM Sans"/>
            </a:endParaRPr>
          </a:p>
          <a:p>
            <a:pPr marL="0" lvl="0" indent="0" algn="ctr" rtl="0">
              <a:lnSpc>
                <a:spcPct val="90000"/>
              </a:lnSpc>
              <a:spcBef>
                <a:spcPts val="0"/>
              </a:spcBef>
              <a:spcAft>
                <a:spcPts val="0"/>
              </a:spcAft>
              <a:buNone/>
            </a:pPr>
            <a:endParaRPr sz="4000" b="1">
              <a:solidFill>
                <a:schemeClr val="lt1"/>
              </a:solidFill>
              <a:latin typeface="DM Sans"/>
              <a:ea typeface="DM Sans"/>
              <a:cs typeface="DM Sans"/>
              <a:sym typeface="DM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8" name="Google Shape;408;p68"/>
          <p:cNvSpPr txBox="1"/>
          <p:nvPr/>
        </p:nvSpPr>
        <p:spPr>
          <a:xfrm>
            <a:off x="475500" y="941400"/>
            <a:ext cx="70854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React es reactivo</a:t>
            </a:r>
            <a:endParaRPr sz="4000" b="1">
              <a:solidFill>
                <a:schemeClr val="dk1"/>
              </a:solidFill>
              <a:latin typeface="DM Sans"/>
              <a:ea typeface="DM Sans"/>
              <a:cs typeface="DM Sans"/>
              <a:sym typeface="DM Sans"/>
            </a:endParaRPr>
          </a:p>
        </p:txBody>
      </p:sp>
      <p:sp>
        <p:nvSpPr>
          <p:cNvPr id="409" name="Google Shape;409;p68"/>
          <p:cNvSpPr txBox="1"/>
          <p:nvPr/>
        </p:nvSpPr>
        <p:spPr>
          <a:xfrm>
            <a:off x="475500" y="1993150"/>
            <a:ext cx="4730100" cy="2461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450">
                <a:latin typeface="DM Sans"/>
                <a:ea typeface="DM Sans"/>
                <a:cs typeface="DM Sans"/>
                <a:sym typeface="DM Sans"/>
              </a:rPr>
              <a:t>El enfoque de React fue revolucionario en términos de performance (rendimiento).</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latin typeface="DM Sans"/>
                <a:ea typeface="DM Sans"/>
                <a:cs typeface="DM Sans"/>
                <a:sym typeface="DM Sans"/>
              </a:rPr>
              <a:t>Hablemos de 3 conceptos importantes en React:</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Virtual DOM</a:t>
            </a:r>
            <a:r>
              <a:rPr lang="es" sz="1450">
                <a:latin typeface="DM Sans"/>
                <a:ea typeface="DM Sans"/>
                <a:cs typeface="DM Sans"/>
                <a:sym typeface="DM Sans"/>
              </a:rPr>
              <a:t> </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Diff</a:t>
            </a:r>
            <a:r>
              <a:rPr lang="es" sz="1450">
                <a:latin typeface="DM Sans"/>
                <a:ea typeface="DM Sans"/>
                <a:cs typeface="DM Sans"/>
                <a:sym typeface="DM Sans"/>
              </a:rPr>
              <a:t> </a:t>
            </a:r>
            <a:endParaRPr sz="14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450">
                <a:highlight>
                  <a:schemeClr val="accent6"/>
                </a:highlight>
                <a:latin typeface="DM Sans"/>
                <a:ea typeface="DM Sans"/>
                <a:cs typeface="DM Sans"/>
                <a:sym typeface="DM Sans"/>
              </a:rPr>
              <a:t>Reconciliación</a:t>
            </a:r>
            <a:endParaRPr sz="1450">
              <a:highlight>
                <a:schemeClr val="accent6"/>
              </a:highlight>
              <a:latin typeface="DM Sans"/>
              <a:ea typeface="DM Sans"/>
              <a:cs typeface="DM Sans"/>
              <a:sym typeface="DM Sans"/>
            </a:endParaRPr>
          </a:p>
          <a:p>
            <a:pPr marL="0" lvl="0" indent="0" algn="l" rtl="0">
              <a:spcBef>
                <a:spcPts val="0"/>
              </a:spcBef>
              <a:spcAft>
                <a:spcPts val="0"/>
              </a:spcAft>
              <a:buNone/>
            </a:pPr>
            <a:endParaRPr sz="1450">
              <a:latin typeface="DM Sans"/>
              <a:ea typeface="DM Sans"/>
              <a:cs typeface="DM Sans"/>
              <a:sym typeface="DM Sans"/>
            </a:endParaRPr>
          </a:p>
        </p:txBody>
      </p:sp>
      <p:pic>
        <p:nvPicPr>
          <p:cNvPr id="410" name="Google Shape;410;p68"/>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14"/>
        <p:cNvGrpSpPr/>
        <p:nvPr/>
      </p:nvGrpSpPr>
      <p:grpSpPr>
        <a:xfrm>
          <a:off x="0" y="0"/>
          <a:ext cx="0" cy="0"/>
          <a:chOff x="0" y="0"/>
          <a:chExt cx="0" cy="0"/>
        </a:xfrm>
      </p:grpSpPr>
      <p:sp>
        <p:nvSpPr>
          <p:cNvPr id="415" name="Google Shape;415;p69"/>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Virtual DOM</a:t>
            </a:r>
            <a:endParaRPr sz="4000" b="1">
              <a:solidFill>
                <a:schemeClr val="dk1"/>
              </a:solidFill>
              <a:latin typeface="DM Sans"/>
              <a:ea typeface="DM Sans"/>
              <a:cs typeface="DM Sans"/>
              <a:sym typeface="DM Sans"/>
            </a:endParaRPr>
          </a:p>
        </p:txBody>
      </p:sp>
      <p:sp>
        <p:nvSpPr>
          <p:cNvPr id="416" name="Google Shape;416;p69"/>
          <p:cNvSpPr txBox="1"/>
          <p:nvPr/>
        </p:nvSpPr>
        <p:spPr>
          <a:xfrm>
            <a:off x="475500" y="1752575"/>
            <a:ext cx="3834600" cy="469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acceso indiscriminado al DOM es costoso.</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Se necesitaba encontrar una manera de realizar modificaciones en el DOM de una manera más óptima.</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t>
            </a:r>
            <a:r>
              <a:rPr lang="es" sz="1350" b="1">
                <a:latin typeface="DM Sans"/>
                <a:ea typeface="DM Sans"/>
                <a:cs typeface="DM Sans"/>
                <a:sym typeface="DM Sans"/>
              </a:rPr>
              <a:t>Virtual DOM</a:t>
            </a:r>
            <a:r>
              <a:rPr lang="es" sz="1350">
                <a:latin typeface="DM Sans"/>
                <a:ea typeface="DM Sans"/>
                <a:cs typeface="DM Sans"/>
                <a:sym typeface="DM Sans"/>
              </a:rPr>
              <a:t> </a:t>
            </a:r>
            <a:r>
              <a:rPr lang="es" sz="1350" b="1">
                <a:latin typeface="DM Sans"/>
                <a:ea typeface="DM Sans"/>
                <a:cs typeface="DM Sans"/>
                <a:sym typeface="DM Sans"/>
              </a:rPr>
              <a:t>(VDOM)</a:t>
            </a:r>
            <a:r>
              <a:rPr lang="es" sz="1350">
                <a:latin typeface="DM Sans"/>
                <a:ea typeface="DM Sans"/>
                <a:cs typeface="DM Sans"/>
                <a:sym typeface="DM Sans"/>
              </a:rPr>
              <a:t> es una copia ligera, una representación virtual del DOM guardada en memoria. </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El </a:t>
            </a:r>
            <a:r>
              <a:rPr lang="es" sz="1350" b="1">
                <a:latin typeface="DM Sans"/>
                <a:ea typeface="DM Sans"/>
                <a:cs typeface="DM Sans"/>
                <a:sym typeface="DM Sans"/>
              </a:rPr>
              <a:t>VDOM</a:t>
            </a:r>
            <a:r>
              <a:rPr lang="es" sz="1350">
                <a:latin typeface="DM Sans"/>
                <a:ea typeface="DM Sans"/>
                <a:cs typeface="DM Sans"/>
                <a:sym typeface="DM Sans"/>
              </a:rPr>
              <a:t> está sincronizado con el DOM real.</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p:txBody>
      </p:sp>
      <p:pic>
        <p:nvPicPr>
          <p:cNvPr id="417" name="Google Shape;417;p69"/>
          <p:cNvPicPr preferRelativeResize="0"/>
          <p:nvPr/>
        </p:nvPicPr>
        <p:blipFill>
          <a:blip r:embed="rId3">
            <a:alphaModFix/>
          </a:blip>
          <a:stretch>
            <a:fillRect/>
          </a:stretch>
        </p:blipFill>
        <p:spPr>
          <a:xfrm>
            <a:off x="7194900" y="1742025"/>
            <a:ext cx="1742050" cy="1659450"/>
          </a:xfrm>
          <a:prstGeom prst="rect">
            <a:avLst/>
          </a:prstGeom>
          <a:noFill/>
          <a:ln>
            <a:noFill/>
          </a:ln>
        </p:spPr>
      </p:pic>
      <p:pic>
        <p:nvPicPr>
          <p:cNvPr id="418" name="Google Shape;418;p69"/>
          <p:cNvPicPr preferRelativeResize="0"/>
          <p:nvPr/>
        </p:nvPicPr>
        <p:blipFill>
          <a:blip r:embed="rId3">
            <a:alphaModFix/>
          </a:blip>
          <a:stretch>
            <a:fillRect/>
          </a:stretch>
        </p:blipFill>
        <p:spPr>
          <a:xfrm>
            <a:off x="5278250" y="1734131"/>
            <a:ext cx="1742050" cy="1659450"/>
          </a:xfrm>
          <a:prstGeom prst="rect">
            <a:avLst/>
          </a:prstGeom>
          <a:noFill/>
          <a:ln>
            <a:noFill/>
          </a:ln>
        </p:spPr>
      </p:pic>
      <p:sp>
        <p:nvSpPr>
          <p:cNvPr id="419" name="Google Shape;419;p69"/>
          <p:cNvSpPr txBox="1"/>
          <p:nvPr/>
        </p:nvSpPr>
        <p:spPr>
          <a:xfrm>
            <a:off x="5529625" y="1158050"/>
            <a:ext cx="3540600" cy="43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800" b="1">
                <a:solidFill>
                  <a:schemeClr val="dk1"/>
                </a:solidFill>
                <a:latin typeface="DM Sans"/>
                <a:ea typeface="DM Sans"/>
                <a:cs typeface="DM Sans"/>
                <a:sym typeface="DM Sans"/>
              </a:rPr>
              <a:t>Virtual DOM                  DOM</a:t>
            </a:r>
            <a:endParaRPr sz="1800" b="1">
              <a:solidFill>
                <a:schemeClr val="dk1"/>
              </a:solidFill>
              <a:latin typeface="DM Sans"/>
              <a:ea typeface="DM Sans"/>
              <a:cs typeface="DM Sans"/>
              <a:sym typeface="DM Sans"/>
            </a:endParaRPr>
          </a:p>
        </p:txBody>
      </p:sp>
      <p:sp>
        <p:nvSpPr>
          <p:cNvPr id="420" name="Google Shape;420;p69"/>
          <p:cNvSpPr txBox="1"/>
          <p:nvPr/>
        </p:nvSpPr>
        <p:spPr>
          <a:xfrm>
            <a:off x="5668500" y="3662700"/>
            <a:ext cx="3000000" cy="3924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s" sz="1350" b="1">
                <a:solidFill>
                  <a:schemeClr val="dk1"/>
                </a:solidFill>
                <a:latin typeface="DM Sans"/>
                <a:ea typeface="DM Sans"/>
                <a:cs typeface="DM Sans"/>
                <a:sym typeface="DM Sans"/>
              </a:rPr>
              <a:t>Somos igualitos!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24"/>
        <p:cNvGrpSpPr/>
        <p:nvPr/>
      </p:nvGrpSpPr>
      <p:grpSpPr>
        <a:xfrm>
          <a:off x="0" y="0"/>
          <a:ext cx="0" cy="0"/>
          <a:chOff x="0" y="0"/>
          <a:chExt cx="0" cy="0"/>
        </a:xfrm>
      </p:grpSpPr>
      <p:sp>
        <p:nvSpPr>
          <p:cNvPr id="425" name="Google Shape;425;p70"/>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HTML por defecto en React</a:t>
            </a:r>
            <a:endParaRPr sz="4000" b="1">
              <a:solidFill>
                <a:schemeClr val="dk1"/>
              </a:solidFill>
              <a:latin typeface="DM Sans"/>
              <a:ea typeface="DM Sans"/>
              <a:cs typeface="DM Sans"/>
              <a:sym typeface="DM Sans"/>
            </a:endParaRPr>
          </a:p>
        </p:txBody>
      </p:sp>
      <p:pic>
        <p:nvPicPr>
          <p:cNvPr id="426" name="Google Shape;426;p70"/>
          <p:cNvPicPr preferRelativeResize="0"/>
          <p:nvPr/>
        </p:nvPicPr>
        <p:blipFill>
          <a:blip r:embed="rId3">
            <a:alphaModFix/>
          </a:blip>
          <a:stretch>
            <a:fillRect/>
          </a:stretch>
        </p:blipFill>
        <p:spPr>
          <a:xfrm>
            <a:off x="2430488" y="1435175"/>
            <a:ext cx="4226832" cy="3480275"/>
          </a:xfrm>
          <a:prstGeom prst="rect">
            <a:avLst/>
          </a:prstGeom>
          <a:noFill/>
          <a:ln>
            <a:noFill/>
          </a:ln>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30"/>
        <p:cNvGrpSpPr/>
        <p:nvPr/>
      </p:nvGrpSpPr>
      <p:grpSpPr>
        <a:xfrm>
          <a:off x="0" y="0"/>
          <a:ext cx="0" cy="0"/>
          <a:chOff x="0" y="0"/>
          <a:chExt cx="0" cy="0"/>
        </a:xfrm>
      </p:grpSpPr>
      <p:sp>
        <p:nvSpPr>
          <p:cNvPr id="431" name="Google Shape;431;p71"/>
          <p:cNvSpPr txBox="1"/>
          <p:nvPr/>
        </p:nvSpPr>
        <p:spPr>
          <a:xfrm>
            <a:off x="473350" y="392625"/>
            <a:ext cx="8141100" cy="7389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4000" b="1">
                <a:solidFill>
                  <a:schemeClr val="dk1"/>
                </a:solidFill>
                <a:latin typeface="DM Sans"/>
                <a:ea typeface="DM Sans"/>
                <a:cs typeface="DM Sans"/>
                <a:sym typeface="DM Sans"/>
              </a:rPr>
              <a:t>React en el navegador</a:t>
            </a:r>
            <a:endParaRPr sz="4000" b="1">
              <a:solidFill>
                <a:schemeClr val="dk1"/>
              </a:solidFill>
              <a:latin typeface="DM Sans"/>
              <a:ea typeface="DM Sans"/>
              <a:cs typeface="DM Sans"/>
              <a:sym typeface="DM Sans"/>
            </a:endParaRPr>
          </a:p>
        </p:txBody>
      </p:sp>
      <p:pic>
        <p:nvPicPr>
          <p:cNvPr id="432" name="Google Shape;432;p71"/>
          <p:cNvPicPr preferRelativeResize="0"/>
          <p:nvPr/>
        </p:nvPicPr>
        <p:blipFill>
          <a:blip r:embed="rId3">
            <a:alphaModFix/>
          </a:blip>
          <a:stretch>
            <a:fillRect/>
          </a:stretch>
        </p:blipFill>
        <p:spPr>
          <a:xfrm>
            <a:off x="1723048" y="1419500"/>
            <a:ext cx="5641701" cy="3035375"/>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p72"/>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DIFFING       </a:t>
            </a:r>
            <a:endParaRPr sz="4000" b="1">
              <a:solidFill>
                <a:schemeClr val="dk1"/>
              </a:solidFill>
              <a:latin typeface="DM Sans"/>
              <a:ea typeface="DM Sans"/>
              <a:cs typeface="DM Sans"/>
              <a:sym typeface="DM Sans"/>
            </a:endParaRPr>
          </a:p>
        </p:txBody>
      </p:sp>
      <p:sp>
        <p:nvSpPr>
          <p:cNvPr id="438" name="Google Shape;438;p72"/>
          <p:cNvSpPr txBox="1"/>
          <p:nvPr/>
        </p:nvSpPr>
        <p:spPr>
          <a:xfrm>
            <a:off x="475500" y="1600175"/>
            <a:ext cx="3834600" cy="44550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Cuando en nuestra aplicación ocurre un cambio en el </a:t>
            </a:r>
            <a:r>
              <a:rPr lang="es" sz="1350" b="1">
                <a:solidFill>
                  <a:schemeClr val="accent5"/>
                </a:solidFill>
                <a:latin typeface="DM Sans"/>
                <a:ea typeface="DM Sans"/>
                <a:cs typeface="DM Sans"/>
                <a:sym typeface="DM Sans"/>
              </a:rPr>
              <a:t>estado</a:t>
            </a:r>
            <a:r>
              <a:rPr lang="es" sz="1350">
                <a:latin typeface="DM Sans"/>
                <a:ea typeface="DM Sans"/>
                <a:cs typeface="DM Sans"/>
                <a:sym typeface="DM Sans"/>
              </a:rPr>
              <a:t> de nuestros datos.</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React crea una nueva versión del </a:t>
            </a:r>
            <a:r>
              <a:rPr lang="es" sz="1350" b="1">
                <a:latin typeface="DM Sans"/>
                <a:ea typeface="DM Sans"/>
                <a:cs typeface="DM Sans"/>
                <a:sym typeface="DM Sans"/>
              </a:rPr>
              <a:t>VDOM</a:t>
            </a:r>
            <a:r>
              <a:rPr lang="es" sz="1350">
                <a:latin typeface="DM Sans"/>
                <a:ea typeface="DM Sans"/>
                <a:cs typeface="DM Sans"/>
                <a:sym typeface="DM Sans"/>
              </a:rPr>
              <a:t> y la compara con el </a:t>
            </a:r>
            <a:r>
              <a:rPr lang="es" sz="1350" b="1">
                <a:latin typeface="DM Sans"/>
                <a:ea typeface="DM Sans"/>
                <a:cs typeface="DM Sans"/>
                <a:sym typeface="DM Sans"/>
              </a:rPr>
              <a:t>VDOM</a:t>
            </a:r>
            <a:r>
              <a:rPr lang="es" sz="1350">
                <a:latin typeface="DM Sans"/>
                <a:ea typeface="DM Sans"/>
                <a:cs typeface="DM Sans"/>
                <a:sym typeface="DM Sans"/>
              </a:rPr>
              <a:t> guardado en memoria.</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De este modo obtiene la diferencia exacta  entre ambas instantáneas (snapshots).</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r>
              <a:rPr lang="es" sz="1350">
                <a:latin typeface="DM Sans"/>
                <a:ea typeface="DM Sans"/>
                <a:cs typeface="DM Sans"/>
                <a:sym typeface="DM Sans"/>
              </a:rPr>
              <a:t>Este proceso se llama </a:t>
            </a:r>
            <a:r>
              <a:rPr lang="es" sz="1350" b="1">
                <a:latin typeface="DM Sans"/>
                <a:ea typeface="DM Sans"/>
                <a:cs typeface="DM Sans"/>
                <a:sym typeface="DM Sans"/>
              </a:rPr>
              <a:t>diffing</a:t>
            </a:r>
            <a:r>
              <a:rPr lang="es" sz="1350">
                <a:latin typeface="DM Sans"/>
                <a:ea typeface="DM Sans"/>
                <a:cs typeface="DM Sans"/>
                <a:sym typeface="DM Sans"/>
              </a:rPr>
              <a:t>. </a:t>
            </a: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p:txBody>
      </p:sp>
      <p:pic>
        <p:nvPicPr>
          <p:cNvPr id="439" name="Google Shape;439;p72"/>
          <p:cNvPicPr preferRelativeResize="0"/>
          <p:nvPr/>
        </p:nvPicPr>
        <p:blipFill>
          <a:blip r:embed="rId3">
            <a:alphaModFix/>
          </a:blip>
          <a:stretch>
            <a:fillRect/>
          </a:stretch>
        </p:blipFill>
        <p:spPr>
          <a:xfrm>
            <a:off x="5754091" y="1812700"/>
            <a:ext cx="2209800" cy="2105025"/>
          </a:xfrm>
          <a:prstGeom prst="rect">
            <a:avLst/>
          </a:prstGeom>
          <a:noFill/>
          <a:ln>
            <a:noFill/>
          </a:ln>
        </p:spPr>
      </p:pic>
      <p:sp>
        <p:nvSpPr>
          <p:cNvPr id="440" name="Google Shape;440;p72"/>
          <p:cNvSpPr txBox="1"/>
          <p:nvPr/>
        </p:nvSpPr>
        <p:spPr>
          <a:xfrm>
            <a:off x="6221721" y="1195225"/>
            <a:ext cx="1945200" cy="4341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1800" b="1">
                <a:solidFill>
                  <a:schemeClr val="dk1"/>
                </a:solidFill>
                <a:latin typeface="DM Sans"/>
                <a:ea typeface="DM Sans"/>
                <a:cs typeface="DM Sans"/>
                <a:sym typeface="DM Sans"/>
              </a:rPr>
              <a:t>Virtual DOM         </a:t>
            </a:r>
            <a:endParaRPr sz="1800" b="1">
              <a:solidFill>
                <a:schemeClr val="dk1"/>
              </a:solidFill>
              <a:latin typeface="DM Sans"/>
              <a:ea typeface="DM Sans"/>
              <a:cs typeface="DM Sans"/>
              <a:sym typeface="DM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73"/>
          <p:cNvSpPr txBox="1"/>
          <p:nvPr/>
        </p:nvSpPr>
        <p:spPr>
          <a:xfrm>
            <a:off x="473350" y="619525"/>
            <a:ext cx="81411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Reconciliación</a:t>
            </a:r>
            <a:endParaRPr sz="4000" b="1">
              <a:solidFill>
                <a:schemeClr val="dk1"/>
              </a:solidFill>
              <a:latin typeface="DM Sans"/>
              <a:ea typeface="DM Sans"/>
              <a:cs typeface="DM Sans"/>
              <a:sym typeface="DM Sans"/>
            </a:endParaRPr>
          </a:p>
        </p:txBody>
      </p:sp>
      <p:sp>
        <p:nvSpPr>
          <p:cNvPr id="446" name="Google Shape;446;p73"/>
          <p:cNvSpPr txBox="1"/>
          <p:nvPr/>
        </p:nvSpPr>
        <p:spPr>
          <a:xfrm>
            <a:off x="473350" y="1810200"/>
            <a:ext cx="3834600" cy="4423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Clr>
                <a:schemeClr val="dk1"/>
              </a:buClr>
              <a:buSzPts val="1100"/>
              <a:buFont typeface="Arial"/>
              <a:buNone/>
            </a:pPr>
            <a:r>
              <a:rPr lang="es" sz="1350">
                <a:solidFill>
                  <a:schemeClr val="dk1"/>
                </a:solidFill>
                <a:latin typeface="DM Sans"/>
                <a:ea typeface="DM Sans"/>
                <a:cs typeface="DM Sans"/>
                <a:sym typeface="DM Sans"/>
              </a:rPr>
              <a:t>React luego, con los datos obtenidos del </a:t>
            </a:r>
            <a:r>
              <a:rPr lang="es" sz="1350" b="1">
                <a:solidFill>
                  <a:schemeClr val="dk1"/>
                </a:solidFill>
                <a:latin typeface="DM Sans"/>
                <a:ea typeface="DM Sans"/>
                <a:cs typeface="DM Sans"/>
                <a:sym typeface="DM Sans"/>
              </a:rPr>
              <a:t>diff,</a:t>
            </a:r>
            <a:r>
              <a:rPr lang="es" sz="1350">
                <a:solidFill>
                  <a:schemeClr val="dk1"/>
                </a:solidFill>
                <a:latin typeface="DM Sans"/>
                <a:ea typeface="DM Sans"/>
                <a:cs typeface="DM Sans"/>
                <a:sym typeface="DM Sans"/>
              </a:rPr>
              <a:t> efectúa un proceso llamado de </a:t>
            </a:r>
            <a:r>
              <a:rPr lang="es" sz="1350" b="1">
                <a:solidFill>
                  <a:schemeClr val="dk1"/>
                </a:solidFill>
                <a:highlight>
                  <a:schemeClr val="accent1"/>
                </a:highlight>
                <a:latin typeface="DM Sans"/>
                <a:ea typeface="DM Sans"/>
                <a:cs typeface="DM Sans"/>
                <a:sym typeface="DM Sans"/>
              </a:rPr>
              <a:t>reconciliación</a:t>
            </a:r>
            <a:r>
              <a:rPr lang="es" sz="1350">
                <a:solidFill>
                  <a:schemeClr val="dk1"/>
                </a:solidFill>
                <a:latin typeface="DM Sans"/>
                <a:ea typeface="DM Sans"/>
                <a:cs typeface="DM Sans"/>
                <a:sym typeface="DM Sans"/>
              </a:rPr>
              <a:t> en el cuál detecta por sí mismo todos los cambios que serán necesarios en el DOM y como realizarlos de la manera más óptima.</a:t>
            </a: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solidFill>
                <a:schemeClr val="dk1"/>
              </a:solidFill>
              <a:latin typeface="DM Sans"/>
              <a:ea typeface="DM Sans"/>
              <a:cs typeface="DM Sans"/>
              <a:sym typeface="DM Sans"/>
            </a:endParaRPr>
          </a:p>
          <a:p>
            <a:pPr marL="0" lvl="0" indent="0" algn="l" rtl="0">
              <a:spcBef>
                <a:spcPts val="0"/>
              </a:spcBef>
              <a:spcAft>
                <a:spcPts val="0"/>
              </a:spcAft>
              <a:buClr>
                <a:schemeClr val="dk1"/>
              </a:buClr>
              <a:buSzPts val="1100"/>
              <a:buFont typeface="Arial"/>
              <a:buNone/>
            </a:pPr>
            <a:endParaRPr sz="1350">
              <a:solidFill>
                <a:schemeClr val="dk1"/>
              </a:solidFill>
              <a:highlight>
                <a:schemeClr val="accent6"/>
              </a:highlight>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a:latin typeface="DM Sans"/>
              <a:ea typeface="DM Sans"/>
              <a:cs typeface="DM Sans"/>
              <a:sym typeface="DM Sans"/>
            </a:endParaRPr>
          </a:p>
          <a:p>
            <a:pPr marL="0" lvl="0" indent="0" algn="l" rtl="0">
              <a:lnSpc>
                <a:spcPct val="115000"/>
              </a:lnSpc>
              <a:spcBef>
                <a:spcPts val="0"/>
              </a:spcBef>
              <a:spcAft>
                <a:spcPts val="0"/>
              </a:spcAft>
              <a:buClr>
                <a:schemeClr val="dk1"/>
              </a:buClr>
              <a:buSzPts val="1100"/>
              <a:buFont typeface="Arial"/>
              <a:buNone/>
            </a:pPr>
            <a:endParaRPr sz="1350" b="1">
              <a:latin typeface="DM Sans"/>
              <a:ea typeface="DM Sans"/>
              <a:cs typeface="DM Sans"/>
              <a:sym typeface="DM Sans"/>
            </a:endParaRPr>
          </a:p>
          <a:p>
            <a:pPr marL="0" lvl="0" indent="0" algn="l" rtl="0">
              <a:lnSpc>
                <a:spcPct val="115000"/>
              </a:lnSpc>
              <a:spcBef>
                <a:spcPts val="0"/>
              </a:spcBef>
              <a:spcAft>
                <a:spcPts val="0"/>
              </a:spcAft>
              <a:buNone/>
            </a:pPr>
            <a:endParaRPr sz="1350">
              <a:latin typeface="DM Sans"/>
              <a:ea typeface="DM Sans"/>
              <a:cs typeface="DM Sans"/>
              <a:sym typeface="DM Sans"/>
            </a:endParaRPr>
          </a:p>
        </p:txBody>
      </p:sp>
      <p:pic>
        <p:nvPicPr>
          <p:cNvPr id="447" name="Google Shape;447;p73"/>
          <p:cNvPicPr preferRelativeResize="0"/>
          <p:nvPr/>
        </p:nvPicPr>
        <p:blipFill>
          <a:blip r:embed="rId3">
            <a:alphaModFix/>
          </a:blip>
          <a:stretch>
            <a:fillRect/>
          </a:stretch>
        </p:blipFill>
        <p:spPr>
          <a:xfrm>
            <a:off x="4612750" y="1207825"/>
            <a:ext cx="4531251" cy="2529948"/>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74"/>
          <p:cNvSpPr/>
          <p:nvPr/>
        </p:nvSpPr>
        <p:spPr>
          <a:xfrm>
            <a:off x="647400" y="1189150"/>
            <a:ext cx="7849200" cy="3317400"/>
          </a:xfrm>
          <a:prstGeom prst="rect">
            <a:avLst/>
          </a:prstGeom>
          <a:solidFill>
            <a:srgbClr val="EAFF6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74"/>
          <p:cNvSpPr txBox="1"/>
          <p:nvPr/>
        </p:nvSpPr>
        <p:spPr>
          <a:xfrm>
            <a:off x="316225" y="345975"/>
            <a:ext cx="8438400" cy="544800"/>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r>
              <a:rPr lang="es" sz="2600" b="1">
                <a:solidFill>
                  <a:schemeClr val="lt1"/>
                </a:solidFill>
                <a:latin typeface="DM Sans"/>
                <a:ea typeface="DM Sans"/>
                <a:cs typeface="DM Sans"/>
                <a:sym typeface="DM Sans"/>
              </a:rPr>
              <a:t>Primera premisa: Optimicemos los movimientos</a:t>
            </a:r>
            <a:endParaRPr sz="3500" b="1">
              <a:solidFill>
                <a:schemeClr val="lt1"/>
              </a:solidFill>
              <a:latin typeface="DM Sans"/>
              <a:ea typeface="DM Sans"/>
              <a:cs typeface="DM Sans"/>
              <a:sym typeface="DM Sans"/>
            </a:endParaRPr>
          </a:p>
        </p:txBody>
      </p:sp>
      <p:pic>
        <p:nvPicPr>
          <p:cNvPr id="454" name="Google Shape;454;p74"/>
          <p:cNvPicPr preferRelativeResize="0"/>
          <p:nvPr/>
        </p:nvPicPr>
        <p:blipFill rotWithShape="1">
          <a:blip r:embed="rId3">
            <a:alphaModFix/>
          </a:blip>
          <a:srcRect t="15725"/>
          <a:stretch/>
        </p:blipFill>
        <p:spPr>
          <a:xfrm>
            <a:off x="1868975" y="2031850"/>
            <a:ext cx="5406051" cy="1632000"/>
          </a:xfrm>
          <a:prstGeom prst="rect">
            <a:avLst/>
          </a:prstGeom>
          <a:noFill/>
          <a:ln>
            <a:noFill/>
          </a:ln>
        </p:spPr>
      </p:pic>
      <p:sp>
        <p:nvSpPr>
          <p:cNvPr id="455" name="Google Shape;455;p74"/>
          <p:cNvSpPr txBox="1"/>
          <p:nvPr/>
        </p:nvSpPr>
        <p:spPr>
          <a:xfrm>
            <a:off x="7318550" y="1394750"/>
            <a:ext cx="10161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a:latin typeface="DM Sans"/>
                <a:ea typeface="DM Sans"/>
                <a:cs typeface="DM Sans"/>
                <a:sym typeface="DM Sans"/>
              </a:rPr>
              <a:t>Zona de</a:t>
            </a: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evento</a:t>
            </a:r>
            <a:endParaRPr sz="1350">
              <a:latin typeface="DM Sans"/>
              <a:ea typeface="DM Sans"/>
              <a:cs typeface="DM Sans"/>
              <a:sym typeface="DM Sans"/>
            </a:endParaRPr>
          </a:p>
        </p:txBody>
      </p:sp>
      <p:cxnSp>
        <p:nvCxnSpPr>
          <p:cNvPr id="456" name="Google Shape;456;p74"/>
          <p:cNvCxnSpPr/>
          <p:nvPr/>
        </p:nvCxnSpPr>
        <p:spPr>
          <a:xfrm flipH="1">
            <a:off x="4446700" y="1691625"/>
            <a:ext cx="2823300" cy="855300"/>
          </a:xfrm>
          <a:prstGeom prst="straightConnector1">
            <a:avLst/>
          </a:prstGeom>
          <a:noFill/>
          <a:ln w="9525" cap="flat" cmpd="sng">
            <a:solidFill>
              <a:srgbClr val="595959"/>
            </a:solidFill>
            <a:prstDash val="solid"/>
            <a:round/>
            <a:headEnd type="none" w="med" len="med"/>
            <a:tailEnd type="triangle" w="med" len="med"/>
          </a:ln>
        </p:spPr>
      </p:cxnSp>
      <p:sp>
        <p:nvSpPr>
          <p:cNvPr id="457" name="Google Shape;457;p74"/>
          <p:cNvSpPr txBox="1"/>
          <p:nvPr/>
        </p:nvSpPr>
        <p:spPr>
          <a:xfrm>
            <a:off x="7630250" y="2155350"/>
            <a:ext cx="13941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a:latin typeface="DM Sans"/>
                <a:ea typeface="DM Sans"/>
                <a:cs typeface="DM Sans"/>
                <a:sym typeface="DM Sans"/>
              </a:rPr>
              <a:t>Cambio </a:t>
            </a: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aislado</a:t>
            </a:r>
            <a:endParaRPr sz="1350">
              <a:latin typeface="DM Sans"/>
              <a:ea typeface="DM Sans"/>
              <a:cs typeface="DM Sans"/>
              <a:sym typeface="DM Sans"/>
            </a:endParaRPr>
          </a:p>
        </p:txBody>
      </p:sp>
      <p:cxnSp>
        <p:nvCxnSpPr>
          <p:cNvPr id="458" name="Google Shape;458;p74"/>
          <p:cNvCxnSpPr/>
          <p:nvPr/>
        </p:nvCxnSpPr>
        <p:spPr>
          <a:xfrm rot="10800000">
            <a:off x="1550975" y="2547000"/>
            <a:ext cx="557700" cy="49500"/>
          </a:xfrm>
          <a:prstGeom prst="straightConnector1">
            <a:avLst/>
          </a:prstGeom>
          <a:noFill/>
          <a:ln w="9525" cap="flat" cmpd="sng">
            <a:solidFill>
              <a:srgbClr val="595959"/>
            </a:solidFill>
            <a:prstDash val="solid"/>
            <a:round/>
            <a:headEnd type="none" w="med" len="med"/>
            <a:tailEnd type="triangle" w="med" len="med"/>
          </a:ln>
        </p:spPr>
      </p:cxnSp>
      <p:sp>
        <p:nvSpPr>
          <p:cNvPr id="459" name="Google Shape;459;p74"/>
          <p:cNvSpPr txBox="1"/>
          <p:nvPr/>
        </p:nvSpPr>
        <p:spPr>
          <a:xfrm>
            <a:off x="647400" y="2289425"/>
            <a:ext cx="10161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b="1">
                <a:latin typeface="DM Sans"/>
                <a:ea typeface="DM Sans"/>
                <a:cs typeface="DM Sans"/>
                <a:sym typeface="DM Sans"/>
              </a:rPr>
              <a:t>Nodos</a:t>
            </a:r>
            <a:endParaRPr sz="1350">
              <a:latin typeface="DM Sans"/>
              <a:ea typeface="DM Sans"/>
              <a:cs typeface="DM Sans"/>
              <a:sym typeface="DM Sans"/>
            </a:endParaRPr>
          </a:p>
        </p:txBody>
      </p:sp>
      <p:cxnSp>
        <p:nvCxnSpPr>
          <p:cNvPr id="460" name="Google Shape;460;p74"/>
          <p:cNvCxnSpPr/>
          <p:nvPr/>
        </p:nvCxnSpPr>
        <p:spPr>
          <a:xfrm rot="10800000" flipH="1">
            <a:off x="6398375" y="2408300"/>
            <a:ext cx="1179600" cy="471000"/>
          </a:xfrm>
          <a:prstGeom prst="straightConnector1">
            <a:avLst/>
          </a:prstGeom>
          <a:noFill/>
          <a:ln w="9525" cap="flat" cmpd="sng">
            <a:solidFill>
              <a:srgbClr val="595959"/>
            </a:solidFill>
            <a:prstDash val="solid"/>
            <a:round/>
            <a:headEnd type="none" w="med" len="med"/>
            <a:tailEnd type="triangle" w="med" len="med"/>
          </a:ln>
        </p:spPr>
      </p:cxnSp>
      <p:sp>
        <p:nvSpPr>
          <p:cNvPr id="461" name="Google Shape;461;p74"/>
          <p:cNvSpPr txBox="1"/>
          <p:nvPr/>
        </p:nvSpPr>
        <p:spPr>
          <a:xfrm>
            <a:off x="3546571" y="3746593"/>
            <a:ext cx="1586400" cy="8328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s" sz="1350">
                <a:latin typeface="DM Sans"/>
                <a:ea typeface="DM Sans"/>
                <a:cs typeface="DM Sans"/>
                <a:sym typeface="DM Sans"/>
              </a:rPr>
              <a:t>Estado original</a:t>
            </a:r>
            <a:endParaRPr sz="1350">
              <a:latin typeface="DM Sans"/>
              <a:ea typeface="DM Sans"/>
              <a:cs typeface="DM Sans"/>
              <a:sym typeface="DM Sans"/>
            </a:endParaRPr>
          </a:p>
        </p:txBody>
      </p:sp>
      <p:cxnSp>
        <p:nvCxnSpPr>
          <p:cNvPr id="462" name="Google Shape;462;p74"/>
          <p:cNvCxnSpPr/>
          <p:nvPr/>
        </p:nvCxnSpPr>
        <p:spPr>
          <a:xfrm rot="10800000">
            <a:off x="2899525" y="3242150"/>
            <a:ext cx="595800" cy="651600"/>
          </a:xfrm>
          <a:prstGeom prst="straightConnector1">
            <a:avLst/>
          </a:prstGeom>
          <a:noFill/>
          <a:ln w="9525" cap="flat" cmpd="sng">
            <a:solidFill>
              <a:srgbClr val="595959"/>
            </a:solidFill>
            <a:prstDash val="solid"/>
            <a:round/>
            <a:headEnd type="none" w="med" len="med"/>
            <a:tailEnd type="triangle" w="med" len="med"/>
          </a:ln>
        </p:spPr>
      </p:cxnSp>
      <p:cxnSp>
        <p:nvCxnSpPr>
          <p:cNvPr id="463" name="Google Shape;463;p74"/>
          <p:cNvCxnSpPr/>
          <p:nvPr/>
        </p:nvCxnSpPr>
        <p:spPr>
          <a:xfrm flipH="1">
            <a:off x="5310475" y="2704600"/>
            <a:ext cx="384300" cy="582600"/>
          </a:xfrm>
          <a:prstGeom prst="straightConnector1">
            <a:avLst/>
          </a:prstGeom>
          <a:noFill/>
          <a:ln w="9525" cap="flat" cmpd="sng">
            <a:solidFill>
              <a:srgbClr val="595959"/>
            </a:solidFill>
            <a:prstDash val="solid"/>
            <a:round/>
            <a:headEnd type="none" w="med" len="med"/>
            <a:tailEnd type="triangle" w="med" len="med"/>
          </a:ln>
        </p:spPr>
      </p:cxnSp>
      <p:cxnSp>
        <p:nvCxnSpPr>
          <p:cNvPr id="464" name="Google Shape;464;p74"/>
          <p:cNvCxnSpPr/>
          <p:nvPr/>
        </p:nvCxnSpPr>
        <p:spPr>
          <a:xfrm>
            <a:off x="5967150" y="2879300"/>
            <a:ext cx="235500" cy="309900"/>
          </a:xfrm>
          <a:prstGeom prst="straightConnector1">
            <a:avLst/>
          </a:prstGeom>
          <a:noFill/>
          <a:ln w="9525" cap="flat" cmpd="sng">
            <a:solidFill>
              <a:srgbClr val="595959"/>
            </a:solidFill>
            <a:prstDash val="solid"/>
            <a:round/>
            <a:headEnd type="none" w="med" len="med"/>
            <a:tailEnd type="triangle" w="med" len="med"/>
          </a:ln>
        </p:spPr>
      </p:cxn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468"/>
        <p:cNvGrpSpPr/>
        <p:nvPr/>
      </p:nvGrpSpPr>
      <p:grpSpPr>
        <a:xfrm>
          <a:off x="0" y="0"/>
          <a:ext cx="0" cy="0"/>
          <a:chOff x="0" y="0"/>
          <a:chExt cx="0" cy="0"/>
        </a:xfrm>
      </p:grpSpPr>
      <p:sp>
        <p:nvSpPr>
          <p:cNvPr id="469" name="Google Shape;469;p75"/>
          <p:cNvSpPr txBox="1"/>
          <p:nvPr/>
        </p:nvSpPr>
        <p:spPr>
          <a:xfrm>
            <a:off x="475500" y="941400"/>
            <a:ext cx="7085400" cy="7389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React</a:t>
            </a:r>
            <a:endParaRPr sz="4000" b="1">
              <a:solidFill>
                <a:schemeClr val="dk1"/>
              </a:solidFill>
              <a:latin typeface="DM Sans"/>
              <a:ea typeface="DM Sans"/>
              <a:cs typeface="DM Sans"/>
              <a:sym typeface="DM Sans"/>
            </a:endParaRPr>
          </a:p>
        </p:txBody>
      </p:sp>
      <p:sp>
        <p:nvSpPr>
          <p:cNvPr id="470" name="Google Shape;470;p75"/>
          <p:cNvSpPr txBox="1"/>
          <p:nvPr/>
        </p:nvSpPr>
        <p:spPr>
          <a:xfrm>
            <a:off x="436525" y="2233250"/>
            <a:ext cx="4730100" cy="13482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s" sz="1350">
                <a:latin typeface="DM Sans"/>
                <a:ea typeface="DM Sans"/>
                <a:cs typeface="DM Sans"/>
                <a:sym typeface="DM Sans"/>
              </a:rPr>
              <a:t>En vez de aplicar </a:t>
            </a:r>
            <a:r>
              <a:rPr lang="es" sz="1350">
                <a:highlight>
                  <a:schemeClr val="accent6"/>
                </a:highlight>
                <a:latin typeface="DM Sans"/>
                <a:ea typeface="DM Sans"/>
                <a:cs typeface="DM Sans"/>
                <a:sym typeface="DM Sans"/>
              </a:rPr>
              <a:t>uno a uno</a:t>
            </a:r>
            <a:r>
              <a:rPr lang="es" sz="1350">
                <a:latin typeface="DM Sans"/>
                <a:ea typeface="DM Sans"/>
                <a:cs typeface="DM Sans"/>
                <a:sym typeface="DM Sans"/>
              </a:rPr>
              <a:t> los cambios en los cinco nodos, </a:t>
            </a:r>
            <a:r>
              <a:rPr lang="es" sz="1350">
                <a:highlight>
                  <a:schemeClr val="accent6"/>
                </a:highlight>
                <a:latin typeface="DM Sans"/>
                <a:ea typeface="DM Sans"/>
                <a:cs typeface="DM Sans"/>
                <a:sym typeface="DM Sans"/>
              </a:rPr>
              <a:t>React</a:t>
            </a:r>
            <a:r>
              <a:rPr lang="es" sz="1350">
                <a:latin typeface="DM Sans"/>
                <a:ea typeface="DM Sans"/>
                <a:cs typeface="DM Sans"/>
                <a:sym typeface="DM Sans"/>
              </a:rPr>
              <a:t> procesa este resultado en una memoria. Calcula el área de impacto y determina la menor cantidad de movimientos de modo </a:t>
            </a:r>
            <a:r>
              <a:rPr lang="es" sz="1350">
                <a:highlight>
                  <a:schemeClr val="accent6"/>
                </a:highlight>
                <a:latin typeface="DM Sans"/>
                <a:ea typeface="DM Sans"/>
                <a:cs typeface="DM Sans"/>
                <a:sym typeface="DM Sans"/>
              </a:rPr>
              <a:t>heurístico</a:t>
            </a:r>
            <a:r>
              <a:rPr lang="es" sz="1350">
                <a:latin typeface="DM Sans"/>
                <a:ea typeface="DM Sans"/>
                <a:cs typeface="DM Sans"/>
                <a:sym typeface="DM Sans"/>
              </a:rPr>
              <a:t>, por lo que también sabe donde</a:t>
            </a:r>
            <a:r>
              <a:rPr lang="es" sz="1350">
                <a:highlight>
                  <a:schemeClr val="accent6"/>
                </a:highlight>
                <a:latin typeface="DM Sans"/>
                <a:ea typeface="DM Sans"/>
                <a:cs typeface="DM Sans"/>
                <a:sym typeface="DM Sans"/>
              </a:rPr>
              <a:t> pueden no haber ocurrido</a:t>
            </a:r>
            <a:r>
              <a:rPr lang="es" sz="1350">
                <a:latin typeface="DM Sans"/>
                <a:ea typeface="DM Sans"/>
                <a:cs typeface="DM Sans"/>
                <a:sym typeface="DM Sans"/>
              </a:rPr>
              <a:t> cambios.</a:t>
            </a:r>
            <a:endParaRPr sz="1350">
              <a:latin typeface="DM Sans"/>
              <a:ea typeface="DM Sans"/>
              <a:cs typeface="DM Sans"/>
              <a:sym typeface="DM Sans"/>
            </a:endParaRPr>
          </a:p>
        </p:txBody>
      </p:sp>
      <p:pic>
        <p:nvPicPr>
          <p:cNvPr id="471" name="Google Shape;471;p75"/>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76"/>
          <p:cNvSpPr txBox="1"/>
          <p:nvPr/>
        </p:nvSpPr>
        <p:spPr>
          <a:xfrm>
            <a:off x="475500" y="941400"/>
            <a:ext cx="7085400" cy="24012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Clr>
                <a:schemeClr val="dk1"/>
              </a:buClr>
              <a:buSzPts val="1100"/>
              <a:buFont typeface="Arial"/>
              <a:buNone/>
            </a:pPr>
            <a:r>
              <a:rPr lang="es" sz="4000" b="1">
                <a:solidFill>
                  <a:schemeClr val="dk1"/>
                </a:solidFill>
                <a:latin typeface="DM Sans"/>
                <a:ea typeface="DM Sans"/>
                <a:cs typeface="DM Sans"/>
                <a:sym typeface="DM Sans"/>
              </a:rPr>
              <a:t>Flujo de datos unidireccional</a:t>
            </a:r>
            <a:endParaRPr sz="4000" b="1">
              <a:solidFill>
                <a:schemeClr val="dk1"/>
              </a:solidFill>
              <a:latin typeface="DM Sans"/>
              <a:ea typeface="DM Sans"/>
              <a:cs typeface="DM Sans"/>
              <a:sym typeface="DM Sans"/>
            </a:endParaRPr>
          </a:p>
          <a:p>
            <a:pPr marL="0" lvl="0" indent="0" algn="l" rtl="0">
              <a:lnSpc>
                <a:spcPct val="90000"/>
              </a:lnSpc>
              <a:spcBef>
                <a:spcPts val="0"/>
              </a:spcBef>
              <a:spcAft>
                <a:spcPts val="0"/>
              </a:spcAft>
              <a:buClr>
                <a:schemeClr val="dk1"/>
              </a:buClr>
              <a:buSzPts val="1100"/>
              <a:buFont typeface="Arial"/>
              <a:buNone/>
            </a:pPr>
            <a:endParaRPr sz="4000" b="1">
              <a:solidFill>
                <a:schemeClr val="dk1"/>
              </a:solidFill>
              <a:latin typeface="DM Sans"/>
              <a:ea typeface="DM Sans"/>
              <a:cs typeface="DM Sans"/>
              <a:sym typeface="DM Sans"/>
            </a:endParaRPr>
          </a:p>
          <a:p>
            <a:pPr marL="0" lvl="0" indent="0" algn="l" rtl="0">
              <a:lnSpc>
                <a:spcPct val="90000"/>
              </a:lnSpc>
              <a:spcBef>
                <a:spcPts val="0"/>
              </a:spcBef>
              <a:spcAft>
                <a:spcPts val="0"/>
              </a:spcAft>
              <a:buNone/>
            </a:pPr>
            <a:endParaRPr sz="4000" b="1">
              <a:solidFill>
                <a:schemeClr val="dk1"/>
              </a:solidFill>
              <a:latin typeface="DM Sans"/>
              <a:ea typeface="DM Sans"/>
              <a:cs typeface="DM Sans"/>
              <a:sym typeface="DM Sans"/>
            </a:endParaRPr>
          </a:p>
        </p:txBody>
      </p:sp>
      <p:sp>
        <p:nvSpPr>
          <p:cNvPr id="477" name="Google Shape;477;p76"/>
          <p:cNvSpPr txBox="1"/>
          <p:nvPr/>
        </p:nvSpPr>
        <p:spPr>
          <a:xfrm>
            <a:off x="436525" y="2233250"/>
            <a:ext cx="4730100" cy="1431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latin typeface="DM Sans"/>
                <a:ea typeface="DM Sans"/>
                <a:cs typeface="DM Sans"/>
                <a:sym typeface="DM Sans"/>
              </a:rPr>
              <a:t>Para lograr esto React plantea una arquitectura en donde los datos fluyen de manera unidireccional.</a:t>
            </a: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endParaRPr sz="1350">
              <a:latin typeface="DM Sans"/>
              <a:ea typeface="DM Sans"/>
              <a:cs typeface="DM Sans"/>
              <a:sym typeface="DM Sans"/>
            </a:endParaRPr>
          </a:p>
          <a:p>
            <a:pPr marL="0" lvl="0" indent="0" algn="l" rtl="0">
              <a:spcBef>
                <a:spcPts val="0"/>
              </a:spcBef>
              <a:spcAft>
                <a:spcPts val="0"/>
              </a:spcAft>
              <a:buNone/>
            </a:pPr>
            <a:r>
              <a:rPr lang="es" sz="1350">
                <a:highlight>
                  <a:schemeClr val="accent6"/>
                </a:highlight>
                <a:latin typeface="DM Sans"/>
                <a:ea typeface="DM Sans"/>
                <a:cs typeface="DM Sans"/>
                <a:sym typeface="DM Sans"/>
              </a:rPr>
              <a:t>De arriba hacia abajo</a:t>
            </a:r>
            <a:endParaRPr sz="1350">
              <a:highlight>
                <a:schemeClr val="accent6"/>
              </a:highlight>
              <a:latin typeface="DM Sans"/>
              <a:ea typeface="DM Sans"/>
              <a:cs typeface="DM Sans"/>
              <a:sym typeface="DM Sans"/>
            </a:endParaRPr>
          </a:p>
        </p:txBody>
      </p:sp>
      <p:pic>
        <p:nvPicPr>
          <p:cNvPr id="478" name="Google Shape;478;p76"/>
          <p:cNvPicPr preferRelativeResize="0"/>
          <p:nvPr/>
        </p:nvPicPr>
        <p:blipFill>
          <a:blip r:embed="rId3">
            <a:alphaModFix/>
          </a:blip>
          <a:stretch>
            <a:fillRect/>
          </a:stretch>
        </p:blipFill>
        <p:spPr>
          <a:xfrm>
            <a:off x="5645126" y="1915300"/>
            <a:ext cx="1998375" cy="1788525"/>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77"/>
          <p:cNvSpPr txBox="1"/>
          <p:nvPr/>
        </p:nvSpPr>
        <p:spPr>
          <a:xfrm>
            <a:off x="436525" y="518850"/>
            <a:ext cx="7085400" cy="1293000"/>
          </a:xfrm>
          <a:prstGeom prst="rect">
            <a:avLst/>
          </a:prstGeom>
          <a:noFill/>
          <a:ln>
            <a:noFill/>
          </a:ln>
        </p:spPr>
        <p:txBody>
          <a:bodyPr spcFirstLastPara="1" wrap="square" lIns="91425" tIns="91425" rIns="91425" bIns="91425" anchor="t" anchorCtr="0">
            <a:spAutoFit/>
          </a:bodyPr>
          <a:lstStyle/>
          <a:p>
            <a:pPr marL="0" lvl="0" indent="0" algn="l" rtl="0">
              <a:lnSpc>
                <a:spcPct val="90000"/>
              </a:lnSpc>
              <a:spcBef>
                <a:spcPts val="0"/>
              </a:spcBef>
              <a:spcAft>
                <a:spcPts val="0"/>
              </a:spcAft>
              <a:buNone/>
            </a:pPr>
            <a:r>
              <a:rPr lang="es" sz="4000" b="1">
                <a:solidFill>
                  <a:schemeClr val="dk1"/>
                </a:solidFill>
                <a:latin typeface="DM Sans"/>
                <a:ea typeface="DM Sans"/>
                <a:cs typeface="DM Sans"/>
                <a:sym typeface="DM Sans"/>
              </a:rPr>
              <a:t>ACTUALIZACIÓN DE ESTADO</a:t>
            </a:r>
            <a:endParaRPr sz="4000" b="1">
              <a:solidFill>
                <a:schemeClr val="dk1"/>
              </a:solidFill>
              <a:latin typeface="DM Sans"/>
              <a:ea typeface="DM Sans"/>
              <a:cs typeface="DM Sans"/>
              <a:sym typeface="DM Sans"/>
            </a:endParaRPr>
          </a:p>
        </p:txBody>
      </p:sp>
      <p:sp>
        <p:nvSpPr>
          <p:cNvPr id="484" name="Google Shape;484;p77"/>
          <p:cNvSpPr txBox="1"/>
          <p:nvPr/>
        </p:nvSpPr>
        <p:spPr>
          <a:xfrm>
            <a:off x="436525" y="1928450"/>
            <a:ext cx="4730100" cy="226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s" sz="1350">
                <a:highlight>
                  <a:schemeClr val="accent6"/>
                </a:highlight>
                <a:latin typeface="DM Sans"/>
                <a:ea typeface="DM Sans"/>
                <a:cs typeface="DM Sans"/>
                <a:sym typeface="DM Sans"/>
              </a:rPr>
              <a:t>Resumiendo el proceso</a:t>
            </a:r>
            <a:endParaRPr sz="1350">
              <a:highlight>
                <a:schemeClr val="accent6"/>
              </a:highlight>
              <a:latin typeface="DM Sans"/>
              <a:ea typeface="DM Sans"/>
              <a:cs typeface="DM Sans"/>
              <a:sym typeface="DM Sans"/>
            </a:endParaRPr>
          </a:p>
          <a:p>
            <a:pPr marL="0" lvl="0" indent="0" algn="l" rtl="0">
              <a:spcBef>
                <a:spcPts val="0"/>
              </a:spcBef>
              <a:spcAft>
                <a:spcPts val="0"/>
              </a:spcAft>
              <a:buNone/>
            </a:pPr>
            <a:endParaRPr sz="1350">
              <a:highlight>
                <a:schemeClr val="accent6"/>
              </a:highlight>
              <a:latin typeface="DM Sans"/>
              <a:ea typeface="DM Sans"/>
              <a:cs typeface="DM Sans"/>
              <a:sym typeface="DM Sans"/>
            </a:endParaRPr>
          </a:p>
          <a:p>
            <a:pPr marL="457200" lvl="0" indent="-314325" algn="l" rtl="0">
              <a:spcBef>
                <a:spcPts val="0"/>
              </a:spcBef>
              <a:spcAft>
                <a:spcPts val="0"/>
              </a:spcAft>
              <a:buClr>
                <a:schemeClr val="accent4"/>
              </a:buClr>
              <a:buSzPts val="1350"/>
              <a:buFont typeface="DM Sans"/>
              <a:buChar char="✓"/>
            </a:pPr>
            <a:r>
              <a:rPr lang="es" sz="1350">
                <a:latin typeface="DM Sans"/>
                <a:ea typeface="DM Sans"/>
                <a:cs typeface="DM Sans"/>
                <a:sym typeface="DM Sans"/>
              </a:rPr>
              <a:t>En primer lugar, tras un cambio en el valor de estado, React ejecuta un algoritmo de “diffing” que identifica lo que ha cambiado.</a:t>
            </a:r>
            <a:endParaRPr sz="1350">
              <a:latin typeface="DM Sans"/>
              <a:ea typeface="DM Sans"/>
              <a:cs typeface="DM Sans"/>
              <a:sym typeface="DM Sans"/>
            </a:endParaRPr>
          </a:p>
          <a:p>
            <a:pPr marL="457200" lvl="0" indent="-314325" algn="l" rtl="0">
              <a:spcBef>
                <a:spcPts val="0"/>
              </a:spcBef>
              <a:spcAft>
                <a:spcPts val="0"/>
              </a:spcAft>
              <a:buClr>
                <a:schemeClr val="accent4"/>
              </a:buClr>
              <a:buSzPts val="1350"/>
              <a:buFont typeface="DM Sans"/>
              <a:buChar char="✓"/>
            </a:pPr>
            <a:r>
              <a:rPr lang="es" sz="1350">
                <a:latin typeface="DM Sans"/>
                <a:ea typeface="DM Sans"/>
                <a:cs typeface="DM Sans"/>
                <a:sym typeface="DM Sans"/>
              </a:rPr>
              <a:t>El segundo paso es la reconciliación, donde se actualiza el DOM con los resultados de diff.</a:t>
            </a:r>
            <a:endParaRPr sz="1350">
              <a:latin typeface="DM Sans"/>
              <a:ea typeface="DM Sans"/>
              <a:cs typeface="DM Sans"/>
              <a:sym typeface="DM Sans"/>
            </a:endParaRPr>
          </a:p>
          <a:p>
            <a:pPr marL="0" lvl="0" indent="0" algn="l" rtl="0">
              <a:spcBef>
                <a:spcPts val="0"/>
              </a:spcBef>
              <a:spcAft>
                <a:spcPts val="0"/>
              </a:spcAft>
              <a:buNone/>
            </a:pPr>
            <a:endParaRPr sz="1350">
              <a:highlight>
                <a:schemeClr val="accent6"/>
              </a:highlight>
              <a:latin typeface="DM Sans"/>
              <a:ea typeface="DM Sans"/>
              <a:cs typeface="DM Sans"/>
              <a:sym typeface="DM Sans"/>
            </a:endParaRPr>
          </a:p>
          <a:p>
            <a:pPr marL="0" lvl="0" indent="0" algn="l" rtl="0">
              <a:spcBef>
                <a:spcPts val="0"/>
              </a:spcBef>
              <a:spcAft>
                <a:spcPts val="0"/>
              </a:spcAft>
              <a:buNone/>
            </a:pPr>
            <a:r>
              <a:rPr lang="es" sz="1350">
                <a:highlight>
                  <a:schemeClr val="accent6"/>
                </a:highlight>
                <a:latin typeface="DM Sans"/>
                <a:ea typeface="DM Sans"/>
                <a:cs typeface="DM Sans"/>
                <a:sym typeface="DM Sans"/>
              </a:rPr>
              <a:t>React se encarga de todo esto, nosotros solo aprenderemos a ayudarlo</a:t>
            </a:r>
            <a:endParaRPr sz="1350">
              <a:highlight>
                <a:schemeClr val="accent6"/>
              </a:highlight>
              <a:latin typeface="DM Sans"/>
              <a:ea typeface="DM Sans"/>
              <a:cs typeface="DM Sans"/>
              <a:sym typeface="DM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4"/>
          <p:cNvSpPr txBox="1"/>
          <p:nvPr/>
        </p:nvSpPr>
        <p:spPr>
          <a:xfrm>
            <a:off x="1556994" y="790250"/>
            <a:ext cx="6221400" cy="1985129"/>
          </a:xfrm>
          <a:prstGeom prst="rect">
            <a:avLst/>
          </a:prstGeom>
          <a:noFill/>
          <a:ln>
            <a:noFill/>
          </a:ln>
        </p:spPr>
        <p:txBody>
          <a:bodyPr spcFirstLastPara="1" wrap="square" lIns="91425" tIns="91425" rIns="91425" bIns="91425" anchor="t" anchorCtr="0">
            <a:spAutoFit/>
          </a:bodyPr>
          <a:lstStyle/>
          <a:p>
            <a:pPr marL="0" lvl="0" indent="0" algn="ctr" rtl="0">
              <a:lnSpc>
                <a:spcPct val="90000"/>
              </a:lnSpc>
              <a:spcBef>
                <a:spcPts val="0"/>
              </a:spcBef>
              <a:spcAft>
                <a:spcPts val="0"/>
              </a:spcAft>
              <a:buNone/>
            </a:pPr>
            <a:endParaRPr sz="5000" dirty="0">
              <a:solidFill>
                <a:srgbClr val="E8E7E3"/>
              </a:solidFill>
            </a:endParaRPr>
          </a:p>
          <a:p>
            <a:pPr marL="0" lvl="0" indent="0" algn="ctr" rtl="0">
              <a:lnSpc>
                <a:spcPct val="90000"/>
              </a:lnSpc>
              <a:spcBef>
                <a:spcPts val="0"/>
              </a:spcBef>
              <a:spcAft>
                <a:spcPts val="0"/>
              </a:spcAft>
              <a:buNone/>
            </a:pPr>
            <a:r>
              <a:rPr lang="es-419" sz="4000" b="1" dirty="0" smtClean="0">
                <a:solidFill>
                  <a:srgbClr val="EAFF6A"/>
                </a:solidFill>
                <a:latin typeface="DM Sans"/>
                <a:ea typeface="DM Sans"/>
                <a:cs typeface="DM Sans"/>
                <a:sym typeface="DM Sans"/>
              </a:rPr>
              <a:t>Llegamos al final de la clase!!!!</a:t>
            </a:r>
            <a:endParaRPr sz="4000" b="1" dirty="0">
              <a:solidFill>
                <a:schemeClr val="lt1"/>
              </a:solidFill>
              <a:latin typeface="DM Sans"/>
              <a:ea typeface="DM Sans"/>
              <a:cs typeface="DM Sans"/>
              <a:sym typeface="DM Sans"/>
            </a:endParaRPr>
          </a:p>
        </p:txBody>
      </p:sp>
      <p:sp>
        <p:nvSpPr>
          <p:cNvPr id="219" name="Google Shape;219;p44"/>
          <p:cNvSpPr txBox="1"/>
          <p:nvPr/>
        </p:nvSpPr>
        <p:spPr>
          <a:xfrm>
            <a:off x="2998200" y="2971950"/>
            <a:ext cx="31476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s-419" sz="2000" dirty="0" smtClean="0">
                <a:solidFill>
                  <a:schemeClr val="lt1"/>
                </a:solidFill>
                <a:latin typeface="DM Sans"/>
                <a:ea typeface="DM Sans"/>
                <a:cs typeface="DM Sans"/>
                <a:sym typeface="DM Sans"/>
              </a:rPr>
              <a:t>Dudas? Consultas?</a:t>
            </a:r>
            <a:endParaRPr sz="2000" dirty="0">
              <a:solidFill>
                <a:schemeClr val="lt1"/>
              </a:solidFill>
              <a:latin typeface="DM Sans"/>
              <a:ea typeface="DM Sans"/>
              <a:cs typeface="DM Sans"/>
              <a:sym typeface="DM Sans"/>
            </a:endParaRPr>
          </a:p>
        </p:txBody>
      </p:sp>
    </p:spTree>
    <p:extLst>
      <p:ext uri="{BB962C8B-B14F-4D97-AF65-F5344CB8AC3E}">
        <p14:creationId xmlns:p14="http://schemas.microsoft.com/office/powerpoint/2010/main" val="1913605296"/>
      </p:ext>
    </p:extLst>
  </p:cSld>
  <p:clrMapOvr>
    <a:masterClrMapping/>
  </p:clrMapOvr>
</p:sld>
</file>

<file path=ppt/theme/theme1.xml><?xml version="1.0" encoding="utf-8"?>
<a:theme xmlns:a="http://schemas.openxmlformats.org/drawingml/2006/main" name="Coder">
  <a:themeElements>
    <a:clrScheme name="Simple Light">
      <a:dk1>
        <a:srgbClr val="000000"/>
      </a:dk1>
      <a:lt1>
        <a:srgbClr val="FFFFFF"/>
      </a:lt1>
      <a:dk2>
        <a:srgbClr val="595959"/>
      </a:dk2>
      <a:lt2>
        <a:srgbClr val="EEEEEE"/>
      </a:lt2>
      <a:accent1>
        <a:srgbClr val="9DF4E2"/>
      </a:accent1>
      <a:accent2>
        <a:srgbClr val="212121"/>
      </a:accent2>
      <a:accent3>
        <a:srgbClr val="78909C"/>
      </a:accent3>
      <a:accent4>
        <a:srgbClr val="EA90FF"/>
      </a:accent4>
      <a:accent5>
        <a:srgbClr val="83AEFB"/>
      </a:accent5>
      <a:accent6>
        <a:srgbClr val="EAFF6A"/>
      </a:accent6>
      <a:hlink>
        <a:srgbClr val="83AEFB"/>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TotalTime>
  <Words>2724</Words>
  <Application>Microsoft Office PowerPoint</Application>
  <PresentationFormat>Presentación en pantalla (16:9)</PresentationFormat>
  <Paragraphs>346</Paragraphs>
  <Slides>58</Slides>
  <Notes>58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58</vt:i4>
      </vt:variant>
    </vt:vector>
  </HeadingPairs>
  <TitlesOfParts>
    <vt:vector size="63" baseType="lpstr">
      <vt:lpstr>Helvetica Neue</vt:lpstr>
      <vt:lpstr>Helvetica Neue Light</vt:lpstr>
      <vt:lpstr>Arial</vt:lpstr>
      <vt:lpstr>DM Sans</vt:lpstr>
      <vt:lpstr>Coder</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cp:lastModifiedBy>Turi</cp:lastModifiedBy>
  <cp:revision>14</cp:revision>
  <dcterms:modified xsi:type="dcterms:W3CDTF">2025-10-29T23:03:10Z</dcterms:modified>
</cp:coreProperties>
</file>