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60"/>
  </p:notesMasterIdLst>
  <p:sldIdLst>
    <p:sldId id="319" r:id="rId2"/>
    <p:sldId id="257" r:id="rId3"/>
    <p:sldId id="258" r:id="rId4"/>
    <p:sldId id="259" r:id="rId5"/>
    <p:sldId id="260" r:id="rId6"/>
    <p:sldId id="261" r:id="rId7"/>
    <p:sldId id="262" r:id="rId8"/>
    <p:sldId id="263" r:id="rId9"/>
    <p:sldId id="264" r:id="rId10"/>
    <p:sldId id="265" r:id="rId11"/>
    <p:sldId id="266" r:id="rId12"/>
    <p:sldId id="267" r:id="rId13"/>
    <p:sldId id="320" r:id="rId14"/>
    <p:sldId id="274"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 id="297" r:id="rId38"/>
    <p:sldId id="298" r:id="rId39"/>
    <p:sldId id="299" r:id="rId40"/>
    <p:sldId id="300" r:id="rId41"/>
    <p:sldId id="301" r:id="rId42"/>
    <p:sldId id="302" r:id="rId43"/>
    <p:sldId id="303" r:id="rId44"/>
    <p:sldId id="304" r:id="rId45"/>
    <p:sldId id="305" r:id="rId46"/>
    <p:sldId id="306" r:id="rId47"/>
    <p:sldId id="307" r:id="rId48"/>
    <p:sldId id="308" r:id="rId49"/>
    <p:sldId id="309" r:id="rId50"/>
    <p:sldId id="310" r:id="rId51"/>
    <p:sldId id="311" r:id="rId52"/>
    <p:sldId id="312" r:id="rId53"/>
    <p:sldId id="313" r:id="rId54"/>
    <p:sldId id="314" r:id="rId55"/>
    <p:sldId id="315" r:id="rId56"/>
    <p:sldId id="316" r:id="rId57"/>
    <p:sldId id="317" r:id="rId58"/>
    <p:sldId id="318" r:id="rId59"/>
  </p:sldIdLst>
  <p:sldSz cx="9144000" cy="5143500" type="screen16x9"/>
  <p:notesSz cx="6858000" cy="9144000"/>
  <p:embeddedFontLst>
    <p:embeddedFont>
      <p:font typeface="DM Sans" panose="020B0604020202020204" charset="0"/>
      <p:regular r:id="rId61"/>
      <p:bold r:id="rId62"/>
      <p:italic r:id="rId63"/>
      <p:boldItalic r:id="rId64"/>
    </p:embeddedFont>
    <p:embeddedFont>
      <p:font typeface="Helvetica Neue Light" panose="020B0604020202020204" charset="0"/>
      <p:regular r:id="rId65"/>
      <p:bold r:id="rId66"/>
      <p:italic r:id="rId67"/>
      <p:boldItalic r:id="rId68"/>
    </p:embeddedFont>
    <p:embeddedFont>
      <p:font typeface="Helvetica Neue" panose="020B0604020202020204" charset="0"/>
      <p:regular r:id="rId69"/>
      <p:bold r:id="rId70"/>
      <p:italic r:id="rId71"/>
      <p:boldItalic r:id="rId7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95">
          <p15:clr>
            <a:srgbClr val="A4A3A4"/>
          </p15:clr>
        </p15:guide>
        <p15:guide id="2" pos="5460">
          <p15:clr>
            <a:srgbClr val="A4A3A4"/>
          </p15:clr>
        </p15:guide>
        <p15:guide id="3" pos="300">
          <p15:clr>
            <a:srgbClr val="9AA0A6"/>
          </p15:clr>
        </p15:guide>
        <p15:guide id="4" orient="horz" pos="289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816" y="78"/>
      </p:cViewPr>
      <p:guideLst>
        <p:guide orient="horz" pos="295"/>
        <p:guide pos="5460"/>
        <p:guide pos="300"/>
        <p:guide orient="horz" pos="289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3.fntdata"/><Relationship Id="rId68"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font" Target="fonts/font6.fntdata"/><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font" Target="fonts/font1.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4.fntdata"/><Relationship Id="rId69" Type="http://schemas.openxmlformats.org/officeDocument/2006/relationships/font" Target="fonts/font9.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1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2.fntdata"/><Relationship Id="rId70" Type="http://schemas.openxmlformats.org/officeDocument/2006/relationships/font" Target="fonts/font10.fntdata"/><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font" Target="fonts/font5.fntdata"/><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extLst>
      <p:ext uri="{BB962C8B-B14F-4D97-AF65-F5344CB8AC3E}">
        <p14:creationId xmlns:p14="http://schemas.microsoft.com/office/powerpoint/2010/main" val="1537276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g1469de882e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 name="Google Shape;49;g1469de882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latin typeface="DM Sans"/>
                <a:ea typeface="DM Sans"/>
                <a:cs typeface="DM Sans"/>
                <a:sym typeface="DM Sans"/>
              </a:rPr>
              <a:t>Se presenta en la primera clase. </a:t>
            </a:r>
            <a:r>
              <a:rPr lang="es">
                <a:solidFill>
                  <a:schemeClr val="dk1"/>
                </a:solidFill>
                <a:highlight>
                  <a:schemeClr val="accent3"/>
                </a:highlight>
                <a:latin typeface="DM Sans"/>
                <a:ea typeface="DM Sans"/>
                <a:cs typeface="DM Sans"/>
                <a:sym typeface="DM Sans"/>
              </a:rPr>
              <a:t>Colocar el número de comisión correspondiente</a:t>
            </a:r>
            <a:r>
              <a:rPr lang="es">
                <a:solidFill>
                  <a:schemeClr val="dk1"/>
                </a:solidFill>
                <a:latin typeface="DM Sans"/>
                <a:ea typeface="DM Sans"/>
                <a:cs typeface="DM Sans"/>
                <a:sym typeface="DM Sans"/>
              </a:rPr>
              <a:t>. </a:t>
            </a:r>
            <a:r>
              <a:rPr lang="es">
                <a:latin typeface="DM Sans"/>
                <a:ea typeface="DM Sans"/>
                <a:cs typeface="DM Sans"/>
                <a:sym typeface="DM Sans"/>
              </a:rPr>
              <a:t>Se debe editar y completar con los nombres del equipo a cargo. Se sugiere linkearlos a los perfiles de Linkedin (quienes quieran).</a:t>
            </a:r>
            <a:endParaRPr>
              <a:latin typeface="DM Sans"/>
              <a:ea typeface="DM Sans"/>
              <a:cs typeface="DM Sans"/>
              <a:sym typeface="DM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1e921cbaab3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1e921cbaab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469de882e7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469de882e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d849c382c6_0_1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2d849c382c6_0_1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2d849c382c6_0_1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2d849c382c6_0_1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Primera clase.</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d849c382c6_0_10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d849c382c6_0_10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Sólo se muestra la primera clase.</a:t>
            </a:r>
            <a:br>
              <a:rPr lang="es">
                <a:solidFill>
                  <a:schemeClr val="dk1"/>
                </a:solidFill>
                <a:latin typeface="DM Sans"/>
                <a:ea typeface="DM Sans"/>
                <a:cs typeface="DM Sans"/>
                <a:sym typeface="DM Sans"/>
              </a:rPr>
            </a:b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Sugerencias:</a:t>
            </a:r>
            <a:endParaRPr b="1">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No solicitar más de un desafío entregable por clase a los estudiantes.</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Si se utiliza una Actividad en clase, si bien no se entregan, que demuestre una finalidad. Por ejemplo, puede utilizarse para solicitar algo puntual de tarea: “Para la próxima clase traer anotado…” o ser la práctica necesaria para otro entregable vinculado con el Proyecto.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43efd25ae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143efd25ae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849c382c6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849c382c6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d849c382c6_0_1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d849c382c6_0_1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d849c382c6_0_1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d849c382c6_0_1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extLst>
      <p:ext uri="{BB962C8B-B14F-4D97-AF65-F5344CB8AC3E}">
        <p14:creationId xmlns:p14="http://schemas.microsoft.com/office/powerpoint/2010/main" val="6263248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d84aeddda0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d84aeddda0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d84aeddda0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d84aeddda0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d84aeddda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d84aeddda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d84aeddda0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2d84aeddda0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2d84aeddda0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2d84aeddda0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d84aeddda0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d84aeddda0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Obligatoria siempre.</a:t>
            </a:r>
            <a:r>
              <a:rPr lang="es">
                <a:solidFill>
                  <a:schemeClr val="dk1"/>
                </a:solidFill>
                <a:latin typeface="DM Sans"/>
                <a:ea typeface="DM Sans"/>
                <a:cs typeface="DM Sans"/>
                <a:sym typeface="DM Sans"/>
              </a:rPr>
              <a:t> A la hora del Break, entre 5 y 10 minutos. Considerar ubicar este espacio en un momento adecuado de la clase. Al volver, mostrar los resultados de la pregunta del anterior slide y generar un breve intercambio.</a:t>
            </a:r>
            <a:endParaRPr>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1455f3c4fd4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1455f3c4fd4_0_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e830cb0810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e830cb0810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4b98852c93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24b98852c93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1455f3c4fd4_0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1455f3c4fd4_0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4b98852c93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24b98852c93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24b98852c93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24b98852c93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24b98852c93_0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24b98852c93_0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1dc4e612093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1dc4e612093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24b98852c93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24b98852c93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d84aeddda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2d84aeddda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146c9b3ed55_0_7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146c9b3ed55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“Ejemplo en vivo”</a:t>
            </a:r>
            <a:endParaRPr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El docente realizará una tarea compartiendo la pantalla en vivo. Se centrará en los pasos y los aspectos a tener en cuenta.</a:t>
            </a:r>
            <a:endParaRPr>
              <a:latin typeface="DM Sans"/>
              <a:ea typeface="DM Sans"/>
              <a:cs typeface="DM Sans"/>
              <a:sym typeface="DM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2d849c382c6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2d849c382c6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2d849c382c6_0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2d849c382c6_0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2d849c382c6_0_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2d849c382c6_0_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2d849c382c6_0_7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2d849c382c6_0_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2d849c382c6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2d849c382c6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d849c382c6_0_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d849c382c6_0_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d849c382c6_0_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d849c382c6_0_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Obligatoria. Se sugiere ubicar al finalizar la explicación de algún tema, para abrir formalmente el espacio de preguntas y ordenar la interacción.</a:t>
            </a:r>
            <a:endParaRPr>
              <a:latin typeface="DM Sans"/>
              <a:ea typeface="DM Sans"/>
              <a:cs typeface="DM Sans"/>
              <a:sym typeface="DM San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849c382c6_0_7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d849c382c6_0_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7b17b6bb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7b17b6bb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7b17b6bb6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37b17b6bb6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b17b6bb6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7b17b6bb6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7b17b6bb6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7b17b6bb6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7b17b6bb6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7b17b6bb6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b17b6bb64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7b17b6bb6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7b17b6bb6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7b17b6bb6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7b17b6bb64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7b17b6bb64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d849c382c6_0_7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d849c382c6_0_7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d849c382c6_0_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d849c382c6_0_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El secreto de ReactJS para tener un </a:t>
            </a:r>
            <a:r>
              <a:rPr lang="es" b="1">
                <a:solidFill>
                  <a:schemeClr val="dk1"/>
                </a:solidFill>
                <a:highlight>
                  <a:schemeClr val="lt1"/>
                </a:highlight>
                <a:latin typeface="DM Sans"/>
                <a:ea typeface="DM Sans"/>
                <a:cs typeface="DM Sans"/>
                <a:sym typeface="DM Sans"/>
              </a:rPr>
              <a:t>performance muy alto </a:t>
            </a:r>
            <a:r>
              <a:rPr lang="es">
                <a:solidFill>
                  <a:schemeClr val="dk1"/>
                </a:solidFill>
                <a:highlight>
                  <a:schemeClr val="lt1"/>
                </a:highlight>
                <a:latin typeface="DM Sans"/>
                <a:ea typeface="DM Sans"/>
                <a:cs typeface="DM Sans"/>
                <a:sym typeface="DM Sans"/>
              </a:rPr>
              <a:t>es que implementa un </a:t>
            </a:r>
            <a:r>
              <a:rPr lang="es" b="1">
                <a:solidFill>
                  <a:schemeClr val="dk1"/>
                </a:solidFill>
                <a:highlight>
                  <a:schemeClr val="lt1"/>
                </a:highlight>
                <a:latin typeface="DM Sans"/>
                <a:ea typeface="DM Sans"/>
                <a:cs typeface="DM Sans"/>
                <a:sym typeface="DM Sans"/>
              </a:rPr>
              <a:t>Virtual DOM</a:t>
            </a:r>
            <a:r>
              <a:rPr lang="es">
                <a:solidFill>
                  <a:schemeClr val="dk1"/>
                </a:solidFill>
                <a:highlight>
                  <a:schemeClr val="lt1"/>
                </a:highlight>
                <a:latin typeface="DM Sans"/>
                <a:ea typeface="DM Sans"/>
                <a:cs typeface="DM Sans"/>
                <a:sym typeface="DM Sans"/>
              </a:rPr>
              <a:t>. En lugar de renderizar todo, como normalmente se hace, ReactJS hace los </a:t>
            </a:r>
            <a:r>
              <a:rPr lang="es" b="1">
                <a:solidFill>
                  <a:schemeClr val="dk1"/>
                </a:solidFill>
                <a:highlight>
                  <a:schemeClr val="lt1"/>
                </a:highlight>
                <a:latin typeface="DM Sans"/>
                <a:ea typeface="DM Sans"/>
                <a:cs typeface="DM Sans"/>
                <a:sym typeface="DM Sans"/>
              </a:rPr>
              <a:t>cambios </a:t>
            </a:r>
            <a:r>
              <a:rPr lang="es">
                <a:solidFill>
                  <a:schemeClr val="dk1"/>
                </a:solidFill>
                <a:highlight>
                  <a:schemeClr val="lt1"/>
                </a:highlight>
                <a:latin typeface="DM Sans"/>
                <a:ea typeface="DM Sans"/>
                <a:cs typeface="DM Sans"/>
                <a:sym typeface="DM Sans"/>
              </a:rPr>
              <a:t>en una </a:t>
            </a:r>
            <a:r>
              <a:rPr lang="es" b="1">
                <a:solidFill>
                  <a:schemeClr val="dk1"/>
                </a:solidFill>
                <a:highlight>
                  <a:schemeClr val="lt1"/>
                </a:highlight>
                <a:latin typeface="DM Sans"/>
                <a:ea typeface="DM Sans"/>
                <a:cs typeface="DM Sans"/>
                <a:sym typeface="DM Sans"/>
              </a:rPr>
              <a:t>copia en memoria</a:t>
            </a:r>
            <a:r>
              <a:rPr lang="es">
                <a:solidFill>
                  <a:schemeClr val="dk1"/>
                </a:solidFill>
                <a:highlight>
                  <a:schemeClr val="lt1"/>
                </a:highlight>
                <a:latin typeface="DM Sans"/>
                <a:ea typeface="DM Sans"/>
                <a:cs typeface="DM Sans"/>
                <a:sym typeface="DM Sans"/>
              </a:rPr>
              <a:t>. Luego utiliza un algoritmo para comparar sus propiedades con las de la versión del DOM, y así </a:t>
            </a:r>
            <a:r>
              <a:rPr lang="es" b="1">
                <a:solidFill>
                  <a:schemeClr val="dk1"/>
                </a:solidFill>
                <a:highlight>
                  <a:schemeClr val="lt1"/>
                </a:highlight>
                <a:latin typeface="DM Sans"/>
                <a:ea typeface="DM Sans"/>
                <a:cs typeface="DM Sans"/>
                <a:sym typeface="DM Sans"/>
              </a:rPr>
              <a:t>aplicar cambios exclusivamente en las partes que varían</a:t>
            </a:r>
            <a:r>
              <a:rPr lang="es">
                <a:solidFill>
                  <a:schemeClr val="dk1"/>
                </a:solidFill>
                <a:highlight>
                  <a:schemeClr val="lt1"/>
                </a:highlight>
                <a:latin typeface="DM Sans"/>
                <a:ea typeface="DM Sans"/>
                <a:cs typeface="DM Sans"/>
                <a:sym typeface="DM Sans"/>
              </a:rPr>
              <a:t>.</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d849c382c6_0_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2d849c382c6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d849c382c6_0_7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d849c382c6_0_7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d849c382c6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d849c382c6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2d849c382c6_0_7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2d849c382c6_0_7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d849c382c6_0_7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d849c382c6_0_7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d849c382c6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d849c382c6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d849c382c6_0_8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2d849c382c6_0_8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Esto puede sonar como mucho trabajo, pero en la práctica es mucho más eficiente que el método tradicional.</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Por ejemplo: si tenemos una lista de 2000 elementos en la interfaz y ocurren 10 cambios, es más eficiente aplicar 10 cambios, ubicar los componentes que tuvieron un cambio en sus propiedades y renderizar estos 10 elementos, en lugar de aplicar 10 cambios y renderizar 2000 elementos.</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2d849c382c6_0_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2d849c382c6_0_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849c382c6_0_8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849c382c6_0_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41655265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DM Sans"/>
              <a:buNone/>
              <a:defRPr sz="4000" b="1">
                <a:latin typeface="DM Sans"/>
                <a:ea typeface="DM Sans"/>
                <a:cs typeface="DM Sans"/>
                <a:sym typeface="DM Sans"/>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2" name="Google Shape;12;p2"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13"/>
        <p:cNvGrpSpPr/>
        <p:nvPr/>
      </p:nvGrpSpPr>
      <p:grpSpPr>
        <a:xfrm>
          <a:off x="0" y="0"/>
          <a:ext cx="0" cy="0"/>
          <a:chOff x="0" y="0"/>
          <a:chExt cx="0" cy="0"/>
        </a:xfrm>
      </p:grpSpPr>
      <p:pic>
        <p:nvPicPr>
          <p:cNvPr id="14" name="Google Shape;14;p3" title="logo coderhouse"/>
          <p:cNvPicPr preferRelativeResize="0"/>
          <p:nvPr/>
        </p:nvPicPr>
        <p:blipFill>
          <a:blip r:embed="rId3">
            <a:alphaModFix/>
          </a:blip>
          <a:stretch>
            <a:fillRect/>
          </a:stretch>
        </p:blipFill>
        <p:spPr>
          <a:xfrm>
            <a:off x="7874775" y="4720250"/>
            <a:ext cx="1024025" cy="2116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15"/>
        <p:cNvGrpSpPr/>
        <p:nvPr/>
      </p:nvGrpSpPr>
      <p:grpSpPr>
        <a:xfrm>
          <a:off x="0" y="0"/>
          <a:ext cx="0" cy="0"/>
          <a:chOff x="0" y="0"/>
          <a:chExt cx="0" cy="0"/>
        </a:xfrm>
      </p:grpSpPr>
      <p:pic>
        <p:nvPicPr>
          <p:cNvPr id="16" name="Google Shape;16;p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17"/>
        <p:cNvGrpSpPr/>
        <p:nvPr/>
      </p:nvGrpSpPr>
      <p:grpSpPr>
        <a:xfrm>
          <a:off x="0" y="0"/>
          <a:ext cx="0" cy="0"/>
          <a:chOff x="0" y="0"/>
          <a:chExt cx="0" cy="0"/>
        </a:xfrm>
      </p:grpSpPr>
      <p:pic>
        <p:nvPicPr>
          <p:cNvPr id="18" name="Google Shape;18;p5"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19"/>
        <p:cNvGrpSpPr/>
        <p:nvPr/>
      </p:nvGrpSpPr>
      <p:grpSpPr>
        <a:xfrm>
          <a:off x="0" y="0"/>
          <a:ext cx="0" cy="0"/>
          <a:chOff x="0" y="0"/>
          <a:chExt cx="0" cy="0"/>
        </a:xfrm>
      </p:grpSpPr>
      <p:pic>
        <p:nvPicPr>
          <p:cNvPr id="20" name="Google Shape;20;p6"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21"/>
        <p:cNvGrpSpPr/>
        <p:nvPr/>
      </p:nvGrpSpPr>
      <p:grpSpPr>
        <a:xfrm>
          <a:off x="0" y="0"/>
          <a:ext cx="0" cy="0"/>
          <a:chOff x="0" y="0"/>
          <a:chExt cx="0" cy="0"/>
        </a:xfrm>
      </p:grpSpPr>
      <p:pic>
        <p:nvPicPr>
          <p:cNvPr id="22" name="Google Shape;22;p7"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23"/>
        <p:cNvGrpSpPr/>
        <p:nvPr/>
      </p:nvGrpSpPr>
      <p:grpSpPr>
        <a:xfrm>
          <a:off x="0" y="0"/>
          <a:ext cx="0" cy="0"/>
          <a:chOff x="0" y="0"/>
          <a:chExt cx="0" cy="0"/>
        </a:xfrm>
      </p:grpSpPr>
      <p:pic>
        <p:nvPicPr>
          <p:cNvPr id="24" name="Google Shape;24;p8"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25"/>
        <p:cNvGrpSpPr/>
        <p:nvPr/>
      </p:nvGrpSpPr>
      <p:grpSpPr>
        <a:xfrm>
          <a:off x="0" y="0"/>
          <a:ext cx="0" cy="0"/>
          <a:chOff x="0" y="0"/>
          <a:chExt cx="0" cy="0"/>
        </a:xfrm>
      </p:grpSpPr>
      <p:sp>
        <p:nvSpPr>
          <p:cNvPr id="26" name="Google Shape;26;p9"/>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 name="Google Shape;27;p9"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28"/>
        <p:cNvGrpSpPr/>
        <p:nvPr/>
      </p:nvGrpSpPr>
      <p:grpSpPr>
        <a:xfrm>
          <a:off x="0" y="0"/>
          <a:ext cx="0" cy="0"/>
          <a:chOff x="0" y="0"/>
          <a:chExt cx="0" cy="0"/>
        </a:xfrm>
      </p:grpSpPr>
      <p:pic>
        <p:nvPicPr>
          <p:cNvPr id="29" name="Google Shape;29;p10"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30"/>
        <p:cNvGrpSpPr/>
        <p:nvPr/>
      </p:nvGrpSpPr>
      <p:grpSpPr>
        <a:xfrm>
          <a:off x="0" y="0"/>
          <a:ext cx="0" cy="0"/>
          <a:chOff x="0" y="0"/>
          <a:chExt cx="0" cy="0"/>
        </a:xfrm>
      </p:grpSpPr>
      <p:pic>
        <p:nvPicPr>
          <p:cNvPr id="31" name="Google Shape;31;p11"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32"/>
        <p:cNvGrpSpPr/>
        <p:nvPr/>
      </p:nvGrpSpPr>
      <p:grpSpPr>
        <a:xfrm>
          <a:off x="0" y="0"/>
          <a:ext cx="0" cy="0"/>
          <a:chOff x="0" y="0"/>
          <a:chExt cx="0" cy="0"/>
        </a:xfrm>
      </p:grpSpPr>
      <p:pic>
        <p:nvPicPr>
          <p:cNvPr id="33" name="Google Shape;33;p12"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4"/>
        <p:cNvGrpSpPr/>
        <p:nvPr/>
      </p:nvGrpSpPr>
      <p:grpSpPr>
        <a:xfrm>
          <a:off x="0" y="0"/>
          <a:ext cx="0" cy="0"/>
          <a:chOff x="0" y="0"/>
          <a:chExt cx="0" cy="0"/>
        </a:xfrm>
      </p:grpSpPr>
      <p:sp>
        <p:nvSpPr>
          <p:cNvPr id="35" name="Google Shape;35;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37" name="Google Shape;37;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38"/>
        <p:cNvGrpSpPr/>
        <p:nvPr/>
      </p:nvGrpSpPr>
      <p:grpSpPr>
        <a:xfrm>
          <a:off x="0" y="0"/>
          <a:ext cx="0" cy="0"/>
          <a:chOff x="0" y="0"/>
          <a:chExt cx="0" cy="0"/>
        </a:xfrm>
      </p:grpSpPr>
      <p:pic>
        <p:nvPicPr>
          <p:cNvPr id="39" name="Google Shape;39;p1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1">
  <p:cSld name="SECTION_HEADER_1_1_1_1_1_1_1_1_1_3">
    <p:bg>
      <p:bgPr>
        <a:blipFill>
          <a:blip r:embed="rId2">
            <a:alphaModFix/>
          </a:blip>
          <a:stretch>
            <a:fillRect/>
          </a:stretch>
        </a:blipFill>
        <a:effectLst/>
      </p:bgPr>
    </p:bg>
    <p:spTree>
      <p:nvGrpSpPr>
        <p:cNvPr id="1" name="Shape 40"/>
        <p:cNvGrpSpPr/>
        <p:nvPr/>
      </p:nvGrpSpPr>
      <p:grpSpPr>
        <a:xfrm>
          <a:off x="0" y="0"/>
          <a:ext cx="0" cy="0"/>
          <a:chOff x="0" y="0"/>
          <a:chExt cx="0" cy="0"/>
        </a:xfrm>
      </p:grpSpPr>
      <p:pic>
        <p:nvPicPr>
          <p:cNvPr id="41" name="Google Shape;41;p1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J82zzv_2RPc&amp;list=PLG2TTAOwfN5-UnGx6o1u-pQ5P1BSImoBQ&amp;index=9&amp;ab_channel=JuniorPride" TargetMode="External"/><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8.xml"/><Relationship Id="rId5" Type="http://schemas.openxmlformats.org/officeDocument/2006/relationships/image" Target="../media/image22.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9.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4.xml"/><Relationship Id="rId1" Type="http://schemas.openxmlformats.org/officeDocument/2006/relationships/slideLayout" Target="../slideLayouts/slideLayout9.xml"/><Relationship Id="rId4" Type="http://schemas.openxmlformats.org/officeDocument/2006/relationships/image" Target="../media/image32.png"/></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5.xml"/><Relationship Id="rId1" Type="http://schemas.openxmlformats.org/officeDocument/2006/relationships/slideLayout" Target="../slideLayouts/slideLayout9.xml"/><Relationship Id="rId4" Type="http://schemas.openxmlformats.org/officeDocument/2006/relationships/image" Target="../media/image33.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38.png"/><Relationship Id="rId2" Type="http://schemas.openxmlformats.org/officeDocument/2006/relationships/notesSlide" Target="../notesSlides/notesSlide38.xml"/><Relationship Id="rId1" Type="http://schemas.openxmlformats.org/officeDocument/2006/relationships/slideLayout" Target="../slideLayouts/slideLayout9.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4.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9.xml"/></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4.xml"/><Relationship Id="rId1" Type="http://schemas.openxmlformats.org/officeDocument/2006/relationships/slideLayout" Target="../slideLayouts/slideLayout7.xml"/><Relationship Id="rId4" Type="http://schemas.openxmlformats.org/officeDocument/2006/relationships/image" Target="../media/image43.png"/></Relationships>
</file>

<file path=ppt/slides/_rels/slide4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5.xml"/><Relationship Id="rId1" Type="http://schemas.openxmlformats.org/officeDocument/2006/relationships/slideLayout" Target="../slideLayouts/slideLayout7.xml"/><Relationship Id="rId4" Type="http://schemas.openxmlformats.org/officeDocument/2006/relationships/image" Target="../media/image45.png"/></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6.xml"/><Relationship Id="rId1" Type="http://schemas.openxmlformats.org/officeDocument/2006/relationships/slideLayout" Target="../slideLayouts/slideLayout1.xml"/><Relationship Id="rId5" Type="http://schemas.openxmlformats.org/officeDocument/2006/relationships/hyperlink" Target="https://www.youtube.com/shorts/yx9as2yqS8Y" TargetMode="External"/><Relationship Id="rId4" Type="http://schemas.openxmlformats.org/officeDocument/2006/relationships/hyperlink" Target="https://www.youtube.com/watch?v=jcKoP-FvPsY&amp;ab_channel=JuniorPride" TargetMode="Externa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8.xml"/><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9.xml"/></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0.xml"/><Relationship Id="rId1" Type="http://schemas.openxmlformats.org/officeDocument/2006/relationships/slideLayout" Target="../slideLayouts/slideLayout9.xml"/></Relationships>
</file>

<file path=ppt/slides/_rels/slide5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1.xml"/><Relationship Id="rId1" Type="http://schemas.openxmlformats.org/officeDocument/2006/relationships/slideLayout" Target="../slideLayouts/slideLayout9.xml"/></Relationships>
</file>

<file path=ppt/slides/_rels/slide5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2.xml"/><Relationship Id="rId1" Type="http://schemas.openxmlformats.org/officeDocument/2006/relationships/slideLayout" Target="../slideLayouts/slideLayout9.xml"/></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9.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6.xml"/><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1 </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88826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17"/>
          <p:cNvSpPr txBox="1"/>
          <p:nvPr/>
        </p:nvSpPr>
        <p:spPr>
          <a:xfrm>
            <a:off x="382772" y="1114625"/>
            <a:ext cx="8285728" cy="636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 sz="3000" b="1" dirty="0">
                <a:solidFill>
                  <a:schemeClr val="lt1"/>
                </a:solidFill>
                <a:latin typeface="Helvetica Neue"/>
                <a:ea typeface="Helvetica Neue"/>
                <a:cs typeface="Helvetica Neue"/>
                <a:sym typeface="Helvetica Neue"/>
              </a:rPr>
              <a:t>Presentación </a:t>
            </a:r>
            <a:r>
              <a:rPr lang="es" sz="3000" b="1" dirty="0">
                <a:solidFill>
                  <a:schemeClr val="accent6"/>
                </a:solidFill>
                <a:latin typeface="Helvetica Neue"/>
                <a:ea typeface="Helvetica Neue"/>
                <a:cs typeface="Helvetica Neue"/>
                <a:sym typeface="Helvetica Neue"/>
              </a:rPr>
              <a:t>del equipo </a:t>
            </a:r>
            <a:endParaRPr sz="3000" b="1" dirty="0">
              <a:solidFill>
                <a:schemeClr val="lt1"/>
              </a:solidFill>
              <a:latin typeface="Helvetica Neue"/>
              <a:ea typeface="Helvetica Neue"/>
              <a:cs typeface="Helvetica Neue"/>
              <a:sym typeface="Helvetica Neue"/>
            </a:endParaRPr>
          </a:p>
        </p:txBody>
      </p:sp>
      <p:sp>
        <p:nvSpPr>
          <p:cNvPr id="52" name="Google Shape;52;p17"/>
          <p:cNvSpPr txBox="1"/>
          <p:nvPr/>
        </p:nvSpPr>
        <p:spPr>
          <a:xfrm>
            <a:off x="297851" y="2531357"/>
            <a:ext cx="6889758" cy="1179780"/>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rgbClr val="EAFF6A"/>
              </a:buClr>
              <a:buSzPts val="2400"/>
              <a:buFont typeface="DM Sans"/>
              <a:buChar char="✔"/>
            </a:pPr>
            <a:r>
              <a:rPr lang="es" sz="2400" b="1" dirty="0">
                <a:solidFill>
                  <a:schemeClr val="lt1"/>
                </a:solidFill>
                <a:latin typeface="DM Sans"/>
                <a:ea typeface="DM Sans"/>
                <a:cs typeface="DM Sans"/>
                <a:sym typeface="DM Sans"/>
              </a:rPr>
              <a:t>Profesor/a: </a:t>
            </a:r>
            <a:r>
              <a:rPr lang="es-MX" sz="2400" dirty="0" smtClean="0">
                <a:solidFill>
                  <a:schemeClr val="lt1"/>
                </a:solidFill>
                <a:latin typeface="DM Sans"/>
                <a:ea typeface="DM Sans"/>
                <a:cs typeface="DM Sans"/>
                <a:sym typeface="DM Sans"/>
              </a:rPr>
              <a:t>Arturo </a:t>
            </a:r>
            <a:r>
              <a:rPr lang="es-MX" sz="2400" dirty="0" err="1" smtClean="0">
                <a:solidFill>
                  <a:schemeClr val="lt1"/>
                </a:solidFill>
                <a:latin typeface="DM Sans"/>
                <a:ea typeface="DM Sans"/>
                <a:cs typeface="DM Sans"/>
                <a:sym typeface="DM Sans"/>
              </a:rPr>
              <a:t>Grottoli</a:t>
            </a:r>
            <a:endParaRPr sz="2400" b="1" dirty="0">
              <a:solidFill>
                <a:schemeClr val="lt1"/>
              </a:solidFill>
              <a:latin typeface="DM Sans"/>
              <a:ea typeface="DM Sans"/>
              <a:cs typeface="DM Sans"/>
              <a:sym typeface="DM Sans"/>
            </a:endParaRPr>
          </a:p>
          <a:p>
            <a:pPr marL="457200" lvl="0" indent="-381000">
              <a:spcBef>
                <a:spcPts val="1000"/>
              </a:spcBef>
              <a:spcAft>
                <a:spcPts val="1000"/>
              </a:spcAft>
              <a:buClr>
                <a:srgbClr val="EAFF6A"/>
              </a:buClr>
              <a:buSzPts val="2400"/>
              <a:buFont typeface="DM Sans"/>
              <a:buChar char="✔"/>
            </a:pPr>
            <a:r>
              <a:rPr lang="es" sz="2400" b="1" dirty="0" smtClean="0">
                <a:solidFill>
                  <a:schemeClr val="lt1"/>
                </a:solidFill>
                <a:latin typeface="DM Sans"/>
                <a:ea typeface="DM Sans"/>
                <a:cs typeface="DM Sans"/>
                <a:sym typeface="DM Sans"/>
              </a:rPr>
              <a:t>Tutor adjunto:</a:t>
            </a:r>
            <a:endParaRPr sz="2400" dirty="0">
              <a:solidFill>
                <a:schemeClr val="lt1"/>
              </a:solidFill>
              <a:latin typeface="DM Sans"/>
              <a:ea typeface="DM Sans"/>
              <a:cs typeface="DM Sans"/>
              <a:sym typeface="DM Sans"/>
            </a:endParaRPr>
          </a:p>
        </p:txBody>
      </p:sp>
      <p:sp>
        <p:nvSpPr>
          <p:cNvPr id="53" name="Google Shape;53;p17"/>
          <p:cNvSpPr txBox="1"/>
          <p:nvPr/>
        </p:nvSpPr>
        <p:spPr>
          <a:xfrm>
            <a:off x="489362" y="1751225"/>
            <a:ext cx="4925700" cy="392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solidFill>
                  <a:srgbClr val="B7B7B7"/>
                </a:solidFill>
                <a:latin typeface="DM Sans"/>
                <a:ea typeface="DM Sans"/>
                <a:cs typeface="DM Sans"/>
                <a:sym typeface="DM Sans"/>
              </a:rPr>
              <a:t>COMISIÓN N</a:t>
            </a:r>
            <a:r>
              <a:rPr lang="es" sz="1350" dirty="0" smtClean="0">
                <a:solidFill>
                  <a:srgbClr val="B7B7B7"/>
                </a:solidFill>
                <a:latin typeface="DM Sans"/>
                <a:ea typeface="DM Sans"/>
                <a:cs typeface="DM Sans"/>
                <a:sym typeface="DM Sans"/>
              </a:rPr>
              <a:t>°</a:t>
            </a:r>
            <a:endParaRPr sz="1350" dirty="0">
              <a:solidFill>
                <a:srgbClr val="B7B7B7"/>
              </a:solidFill>
              <a:latin typeface="DM Sans"/>
              <a:ea typeface="DM Sans"/>
              <a:cs typeface="DM Sans"/>
              <a:sym typeface="DM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8"/>
          <p:cNvSpPr txBox="1"/>
          <p:nvPr/>
        </p:nvSpPr>
        <p:spPr>
          <a:xfrm>
            <a:off x="651674" y="506363"/>
            <a:ext cx="7152623" cy="1292631"/>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Datos a tener en cuenta en la cursada</a:t>
            </a:r>
            <a:endParaRPr sz="4000" b="1" dirty="0">
              <a:solidFill>
                <a:srgbClr val="DEFC52"/>
              </a:solidFill>
              <a:latin typeface="DM Sans"/>
              <a:ea typeface="DM Sans"/>
              <a:cs typeface="DM Sans"/>
              <a:sym typeface="DM Sans"/>
            </a:endParaRPr>
          </a:p>
        </p:txBody>
      </p:sp>
      <p:sp>
        <p:nvSpPr>
          <p:cNvPr id="60" name="Google Shape;60;p18"/>
          <p:cNvSpPr txBox="1"/>
          <p:nvPr/>
        </p:nvSpPr>
        <p:spPr>
          <a:xfrm>
            <a:off x="476175" y="1689649"/>
            <a:ext cx="7423816" cy="3649687"/>
          </a:xfrm>
          <a:prstGeom prst="rect">
            <a:avLst/>
          </a:prstGeom>
          <a:noFill/>
          <a:ln>
            <a:noFill/>
          </a:ln>
        </p:spPr>
        <p:txBody>
          <a:bodyPr spcFirstLastPara="1" wrap="square" lIns="91425" tIns="91425" rIns="91425" bIns="91425" anchor="t" anchorCtr="0">
            <a:spAutoFit/>
          </a:bodyPr>
          <a:lstStyle/>
          <a:p>
            <a:pPr marL="457200" lvl="0" indent="-320675">
              <a:buClr>
                <a:srgbClr val="EAFF6A"/>
              </a:buClr>
              <a:buSzPts val="1450"/>
              <a:buFont typeface="DM Sans"/>
              <a:buChar char="✓"/>
            </a:pPr>
            <a:r>
              <a:rPr lang="es" sz="1450" dirty="0">
                <a:solidFill>
                  <a:schemeClr val="lt1"/>
                </a:solidFill>
                <a:latin typeface="DM Sans"/>
                <a:ea typeface="DM Sans"/>
                <a:cs typeface="DM Sans"/>
                <a:sym typeface="DM Sans"/>
              </a:rPr>
              <a:t>Me gusta </a:t>
            </a:r>
            <a:r>
              <a:rPr lang="es" sz="1450" dirty="0" smtClean="0">
                <a:solidFill>
                  <a:schemeClr val="lt1"/>
                </a:solidFill>
                <a:latin typeface="DM Sans"/>
                <a:ea typeface="DM Sans"/>
                <a:cs typeface="DM Sans"/>
                <a:sym typeface="DM Sans"/>
              </a:rPr>
              <a:t>el </a:t>
            </a:r>
            <a:r>
              <a:rPr lang="es" sz="1450" b="1" dirty="0" smtClean="0">
                <a:solidFill>
                  <a:schemeClr val="accent6"/>
                </a:solidFill>
                <a:latin typeface="DM Sans"/>
                <a:ea typeface="DM Sans"/>
                <a:cs typeface="DM Sans"/>
                <a:sym typeface="DM Sans"/>
              </a:rPr>
              <a:t>ida y vuelta en la clase,</a:t>
            </a:r>
            <a:r>
              <a:rPr lang="es" sz="1450" dirty="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pregunten, participen</a:t>
            </a:r>
            <a:r>
              <a:rPr lang="es" sz="1450" b="1" dirty="0" smtClean="0">
                <a:solidFill>
                  <a:schemeClr val="accent6"/>
                </a:solidFill>
                <a:latin typeface="DM Sans"/>
                <a:ea typeface="DM Sans"/>
                <a:cs typeface="DM Sans"/>
                <a:sym typeface="DM Sans"/>
              </a:rPr>
              <a:t> .</a:t>
            </a:r>
            <a:endParaRPr sz="1450" b="1" dirty="0">
              <a:solidFill>
                <a:schemeClr val="accent6"/>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Sirve mucho que interactuen entre </a:t>
            </a:r>
            <a:r>
              <a:rPr lang="es" sz="1450" dirty="0">
                <a:solidFill>
                  <a:schemeClr val="lt1"/>
                </a:solidFill>
                <a:latin typeface="DM Sans"/>
                <a:ea typeface="DM Sans"/>
                <a:cs typeface="DM Sans"/>
                <a:sym typeface="DM Sans"/>
              </a:rPr>
              <a:t>ustedes, </a:t>
            </a:r>
            <a:r>
              <a:rPr lang="es" sz="1450" b="1" dirty="0" smtClean="0">
                <a:solidFill>
                  <a:schemeClr val="accent6"/>
                </a:solidFill>
                <a:latin typeface="DM Sans"/>
                <a:ea typeface="DM Sans"/>
                <a:cs typeface="DM Sans"/>
                <a:sym typeface="DM Sans"/>
              </a:rPr>
              <a:t>conozcanse, hagan grupo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Lo mejor es traer el material flex ya </a:t>
            </a:r>
            <a:r>
              <a:rPr lang="es" sz="1450" b="1" dirty="0" smtClean="0">
                <a:solidFill>
                  <a:schemeClr val="accent6"/>
                </a:solidFill>
                <a:latin typeface="DM Sans"/>
                <a:ea typeface="DM Sans"/>
                <a:cs typeface="DM Sans"/>
                <a:sym typeface="DM Sans"/>
              </a:rPr>
              <a:t>visto para reforzarlo en clase y hacer practica e indagar al respecto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IA es una herramienta, </a:t>
            </a:r>
            <a:r>
              <a:rPr lang="es" sz="1450" b="1" dirty="0" smtClean="0">
                <a:solidFill>
                  <a:schemeClr val="accent6"/>
                </a:solidFill>
                <a:latin typeface="DM Sans"/>
                <a:ea typeface="DM Sans"/>
                <a:cs typeface="DM Sans"/>
                <a:sym typeface="DM Sans"/>
              </a:rPr>
              <a:t>por favor usar con moderación, recuerden que estan aprendiendo</a:t>
            </a:r>
            <a:r>
              <a:rPr lang="es" sz="1450" dirty="0" smtClean="0">
                <a:solidFill>
                  <a:schemeClr val="lt1"/>
                </a:solidFill>
                <a:latin typeface="DM Sans"/>
                <a:ea typeface="DM Sans"/>
                <a:cs typeface="DM Sans"/>
                <a:sym typeface="DM Sans"/>
              </a:rPr>
              <a:t>. (Se nota mucho si hacen las entregas con eso)</a:t>
            </a:r>
          </a:p>
          <a:p>
            <a:pPr marL="457200" indent="-320675">
              <a:spcBef>
                <a:spcPts val="1000"/>
              </a:spcBef>
              <a:buClr>
                <a:schemeClr val="accent6"/>
              </a:buClr>
              <a:buSzPts val="1450"/>
              <a:buFont typeface="DM Sans"/>
              <a:buChar char="✓"/>
            </a:pPr>
            <a:r>
              <a:rPr lang="es-MX" sz="1450" dirty="0">
                <a:solidFill>
                  <a:schemeClr val="lt1"/>
                </a:solidFill>
                <a:latin typeface="DM Sans"/>
                <a:ea typeface="DM Sans"/>
                <a:cs typeface="DM Sans"/>
                <a:sym typeface="DM Sans"/>
              </a:rPr>
              <a:t>Pregunten, sin timidez, </a:t>
            </a:r>
            <a:r>
              <a:rPr lang="es-MX" sz="1450" b="1" dirty="0">
                <a:solidFill>
                  <a:schemeClr val="accent6"/>
                </a:solidFill>
                <a:latin typeface="DM Sans"/>
                <a:ea typeface="DM Sans"/>
                <a:cs typeface="DM Sans"/>
                <a:sym typeface="DM Sans"/>
              </a:rPr>
              <a:t>usen el chat</a:t>
            </a:r>
            <a:r>
              <a:rPr lang="es-MX" sz="1450" dirty="0">
                <a:solidFill>
                  <a:schemeClr val="lt1"/>
                </a:solidFill>
                <a:latin typeface="DM Sans"/>
                <a:ea typeface="DM Sans"/>
                <a:cs typeface="DM Sans"/>
                <a:sym typeface="DM Sans"/>
              </a:rPr>
              <a:t> </a:t>
            </a:r>
            <a:r>
              <a:rPr lang="es-MX" sz="1450" dirty="0" smtClean="0">
                <a:solidFill>
                  <a:schemeClr val="lt1"/>
                </a:solidFill>
                <a:latin typeface="DM Sans"/>
                <a:ea typeface="DM Sans"/>
                <a:cs typeface="DM Sans"/>
                <a:sym typeface="DM Sans"/>
              </a:rPr>
              <a:t>general</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Cada clase va a tener su  </a:t>
            </a:r>
            <a:r>
              <a:rPr lang="es" sz="1450" b="1" dirty="0" smtClean="0">
                <a:solidFill>
                  <a:schemeClr val="accent6"/>
                </a:solidFill>
                <a:latin typeface="DM Sans"/>
                <a:ea typeface="DM Sans"/>
                <a:cs typeface="DM Sans"/>
                <a:sym typeface="DM Sans"/>
              </a:rPr>
              <a:t>repositorio, vamos a ir paso a paso creando un proyecto</a:t>
            </a:r>
            <a:r>
              <a:rPr lang="es" sz="1450" dirty="0" smtClean="0">
                <a:solidFill>
                  <a:schemeClr val="lt1"/>
                </a:solidFill>
                <a:latin typeface="DM Sans"/>
                <a:ea typeface="DM Sans"/>
                <a:cs typeface="DM Sans"/>
                <a:sym typeface="DM Sans"/>
              </a:rPr>
              <a:t>. Si van al dia con las clases llegan al final con el proyecto hecho.</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Puedo crear </a:t>
            </a:r>
            <a:r>
              <a:rPr lang="es" sz="1450" b="1" dirty="0">
                <a:solidFill>
                  <a:schemeClr val="accent6"/>
                </a:solidFill>
                <a:latin typeface="DM Sans"/>
                <a:ea typeface="DM Sans"/>
                <a:cs typeface="DM Sans"/>
                <a:sym typeface="DM Sans"/>
              </a:rPr>
              <a:t>videos</a:t>
            </a:r>
            <a:r>
              <a:rPr lang="es" sz="1450" dirty="0">
                <a:solidFill>
                  <a:schemeClr val="lt1"/>
                </a:solidFill>
                <a:latin typeface="DM Sans"/>
                <a:ea typeface="DM Sans"/>
                <a:cs typeface="DM Sans"/>
                <a:sym typeface="DM Sans"/>
              </a:rPr>
              <a:t> para dudas comunes</a:t>
            </a:r>
            <a:r>
              <a:rPr lang="es" sz="1450" dirty="0" smtClean="0">
                <a:solidFill>
                  <a:schemeClr val="lt1"/>
                </a:solidFill>
                <a:latin typeface="DM Sans"/>
                <a:ea typeface="DM Sans"/>
                <a:cs typeface="DM Sans"/>
                <a:sym typeface="DM Sans"/>
              </a:rPr>
              <a:t>.</a:t>
            </a:r>
            <a:endParaRPr sz="1650" dirty="0">
              <a:solidFill>
                <a:schemeClr val="lt1"/>
              </a:solidFill>
              <a:latin typeface="DM Sans"/>
              <a:ea typeface="DM Sans"/>
              <a:cs typeface="DM Sans"/>
              <a:sym typeface="DM Sans"/>
            </a:endParaRPr>
          </a:p>
          <a:p>
            <a:pPr marL="457200" lvl="0" indent="0" algn="l" rtl="0">
              <a:spcBef>
                <a:spcPts val="1000"/>
              </a:spcBef>
              <a:spcAft>
                <a:spcPts val="1000"/>
              </a:spcAft>
              <a:buNone/>
            </a:pPr>
            <a:endParaRPr sz="1350" dirty="0">
              <a:solidFill>
                <a:schemeClr val="lt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9"/>
          <p:cNvSpPr txBox="1"/>
          <p:nvPr/>
        </p:nvSpPr>
        <p:spPr>
          <a:xfrm>
            <a:off x="1404863" y="2238463"/>
            <a:ext cx="6221400" cy="738900"/>
          </a:xfrm>
          <a:prstGeom prst="rect">
            <a:avLst/>
          </a:prstGeom>
          <a:noFill/>
          <a:ln>
            <a:noFill/>
          </a:ln>
        </p:spPr>
        <p:txBody>
          <a:bodyPr spcFirstLastPara="1" wrap="square" lIns="91425" tIns="91425" rIns="91425" bIns="91425" anchor="t" anchorCtr="0">
            <a:spAutoFit/>
          </a:bodyPr>
          <a:lstStyle/>
          <a:p>
            <a:pPr lvl="0" algn="ctr">
              <a:lnSpc>
                <a:spcPct val="90000"/>
              </a:lnSpc>
            </a:pPr>
            <a:r>
              <a:rPr lang="es" sz="4000" b="1" dirty="0">
                <a:solidFill>
                  <a:schemeClr val="lt1"/>
                </a:solidFill>
                <a:latin typeface="DM Sans"/>
                <a:ea typeface="DM Sans"/>
                <a:cs typeface="DM Sans"/>
                <a:sym typeface="DM Sans"/>
              </a:rPr>
              <a:t>¿</a:t>
            </a:r>
            <a:r>
              <a:rPr lang="es" sz="4000" b="1" dirty="0" smtClean="0">
                <a:solidFill>
                  <a:schemeClr val="lt1"/>
                </a:solidFill>
                <a:latin typeface="DM Sans"/>
                <a:ea typeface="DM Sans"/>
                <a:cs typeface="DM Sans"/>
                <a:sym typeface="DM Sans"/>
              </a:rPr>
              <a:t>Du</a:t>
            </a:r>
            <a:r>
              <a:rPr lang="es" sz="4000" b="1" dirty="0" smtClean="0">
                <a:solidFill>
                  <a:srgbClr val="EAFF6A"/>
                </a:solidFill>
                <a:latin typeface="DM Sans"/>
                <a:ea typeface="DM Sans"/>
                <a:cs typeface="DM Sans"/>
                <a:sym typeface="DM Sans"/>
              </a:rPr>
              <a:t>das, </a:t>
            </a:r>
            <a:r>
              <a:rPr lang="es" sz="4000" b="1" dirty="0" smtClean="0">
                <a:solidFill>
                  <a:schemeClr val="lt1"/>
                </a:solidFill>
                <a:latin typeface="DM Sans"/>
                <a:ea typeface="DM Sans"/>
                <a:cs typeface="DM Sans"/>
                <a:sym typeface="DM Sans"/>
              </a:rPr>
              <a:t>consu</a:t>
            </a:r>
            <a:r>
              <a:rPr lang="es" sz="4000" b="1" dirty="0">
                <a:solidFill>
                  <a:srgbClr val="EAFF6A"/>
                </a:solidFill>
                <a:latin typeface="DM Sans"/>
                <a:ea typeface="DM Sans"/>
                <a:cs typeface="DM Sans"/>
                <a:sym typeface="DM Sans"/>
              </a:rPr>
              <a:t>l</a:t>
            </a:r>
            <a:r>
              <a:rPr lang="es" sz="4000" b="1" dirty="0" smtClean="0">
                <a:solidFill>
                  <a:srgbClr val="EAFF6A"/>
                </a:solidFill>
                <a:latin typeface="DM Sans"/>
                <a:ea typeface="DM Sans"/>
                <a:cs typeface="DM Sans"/>
                <a:sym typeface="DM Sans"/>
              </a:rPr>
              <a:t>tas</a:t>
            </a:r>
            <a:r>
              <a:rPr lang="es" sz="4000" b="1" dirty="0" smtClean="0">
                <a:solidFill>
                  <a:schemeClr val="lt1"/>
                </a:solidFill>
                <a:latin typeface="DM Sans"/>
                <a:ea typeface="DM Sans"/>
                <a:cs typeface="DM Sans"/>
                <a:sym typeface="DM Sans"/>
              </a:rPr>
              <a:t>?</a:t>
            </a:r>
            <a:endParaRPr sz="4000" b="1" dirty="0">
              <a:solidFill>
                <a:srgbClr val="EAFF6A"/>
              </a:solidFill>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20"/>
          <p:cNvSpPr txBox="1"/>
          <p:nvPr/>
        </p:nvSpPr>
        <p:spPr>
          <a:xfrm>
            <a:off x="202019" y="322288"/>
            <a:ext cx="8623004" cy="1292631"/>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¿En que consiste el </a:t>
            </a:r>
            <a:r>
              <a:rPr lang="es" sz="4000" b="1" u="sng" dirty="0">
                <a:solidFill>
                  <a:schemeClr val="lt1"/>
                </a:solidFill>
                <a:latin typeface="DM Sans"/>
                <a:ea typeface="DM Sans"/>
                <a:cs typeface="DM Sans"/>
                <a:sym typeface="DM Sans"/>
              </a:rPr>
              <a:t>Proyecto final?</a:t>
            </a:r>
            <a:endParaRPr sz="4000" b="1" u="sng" dirty="0">
              <a:solidFill>
                <a:schemeClr val="lt1"/>
              </a:solidFill>
              <a:latin typeface="DM Sans"/>
              <a:ea typeface="DM Sans"/>
              <a:cs typeface="DM Sans"/>
              <a:sym typeface="DM Sans"/>
            </a:endParaRPr>
          </a:p>
        </p:txBody>
      </p:sp>
      <p:pic>
        <p:nvPicPr>
          <p:cNvPr id="72" name="Google Shape;72;p20"/>
          <p:cNvPicPr preferRelativeResize="0"/>
          <p:nvPr/>
        </p:nvPicPr>
        <p:blipFill>
          <a:blip r:embed="rId3">
            <a:alphaModFix/>
          </a:blip>
          <a:stretch>
            <a:fillRect/>
          </a:stretch>
        </p:blipFill>
        <p:spPr>
          <a:xfrm>
            <a:off x="3100826" y="1949050"/>
            <a:ext cx="2942350" cy="2718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21"/>
          <p:cNvSpPr txBox="1"/>
          <p:nvPr/>
        </p:nvSpPr>
        <p:spPr>
          <a:xfrm>
            <a:off x="457350" y="1084475"/>
            <a:ext cx="49317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dirty="0">
                <a:solidFill>
                  <a:schemeClr val="dk1"/>
                </a:solidFill>
                <a:latin typeface="DM Sans"/>
                <a:ea typeface="DM Sans"/>
                <a:cs typeface="DM Sans"/>
                <a:sym typeface="DM Sans"/>
              </a:rPr>
              <a:t>Crea tu </a:t>
            </a:r>
            <a:r>
              <a:rPr lang="es" sz="3600" b="1" dirty="0" smtClean="0">
                <a:solidFill>
                  <a:schemeClr val="dk1"/>
                </a:solidFill>
                <a:latin typeface="DM Sans"/>
                <a:ea typeface="DM Sans"/>
                <a:cs typeface="DM Sans"/>
                <a:sym typeface="DM Sans"/>
              </a:rPr>
              <a:t>propio </a:t>
            </a:r>
          </a:p>
          <a:p>
            <a:pPr marL="0" lvl="0" indent="0" algn="l" rtl="0">
              <a:lnSpc>
                <a:spcPct val="90000"/>
              </a:lnSpc>
              <a:spcBef>
                <a:spcPts val="0"/>
              </a:spcBef>
              <a:spcAft>
                <a:spcPts val="0"/>
              </a:spcAft>
              <a:buNone/>
            </a:pPr>
            <a:r>
              <a:rPr lang="es" sz="3600" b="1" dirty="0" smtClean="0">
                <a:solidFill>
                  <a:schemeClr val="dk1"/>
                </a:solidFill>
                <a:latin typeface="DM Sans"/>
                <a:ea typeface="DM Sans"/>
                <a:cs typeface="DM Sans"/>
                <a:sym typeface="DM Sans"/>
              </a:rPr>
              <a:t>E-commerce</a:t>
            </a:r>
            <a:endParaRPr sz="3600" b="1" dirty="0">
              <a:solidFill>
                <a:schemeClr val="dk1"/>
              </a:solidFill>
              <a:latin typeface="DM Sans"/>
              <a:ea typeface="DM Sans"/>
              <a:cs typeface="DM Sans"/>
              <a:sym typeface="DM Sans"/>
            </a:endParaRPr>
          </a:p>
        </p:txBody>
      </p:sp>
      <p:sp>
        <p:nvSpPr>
          <p:cNvPr id="78" name="Google Shape;78;p21"/>
          <p:cNvSpPr txBox="1"/>
          <p:nvPr/>
        </p:nvSpPr>
        <p:spPr>
          <a:xfrm>
            <a:off x="457350" y="2451575"/>
            <a:ext cx="4730100" cy="184662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latin typeface="DM Sans"/>
                <a:ea typeface="DM Sans"/>
                <a:cs typeface="DM Sans"/>
                <a:sym typeface="DM Sans"/>
              </a:rPr>
              <a:t>Desarrollarás el front end de una tienda online con carrito de </a:t>
            </a:r>
            <a:r>
              <a:rPr lang="es" sz="1350" dirty="0" smtClean="0">
                <a:latin typeface="DM Sans"/>
                <a:ea typeface="DM Sans"/>
                <a:cs typeface="DM Sans"/>
                <a:sym typeface="DM Sans"/>
              </a:rPr>
              <a:t>compras (Que me van a querer vender?) </a:t>
            </a:r>
            <a:r>
              <a:rPr lang="es" sz="1350" dirty="0">
                <a:latin typeface="DM Sans"/>
                <a:ea typeface="DM Sans"/>
                <a:cs typeface="DM Sans"/>
                <a:sym typeface="DM Sans"/>
              </a:rPr>
              <a:t>utilizando los componentes de React y Firebase </a:t>
            </a:r>
            <a:r>
              <a:rPr lang="es" sz="1350" dirty="0" smtClean="0">
                <a:latin typeface="DM Sans"/>
                <a:ea typeface="DM Sans"/>
                <a:cs typeface="DM Sans"/>
                <a:sym typeface="DM Sans"/>
              </a:rPr>
              <a:t>(BBDD pequeñita online)</a:t>
            </a:r>
          </a:p>
          <a:p>
            <a:pPr marL="0" lvl="0" indent="0" algn="l" rtl="0">
              <a:spcBef>
                <a:spcPts val="0"/>
              </a:spcBef>
              <a:spcAft>
                <a:spcPts val="0"/>
              </a:spcAft>
              <a:buNone/>
            </a:pPr>
            <a:endParaRPr sz="1350" dirty="0">
              <a:latin typeface="DM Sans"/>
              <a:ea typeface="DM Sans"/>
              <a:cs typeface="DM Sans"/>
              <a:sym typeface="DM Sans"/>
            </a:endParaRPr>
          </a:p>
          <a:p>
            <a:pPr marL="0" lvl="0" indent="0" algn="l" rtl="0">
              <a:lnSpc>
                <a:spcPct val="150000"/>
              </a:lnSpc>
              <a:spcBef>
                <a:spcPts val="0"/>
              </a:spcBef>
              <a:spcAft>
                <a:spcPts val="0"/>
              </a:spcAft>
              <a:buClr>
                <a:schemeClr val="dk1"/>
              </a:buClr>
              <a:buSzPts val="1350"/>
              <a:buFont typeface="Arial"/>
              <a:buNone/>
            </a:pPr>
            <a:r>
              <a:rPr lang="es" sz="1350" dirty="0" smtClean="0">
                <a:solidFill>
                  <a:schemeClr val="dk1"/>
                </a:solidFill>
                <a:highlight>
                  <a:schemeClr val="accent6"/>
                </a:highlight>
                <a:latin typeface="DM Sans"/>
                <a:ea typeface="DM Sans"/>
                <a:cs typeface="DM Sans"/>
                <a:sym typeface="DM Sans"/>
              </a:rPr>
              <a:t>Ejemplo: </a:t>
            </a:r>
            <a:r>
              <a:rPr lang="es" sz="1350" dirty="0">
                <a:solidFill>
                  <a:schemeClr val="dk1"/>
                </a:solidFill>
                <a:highlight>
                  <a:schemeClr val="accent6"/>
                </a:highlight>
                <a:latin typeface="DM Sans"/>
                <a:ea typeface="DM Sans"/>
                <a:cs typeface="DM Sans"/>
                <a:sym typeface="DM Sans"/>
              </a:rPr>
              <a:t/>
            </a:r>
            <a:br>
              <a:rPr lang="es" sz="1350" dirty="0">
                <a:solidFill>
                  <a:schemeClr val="dk1"/>
                </a:solidFill>
                <a:highlight>
                  <a:schemeClr val="accent6"/>
                </a:highlight>
                <a:latin typeface="DM Sans"/>
                <a:ea typeface="DM Sans"/>
                <a:cs typeface="DM Sans"/>
                <a:sym typeface="DM Sans"/>
              </a:rPr>
            </a:br>
            <a:r>
              <a:rPr lang="es" sz="1350" dirty="0">
                <a:solidFill>
                  <a:schemeClr val="dk1"/>
                </a:solidFill>
                <a:latin typeface="DM Sans"/>
                <a:ea typeface="DM Sans"/>
                <a:cs typeface="DM Sans"/>
                <a:sym typeface="DM Sans"/>
              </a:rPr>
              <a:t>https://get-growing.netlify.app/</a:t>
            </a:r>
            <a:endParaRPr sz="1350" dirty="0">
              <a:latin typeface="DM Sans"/>
              <a:ea typeface="DM Sans"/>
              <a:cs typeface="DM Sans"/>
              <a:sym typeface="DM Sans"/>
            </a:endParaRPr>
          </a:p>
        </p:txBody>
      </p:sp>
      <p:sp>
        <p:nvSpPr>
          <p:cNvPr id="79" name="Google Shape;79;p21"/>
          <p:cNvSpPr txBox="1"/>
          <p:nvPr/>
        </p:nvSpPr>
        <p:spPr>
          <a:xfrm>
            <a:off x="930550" y="468275"/>
            <a:ext cx="2461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PROYECTO FINAL</a:t>
            </a:r>
            <a:endParaRPr>
              <a:latin typeface="DM Sans"/>
              <a:ea typeface="DM Sans"/>
              <a:cs typeface="DM Sans"/>
              <a:sym typeface="DM Sans"/>
            </a:endParaRPr>
          </a:p>
        </p:txBody>
      </p:sp>
      <p:pic>
        <p:nvPicPr>
          <p:cNvPr id="80" name="Google Shape;80;p21"/>
          <p:cNvPicPr preferRelativeResize="0"/>
          <p:nvPr/>
        </p:nvPicPr>
        <p:blipFill rotWithShape="1">
          <a:blip r:embed="rId3">
            <a:alphaModFix/>
          </a:blip>
          <a:srcRect l="3956" r="48715"/>
          <a:stretch/>
        </p:blipFill>
        <p:spPr>
          <a:xfrm>
            <a:off x="5712875" y="468275"/>
            <a:ext cx="2923973" cy="4118748"/>
          </a:xfrm>
          <a:prstGeom prst="rect">
            <a:avLst/>
          </a:prstGeom>
          <a:noFill/>
          <a:ln>
            <a:noFill/>
          </a:ln>
        </p:spPr>
      </p:pic>
      <p:grpSp>
        <p:nvGrpSpPr>
          <p:cNvPr id="81" name="Google Shape;81;p21"/>
          <p:cNvGrpSpPr/>
          <p:nvPr/>
        </p:nvGrpSpPr>
        <p:grpSpPr>
          <a:xfrm>
            <a:off x="457343" y="468298"/>
            <a:ext cx="431074" cy="431074"/>
            <a:chOff x="7208351" y="2467173"/>
            <a:chExt cx="738900" cy="738900"/>
          </a:xfrm>
        </p:grpSpPr>
        <p:sp>
          <p:nvSpPr>
            <p:cNvPr id="82" name="Google Shape;82;p21"/>
            <p:cNvSpPr/>
            <p:nvPr/>
          </p:nvSpPr>
          <p:spPr>
            <a:xfrm>
              <a:off x="7208351" y="2467173"/>
              <a:ext cx="738900" cy="738900"/>
            </a:xfrm>
            <a:prstGeom prst="ellipse">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 name="Google Shape;83;p21" title="ícono de proyecto final"/>
            <p:cNvPicPr preferRelativeResize="0"/>
            <p:nvPr/>
          </p:nvPicPr>
          <p:blipFill>
            <a:blip r:embed="rId4">
              <a:alphaModFix/>
            </a:blip>
            <a:stretch>
              <a:fillRect/>
            </a:stretch>
          </p:blipFill>
          <p:spPr>
            <a:xfrm>
              <a:off x="7352500" y="2611301"/>
              <a:ext cx="450600" cy="450622"/>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22"/>
          <p:cNvSpPr/>
          <p:nvPr/>
        </p:nvSpPr>
        <p:spPr>
          <a:xfrm>
            <a:off x="588525" y="686550"/>
            <a:ext cx="2708700" cy="1209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2"/>
          <p:cNvSpPr txBox="1"/>
          <p:nvPr/>
        </p:nvSpPr>
        <p:spPr>
          <a:xfrm>
            <a:off x="588525" y="484650"/>
            <a:ext cx="4730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ENTREGAS </a:t>
            </a:r>
            <a:endParaRPr>
              <a:latin typeface="DM Sans"/>
              <a:ea typeface="DM Sans"/>
              <a:cs typeface="DM Sans"/>
              <a:sym typeface="DM Sans"/>
            </a:endParaRPr>
          </a:p>
        </p:txBody>
      </p:sp>
      <p:sp>
        <p:nvSpPr>
          <p:cNvPr id="90" name="Google Shape;90;p22"/>
          <p:cNvSpPr txBox="1"/>
          <p:nvPr/>
        </p:nvSpPr>
        <p:spPr>
          <a:xfrm>
            <a:off x="501449" y="894975"/>
            <a:ext cx="4091815" cy="738633"/>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dk1"/>
                </a:solidFill>
                <a:latin typeface="DM Sans"/>
                <a:ea typeface="DM Sans"/>
                <a:cs typeface="DM Sans"/>
                <a:sym typeface="DM Sans"/>
              </a:rPr>
              <a:t>¿Cómo </a:t>
            </a:r>
            <a:r>
              <a:rPr lang="es" sz="4000" b="1" dirty="0">
                <a:solidFill>
                  <a:schemeClr val="dk1"/>
                </a:solidFill>
                <a:latin typeface="DM Sans"/>
                <a:ea typeface="DM Sans"/>
                <a:cs typeface="DM Sans"/>
                <a:sym typeface="DM Sans"/>
              </a:rPr>
              <a:t>son?</a:t>
            </a:r>
            <a:endParaRPr sz="4000" b="1" dirty="0">
              <a:solidFill>
                <a:schemeClr val="dk1"/>
              </a:solidFill>
              <a:latin typeface="DM Sans"/>
              <a:ea typeface="DM Sans"/>
              <a:cs typeface="DM Sans"/>
              <a:sym typeface="DM Sans"/>
            </a:endParaRPr>
          </a:p>
        </p:txBody>
      </p:sp>
      <p:sp>
        <p:nvSpPr>
          <p:cNvPr id="91" name="Google Shape;91;p22"/>
          <p:cNvSpPr txBox="1"/>
          <p:nvPr/>
        </p:nvSpPr>
        <p:spPr>
          <a:xfrm>
            <a:off x="588525" y="1826013"/>
            <a:ext cx="8166900" cy="3202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A lo largo del curso iremos trabajando en un </a:t>
            </a:r>
            <a:r>
              <a:rPr lang="es" sz="1550" b="1" dirty="0">
                <a:solidFill>
                  <a:srgbClr val="EAFF6A"/>
                </a:solidFill>
                <a:highlight>
                  <a:schemeClr val="dk1"/>
                </a:highlight>
                <a:latin typeface="DM Sans"/>
                <a:ea typeface="DM Sans"/>
                <a:cs typeface="DM Sans"/>
                <a:sym typeface="DM Sans"/>
              </a:rPr>
              <a:t>único</a:t>
            </a:r>
            <a:r>
              <a:rPr lang="es" sz="1550" dirty="0">
                <a:solidFill>
                  <a:schemeClr val="dk1"/>
                </a:solidFill>
                <a:latin typeface="DM Sans"/>
                <a:ea typeface="DM Sans"/>
                <a:cs typeface="DM Sans"/>
                <a:sym typeface="DM Sans"/>
              </a:rPr>
              <a:t> proyecto: E-Commerce</a:t>
            </a:r>
            <a:r>
              <a:rPr lang="es" sz="1550" dirty="0" smtClean="0">
                <a:solidFill>
                  <a:schemeClr val="dk1"/>
                </a:solidFill>
                <a:latin typeface="DM Sans"/>
                <a:ea typeface="DM Sans"/>
                <a:cs typeface="DM Sans"/>
                <a:sym typeface="DM Sans"/>
              </a:rPr>
              <a:t>. (Tiren sus ideas en el chat!!!)</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Habrá 2 entregas parciales del proyecto a lo largo de la cursada</a:t>
            </a:r>
            <a:r>
              <a:rPr lang="es" sz="1550" dirty="0" smtClean="0">
                <a:solidFill>
                  <a:schemeClr val="dk1"/>
                </a:solidFill>
                <a:latin typeface="DM Sans"/>
                <a:ea typeface="DM Sans"/>
                <a:cs typeface="DM Sans"/>
                <a:sym typeface="DM Sans"/>
              </a:rPr>
              <a:t>. (Clase 02 </a:t>
            </a:r>
            <a:r>
              <a:rPr lang="es" sz="1550" smtClean="0">
                <a:solidFill>
                  <a:schemeClr val="dk1"/>
                </a:solidFill>
                <a:latin typeface="DM Sans"/>
                <a:ea typeface="DM Sans"/>
                <a:cs typeface="DM Sans"/>
                <a:sym typeface="DM Sans"/>
              </a:rPr>
              <a:t>y </a:t>
            </a:r>
            <a:r>
              <a:rPr lang="es" sz="1550" smtClean="0">
                <a:solidFill>
                  <a:schemeClr val="dk1"/>
                </a:solidFill>
                <a:latin typeface="DM Sans"/>
                <a:ea typeface="DM Sans"/>
                <a:cs typeface="DM Sans"/>
                <a:sym typeface="DM Sans"/>
              </a:rPr>
              <a:t>05)</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Y una entrega final, al concluir el curso.</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Deben, en cada entrega, subir el link del repositorio a GitHub con el último commit</a:t>
            </a:r>
            <a:r>
              <a:rPr lang="es" sz="1550" dirty="0" smtClean="0">
                <a:solidFill>
                  <a:schemeClr val="dk1"/>
                </a:solidFill>
                <a:latin typeface="DM Sans"/>
                <a:ea typeface="DM Sans"/>
                <a:cs typeface="DM Sans"/>
                <a:sym typeface="DM Sans"/>
              </a:rPr>
              <a:t>.</a:t>
            </a: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(NO SE ACEPTAN MAS ENTREGAS EN GDRIVE!!!!)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Se corrigen entre el profesor y el tutor adjunto.</a:t>
            </a:r>
            <a:endParaRPr sz="1550" dirty="0">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3"/>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Instalaciones</a:t>
            </a:r>
            <a:endParaRPr sz="40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obligatorias</a:t>
            </a:r>
            <a:endParaRPr sz="4000" b="1">
              <a:solidFill>
                <a:schemeClr val="dk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4"/>
          <p:cNvSpPr txBox="1"/>
          <p:nvPr/>
        </p:nvSpPr>
        <p:spPr>
          <a:xfrm>
            <a:off x="494550" y="1265900"/>
            <a:ext cx="8154900" cy="2331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dirty="0">
                <a:solidFill>
                  <a:schemeClr val="accent6"/>
                </a:solidFill>
                <a:latin typeface="DM Sans"/>
                <a:ea typeface="DM Sans"/>
                <a:cs typeface="DM Sans"/>
                <a:sym typeface="DM Sans"/>
              </a:rPr>
              <a:t>Obligatorio</a:t>
            </a:r>
            <a:endParaRPr sz="48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a:solidFill>
                  <a:schemeClr val="lt1"/>
                </a:solidFill>
                <a:latin typeface="DM Sans"/>
                <a:ea typeface="DM Sans"/>
                <a:cs typeface="DM Sans"/>
                <a:sym typeface="DM Sans"/>
              </a:rPr>
              <a:t>Node Js</a:t>
            </a:r>
            <a:endParaRPr sz="3600" b="1"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smtClean="0">
                <a:solidFill>
                  <a:schemeClr val="lt1"/>
                </a:solidFill>
                <a:latin typeface="DM Sans"/>
                <a:ea typeface="DM Sans"/>
                <a:cs typeface="DM Sans"/>
                <a:sym typeface="DM Sans"/>
              </a:rPr>
              <a:t>VSCode</a:t>
            </a:r>
            <a:endParaRPr sz="3600" b="1" dirty="0">
              <a:solidFill>
                <a:schemeClr val="lt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5"/>
          <p:cNvSpPr txBox="1"/>
          <p:nvPr/>
        </p:nvSpPr>
        <p:spPr>
          <a:xfrm>
            <a:off x="191386" y="288775"/>
            <a:ext cx="8952614" cy="1071032"/>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200" b="1" dirty="0">
                <a:solidFill>
                  <a:srgbClr val="27282D"/>
                </a:solidFill>
                <a:latin typeface="DM Sans"/>
                <a:ea typeface="DM Sans"/>
                <a:cs typeface="DM Sans"/>
                <a:sym typeface="DM Sans"/>
              </a:rPr>
              <a:t>Repaso completo de Git y </a:t>
            </a:r>
            <a:r>
              <a:rPr lang="es" sz="3200" b="1" dirty="0" smtClean="0">
                <a:solidFill>
                  <a:srgbClr val="27282D"/>
                </a:solidFill>
                <a:latin typeface="DM Sans"/>
                <a:ea typeface="DM Sans"/>
                <a:cs typeface="DM Sans"/>
                <a:sym typeface="DM Sans"/>
              </a:rPr>
              <a:t>Github</a:t>
            </a:r>
          </a:p>
          <a:p>
            <a:pPr marL="0" lvl="0" indent="0" algn="l" rtl="0">
              <a:lnSpc>
                <a:spcPct val="90000"/>
              </a:lnSpc>
              <a:spcBef>
                <a:spcPts val="0"/>
              </a:spcBef>
              <a:spcAft>
                <a:spcPts val="0"/>
              </a:spcAft>
              <a:buNone/>
            </a:pPr>
            <a:r>
              <a:rPr lang="es" sz="3200" b="1" dirty="0" smtClean="0">
                <a:solidFill>
                  <a:srgbClr val="27282D"/>
                </a:solidFill>
                <a:latin typeface="DM Sans"/>
                <a:ea typeface="DM Sans"/>
                <a:cs typeface="DM Sans"/>
                <a:sym typeface="DM Sans"/>
              </a:rPr>
              <a:t>(Importantisimo para cualquier trabajo IT)</a:t>
            </a:r>
            <a:endParaRPr sz="3000" b="1" dirty="0">
              <a:solidFill>
                <a:srgbClr val="27282D"/>
              </a:solidFill>
              <a:latin typeface="DM Sans"/>
              <a:ea typeface="DM Sans"/>
              <a:cs typeface="DM Sans"/>
              <a:sym typeface="DM Sans"/>
            </a:endParaRPr>
          </a:p>
        </p:txBody>
      </p:sp>
      <p:sp>
        <p:nvSpPr>
          <p:cNvPr id="107" name="Google Shape;107;p25"/>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08" name="Google Shape;108;p25"/>
          <p:cNvSpPr txBox="1"/>
          <p:nvPr/>
        </p:nvSpPr>
        <p:spPr>
          <a:xfrm>
            <a:off x="425100" y="1360075"/>
            <a:ext cx="7493100" cy="387603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latin typeface="DM Sans"/>
                <a:ea typeface="DM Sans"/>
                <a:cs typeface="DM Sans"/>
                <a:sym typeface="DM Sans"/>
              </a:rPr>
              <a:t>Video: https://www.youtube.com/watch?v=pSU7HIHN4Iw</a:t>
            </a:r>
            <a:endParaRPr sz="1350" dirty="0">
              <a:latin typeface="DM Sans"/>
              <a:ea typeface="DM Sans"/>
              <a:cs typeface="DM Sans"/>
              <a:sym typeface="DM Sans"/>
            </a:endParaRPr>
          </a:p>
          <a:p>
            <a:pPr marL="0" lvl="0" indent="0" algn="l" rtl="0">
              <a:spcBef>
                <a:spcPts val="0"/>
              </a:spcBef>
              <a:spcAft>
                <a:spcPts val="0"/>
              </a:spcAft>
              <a:buNone/>
            </a:pPr>
            <a:endParaRPr sz="13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b="1" dirty="0">
                <a:solidFill>
                  <a:schemeClr val="accent4"/>
                </a:solidFill>
                <a:latin typeface="DM Sans"/>
                <a:ea typeface="DM Sans"/>
                <a:cs typeface="DM Sans"/>
                <a:sym typeface="DM Sans"/>
              </a:rPr>
              <a:t>Contenido</a:t>
            </a:r>
            <a:r>
              <a:rPr lang="es" sz="1250" b="1" dirty="0" smtClean="0">
                <a:solidFill>
                  <a:schemeClr val="accent4"/>
                </a:solidFill>
                <a:latin typeface="DM Sans"/>
                <a:ea typeface="DM Sans"/>
                <a:cs typeface="DM Sans"/>
                <a:sym typeface="DM Sans"/>
              </a:rPr>
              <a:t>:</a:t>
            </a:r>
            <a:r>
              <a:rPr lang="es" sz="1250" dirty="0">
                <a:latin typeface="DM Sans"/>
                <a:ea typeface="DM Sans"/>
                <a:cs typeface="DM Sans"/>
                <a:sym typeface="DM Sans"/>
              </a:rPr>
              <a:t/>
            </a:r>
            <a:br>
              <a:rPr lang="es" sz="1250" dirty="0">
                <a:latin typeface="DM Sans"/>
                <a:ea typeface="DM Sans"/>
                <a:cs typeface="DM Sans"/>
                <a:sym typeface="DM Sans"/>
              </a:rPr>
            </a:br>
            <a:r>
              <a:rPr lang="es" sz="1250" dirty="0">
                <a:latin typeface="DM Sans"/>
                <a:ea typeface="DM Sans"/>
                <a:cs typeface="DM Sans"/>
                <a:sym typeface="DM Sans"/>
              </a:rPr>
              <a:t>Cómo instalar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Como verificar que lo instalamos bien</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Crear credenciales en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Crear un repo remoto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Iniciar un repo en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Corroborar que lo iniciamos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Agregar al monitoreo de git archivos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Vincular git con remoto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Hacer commits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Hacer el primer push y los siguientes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Ver el estado del repo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Volver al último commit</a:t>
            </a:r>
            <a:endParaRPr sz="1250" dirty="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dirty="0">
              <a:latin typeface="DM Sans"/>
              <a:ea typeface="DM Sans"/>
              <a:cs typeface="DM Sans"/>
              <a:sym typeface="DM Sans"/>
            </a:endParaRPr>
          </a:p>
          <a:p>
            <a:pPr marL="0" lvl="0" indent="0" algn="l" rtl="0">
              <a:spcBef>
                <a:spcPts val="0"/>
              </a:spcBef>
              <a:spcAft>
                <a:spcPts val="0"/>
              </a:spcAft>
              <a:buNone/>
            </a:pPr>
            <a:endParaRPr sz="1350" dirty="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6"/>
          <p:cNvSpPr txBox="1"/>
          <p:nvPr/>
        </p:nvSpPr>
        <p:spPr>
          <a:xfrm>
            <a:off x="457350" y="390025"/>
            <a:ext cx="8154900" cy="168043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dirty="0" smtClean="0">
                <a:solidFill>
                  <a:srgbClr val="EA90FF"/>
                </a:solidFill>
                <a:latin typeface="DM Sans"/>
                <a:ea typeface="DM Sans"/>
                <a:cs typeface="DM Sans"/>
                <a:sym typeface="DM Sans"/>
              </a:rPr>
              <a:t>Extensiones</a:t>
            </a:r>
            <a:r>
              <a:rPr lang="es" sz="3600" b="1" dirty="0" smtClean="0">
                <a:solidFill>
                  <a:schemeClr val="dk1"/>
                </a:solidFill>
                <a:latin typeface="DM Sans"/>
                <a:ea typeface="DM Sans"/>
                <a:cs typeface="DM Sans"/>
                <a:sym typeface="DM Sans"/>
              </a:rPr>
              <a:t> </a:t>
            </a:r>
            <a:r>
              <a:rPr lang="es" sz="3600" b="1" dirty="0">
                <a:solidFill>
                  <a:schemeClr val="dk1"/>
                </a:solidFill>
                <a:latin typeface="DM Sans"/>
                <a:ea typeface="DM Sans"/>
                <a:cs typeface="DM Sans"/>
                <a:sym typeface="DM Sans"/>
              </a:rPr>
              <a:t>instalar Prettier correctamente para la próxima clase </a:t>
            </a:r>
            <a:r>
              <a:rPr lang="es" sz="3600" b="1" dirty="0" smtClean="0">
                <a:solidFill>
                  <a:schemeClr val="dk1"/>
                </a:solidFill>
                <a:latin typeface="DM Sans"/>
                <a:ea typeface="DM Sans"/>
                <a:cs typeface="DM Sans"/>
                <a:sym typeface="DM Sans"/>
              </a:rPr>
              <a:t>(Opcional)</a:t>
            </a:r>
            <a:endParaRPr sz="3400" b="1" dirty="0">
              <a:solidFill>
                <a:schemeClr val="dk1"/>
              </a:solidFill>
              <a:latin typeface="DM Sans"/>
              <a:ea typeface="DM Sans"/>
              <a:cs typeface="DM Sans"/>
              <a:sym typeface="DM Sans"/>
            </a:endParaRPr>
          </a:p>
        </p:txBody>
      </p:sp>
      <p:sp>
        <p:nvSpPr>
          <p:cNvPr id="114" name="Google Shape;114;p26"/>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15" name="Google Shape;115;p26"/>
          <p:cNvSpPr txBox="1"/>
          <p:nvPr/>
        </p:nvSpPr>
        <p:spPr>
          <a:xfrm>
            <a:off x="423775" y="2167650"/>
            <a:ext cx="7646700" cy="236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a:t>
            </a:r>
            <a:r>
              <a:rPr lang="es" sz="1350" u="sng">
                <a:solidFill>
                  <a:schemeClr val="hlink"/>
                </a:solidFill>
                <a:latin typeface="DM Sans"/>
                <a:ea typeface="DM Sans"/>
                <a:cs typeface="DM Sans"/>
                <a:sym typeface="DM Sans"/>
                <a:hlinkClick r:id="rId3"/>
              </a:rPr>
              <a:t>https://www.youtube.com/watch?v=J82zzv_2RPc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Qué es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Para qué usamos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instalamos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Por qué no me anda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Prettier como formateador predeterminado.</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una configuración personalizada de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compartir la configuración de Prettier con GIT / GITHUB</a:t>
            </a: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JAVASCRIPT</a:t>
            </a:r>
            <a:endParaRPr sz="4000" b="1">
              <a:solidFill>
                <a:schemeClr val="dk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93198" y="1447388"/>
            <a:ext cx="6221400" cy="18466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dk1"/>
                </a:solidFill>
                <a:latin typeface="DM Sans"/>
                <a:ea typeface="DM Sans"/>
                <a:cs typeface="DM Sans"/>
                <a:sym typeface="DM Sans"/>
              </a:rPr>
              <a:t>QUE NECESITAMOS PARA HACER NUESTRA APP DE REACT JS?</a:t>
            </a:r>
            <a:endParaRPr sz="4000" b="1" dirty="0">
              <a:solidFill>
                <a:schemeClr val="dk1"/>
              </a:solidFill>
              <a:latin typeface="DM Sans"/>
              <a:ea typeface="DM Sans"/>
              <a:cs typeface="DM Sans"/>
              <a:sym typeface="DM Sans"/>
            </a:endParaRPr>
          </a:p>
        </p:txBody>
      </p:sp>
    </p:spTree>
    <p:extLst>
      <p:ext uri="{BB962C8B-B14F-4D97-AF65-F5344CB8AC3E}">
        <p14:creationId xmlns:p14="http://schemas.microsoft.com/office/powerpoint/2010/main" val="35047068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4"/>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dk1"/>
                </a:solidFill>
                <a:latin typeface="DM Sans"/>
                <a:ea typeface="DM Sans"/>
                <a:cs typeface="DM Sans"/>
                <a:sym typeface="DM Sans"/>
              </a:rPr>
              <a:t>NODE</a:t>
            </a:r>
            <a:endParaRPr sz="4000" b="1" dirty="0">
              <a:solidFill>
                <a:schemeClr val="dk1"/>
              </a:solidFill>
              <a:latin typeface="DM Sans"/>
              <a:ea typeface="DM Sans"/>
              <a:cs typeface="DM Sans"/>
              <a:sym typeface="DM Sans"/>
            </a:endParaRPr>
          </a:p>
        </p:txBody>
      </p:sp>
      <p:sp>
        <p:nvSpPr>
          <p:cNvPr id="165" name="Google Shape;165;p34"/>
          <p:cNvSpPr txBox="1"/>
          <p:nvPr/>
        </p:nvSpPr>
        <p:spPr>
          <a:xfrm>
            <a:off x="475500" y="1931500"/>
            <a:ext cx="4730100" cy="2470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Node.js es un entorno de ejecución (runtime) de </a:t>
            </a:r>
            <a:r>
              <a:rPr lang="es" sz="1350">
                <a:highlight>
                  <a:schemeClr val="accent1"/>
                </a:highlight>
                <a:latin typeface="DM Sans"/>
                <a:ea typeface="DM Sans"/>
                <a:cs typeface="DM Sans"/>
                <a:sym typeface="DM Sans"/>
              </a:rPr>
              <a:t>JavaScript.</a:t>
            </a:r>
            <a:r>
              <a:rPr lang="es" sz="1350">
                <a:highlight>
                  <a:schemeClr val="lt1"/>
                </a:highlight>
                <a:latin typeface="DM Sans"/>
                <a:ea typeface="DM Sans"/>
                <a:cs typeface="DM Sans"/>
                <a:sym typeface="DM Sans"/>
              </a:rPr>
              <a:t> </a:t>
            </a:r>
            <a:r>
              <a:rPr lang="es" sz="1350">
                <a:latin typeface="DM Sans"/>
                <a:ea typeface="DM Sans"/>
                <a:cs typeface="DM Sans"/>
                <a:sym typeface="DM Sans"/>
              </a:rPr>
              <a:t>Permite ejecutar código </a:t>
            </a:r>
            <a:r>
              <a:rPr lang="es" sz="1350">
                <a:highlight>
                  <a:schemeClr val="accent1"/>
                </a:highlight>
                <a:latin typeface="DM Sans"/>
                <a:ea typeface="DM Sans"/>
                <a:cs typeface="DM Sans"/>
                <a:sym typeface="DM Sans"/>
              </a:rPr>
              <a:t>Javascript</a:t>
            </a:r>
            <a:r>
              <a:rPr lang="es" sz="1350">
                <a:latin typeface="DM Sans"/>
                <a:ea typeface="DM Sans"/>
                <a:cs typeface="DM Sans"/>
                <a:sym typeface="DM Sans"/>
              </a:rPr>
              <a:t> en nuestra computadora.</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Está diseñado para crear aplicaciones escalables.</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Podemos darle a node un archivo de Javascript y éste puede ejecutarlo, y darle acceso a recursos de nuestra computadora (IO, Network, Etc).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66" name="Google Shape;166;p34"/>
          <p:cNvPicPr preferRelativeResize="0"/>
          <p:nvPr/>
        </p:nvPicPr>
        <p:blipFill rotWithShape="1">
          <a:blip r:embed="rId3">
            <a:alphaModFix/>
          </a:blip>
          <a:srcRect r="48633"/>
          <a:stretch/>
        </p:blipFill>
        <p:spPr>
          <a:xfrm>
            <a:off x="5517650" y="1638275"/>
            <a:ext cx="2459950" cy="19639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5"/>
          <p:cNvSpPr txBox="1"/>
          <p:nvPr/>
        </p:nvSpPr>
        <p:spPr>
          <a:xfrm>
            <a:off x="298400" y="433200"/>
            <a:ext cx="7085400" cy="144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N</a:t>
            </a:r>
            <a:r>
              <a:rPr lang="es" sz="3800" b="1">
                <a:solidFill>
                  <a:schemeClr val="dk1"/>
                </a:solidFill>
                <a:latin typeface="DM Sans"/>
                <a:ea typeface="DM Sans"/>
                <a:cs typeface="DM Sans"/>
                <a:sym typeface="DM Sans"/>
              </a:rPr>
              <a:t>ode </a:t>
            </a:r>
            <a:r>
              <a:rPr lang="es" sz="3800" b="1">
                <a:solidFill>
                  <a:schemeClr val="accent5"/>
                </a:solidFill>
                <a:latin typeface="DM Sans"/>
                <a:ea typeface="DM Sans"/>
                <a:cs typeface="DM Sans"/>
                <a:sym typeface="DM Sans"/>
              </a:rPr>
              <a:t>P</a:t>
            </a:r>
            <a:r>
              <a:rPr lang="es" sz="3800" b="1">
                <a:solidFill>
                  <a:schemeClr val="dk1"/>
                </a:solidFill>
                <a:latin typeface="DM Sans"/>
                <a:ea typeface="DM Sans"/>
                <a:cs typeface="DM Sans"/>
                <a:sym typeface="DM Sans"/>
              </a:rPr>
              <a:t>ackage </a:t>
            </a:r>
            <a:r>
              <a:rPr lang="es" sz="3800" b="1">
                <a:solidFill>
                  <a:schemeClr val="accent5"/>
                </a:solidFill>
                <a:latin typeface="DM Sans"/>
                <a:ea typeface="DM Sans"/>
                <a:cs typeface="DM Sans"/>
                <a:sym typeface="DM Sans"/>
              </a:rPr>
              <a:t>M</a:t>
            </a:r>
            <a:r>
              <a:rPr lang="es" sz="3800" b="1">
                <a:solidFill>
                  <a:schemeClr val="dk1"/>
                </a:solidFill>
                <a:latin typeface="DM Sans"/>
                <a:ea typeface="DM Sans"/>
                <a:cs typeface="DM Sans"/>
                <a:sym typeface="DM Sans"/>
              </a:rPr>
              <a:t>anager  </a:t>
            </a:r>
            <a:endParaRPr sz="38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800" b="1">
                <a:solidFill>
                  <a:schemeClr val="dk1"/>
                </a:solidFill>
                <a:latin typeface="DM Sans"/>
                <a:ea typeface="DM Sans"/>
                <a:cs typeface="DM Sans"/>
                <a:sym typeface="DM Sans"/>
              </a:rPr>
              <a:t>NPM</a:t>
            </a:r>
            <a:endParaRPr sz="3800" b="1">
              <a:solidFill>
                <a:schemeClr val="dk1"/>
              </a:solidFill>
              <a:latin typeface="DM Sans"/>
              <a:ea typeface="DM Sans"/>
              <a:cs typeface="DM Sans"/>
              <a:sym typeface="DM Sans"/>
            </a:endParaRPr>
          </a:p>
        </p:txBody>
      </p:sp>
      <p:sp>
        <p:nvSpPr>
          <p:cNvPr id="172" name="Google Shape;172;p35"/>
          <p:cNvSpPr txBox="1"/>
          <p:nvPr/>
        </p:nvSpPr>
        <p:spPr>
          <a:xfrm>
            <a:off x="298400" y="2040050"/>
            <a:ext cx="49236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Cuando usamos Node.js, es necesario instalar y gestionar un gran número de bibliotecas, ya que al ser un sistema fuertemente modular viene prácticamente “vacío”. </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Para esto Nodejs cuenta con una herramienta llamada NPM que, nos permite instalar dependencias, ejecutar scripts, ejecutar servidores de desarrollo, construir build de nuestras aplicaciones, etc..</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Todo a través de instrucciones por medio de una terminal.</a:t>
            </a:r>
            <a:endParaRPr sz="1350">
              <a:latin typeface="DM Sans"/>
              <a:ea typeface="DM Sans"/>
              <a:cs typeface="DM Sans"/>
              <a:sym typeface="DM Sans"/>
            </a:endParaRPr>
          </a:p>
        </p:txBody>
      </p:sp>
      <p:pic>
        <p:nvPicPr>
          <p:cNvPr id="173" name="Google Shape;173;p35"/>
          <p:cNvPicPr preferRelativeResize="0"/>
          <p:nvPr/>
        </p:nvPicPr>
        <p:blipFill rotWithShape="1">
          <a:blip r:embed="rId3">
            <a:alphaModFix/>
          </a:blip>
          <a:srcRect l="50782"/>
          <a:stretch/>
        </p:blipFill>
        <p:spPr>
          <a:xfrm>
            <a:off x="6928375" y="1678850"/>
            <a:ext cx="1912500" cy="15935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6"/>
          <p:cNvSpPr txBox="1"/>
          <p:nvPr/>
        </p:nvSpPr>
        <p:spPr>
          <a:xfrm>
            <a:off x="420550" y="2105950"/>
            <a:ext cx="7085400" cy="769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package.json</a:t>
            </a:r>
            <a:endParaRPr sz="3800" b="1">
              <a:solidFill>
                <a:schemeClr val="dk1"/>
              </a:solidFill>
              <a:latin typeface="DM Sans"/>
              <a:ea typeface="DM Sans"/>
              <a:cs typeface="DM Sans"/>
              <a:sym typeface="DM Sans"/>
            </a:endParaRPr>
          </a:p>
        </p:txBody>
      </p:sp>
      <p:pic>
        <p:nvPicPr>
          <p:cNvPr id="179" name="Google Shape;179;p36"/>
          <p:cNvPicPr preferRelativeResize="0"/>
          <p:nvPr/>
        </p:nvPicPr>
        <p:blipFill>
          <a:blip r:embed="rId3">
            <a:alphaModFix/>
          </a:blip>
          <a:stretch>
            <a:fillRect/>
          </a:stretch>
        </p:blipFill>
        <p:spPr>
          <a:xfrm>
            <a:off x="4492998" y="303700"/>
            <a:ext cx="4319574" cy="424692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7"/>
          <p:cNvSpPr txBox="1"/>
          <p:nvPr/>
        </p:nvSpPr>
        <p:spPr>
          <a:xfrm>
            <a:off x="375475" y="419925"/>
            <a:ext cx="7085400" cy="1860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NPM como registro </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público mundial de proyectos</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accent1"/>
                </a:solidFill>
                <a:latin typeface="DM Sans"/>
                <a:ea typeface="DM Sans"/>
                <a:cs typeface="DM Sans"/>
                <a:sym typeface="DM Sans"/>
              </a:rPr>
              <a:t>+2.000.000</a:t>
            </a:r>
            <a:endParaRPr sz="3300" b="1">
              <a:solidFill>
                <a:schemeClr val="accent1"/>
              </a:solidFill>
              <a:latin typeface="DM Sans"/>
              <a:ea typeface="DM Sans"/>
              <a:cs typeface="DM Sans"/>
              <a:sym typeface="DM Sans"/>
            </a:endParaRPr>
          </a:p>
        </p:txBody>
      </p:sp>
      <p:pic>
        <p:nvPicPr>
          <p:cNvPr id="185" name="Google Shape;185;p37"/>
          <p:cNvPicPr preferRelativeResize="0"/>
          <p:nvPr/>
        </p:nvPicPr>
        <p:blipFill rotWithShape="1">
          <a:blip r:embed="rId3">
            <a:alphaModFix/>
          </a:blip>
          <a:srcRect l="50782"/>
          <a:stretch/>
        </p:blipFill>
        <p:spPr>
          <a:xfrm>
            <a:off x="7102874" y="649775"/>
            <a:ext cx="1489426" cy="1241050"/>
          </a:xfrm>
          <a:prstGeom prst="rect">
            <a:avLst/>
          </a:prstGeom>
          <a:noFill/>
          <a:ln>
            <a:noFill/>
          </a:ln>
        </p:spPr>
      </p:pic>
      <p:pic>
        <p:nvPicPr>
          <p:cNvPr id="186" name="Google Shape;186;p37"/>
          <p:cNvPicPr preferRelativeResize="0"/>
          <p:nvPr/>
        </p:nvPicPr>
        <p:blipFill>
          <a:blip r:embed="rId4">
            <a:alphaModFix/>
          </a:blip>
          <a:stretch>
            <a:fillRect/>
          </a:stretch>
        </p:blipFill>
        <p:spPr>
          <a:xfrm>
            <a:off x="475500" y="2423525"/>
            <a:ext cx="6415325" cy="22318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8"/>
          <p:cNvSpPr txBox="1"/>
          <p:nvPr/>
        </p:nvSpPr>
        <p:spPr>
          <a:xfrm>
            <a:off x="375475" y="419925"/>
            <a:ext cx="7085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React en NPM</a:t>
            </a:r>
            <a:endParaRPr sz="3300" b="1">
              <a:solidFill>
                <a:schemeClr val="accent1"/>
              </a:solidFill>
              <a:latin typeface="DM Sans"/>
              <a:ea typeface="DM Sans"/>
              <a:cs typeface="DM Sans"/>
              <a:sym typeface="DM Sans"/>
            </a:endParaRPr>
          </a:p>
        </p:txBody>
      </p:sp>
      <p:pic>
        <p:nvPicPr>
          <p:cNvPr id="192" name="Google Shape;192;p38"/>
          <p:cNvPicPr preferRelativeResize="0"/>
          <p:nvPr/>
        </p:nvPicPr>
        <p:blipFill>
          <a:blip r:embed="rId3">
            <a:alphaModFix/>
          </a:blip>
          <a:stretch>
            <a:fillRect/>
          </a:stretch>
        </p:blipFill>
        <p:spPr>
          <a:xfrm>
            <a:off x="427625" y="1569350"/>
            <a:ext cx="6427374" cy="2907399"/>
          </a:xfrm>
          <a:prstGeom prst="rect">
            <a:avLst/>
          </a:prstGeom>
          <a:noFill/>
          <a:ln>
            <a:noFill/>
          </a:ln>
        </p:spPr>
      </p:pic>
      <p:pic>
        <p:nvPicPr>
          <p:cNvPr id="193" name="Google Shape;193;p38"/>
          <p:cNvPicPr preferRelativeResize="0"/>
          <p:nvPr/>
        </p:nvPicPr>
        <p:blipFill>
          <a:blip r:embed="rId4">
            <a:alphaModFix/>
          </a:blip>
          <a:stretch>
            <a:fillRect/>
          </a:stretch>
        </p:blipFill>
        <p:spPr>
          <a:xfrm>
            <a:off x="7132825" y="1199700"/>
            <a:ext cx="1779973" cy="692701"/>
          </a:xfrm>
          <a:prstGeom prst="rect">
            <a:avLst/>
          </a:prstGeom>
          <a:noFill/>
          <a:ln>
            <a:noFill/>
          </a:ln>
        </p:spPr>
      </p:pic>
      <p:pic>
        <p:nvPicPr>
          <p:cNvPr id="194" name="Google Shape;194;p38"/>
          <p:cNvPicPr preferRelativeResize="0"/>
          <p:nvPr/>
        </p:nvPicPr>
        <p:blipFill>
          <a:blip r:embed="rId5">
            <a:alphaModFix/>
          </a:blip>
          <a:stretch>
            <a:fillRect/>
          </a:stretch>
        </p:blipFill>
        <p:spPr>
          <a:xfrm>
            <a:off x="7085200" y="2383566"/>
            <a:ext cx="1779975" cy="15470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9"/>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00" name="Google Shape;200;p39"/>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0"/>
          <p:cNvSpPr txBox="1"/>
          <p:nvPr/>
        </p:nvSpPr>
        <p:spPr>
          <a:xfrm>
            <a:off x="1461288" y="1939407"/>
            <a:ext cx="6221400" cy="1182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a:solidFill>
                  <a:schemeClr val="lt1"/>
                </a:solidFill>
                <a:latin typeface="DM Sans"/>
                <a:ea typeface="DM Sans"/>
                <a:cs typeface="DM Sans"/>
                <a:sym typeface="DM Sans"/>
              </a:rPr>
              <a:t>React </a:t>
            </a:r>
            <a:r>
              <a:rPr lang="es" sz="7200" b="1">
                <a:solidFill>
                  <a:srgbClr val="EAFF6A"/>
                </a:solidFill>
                <a:latin typeface="DM Sans"/>
                <a:ea typeface="DM Sans"/>
                <a:cs typeface="DM Sans"/>
                <a:sym typeface="DM Sans"/>
              </a:rPr>
              <a:t>Js</a:t>
            </a:r>
            <a:endParaRPr sz="7200" b="1">
              <a:solidFill>
                <a:srgbClr val="EAFF6A"/>
              </a:solidFill>
              <a:latin typeface="DM Sans"/>
              <a:ea typeface="DM Sans"/>
              <a:cs typeface="DM Sans"/>
              <a:sym typeface="DM San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41"/>
          <p:cNvPicPr preferRelativeResize="0"/>
          <p:nvPr/>
        </p:nvPicPr>
        <p:blipFill>
          <a:blip r:embed="rId3">
            <a:alphaModFix/>
          </a:blip>
          <a:stretch>
            <a:fillRect/>
          </a:stretch>
        </p:blipFill>
        <p:spPr>
          <a:xfrm>
            <a:off x="152400" y="152400"/>
            <a:ext cx="8839201" cy="4311231"/>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2"/>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Los inicios</a:t>
            </a:r>
            <a:endParaRPr sz="4000" b="1">
              <a:solidFill>
                <a:schemeClr val="dk1"/>
              </a:solidFill>
              <a:latin typeface="DM Sans"/>
              <a:ea typeface="DM Sans"/>
              <a:cs typeface="DM Sans"/>
              <a:sym typeface="DM Sans"/>
            </a:endParaRPr>
          </a:p>
        </p:txBody>
      </p:sp>
      <p:sp>
        <p:nvSpPr>
          <p:cNvPr id="216" name="Google Shape;216;p42"/>
          <p:cNvSpPr txBox="1"/>
          <p:nvPr/>
        </p:nvSpPr>
        <p:spPr>
          <a:xfrm>
            <a:off x="475500" y="2104150"/>
            <a:ext cx="4730100" cy="228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React JS fue creada por Jordan Walke, un ingeniero de software en Facebook, inspirado por los problemas que tenía la compañía con el mantenimiento del código de de su plataforma, que no paraba de crecer.</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b="1">
                <a:solidFill>
                  <a:srgbClr val="83AEFB"/>
                </a:solidFill>
                <a:latin typeface="DM Sans"/>
                <a:ea typeface="DM Sans"/>
                <a:cs typeface="DM Sans"/>
                <a:sym typeface="DM Sans"/>
              </a:rPr>
              <a:t>React fue liberado el 29 de mayo de 2013. </a:t>
            </a:r>
            <a:endParaRPr sz="1350" b="1">
              <a:solidFill>
                <a:srgbClr val="83AEFB"/>
              </a:solidFill>
              <a:latin typeface="DM Sans"/>
              <a:ea typeface="DM Sans"/>
              <a:cs typeface="DM Sans"/>
              <a:sym typeface="DM Sans"/>
            </a:endParaRPr>
          </a:p>
          <a:p>
            <a:pPr marL="0" lvl="0" indent="0" algn="l" rtl="0">
              <a:spcBef>
                <a:spcPts val="0"/>
              </a:spcBef>
              <a:spcAft>
                <a:spcPts val="0"/>
              </a:spcAft>
              <a:buNone/>
            </a:pPr>
            <a:endParaRPr sz="1350" b="1">
              <a:solidFill>
                <a:srgbClr val="83AEFB"/>
              </a:solidFill>
              <a:latin typeface="DM Sans"/>
              <a:ea typeface="DM Sans"/>
              <a:cs typeface="DM Sans"/>
              <a:sym typeface="DM Sans"/>
            </a:endParaRPr>
          </a:p>
          <a:p>
            <a:pPr marL="0" lvl="0" indent="0" algn="l" rtl="0">
              <a:lnSpc>
                <a:spcPct val="150000"/>
              </a:lnSpc>
              <a:spcBef>
                <a:spcPts val="0"/>
              </a:spcBef>
              <a:spcAft>
                <a:spcPts val="0"/>
              </a:spcAft>
              <a:buNone/>
            </a:pPr>
            <a:r>
              <a:rPr lang="es" sz="1350">
                <a:solidFill>
                  <a:schemeClr val="dk1"/>
                </a:solidFill>
                <a:latin typeface="DM Sans"/>
                <a:ea typeface="DM Sans"/>
                <a:cs typeface="DM Sans"/>
                <a:sym typeface="DM Sans"/>
              </a:rPr>
              <a:t>Short sobre los inicios de React:</a:t>
            </a:r>
            <a:br>
              <a:rPr lang="es" sz="1350">
                <a:solidFill>
                  <a:schemeClr val="dk1"/>
                </a:solidFill>
                <a:latin typeface="DM Sans"/>
                <a:ea typeface="DM Sans"/>
                <a:cs typeface="DM Sans"/>
                <a:sym typeface="DM Sans"/>
              </a:rPr>
            </a:br>
            <a:r>
              <a:rPr lang="es" sz="1350">
                <a:solidFill>
                  <a:schemeClr val="dk1"/>
                </a:solidFill>
                <a:latin typeface="DM Sans"/>
                <a:ea typeface="DM Sans"/>
                <a:cs typeface="DM Sans"/>
                <a:sym typeface="DM Sans"/>
              </a:rPr>
              <a:t>https://www.youtube.com/shorts/PPIaoKdyXCw</a:t>
            </a:r>
            <a:endParaRPr sz="1350">
              <a:solidFill>
                <a:schemeClr val="dk1"/>
              </a:solidFill>
              <a:latin typeface="DM Sans"/>
              <a:ea typeface="DM Sans"/>
              <a:cs typeface="DM Sans"/>
              <a:sym typeface="DM Sans"/>
            </a:endParaRPr>
          </a:p>
        </p:txBody>
      </p:sp>
      <p:pic>
        <p:nvPicPr>
          <p:cNvPr id="217" name="Google Shape;217;p42"/>
          <p:cNvPicPr preferRelativeResize="0"/>
          <p:nvPr/>
        </p:nvPicPr>
        <p:blipFill>
          <a:blip r:embed="rId3">
            <a:alphaModFix/>
          </a:blip>
          <a:stretch>
            <a:fillRect/>
          </a:stretch>
        </p:blipFill>
        <p:spPr>
          <a:xfrm>
            <a:off x="6880525" y="1500425"/>
            <a:ext cx="1989726" cy="172940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Sitios basados en React Js</a:t>
            </a:r>
            <a:endParaRPr sz="4000" b="1">
              <a:solidFill>
                <a:schemeClr val="dk1"/>
              </a:solidFill>
              <a:latin typeface="DM Sans"/>
              <a:ea typeface="DM Sans"/>
              <a:cs typeface="DM Sans"/>
              <a:sym typeface="DM Sans"/>
            </a:endParaRPr>
          </a:p>
        </p:txBody>
      </p:sp>
      <p:pic>
        <p:nvPicPr>
          <p:cNvPr id="223" name="Google Shape;223;p43"/>
          <p:cNvPicPr preferRelativeResize="0"/>
          <p:nvPr/>
        </p:nvPicPr>
        <p:blipFill>
          <a:blip r:embed="rId3">
            <a:alphaModFix/>
          </a:blip>
          <a:stretch>
            <a:fillRect/>
          </a:stretch>
        </p:blipFill>
        <p:spPr>
          <a:xfrm>
            <a:off x="1391998" y="1741750"/>
            <a:ext cx="1143974" cy="1143976"/>
          </a:xfrm>
          <a:prstGeom prst="rect">
            <a:avLst/>
          </a:prstGeom>
          <a:noFill/>
          <a:ln>
            <a:noFill/>
          </a:ln>
        </p:spPr>
      </p:pic>
      <p:pic>
        <p:nvPicPr>
          <p:cNvPr id="224" name="Google Shape;224;p43"/>
          <p:cNvPicPr preferRelativeResize="0"/>
          <p:nvPr/>
        </p:nvPicPr>
        <p:blipFill>
          <a:blip r:embed="rId4">
            <a:alphaModFix/>
          </a:blip>
          <a:stretch>
            <a:fillRect/>
          </a:stretch>
        </p:blipFill>
        <p:spPr>
          <a:xfrm>
            <a:off x="3959979" y="1823008"/>
            <a:ext cx="1224052" cy="1143976"/>
          </a:xfrm>
          <a:prstGeom prst="rect">
            <a:avLst/>
          </a:prstGeom>
          <a:noFill/>
          <a:ln>
            <a:noFill/>
          </a:ln>
        </p:spPr>
      </p:pic>
      <p:pic>
        <p:nvPicPr>
          <p:cNvPr id="225" name="Google Shape;225;p43"/>
          <p:cNvPicPr preferRelativeResize="0"/>
          <p:nvPr/>
        </p:nvPicPr>
        <p:blipFill>
          <a:blip r:embed="rId5">
            <a:alphaModFix/>
          </a:blip>
          <a:stretch>
            <a:fillRect/>
          </a:stretch>
        </p:blipFill>
        <p:spPr>
          <a:xfrm>
            <a:off x="6451680" y="1889410"/>
            <a:ext cx="1244143" cy="848656"/>
          </a:xfrm>
          <a:prstGeom prst="rect">
            <a:avLst/>
          </a:prstGeom>
          <a:noFill/>
          <a:ln>
            <a:noFill/>
          </a:ln>
        </p:spPr>
      </p:pic>
      <p:pic>
        <p:nvPicPr>
          <p:cNvPr id="226" name="Google Shape;226;p43"/>
          <p:cNvPicPr preferRelativeResize="0"/>
          <p:nvPr/>
        </p:nvPicPr>
        <p:blipFill rotWithShape="1">
          <a:blip r:embed="rId6">
            <a:alphaModFix/>
          </a:blip>
          <a:srcRect l="9489" t="18538" r="9956" b="15135"/>
          <a:stretch/>
        </p:blipFill>
        <p:spPr>
          <a:xfrm>
            <a:off x="2216502" y="3433634"/>
            <a:ext cx="1704581" cy="848656"/>
          </a:xfrm>
          <a:prstGeom prst="rect">
            <a:avLst/>
          </a:prstGeom>
          <a:noFill/>
          <a:ln>
            <a:noFill/>
          </a:ln>
        </p:spPr>
      </p:pic>
      <p:pic>
        <p:nvPicPr>
          <p:cNvPr id="227" name="Google Shape;227;p43"/>
          <p:cNvPicPr preferRelativeResize="0"/>
          <p:nvPr/>
        </p:nvPicPr>
        <p:blipFill>
          <a:blip r:embed="rId7">
            <a:alphaModFix/>
          </a:blip>
          <a:stretch>
            <a:fillRect/>
          </a:stretch>
        </p:blipFill>
        <p:spPr>
          <a:xfrm>
            <a:off x="5344039" y="3285974"/>
            <a:ext cx="1143974" cy="1143976"/>
          </a:xfrm>
          <a:prstGeom prst="rect">
            <a:avLst/>
          </a:prstGeom>
          <a:noFill/>
          <a:ln>
            <a:noFill/>
          </a:ln>
        </p:spPr>
      </p:pic>
      <p:sp>
        <p:nvSpPr>
          <p:cNvPr id="228" name="Google Shape;228;p43"/>
          <p:cNvSpPr txBox="1"/>
          <p:nvPr/>
        </p:nvSpPr>
        <p:spPr>
          <a:xfrm>
            <a:off x="6825600" y="3615263"/>
            <a:ext cx="1842900" cy="485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a:solidFill>
                  <a:srgbClr val="202122"/>
                </a:solidFill>
                <a:highlight>
                  <a:srgbClr val="FFFFFF"/>
                </a:highlight>
                <a:latin typeface="DM Sans"/>
                <a:ea typeface="DM Sans"/>
                <a:cs typeface="DM Sans"/>
                <a:sym typeface="DM Sans"/>
              </a:rPr>
              <a:t>y más...</a:t>
            </a:r>
            <a:endParaRPr>
              <a:latin typeface="DM Sans"/>
              <a:ea typeface="DM Sans"/>
              <a:cs typeface="DM Sans"/>
              <a:sym typeface="DM Sans"/>
            </a:endParaRPr>
          </a:p>
        </p:txBody>
      </p:sp>
      <p:pic>
        <p:nvPicPr>
          <p:cNvPr id="229" name="Google Shape;229;p43"/>
          <p:cNvPicPr preferRelativeResize="0"/>
          <p:nvPr/>
        </p:nvPicPr>
        <p:blipFill>
          <a:blip r:embed="rId3">
            <a:alphaModFix/>
          </a:blip>
          <a:stretch>
            <a:fillRect/>
          </a:stretch>
        </p:blipFill>
        <p:spPr>
          <a:xfrm>
            <a:off x="1391986" y="1741750"/>
            <a:ext cx="1143974" cy="1143976"/>
          </a:xfrm>
          <a:prstGeom prst="rect">
            <a:avLst/>
          </a:prstGeom>
          <a:noFill/>
          <a:ln>
            <a:noFill/>
          </a:ln>
        </p:spPr>
      </p:pic>
      <p:pic>
        <p:nvPicPr>
          <p:cNvPr id="230" name="Google Shape;230;p43"/>
          <p:cNvPicPr preferRelativeResize="0"/>
          <p:nvPr/>
        </p:nvPicPr>
        <p:blipFill>
          <a:blip r:embed="rId4">
            <a:alphaModFix/>
          </a:blip>
          <a:stretch>
            <a:fillRect/>
          </a:stretch>
        </p:blipFill>
        <p:spPr>
          <a:xfrm>
            <a:off x="3959967" y="1823008"/>
            <a:ext cx="1224052" cy="1143976"/>
          </a:xfrm>
          <a:prstGeom prst="rect">
            <a:avLst/>
          </a:prstGeom>
          <a:noFill/>
          <a:ln>
            <a:noFill/>
          </a:ln>
        </p:spPr>
      </p:pic>
      <p:pic>
        <p:nvPicPr>
          <p:cNvPr id="231" name="Google Shape;231;p43"/>
          <p:cNvPicPr preferRelativeResize="0"/>
          <p:nvPr/>
        </p:nvPicPr>
        <p:blipFill>
          <a:blip r:embed="rId5">
            <a:alphaModFix/>
          </a:blip>
          <a:stretch>
            <a:fillRect/>
          </a:stretch>
        </p:blipFill>
        <p:spPr>
          <a:xfrm>
            <a:off x="6451667" y="1889410"/>
            <a:ext cx="1244143" cy="848656"/>
          </a:xfrm>
          <a:prstGeom prst="rect">
            <a:avLst/>
          </a:prstGeom>
          <a:noFill/>
          <a:ln>
            <a:noFill/>
          </a:ln>
        </p:spPr>
      </p:pic>
      <p:pic>
        <p:nvPicPr>
          <p:cNvPr id="232" name="Google Shape;232;p43"/>
          <p:cNvPicPr preferRelativeResize="0"/>
          <p:nvPr/>
        </p:nvPicPr>
        <p:blipFill>
          <a:blip r:embed="rId7">
            <a:alphaModFix/>
          </a:blip>
          <a:stretch>
            <a:fillRect/>
          </a:stretch>
        </p:blipFill>
        <p:spPr>
          <a:xfrm>
            <a:off x="5344027" y="3285974"/>
            <a:ext cx="1143974" cy="114397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4"/>
          <p:cNvSpPr txBox="1"/>
          <p:nvPr/>
        </p:nvSpPr>
        <p:spPr>
          <a:xfrm>
            <a:off x="280375" y="322750"/>
            <a:ext cx="68235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Razones para usar React</a:t>
            </a:r>
            <a:endParaRPr sz="4000" b="1">
              <a:solidFill>
                <a:schemeClr val="dk1"/>
              </a:solidFill>
              <a:latin typeface="DM Sans"/>
              <a:ea typeface="DM Sans"/>
              <a:cs typeface="DM Sans"/>
              <a:sym typeface="DM Sans"/>
            </a:endParaRPr>
          </a:p>
        </p:txBody>
      </p:sp>
      <p:pic>
        <p:nvPicPr>
          <p:cNvPr id="238" name="Google Shape;238;p44"/>
          <p:cNvPicPr preferRelativeResize="0"/>
          <p:nvPr/>
        </p:nvPicPr>
        <p:blipFill>
          <a:blip r:embed="rId3">
            <a:alphaModFix/>
          </a:blip>
          <a:stretch>
            <a:fillRect/>
          </a:stretch>
        </p:blipFill>
        <p:spPr>
          <a:xfrm>
            <a:off x="385775" y="1173675"/>
            <a:ext cx="5952427" cy="366025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45"/>
          <p:cNvSpPr txBox="1"/>
          <p:nvPr/>
        </p:nvSpPr>
        <p:spPr>
          <a:xfrm>
            <a:off x="533925" y="1144825"/>
            <a:ext cx="5052600" cy="319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Es una </a:t>
            </a:r>
            <a:r>
              <a:rPr lang="es" sz="1350" b="1">
                <a:solidFill>
                  <a:srgbClr val="83AEFB"/>
                </a:solidFill>
                <a:latin typeface="DM Sans"/>
                <a:ea typeface="DM Sans"/>
                <a:cs typeface="DM Sans"/>
                <a:sym typeface="DM Sans"/>
              </a:rPr>
              <a:t>biblioteca</a:t>
            </a:r>
            <a:r>
              <a:rPr lang="es" sz="1350">
                <a:latin typeface="DM Sans"/>
                <a:ea typeface="DM Sans"/>
                <a:cs typeface="DM Sans"/>
                <a:sym typeface="DM Sans"/>
              </a:rPr>
              <a:t> de Javascript para construir </a:t>
            </a:r>
            <a:r>
              <a:rPr lang="es" sz="1350" b="1">
                <a:solidFill>
                  <a:srgbClr val="83AEFB"/>
                </a:solidFill>
                <a:latin typeface="DM Sans"/>
                <a:ea typeface="DM Sans"/>
                <a:cs typeface="DM Sans"/>
                <a:sym typeface="DM Sans"/>
              </a:rPr>
              <a:t>interfaces de usuario</a:t>
            </a:r>
            <a:r>
              <a:rPr lang="es" sz="1350">
                <a:latin typeface="DM Sans"/>
                <a:ea typeface="DM Sans"/>
                <a:cs typeface="DM Sans"/>
                <a:sym typeface="DM Sans"/>
              </a:rPr>
              <a:t>. Las interfaces son el espacio que tiene el usuario para interactuar con la aplicación.</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se enfoca en la creación y gestión de la lógica interna de la interfaz de usuario. </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Js nos permite crear aplicaciones web, aplicaciones móviles y aplicaciones de escritorio interactivas y reactivas, estructurando la interfaz a través de componentes modulares y reutilizables. </a:t>
            </a:r>
            <a:endParaRPr sz="1350">
              <a:latin typeface="DM Sans"/>
              <a:ea typeface="DM Sans"/>
              <a:cs typeface="DM Sans"/>
              <a:sym typeface="DM Sans"/>
            </a:endParaRPr>
          </a:p>
          <a:p>
            <a:pPr marL="0" lvl="0" indent="0" algn="l" rtl="0">
              <a:spcBef>
                <a:spcPts val="1000"/>
              </a:spcBef>
              <a:spcAft>
                <a:spcPts val="0"/>
              </a:spcAft>
              <a:buNone/>
            </a:pPr>
            <a:endParaRPr sz="1350">
              <a:latin typeface="DM Sans"/>
              <a:ea typeface="DM Sans"/>
              <a:cs typeface="DM Sans"/>
              <a:sym typeface="DM Sans"/>
            </a:endParaRPr>
          </a:p>
          <a:p>
            <a:pPr marL="0" lvl="0" indent="0" algn="l" rtl="0">
              <a:spcBef>
                <a:spcPts val="1000"/>
              </a:spcBef>
              <a:spcAft>
                <a:spcPts val="1000"/>
              </a:spcAft>
              <a:buNone/>
            </a:pPr>
            <a:r>
              <a:rPr lang="es" sz="1350" b="1">
                <a:latin typeface="DM Sans"/>
                <a:ea typeface="DM Sans"/>
                <a:cs typeface="DM Sans"/>
                <a:sym typeface="DM Sans"/>
              </a:rPr>
              <a:t>En este curso veremos interfaces de usuario para aplicaciones web.</a:t>
            </a:r>
            <a:r>
              <a:rPr lang="es" sz="1350">
                <a:latin typeface="DM Sans"/>
                <a:ea typeface="DM Sans"/>
                <a:cs typeface="DM Sans"/>
                <a:sym typeface="DM Sans"/>
              </a:rPr>
              <a:t> 😎</a:t>
            </a:r>
            <a:endParaRPr sz="1350">
              <a:latin typeface="DM Sans"/>
              <a:ea typeface="DM Sans"/>
              <a:cs typeface="DM Sans"/>
              <a:sym typeface="DM Sans"/>
            </a:endParaRPr>
          </a:p>
        </p:txBody>
      </p:sp>
      <p:sp>
        <p:nvSpPr>
          <p:cNvPr id="244" name="Google Shape;244;p45"/>
          <p:cNvSpPr txBox="1"/>
          <p:nvPr/>
        </p:nvSpPr>
        <p:spPr>
          <a:xfrm>
            <a:off x="526800" y="4061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Js</a:t>
            </a:r>
            <a:endParaRPr sz="4000" b="1">
              <a:solidFill>
                <a:schemeClr val="dk1"/>
              </a:solidFill>
              <a:latin typeface="DM Sans"/>
              <a:ea typeface="DM Sans"/>
              <a:cs typeface="DM Sans"/>
              <a:sym typeface="DM Sans"/>
            </a:endParaRPr>
          </a:p>
        </p:txBody>
      </p:sp>
      <p:pic>
        <p:nvPicPr>
          <p:cNvPr id="245" name="Google Shape;245;p45"/>
          <p:cNvPicPr preferRelativeResize="0"/>
          <p:nvPr/>
        </p:nvPicPr>
        <p:blipFill>
          <a:blip r:embed="rId3">
            <a:alphaModFix/>
          </a:blip>
          <a:stretch>
            <a:fillRect/>
          </a:stretch>
        </p:blipFill>
        <p:spPr>
          <a:xfrm>
            <a:off x="6813375" y="229250"/>
            <a:ext cx="2133726" cy="185457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6"/>
          <p:cNvSpPr txBox="1"/>
          <p:nvPr/>
        </p:nvSpPr>
        <p:spPr>
          <a:xfrm>
            <a:off x="533925" y="1387000"/>
            <a:ext cx="5155800" cy="290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React.Js es, en inglés, una </a:t>
            </a:r>
            <a:r>
              <a:rPr lang="es" sz="1350" b="1">
                <a:solidFill>
                  <a:srgbClr val="83AEFB"/>
                </a:solidFill>
                <a:latin typeface="DM Sans"/>
                <a:ea typeface="DM Sans"/>
                <a:cs typeface="DM Sans"/>
                <a:sym typeface="DM Sans"/>
              </a:rPr>
              <a:t>library</a:t>
            </a:r>
            <a:r>
              <a:rPr lang="es" sz="1350">
                <a:solidFill>
                  <a:schemeClr val="dk1"/>
                </a:solidFill>
                <a:latin typeface="DM Sans"/>
                <a:ea typeface="DM Sans"/>
                <a:cs typeface="DM Sans"/>
                <a:sym typeface="DM Sans"/>
              </a:rPr>
              <a:t>. Es muy habitual encontrar la polémica traducción al español: </a:t>
            </a:r>
            <a:r>
              <a:rPr lang="es" sz="1350" b="1">
                <a:solidFill>
                  <a:srgbClr val="83AEFB"/>
                </a:solidFill>
                <a:highlight>
                  <a:schemeClr val="lt1"/>
                </a:highlight>
                <a:latin typeface="DM Sans"/>
                <a:ea typeface="DM Sans"/>
                <a:cs typeface="DM Sans"/>
                <a:sym typeface="DM Sans"/>
              </a:rPr>
              <a:t>librería</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Pero la traducción correcta es </a:t>
            </a:r>
            <a:r>
              <a:rPr lang="es" sz="1350" b="1">
                <a:solidFill>
                  <a:srgbClr val="83AEFB"/>
                </a:solidFill>
                <a:latin typeface="DM Sans"/>
                <a:ea typeface="DM Sans"/>
                <a:cs typeface="DM Sans"/>
                <a:sym typeface="DM Sans"/>
              </a:rPr>
              <a:t>biblioteca</a:t>
            </a:r>
            <a:r>
              <a:rPr lang="es" sz="1350">
                <a:solidFill>
                  <a:schemeClr val="dk1"/>
                </a:solidFill>
                <a:latin typeface="DM Sans"/>
                <a:ea typeface="DM Sans"/>
                <a:cs typeface="DM Sans"/>
                <a:sym typeface="DM Sans"/>
              </a:rPr>
              <a:t>. Es una biblioteca de recursos y archivos.</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b="1">
                <a:solidFill>
                  <a:schemeClr val="dk1"/>
                </a:solidFill>
                <a:latin typeface="DM Sans"/>
                <a:ea typeface="DM Sans"/>
                <a:cs typeface="DM Sans"/>
                <a:sym typeface="DM Sans"/>
              </a:rPr>
              <a:t>No es un framework</a:t>
            </a:r>
            <a:endParaRPr sz="1350" b="1">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Un framework como, por ejemplo, Angular, es una solución que nos brinda todas las herramientas para resolver un problema.</a:t>
            </a:r>
            <a:endParaRPr sz="1350">
              <a:solidFill>
                <a:schemeClr val="dk1"/>
              </a:solidFill>
              <a:latin typeface="DM Sans"/>
              <a:ea typeface="DM Sans"/>
              <a:cs typeface="DM Sans"/>
              <a:sym typeface="DM Sans"/>
            </a:endParaRPr>
          </a:p>
          <a:p>
            <a:pPr marL="0" lvl="0" indent="0" algn="l" rtl="0">
              <a:spcBef>
                <a:spcPts val="1000"/>
              </a:spcBef>
              <a:spcAft>
                <a:spcPts val="1000"/>
              </a:spcAft>
              <a:buClr>
                <a:schemeClr val="dk1"/>
              </a:buClr>
              <a:buSzPts val="1100"/>
              <a:buFont typeface="Arial"/>
              <a:buNone/>
            </a:pPr>
            <a:r>
              <a:rPr lang="es" sz="1350">
                <a:solidFill>
                  <a:schemeClr val="dk1"/>
                </a:solidFill>
                <a:latin typeface="DM Sans"/>
                <a:ea typeface="DM Sans"/>
                <a:cs typeface="DM Sans"/>
                <a:sym typeface="DM Sans"/>
              </a:rPr>
              <a:t>Una biblioteca en cambio trabaja en conjunto con otras herramientas lo que permite más flexibilidad.</a:t>
            </a:r>
            <a:endParaRPr sz="1350">
              <a:solidFill>
                <a:schemeClr val="dk1"/>
              </a:solidFill>
              <a:latin typeface="DM Sans"/>
              <a:ea typeface="DM Sans"/>
              <a:cs typeface="DM Sans"/>
              <a:sym typeface="DM Sans"/>
            </a:endParaRPr>
          </a:p>
        </p:txBody>
      </p:sp>
      <p:sp>
        <p:nvSpPr>
          <p:cNvPr id="251" name="Google Shape;251;p46"/>
          <p:cNvSpPr txBox="1"/>
          <p:nvPr/>
        </p:nvSpPr>
        <p:spPr>
          <a:xfrm>
            <a:off x="533925" y="391825"/>
            <a:ext cx="5953800" cy="711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800" b="1">
                <a:solidFill>
                  <a:schemeClr val="dk1"/>
                </a:solidFill>
                <a:latin typeface="DM Sans"/>
                <a:ea typeface="DM Sans"/>
                <a:cs typeface="DM Sans"/>
                <a:sym typeface="DM Sans"/>
              </a:rPr>
              <a:t>React es una biblioteca</a:t>
            </a:r>
            <a:endParaRPr sz="3800" b="1">
              <a:solidFill>
                <a:schemeClr val="dk1"/>
              </a:solidFill>
              <a:latin typeface="DM Sans"/>
              <a:ea typeface="DM Sans"/>
              <a:cs typeface="DM Sans"/>
              <a:sym typeface="DM San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7"/>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Basado en componentes</a:t>
            </a:r>
            <a:endParaRPr sz="4000" b="1">
              <a:solidFill>
                <a:schemeClr val="dk1"/>
              </a:solidFill>
              <a:latin typeface="DM Sans"/>
              <a:ea typeface="DM Sans"/>
              <a:cs typeface="DM Sans"/>
              <a:sym typeface="DM San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48"/>
          <p:cNvSpPr txBox="1"/>
          <p:nvPr/>
        </p:nvSpPr>
        <p:spPr>
          <a:xfrm>
            <a:off x="569875" y="1700675"/>
            <a:ext cx="5536500" cy="256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Las </a:t>
            </a:r>
            <a:r>
              <a:rPr lang="es" sz="1350" b="1">
                <a:solidFill>
                  <a:srgbClr val="83AEFB"/>
                </a:solidFill>
                <a:latin typeface="DM Sans"/>
                <a:ea typeface="DM Sans"/>
                <a:cs typeface="DM Sans"/>
                <a:sym typeface="DM Sans"/>
              </a:rPr>
              <a:t>interfaces de usuario (UI)</a:t>
            </a:r>
            <a:r>
              <a:rPr lang="es" sz="1350">
                <a:solidFill>
                  <a:schemeClr val="dk1"/>
                </a:solidFill>
                <a:latin typeface="DM Sans"/>
                <a:ea typeface="DM Sans"/>
                <a:cs typeface="DM Sans"/>
                <a:sym typeface="DM Sans"/>
              </a:rPr>
              <a:t> que crearemos están basadas en componentes.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 sz="1350" b="1">
                <a:solidFill>
                  <a:schemeClr val="dk1"/>
                </a:solidFill>
                <a:latin typeface="DM Sans"/>
                <a:ea typeface="DM Sans"/>
                <a:cs typeface="DM Sans"/>
                <a:sym typeface="DM Sans"/>
              </a:rPr>
              <a:t>Un componente, hoy en día es una </a:t>
            </a:r>
            <a:r>
              <a:rPr lang="es" sz="1350" b="1">
                <a:solidFill>
                  <a:schemeClr val="accent5"/>
                </a:solidFill>
                <a:latin typeface="DM Sans"/>
                <a:ea typeface="DM Sans"/>
                <a:cs typeface="DM Sans"/>
                <a:sym typeface="DM Sans"/>
              </a:rPr>
              <a:t>función</a:t>
            </a:r>
            <a:r>
              <a:rPr lang="es" sz="1350" b="1">
                <a:solidFill>
                  <a:schemeClr val="dk1"/>
                </a:solidFill>
                <a:latin typeface="DM Sans"/>
                <a:ea typeface="DM Sans"/>
                <a:cs typeface="DM Sans"/>
                <a:sym typeface="DM Sans"/>
              </a:rPr>
              <a:t> que renderiza (muestra) un elemento en la interfaz de usuario</a:t>
            </a:r>
            <a:r>
              <a:rPr lang="es" sz="1350">
                <a:solidFill>
                  <a:schemeClr val="dk1"/>
                </a:solidFill>
                <a:latin typeface="DM Sans"/>
                <a:ea typeface="DM Sans"/>
                <a:cs typeface="DM Sans"/>
                <a:sym typeface="DM Sans"/>
              </a:rPr>
              <a:t>. Por ejemplo, </a:t>
            </a:r>
            <a:r>
              <a:rPr lang="es" sz="1350" b="1">
                <a:solidFill>
                  <a:srgbClr val="83AEFB"/>
                </a:solidFill>
                <a:latin typeface="DM Sans"/>
                <a:ea typeface="DM Sans"/>
                <a:cs typeface="DM Sans"/>
                <a:sym typeface="DM Sans"/>
              </a:rPr>
              <a:t>un botón</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puedo tener componentes compuestos por otros componentes. Esto quiere decir que la UI está compuesta por componentes padres/madres y componentes hijos permitiendo un desarrollo jerárquico, modular y la reutilización de código. </a:t>
            </a:r>
            <a:endParaRPr sz="1350">
              <a:solidFill>
                <a:schemeClr val="dk1"/>
              </a:solidFill>
              <a:latin typeface="DM Sans"/>
              <a:ea typeface="DM Sans"/>
              <a:cs typeface="DM Sans"/>
              <a:sym typeface="DM Sans"/>
            </a:endParaRPr>
          </a:p>
        </p:txBody>
      </p:sp>
      <p:sp>
        <p:nvSpPr>
          <p:cNvPr id="262" name="Google Shape;262;p48"/>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Componentes</a:t>
            </a:r>
            <a:endParaRPr sz="4000" b="1">
              <a:solidFill>
                <a:schemeClr val="dk1"/>
              </a:solidFill>
              <a:latin typeface="DM Sans"/>
              <a:ea typeface="DM Sans"/>
              <a:cs typeface="DM Sans"/>
              <a:sym typeface="DM Sans"/>
            </a:endParaRPr>
          </a:p>
        </p:txBody>
      </p:sp>
      <p:pic>
        <p:nvPicPr>
          <p:cNvPr id="263" name="Google Shape;263;p48"/>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9"/>
          <p:cNvSpPr txBox="1"/>
          <p:nvPr/>
        </p:nvSpPr>
        <p:spPr>
          <a:xfrm>
            <a:off x="569875" y="1700675"/>
            <a:ext cx="5536500" cy="19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Al dividir la interfaz en pequeños módulos independientes llamados componentes, los desarrolladores pueden trabajar en diferentes partes de la aplicación simultáneamente, facilitando el trabajo en equipo.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los componentes pueden ser reutilizados en distintos lugares de la aplicación o incluso en otros proyectos, ahorrando tiempo y esfuerzo.</a:t>
            </a:r>
            <a:endParaRPr sz="1350">
              <a:solidFill>
                <a:schemeClr val="dk1"/>
              </a:solidFill>
              <a:latin typeface="DM Sans"/>
              <a:ea typeface="DM Sans"/>
              <a:cs typeface="DM Sans"/>
              <a:sym typeface="DM Sans"/>
            </a:endParaRPr>
          </a:p>
        </p:txBody>
      </p:sp>
      <p:sp>
        <p:nvSpPr>
          <p:cNvPr id="269" name="Google Shape;269;p49"/>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Modularidad</a:t>
            </a:r>
            <a:endParaRPr sz="4000" b="1">
              <a:solidFill>
                <a:schemeClr val="dk1"/>
              </a:solidFill>
              <a:latin typeface="DM Sans"/>
              <a:ea typeface="DM Sans"/>
              <a:cs typeface="DM Sans"/>
              <a:sym typeface="DM Sans"/>
            </a:endParaRPr>
          </a:p>
        </p:txBody>
      </p:sp>
      <p:pic>
        <p:nvPicPr>
          <p:cNvPr id="270" name="Google Shape;270;p49"/>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0"/>
          <p:cNvSpPr txBox="1"/>
          <p:nvPr/>
        </p:nvSpPr>
        <p:spPr>
          <a:xfrm>
            <a:off x="1445150" y="688825"/>
            <a:ext cx="7169400" cy="6696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500" b="1">
                <a:solidFill>
                  <a:srgbClr val="EAFF6A"/>
                </a:solidFill>
                <a:latin typeface="DM Sans"/>
                <a:ea typeface="DM Sans"/>
                <a:cs typeface="DM Sans"/>
                <a:sym typeface="DM Sans"/>
              </a:rPr>
              <a:t>Ejemplo en vivo</a:t>
            </a:r>
            <a:endParaRPr sz="3500" b="1">
              <a:solidFill>
                <a:srgbClr val="EAFF6A"/>
              </a:solidFill>
              <a:latin typeface="DM Sans"/>
              <a:ea typeface="DM Sans"/>
              <a:cs typeface="DM Sans"/>
              <a:sym typeface="DM Sans"/>
            </a:endParaRPr>
          </a:p>
        </p:txBody>
      </p:sp>
      <p:sp>
        <p:nvSpPr>
          <p:cNvPr id="276" name="Google Shape;276;p50"/>
          <p:cNvSpPr txBox="1"/>
          <p:nvPr/>
        </p:nvSpPr>
        <p:spPr>
          <a:xfrm>
            <a:off x="473350" y="1626100"/>
            <a:ext cx="7169400" cy="227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2500">
              <a:solidFill>
                <a:srgbClr val="B7B7B7"/>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HTML.</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Vanilla JavaScript.</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Clr>
                <a:schemeClr val="dk1"/>
              </a:buClr>
              <a:buSzPts val="1100"/>
              <a:buFont typeface="Arial"/>
              <a:buNone/>
            </a:pPr>
            <a:r>
              <a:rPr lang="es" sz="1900">
                <a:solidFill>
                  <a:schemeClr val="lt1"/>
                </a:solidFill>
                <a:latin typeface="DM Sans"/>
                <a:ea typeface="DM Sans"/>
                <a:cs typeface="DM Sans"/>
                <a:sym typeface="DM Sans"/>
              </a:rPr>
              <a:t>Creación de componente con React en su forma más pura.</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endParaRPr sz="2500" b="1">
              <a:solidFill>
                <a:srgbClr val="B7B7B7"/>
              </a:solidFill>
              <a:latin typeface="Helvetica Neue"/>
              <a:ea typeface="Helvetica Neue"/>
              <a:cs typeface="Helvetica Neue"/>
              <a:sym typeface="Helvetica Neue"/>
            </a:endParaRPr>
          </a:p>
        </p:txBody>
      </p:sp>
      <p:grpSp>
        <p:nvGrpSpPr>
          <p:cNvPr id="277" name="Google Shape;277;p50"/>
          <p:cNvGrpSpPr/>
          <p:nvPr/>
        </p:nvGrpSpPr>
        <p:grpSpPr>
          <a:xfrm>
            <a:off x="473351" y="619523"/>
            <a:ext cx="738900" cy="738900"/>
            <a:chOff x="473351" y="619523"/>
            <a:chExt cx="738900" cy="738900"/>
          </a:xfrm>
        </p:grpSpPr>
        <p:sp>
          <p:nvSpPr>
            <p:cNvPr id="278" name="Google Shape;278;p50"/>
            <p:cNvSpPr/>
            <p:nvPr/>
          </p:nvSpPr>
          <p:spPr>
            <a:xfrm>
              <a:off x="473351" y="619523"/>
              <a:ext cx="738900" cy="7389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9" name="Google Shape;279;p50" title="ícono de ejemplo en vivo"/>
            <p:cNvPicPr preferRelativeResize="0"/>
            <p:nvPr/>
          </p:nvPicPr>
          <p:blipFill>
            <a:blip r:embed="rId3">
              <a:alphaModFix/>
            </a:blip>
            <a:stretch>
              <a:fillRect/>
            </a:stretch>
          </p:blipFill>
          <p:spPr>
            <a:xfrm>
              <a:off x="616475" y="762650"/>
              <a:ext cx="452650" cy="452650"/>
            </a:xfrm>
            <a:prstGeom prst="rect">
              <a:avLst/>
            </a:prstGeom>
            <a:noFill/>
            <a:ln>
              <a:noFill/>
            </a:ln>
          </p:spPr>
        </p:pic>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51"/>
          <p:cNvSpPr txBox="1"/>
          <p:nvPr/>
        </p:nvSpPr>
        <p:spPr>
          <a:xfrm>
            <a:off x="465275" y="468275"/>
            <a:ext cx="3003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CLASE N°1 - PRIMERA HORA</a:t>
            </a:r>
            <a:endParaRPr>
              <a:latin typeface="DM Sans"/>
              <a:ea typeface="DM Sans"/>
              <a:cs typeface="DM Sans"/>
              <a:sym typeface="DM Sans"/>
            </a:endParaRPr>
          </a:p>
        </p:txBody>
      </p:sp>
      <p:sp>
        <p:nvSpPr>
          <p:cNvPr id="285" name="Google Shape;285;p51"/>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86" name="Google Shape;286;p51"/>
          <p:cNvSpPr txBox="1"/>
          <p:nvPr/>
        </p:nvSpPr>
        <p:spPr>
          <a:xfrm>
            <a:off x="465275" y="1559850"/>
            <a:ext cx="3834600" cy="319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React JS</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una biblioteca de Javascript para construir interfaces de usuario.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Interfaz de usuario: </a:t>
            </a:r>
            <a:r>
              <a:rPr lang="es" sz="1350">
                <a:solidFill>
                  <a:schemeClr val="dk1"/>
                </a:solidFill>
                <a:latin typeface="DM Sans"/>
                <a:ea typeface="DM Sans"/>
                <a:cs typeface="DM Sans"/>
                <a:sym typeface="DM Sans"/>
              </a:rPr>
              <a:t>Las interfaces de usuario son el espacio que tiene el usuario para interactuar con la aplicación.</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Componente:</a:t>
            </a:r>
            <a:r>
              <a:rPr lang="es" sz="1350">
                <a:solidFill>
                  <a:schemeClr val="dk1"/>
                </a:solidFill>
                <a:latin typeface="DM Sans"/>
                <a:ea typeface="DM Sans"/>
                <a:cs typeface="DM Sans"/>
                <a:sym typeface="DM Sans"/>
              </a:rPr>
              <a:t> Son funciones a través de la cual se construye la interfaz de usuario. Tienen como objetivo </a:t>
            </a:r>
            <a:r>
              <a:rPr lang="es" sz="1350" b="1">
                <a:solidFill>
                  <a:schemeClr val="dk1"/>
                </a:solidFill>
                <a:latin typeface="DM Sans"/>
                <a:ea typeface="DM Sans"/>
                <a:cs typeface="DM Sans"/>
                <a:sym typeface="DM Sans"/>
              </a:rPr>
              <a:t>final </a:t>
            </a:r>
            <a:r>
              <a:rPr lang="es" sz="1350">
                <a:solidFill>
                  <a:schemeClr val="dk1"/>
                </a:solidFill>
                <a:latin typeface="DM Sans"/>
                <a:ea typeface="DM Sans"/>
                <a:cs typeface="DM Sans"/>
                <a:sym typeface="DM Sans"/>
              </a:rPr>
              <a:t>renderizar (representar) algo parecido a HTML.</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87" name="Google Shape;287;p51"/>
          <p:cNvSpPr txBox="1"/>
          <p:nvPr/>
        </p:nvSpPr>
        <p:spPr>
          <a:xfrm>
            <a:off x="4519500" y="1561175"/>
            <a:ext cx="3834600" cy="28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Biblioteca:</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una grupo de recursos y archivos que permite trabajar en algún problema. Trabaja en interacción con otras bibliotecas. Es más flexible.</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Framework:</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 marco que nos brinda todas las herramientas para resolver un problema.</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solidFill>
                  <a:schemeClr val="dk1"/>
                </a:solidFill>
                <a:latin typeface="DM Sans"/>
                <a:ea typeface="DM Sans"/>
                <a:cs typeface="DM Sans"/>
                <a:sym typeface="DM Sans"/>
              </a:rPr>
              <a:t>Ej: Angular. Es rígido y a veces excesivo.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2"/>
          <p:cNvSpPr txBox="1"/>
          <p:nvPr/>
        </p:nvSpPr>
        <p:spPr>
          <a:xfrm>
            <a:off x="465275" y="468275"/>
            <a:ext cx="29523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600">
                <a:solidFill>
                  <a:schemeClr val="dk1"/>
                </a:solidFill>
                <a:latin typeface="DM Sans"/>
                <a:ea typeface="DM Sans"/>
                <a:cs typeface="DM Sans"/>
                <a:sym typeface="DM Sans"/>
              </a:rPr>
              <a:t>CLASE N°1 - PRIMERA HORA</a:t>
            </a:r>
            <a:endParaRPr>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
        <p:nvSpPr>
          <p:cNvPr id="293" name="Google Shape;293;p52"/>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94" name="Google Shape;294;p52"/>
          <p:cNvSpPr txBox="1"/>
          <p:nvPr/>
        </p:nvSpPr>
        <p:spPr>
          <a:xfrm>
            <a:off x="465275" y="1559850"/>
            <a:ext cx="3834600" cy="327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Código declarativo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declaran las intenciones y la lógica detrás de un componente o aplicación.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Código imperativo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especifican los pasos detallados que se deben realizar para lograr un resultado específico. Es decir, se enfoca en cómo se logra un resultado.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95" name="Google Shape;295;p52"/>
          <p:cNvSpPr txBox="1"/>
          <p:nvPr/>
        </p:nvSpPr>
        <p:spPr>
          <a:xfrm>
            <a:off x="4519500" y="1561175"/>
            <a:ext cx="3834600" cy="1483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Expresión:</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Las expresiones son preguntas que JavaScript puede responder, de la única manera que conoce: con valores.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53"/>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DOM</a:t>
            </a:r>
            <a:endParaRPr sz="4000" b="1">
              <a:solidFill>
                <a:schemeClr val="dk1"/>
              </a:solidFill>
              <a:latin typeface="DM Sans"/>
              <a:ea typeface="DM Sans"/>
              <a:cs typeface="DM Sans"/>
              <a:sym typeface="DM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4"/>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06" name="Google Shape;306;p54"/>
          <p:cNvSpPr txBox="1"/>
          <p:nvPr/>
        </p:nvSpPr>
        <p:spPr>
          <a:xfrm>
            <a:off x="519200" y="1668350"/>
            <a:ext cx="3834600" cy="3917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Al dar clic en el buscador Google a un </a:t>
            </a:r>
            <a:r>
              <a:rPr lang="es" sz="1250" u="sng">
                <a:solidFill>
                  <a:srgbClr val="3C78D8"/>
                </a:solidFill>
                <a:latin typeface="DM Sans"/>
                <a:ea typeface="DM Sans"/>
                <a:cs typeface="DM Sans"/>
                <a:sym typeface="DM Sans"/>
              </a:rPr>
              <a:t>enlace</a:t>
            </a:r>
            <a:r>
              <a:rPr lang="es" sz="1250">
                <a:latin typeface="DM Sans"/>
                <a:ea typeface="DM Sans"/>
                <a:cs typeface="DM Sans"/>
                <a:sym typeface="DM Sans"/>
              </a:rPr>
              <a:t>, este nos redirige a una página web.</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navegador hace una petición a un servidor que nos devuelve un archivo HTML.</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Este archivo HTML se convierte en el </a:t>
            </a:r>
            <a:r>
              <a:rPr lang="es" sz="1250" b="1">
                <a:latin typeface="DM Sans"/>
                <a:ea typeface="DM Sans"/>
                <a:cs typeface="DM Sans"/>
                <a:sym typeface="DM Sans"/>
              </a:rPr>
              <a:t>DOM</a:t>
            </a:r>
            <a:r>
              <a:rPr lang="es" sz="1250">
                <a:latin typeface="DM Sans"/>
                <a:ea typeface="DM Sans"/>
                <a:cs typeface="DM Sans"/>
                <a:sym typeface="DM Sans"/>
              </a:rPr>
              <a:t> que es un modelo del árbol del archivo HTML original y es pintado en la interfaz de usuario del navegador. </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a:t>
            </a:r>
            <a:r>
              <a:rPr lang="es" sz="1250" b="1">
                <a:latin typeface="DM Sans"/>
                <a:ea typeface="DM Sans"/>
                <a:cs typeface="DM Sans"/>
                <a:sym typeface="DM Sans"/>
              </a:rPr>
              <a:t>DOM</a:t>
            </a:r>
            <a:r>
              <a:rPr lang="es" sz="1250">
                <a:latin typeface="DM Sans"/>
                <a:ea typeface="DM Sans"/>
                <a:cs typeface="DM Sans"/>
                <a:sym typeface="DM Sans"/>
              </a:rPr>
              <a:t> es u</a:t>
            </a:r>
            <a:r>
              <a:rPr lang="es" sz="1250">
                <a:solidFill>
                  <a:schemeClr val="dk1"/>
                </a:solidFill>
                <a:latin typeface="DM Sans"/>
                <a:ea typeface="DM Sans"/>
                <a:cs typeface="DM Sans"/>
                <a:sym typeface="DM Sans"/>
              </a:rPr>
              <a:t>na estructura jerárquica de nodos compuesta por etiquetas y su contenido que permite su manipulación usando Javascript.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highlight>
                <a:schemeClr val="accent4"/>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
        <p:nvSpPr>
          <p:cNvPr id="307" name="Google Shape;307;p54"/>
          <p:cNvSpPr txBox="1"/>
          <p:nvPr/>
        </p:nvSpPr>
        <p:spPr>
          <a:xfrm>
            <a:off x="4674200" y="1668362"/>
            <a:ext cx="3834600" cy="2701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La manipulación directa del DOM conlleva ciertos </a:t>
            </a:r>
            <a:r>
              <a:rPr lang="es" sz="1250" b="1">
                <a:latin typeface="DM Sans"/>
                <a:ea typeface="DM Sans"/>
                <a:cs typeface="DM Sans"/>
                <a:sym typeface="DM Sans"/>
              </a:rPr>
              <a:t>problemas</a:t>
            </a:r>
            <a:r>
              <a:rPr lang="es" sz="1250">
                <a:latin typeface="DM Sans"/>
                <a:ea typeface="DM Sans"/>
                <a:cs typeface="DM Sans"/>
                <a:sym typeface="DM Sans"/>
              </a:rPr>
              <a: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highlight>
                  <a:srgbClr val="EA90FF"/>
                </a:highlight>
                <a:latin typeface="DM Sans"/>
                <a:ea typeface="DM Sans"/>
                <a:cs typeface="DM Sans"/>
                <a:sym typeface="DM Sans"/>
              </a:rPr>
              <a:t>Su manipulación directa a veces puede ser costosa en rendimiento </a:t>
            </a:r>
            <a:r>
              <a:rPr lang="es" sz="1250">
                <a:solidFill>
                  <a:schemeClr val="dk1"/>
                </a:solidFill>
                <a:highlight>
                  <a:schemeClr val="accent4"/>
                </a:highlight>
                <a:latin typeface="DM Sans"/>
                <a:ea typeface="DM Sans"/>
                <a:cs typeface="DM Sans"/>
                <a:sym typeface="DM Sans"/>
              </a:rPr>
              <a:t>y ser compleja y poco práctica.</a:t>
            </a:r>
            <a:endParaRPr sz="1250">
              <a:highlight>
                <a:srgbClr val="EA90FF"/>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08" name="Google Shape;308;p54"/>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09" name="Google Shape;309;p54"/>
          <p:cNvPicPr preferRelativeResize="0"/>
          <p:nvPr/>
        </p:nvPicPr>
        <p:blipFill>
          <a:blip r:embed="rId4">
            <a:alphaModFix/>
          </a:blip>
          <a:stretch>
            <a:fillRect/>
          </a:stretch>
        </p:blipFill>
        <p:spPr>
          <a:xfrm flipH="1">
            <a:off x="5936625" y="1668350"/>
            <a:ext cx="1034525" cy="1034525"/>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55"/>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15" name="Google Shape;315;p55"/>
          <p:cNvSpPr txBox="1"/>
          <p:nvPr/>
        </p:nvSpPr>
        <p:spPr>
          <a:xfrm>
            <a:off x="519200" y="1668350"/>
            <a:ext cx="3834600" cy="1223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a:t>
            </a:r>
            <a:r>
              <a:rPr lang="es" sz="1350" b="1">
                <a:solidFill>
                  <a:schemeClr val="accent5"/>
                </a:solidFill>
                <a:latin typeface="DM Sans"/>
                <a:ea typeface="DM Sans"/>
                <a:cs typeface="DM Sans"/>
                <a:sym typeface="DM Sans"/>
              </a:rPr>
              <a:t>document</a:t>
            </a:r>
            <a:r>
              <a:rPr lang="es" sz="1350">
                <a:latin typeface="DM Sans"/>
                <a:ea typeface="DM Sans"/>
                <a:cs typeface="DM Sans"/>
                <a:sym typeface="DM Sans"/>
              </a:rPr>
              <a:t> en la consola de Dev Tools veremos el </a:t>
            </a:r>
            <a:r>
              <a:rPr lang="es" sz="1350" b="1">
                <a:solidFill>
                  <a:schemeClr val="accent5"/>
                </a:solidFill>
                <a:latin typeface="DM Sans"/>
                <a:ea typeface="DM Sans"/>
                <a:cs typeface="DM Sans"/>
                <a:sym typeface="DM Sans"/>
              </a:rPr>
              <a:t>DOM</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console.dir(document) </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veremos sus propiedades.</a:t>
            </a:r>
            <a:endParaRPr sz="1450">
              <a:latin typeface="DM Sans"/>
              <a:ea typeface="DM Sans"/>
              <a:cs typeface="DM Sans"/>
              <a:sym typeface="DM Sans"/>
            </a:endParaRPr>
          </a:p>
        </p:txBody>
      </p:sp>
      <p:sp>
        <p:nvSpPr>
          <p:cNvPr id="316" name="Google Shape;316;p55"/>
          <p:cNvSpPr txBox="1"/>
          <p:nvPr/>
        </p:nvSpPr>
        <p:spPr>
          <a:xfrm>
            <a:off x="4674200" y="1668362"/>
            <a:ext cx="3834600" cy="1354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17" name="Google Shape;317;p55"/>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18" name="Google Shape;318;p55"/>
          <p:cNvPicPr preferRelativeResize="0"/>
          <p:nvPr/>
        </p:nvPicPr>
        <p:blipFill>
          <a:blip r:embed="rId4">
            <a:alphaModFix/>
          </a:blip>
          <a:stretch>
            <a:fillRect/>
          </a:stretch>
        </p:blipFill>
        <p:spPr>
          <a:xfrm>
            <a:off x="4310525" y="1537525"/>
            <a:ext cx="4623751" cy="26569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56"/>
          <p:cNvSpPr txBox="1"/>
          <p:nvPr/>
        </p:nvSpPr>
        <p:spPr>
          <a:xfrm>
            <a:off x="473350" y="619525"/>
            <a:ext cx="8141100" cy="2924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FRAGMENTO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DE UN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rgbClr val="93C47D"/>
                </a:solidFill>
                <a:latin typeface="DM Sans"/>
                <a:ea typeface="DM Sans"/>
                <a:cs typeface="DM Sans"/>
                <a:sym typeface="DM Sans"/>
              </a:rPr>
              <a:t>ÁRBOL</a:t>
            </a:r>
            <a:r>
              <a:rPr lang="es" sz="4000" b="1">
                <a:solidFill>
                  <a:schemeClr val="dk1"/>
                </a:solidFill>
                <a:latin typeface="DM Sans"/>
                <a:ea typeface="DM Sans"/>
                <a:cs typeface="DM Sans"/>
                <a:sym typeface="DM Sans"/>
              </a:rPr>
              <a:t>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a:t>
            </a:r>
            <a:endParaRPr sz="4300" b="1">
              <a:solidFill>
                <a:schemeClr val="dk1"/>
              </a:solidFill>
              <a:latin typeface="DM Sans"/>
              <a:ea typeface="DM Sans"/>
              <a:cs typeface="DM Sans"/>
              <a:sym typeface="DM Sans"/>
            </a:endParaRPr>
          </a:p>
        </p:txBody>
      </p:sp>
      <p:pic>
        <p:nvPicPr>
          <p:cNvPr id="324" name="Google Shape;324;p56"/>
          <p:cNvPicPr preferRelativeResize="0"/>
          <p:nvPr/>
        </p:nvPicPr>
        <p:blipFill>
          <a:blip r:embed="rId3">
            <a:alphaModFix/>
          </a:blip>
          <a:stretch>
            <a:fillRect/>
          </a:stretch>
        </p:blipFill>
        <p:spPr>
          <a:xfrm>
            <a:off x="3677725" y="1724325"/>
            <a:ext cx="5049824" cy="153595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57"/>
          <p:cNvSpPr txBox="1"/>
          <p:nvPr/>
        </p:nvSpPr>
        <p:spPr>
          <a:xfrm>
            <a:off x="843000" y="1519500"/>
            <a:ext cx="7458000" cy="36240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A VECES ME PREGUNTO,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None/>
            </a:pPr>
            <a:r>
              <a:rPr lang="es" sz="4000" b="1">
                <a:solidFill>
                  <a:srgbClr val="93C47D"/>
                </a:solidFill>
                <a:latin typeface="DM Sans"/>
                <a:ea typeface="DM Sans"/>
                <a:cs typeface="DM Sans"/>
                <a:sym typeface="DM Sans"/>
              </a:rPr>
              <a:t>¿POR QUÉ LE DICEN ÁRBOL?</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E IMAGINO…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endParaRPr sz="43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rgbClr val="EAFF6A"/>
              </a:solidFill>
              <a:latin typeface="DM Sans"/>
              <a:ea typeface="DM Sans"/>
              <a:cs typeface="DM Sans"/>
              <a:sym typeface="DM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pic>
        <p:nvPicPr>
          <p:cNvPr id="334" name="Google Shape;334;p58"/>
          <p:cNvPicPr preferRelativeResize="0"/>
          <p:nvPr/>
        </p:nvPicPr>
        <p:blipFill>
          <a:blip r:embed="rId3">
            <a:alphaModFix/>
          </a:blip>
          <a:stretch>
            <a:fillRect/>
          </a:stretch>
        </p:blipFill>
        <p:spPr>
          <a:xfrm>
            <a:off x="-12650" y="0"/>
            <a:ext cx="9156650" cy="4533900"/>
          </a:xfrm>
          <a:prstGeom prst="rect">
            <a:avLst/>
          </a:prstGeom>
          <a:noFill/>
          <a:ln>
            <a:noFill/>
          </a:ln>
        </p:spPr>
      </p:pic>
      <p:pic>
        <p:nvPicPr>
          <p:cNvPr id="335" name="Google Shape;335;p58"/>
          <p:cNvPicPr preferRelativeResize="0"/>
          <p:nvPr/>
        </p:nvPicPr>
        <p:blipFill>
          <a:blip r:embed="rId4">
            <a:alphaModFix/>
          </a:blip>
          <a:stretch>
            <a:fillRect/>
          </a:stretch>
        </p:blipFill>
        <p:spPr>
          <a:xfrm rot="5400000">
            <a:off x="67089" y="1826786"/>
            <a:ext cx="4193225" cy="1221002"/>
          </a:xfrm>
          <a:prstGeom prst="rect">
            <a:avLst/>
          </a:prstGeom>
          <a:noFill/>
          <a:ln>
            <a:noFill/>
          </a:ln>
        </p:spPr>
      </p:pic>
      <p:pic>
        <p:nvPicPr>
          <p:cNvPr id="336" name="Google Shape;336;p58"/>
          <p:cNvPicPr preferRelativeResize="0"/>
          <p:nvPr/>
        </p:nvPicPr>
        <p:blipFill>
          <a:blip r:embed="rId4">
            <a:alphaModFix/>
          </a:blip>
          <a:stretch>
            <a:fillRect/>
          </a:stretch>
        </p:blipFill>
        <p:spPr>
          <a:xfrm rot="-5400000" flipH="1">
            <a:off x="1272773" y="1872837"/>
            <a:ext cx="4193203" cy="1128901"/>
          </a:xfrm>
          <a:prstGeom prst="rect">
            <a:avLst/>
          </a:prstGeom>
          <a:noFill/>
          <a:ln>
            <a:noFill/>
          </a:ln>
        </p:spPr>
      </p:pic>
      <p:pic>
        <p:nvPicPr>
          <p:cNvPr id="337" name="Google Shape;337;p58"/>
          <p:cNvPicPr preferRelativeResize="0"/>
          <p:nvPr/>
        </p:nvPicPr>
        <p:blipFill>
          <a:blip r:embed="rId5">
            <a:alphaModFix/>
          </a:blip>
          <a:stretch>
            <a:fillRect/>
          </a:stretch>
        </p:blipFill>
        <p:spPr>
          <a:xfrm>
            <a:off x="1553200" y="1553900"/>
            <a:ext cx="510150" cy="510150"/>
          </a:xfrm>
          <a:prstGeom prst="rect">
            <a:avLst/>
          </a:prstGeom>
          <a:noFill/>
          <a:ln>
            <a:noFill/>
          </a:ln>
        </p:spPr>
      </p:pic>
      <p:pic>
        <p:nvPicPr>
          <p:cNvPr id="338" name="Google Shape;338;p58"/>
          <p:cNvPicPr preferRelativeResize="0"/>
          <p:nvPr/>
        </p:nvPicPr>
        <p:blipFill>
          <a:blip r:embed="rId5">
            <a:alphaModFix/>
          </a:blip>
          <a:stretch>
            <a:fillRect/>
          </a:stretch>
        </p:blipFill>
        <p:spPr>
          <a:xfrm>
            <a:off x="2207700" y="1661975"/>
            <a:ext cx="510150" cy="510150"/>
          </a:xfrm>
          <a:prstGeom prst="rect">
            <a:avLst/>
          </a:prstGeom>
          <a:noFill/>
          <a:ln>
            <a:noFill/>
          </a:ln>
        </p:spPr>
      </p:pic>
      <p:pic>
        <p:nvPicPr>
          <p:cNvPr id="339" name="Google Shape;339;p58"/>
          <p:cNvPicPr preferRelativeResize="0"/>
          <p:nvPr/>
        </p:nvPicPr>
        <p:blipFill>
          <a:blip r:embed="rId5">
            <a:alphaModFix/>
          </a:blip>
          <a:stretch>
            <a:fillRect/>
          </a:stretch>
        </p:blipFill>
        <p:spPr>
          <a:xfrm>
            <a:off x="3209225" y="1105550"/>
            <a:ext cx="510150" cy="510150"/>
          </a:xfrm>
          <a:prstGeom prst="rect">
            <a:avLst/>
          </a:prstGeom>
          <a:noFill/>
          <a:ln>
            <a:noFill/>
          </a:ln>
        </p:spPr>
      </p:pic>
      <p:pic>
        <p:nvPicPr>
          <p:cNvPr id="340" name="Google Shape;340;p58"/>
          <p:cNvPicPr preferRelativeResize="0"/>
          <p:nvPr/>
        </p:nvPicPr>
        <p:blipFill>
          <a:blip r:embed="rId5">
            <a:alphaModFix/>
          </a:blip>
          <a:stretch>
            <a:fillRect/>
          </a:stretch>
        </p:blipFill>
        <p:spPr>
          <a:xfrm>
            <a:off x="3590525" y="1826650"/>
            <a:ext cx="510150" cy="510150"/>
          </a:xfrm>
          <a:prstGeom prst="rect">
            <a:avLst/>
          </a:prstGeom>
          <a:noFill/>
          <a:ln>
            <a:noFill/>
          </a:ln>
        </p:spPr>
      </p:pic>
      <p:pic>
        <p:nvPicPr>
          <p:cNvPr id="341" name="Google Shape;341;p58"/>
          <p:cNvPicPr preferRelativeResize="0"/>
          <p:nvPr/>
        </p:nvPicPr>
        <p:blipFill>
          <a:blip r:embed="rId6">
            <a:alphaModFix/>
          </a:blip>
          <a:stretch>
            <a:fillRect/>
          </a:stretch>
        </p:blipFill>
        <p:spPr>
          <a:xfrm>
            <a:off x="4711750" y="2729175"/>
            <a:ext cx="1502150" cy="1502150"/>
          </a:xfrm>
          <a:prstGeom prst="rect">
            <a:avLst/>
          </a:prstGeom>
          <a:noFill/>
          <a:ln>
            <a:noFill/>
          </a:ln>
        </p:spPr>
      </p:pic>
      <p:pic>
        <p:nvPicPr>
          <p:cNvPr id="342" name="Google Shape;342;p58"/>
          <p:cNvPicPr preferRelativeResize="0"/>
          <p:nvPr/>
        </p:nvPicPr>
        <p:blipFill>
          <a:blip r:embed="rId7">
            <a:alphaModFix/>
          </a:blip>
          <a:stretch>
            <a:fillRect/>
          </a:stretch>
        </p:blipFill>
        <p:spPr>
          <a:xfrm>
            <a:off x="5527775" y="122513"/>
            <a:ext cx="3840925" cy="247622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59"/>
          <p:cNvSpPr txBox="1"/>
          <p:nvPr/>
        </p:nvSpPr>
        <p:spPr>
          <a:xfrm>
            <a:off x="1404863" y="1941375"/>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lt1"/>
                </a:solidFill>
                <a:latin typeface="DM Sans"/>
                <a:ea typeface="DM Sans"/>
                <a:cs typeface="DM Sans"/>
                <a:sym typeface="DM Sans"/>
              </a:rPr>
              <a:t>Crear una aplicación utilizando</a:t>
            </a:r>
            <a:r>
              <a:rPr lang="es" sz="4000" b="1">
                <a:solidFill>
                  <a:schemeClr val="accent5"/>
                </a:solidFill>
                <a:latin typeface="DM Sans"/>
                <a:ea typeface="DM Sans"/>
                <a:cs typeface="DM Sans"/>
                <a:sym typeface="DM Sans"/>
              </a:rPr>
              <a:t> el CLI </a:t>
            </a:r>
            <a:endParaRPr sz="4000" b="1">
              <a:solidFill>
                <a:schemeClr val="accent5"/>
              </a:solidFill>
              <a:latin typeface="DM Sans"/>
              <a:ea typeface="DM Sans"/>
              <a:cs typeface="DM Sans"/>
              <a:sym typeface="DM San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6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es el CLI?</a:t>
            </a:r>
            <a:endParaRPr sz="4000" b="1">
              <a:solidFill>
                <a:schemeClr val="dk1"/>
              </a:solidFill>
              <a:latin typeface="DM Sans"/>
              <a:ea typeface="DM Sans"/>
              <a:cs typeface="DM Sans"/>
              <a:sym typeface="DM Sans"/>
            </a:endParaRPr>
          </a:p>
        </p:txBody>
      </p:sp>
      <p:sp>
        <p:nvSpPr>
          <p:cNvPr id="353" name="Google Shape;353;p60"/>
          <p:cNvSpPr txBox="1"/>
          <p:nvPr/>
        </p:nvSpPr>
        <p:spPr>
          <a:xfrm>
            <a:off x="527250" y="1600200"/>
            <a:ext cx="5714100" cy="297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CLI, son las siglas en inglés de:</a:t>
            </a:r>
            <a:r>
              <a:rPr lang="es" sz="1350" b="1">
                <a:latin typeface="DM Sans"/>
                <a:ea typeface="DM Sans"/>
                <a:cs typeface="DM Sans"/>
                <a:sym typeface="DM Sans"/>
              </a:rPr>
              <a:t> interfaz de línea de comandos. </a:t>
            </a:r>
            <a:r>
              <a:rPr lang="es" sz="1350">
                <a:latin typeface="DM Sans"/>
                <a:ea typeface="DM Sans"/>
                <a:cs typeface="DM Sans"/>
                <a:sym typeface="DM Sans"/>
              </a:rPr>
              <a:t>Es una interfaz de texto que funciona en una Terminal (como, por ejemplo </a:t>
            </a:r>
            <a:r>
              <a:rPr lang="es" sz="1350" b="1">
                <a:latin typeface="DM Sans"/>
                <a:ea typeface="DM Sans"/>
                <a:cs typeface="DM Sans"/>
                <a:sym typeface="DM Sans"/>
              </a:rPr>
              <a:t>CMD</a:t>
            </a:r>
            <a:r>
              <a:rPr lang="es" sz="1350">
                <a:latin typeface="DM Sans"/>
                <a:ea typeface="DM Sans"/>
                <a:cs typeface="DM Sans"/>
                <a:sym typeface="DM Sans"/>
              </a:rPr>
              <a:t>) y permite a los usuarios </a:t>
            </a:r>
            <a:r>
              <a:rPr lang="es" sz="1350" b="1">
                <a:latin typeface="DM Sans"/>
                <a:ea typeface="DM Sans"/>
                <a:cs typeface="DM Sans"/>
                <a:sym typeface="DM Sans"/>
              </a:rPr>
              <a:t>dar instrucciones</a:t>
            </a:r>
            <a:r>
              <a:rPr lang="es" sz="1350">
                <a:latin typeface="DM Sans"/>
                <a:ea typeface="DM Sans"/>
                <a:cs typeface="DM Sans"/>
                <a:sym typeface="DM Sans"/>
              </a:rPr>
              <a:t> a algún programa informático </a:t>
            </a:r>
            <a:r>
              <a:rPr lang="es" sz="1350" b="1">
                <a:latin typeface="DM Sans"/>
                <a:ea typeface="DM Sans"/>
                <a:cs typeface="DM Sans"/>
                <a:sym typeface="DM Sans"/>
              </a:rPr>
              <a:t>por medio de comandos escritos</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Visual Code también tiene la suya. Puedes abrir Visual Studio Code </a:t>
            </a:r>
            <a:r>
              <a:rPr lang="es" sz="1350">
                <a:solidFill>
                  <a:schemeClr val="dk1"/>
                </a:solidFill>
                <a:latin typeface="DM Sans"/>
                <a:ea typeface="DM Sans"/>
                <a:cs typeface="DM Sans"/>
                <a:sym typeface="DM Sans"/>
              </a:rPr>
              <a:t>desde CMD,</a:t>
            </a:r>
            <a:r>
              <a:rPr lang="es" sz="1350">
                <a:latin typeface="DM Sans"/>
                <a:ea typeface="DM Sans"/>
                <a:cs typeface="DM Sans"/>
                <a:sym typeface="DM Sans"/>
              </a:rPr>
              <a:t> escribiendo:</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850">
                <a:highlight>
                  <a:schemeClr val="accent1"/>
                </a:highlight>
                <a:latin typeface="DM Sans"/>
                <a:ea typeface="DM Sans"/>
                <a:cs typeface="DM Sans"/>
                <a:sym typeface="DM Sans"/>
              </a:rPr>
              <a:t>&gt; code</a:t>
            </a:r>
            <a:endParaRPr sz="1850">
              <a:highlight>
                <a:schemeClr val="accent1"/>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61"/>
          <p:cNvSpPr txBox="1"/>
          <p:nvPr/>
        </p:nvSpPr>
        <p:spPr>
          <a:xfrm>
            <a:off x="381600" y="302750"/>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Abrir una terminal</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59" name="Google Shape;359;p61"/>
          <p:cNvPicPr preferRelativeResize="0"/>
          <p:nvPr/>
        </p:nvPicPr>
        <p:blipFill>
          <a:blip r:embed="rId3">
            <a:alphaModFix/>
          </a:blip>
          <a:stretch>
            <a:fillRect/>
          </a:stretch>
        </p:blipFill>
        <p:spPr>
          <a:xfrm>
            <a:off x="777425" y="2472050"/>
            <a:ext cx="7587925" cy="96410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62"/>
          <p:cNvSpPr txBox="1"/>
          <p:nvPr/>
        </p:nvSpPr>
        <p:spPr>
          <a:xfrm>
            <a:off x="383250" y="345975"/>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Se abrirá un panel inferior </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65" name="Google Shape;365;p62"/>
          <p:cNvPicPr preferRelativeResize="0"/>
          <p:nvPr/>
        </p:nvPicPr>
        <p:blipFill>
          <a:blip r:embed="rId3">
            <a:alphaModFix/>
          </a:blip>
          <a:stretch>
            <a:fillRect/>
          </a:stretch>
        </p:blipFill>
        <p:spPr>
          <a:xfrm>
            <a:off x="1245862" y="1679200"/>
            <a:ext cx="6807976" cy="2682325"/>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pic>
        <p:nvPicPr>
          <p:cNvPr id="370" name="Google Shape;370;p63"/>
          <p:cNvPicPr preferRelativeResize="0"/>
          <p:nvPr/>
        </p:nvPicPr>
        <p:blipFill>
          <a:blip r:embed="rId3">
            <a:alphaModFix/>
          </a:blip>
          <a:stretch>
            <a:fillRect/>
          </a:stretch>
        </p:blipFill>
        <p:spPr>
          <a:xfrm>
            <a:off x="-675" y="0"/>
            <a:ext cx="9621362" cy="5143500"/>
          </a:xfrm>
          <a:prstGeom prst="rect">
            <a:avLst/>
          </a:prstGeom>
          <a:noFill/>
          <a:ln>
            <a:noFill/>
          </a:ln>
        </p:spPr>
      </p:pic>
      <p:sp>
        <p:nvSpPr>
          <p:cNvPr id="371" name="Google Shape;371;p63"/>
          <p:cNvSpPr txBox="1"/>
          <p:nvPr/>
        </p:nvSpPr>
        <p:spPr>
          <a:xfrm>
            <a:off x="761551" y="1049300"/>
            <a:ext cx="8439600" cy="891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100" b="1">
                <a:solidFill>
                  <a:schemeClr val="lt1"/>
                </a:solidFill>
                <a:latin typeface="DM Sans"/>
                <a:ea typeface="DM Sans"/>
                <a:cs typeface="DM Sans"/>
                <a:sym typeface="DM Sans"/>
              </a:rPr>
              <a:t>Cuantos programas ves?</a:t>
            </a:r>
            <a:endParaRPr sz="5100" b="1">
              <a:solidFill>
                <a:schemeClr val="lt1"/>
              </a:solidFill>
              <a:highlight>
                <a:srgbClr val="EAFF6A"/>
              </a:highlight>
              <a:latin typeface="DM Sans"/>
              <a:ea typeface="DM Sans"/>
              <a:cs typeface="DM Sans"/>
              <a:sym typeface="DM San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6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4"/>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78" name="Google Shape;378;p64"/>
          <p:cNvSpPr txBox="1"/>
          <p:nvPr/>
        </p:nvSpPr>
        <p:spPr>
          <a:xfrm>
            <a:off x="5415700" y="1605713"/>
            <a:ext cx="21663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Debemos ejecutar el comando npm create vite@latest seguido del nombre del proyecto, apreta enter para ejecutar el comando.</a:t>
            </a:r>
            <a:endParaRPr sz="1350">
              <a:latin typeface="DM Sans"/>
              <a:ea typeface="DM Sans"/>
              <a:cs typeface="DM Sans"/>
              <a:sym typeface="DM Sans"/>
            </a:endParaRPr>
          </a:p>
        </p:txBody>
      </p:sp>
      <p:sp>
        <p:nvSpPr>
          <p:cNvPr id="379" name="Google Shape;379;p64"/>
          <p:cNvSpPr txBox="1"/>
          <p:nvPr/>
        </p:nvSpPr>
        <p:spPr>
          <a:xfrm>
            <a:off x="5415700" y="3004050"/>
            <a:ext cx="2840700" cy="1119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Elige el framework</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1350" b="1">
                <a:solidFill>
                  <a:schemeClr val="dk1"/>
                </a:solidFill>
                <a:latin typeface="DM Sans"/>
                <a:ea typeface="DM Sans"/>
                <a:cs typeface="DM Sans"/>
                <a:sym typeface="DM Sans"/>
              </a:rPr>
              <a:t>Con las flechas vamos a bajar hasta React y apretamos enter para seleccionarlo.</a:t>
            </a:r>
            <a:endParaRPr sz="1350">
              <a:solidFill>
                <a:schemeClr val="dk1"/>
              </a:solidFill>
              <a:latin typeface="DM Sans"/>
              <a:ea typeface="DM Sans"/>
              <a:cs typeface="DM Sans"/>
              <a:sym typeface="DM Sans"/>
            </a:endParaRPr>
          </a:p>
        </p:txBody>
      </p:sp>
      <p:pic>
        <p:nvPicPr>
          <p:cNvPr id="380" name="Google Shape;380;p64"/>
          <p:cNvPicPr preferRelativeResize="0"/>
          <p:nvPr/>
        </p:nvPicPr>
        <p:blipFill>
          <a:blip r:embed="rId3">
            <a:alphaModFix/>
          </a:blip>
          <a:stretch>
            <a:fillRect/>
          </a:stretch>
        </p:blipFill>
        <p:spPr>
          <a:xfrm>
            <a:off x="808925" y="1605725"/>
            <a:ext cx="4529150" cy="657225"/>
          </a:xfrm>
          <a:prstGeom prst="rect">
            <a:avLst/>
          </a:prstGeom>
          <a:noFill/>
          <a:ln>
            <a:noFill/>
          </a:ln>
        </p:spPr>
      </p:pic>
      <p:pic>
        <p:nvPicPr>
          <p:cNvPr id="381" name="Google Shape;381;p64"/>
          <p:cNvPicPr preferRelativeResize="0"/>
          <p:nvPr/>
        </p:nvPicPr>
        <p:blipFill rotWithShape="1">
          <a:blip r:embed="rId4">
            <a:alphaModFix/>
          </a:blip>
          <a:srcRect b="36126"/>
          <a:stretch/>
        </p:blipFill>
        <p:spPr>
          <a:xfrm>
            <a:off x="831088" y="2897813"/>
            <a:ext cx="4484825" cy="1332375"/>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5"/>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5"/>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88" name="Google Shape;388;p65"/>
          <p:cNvSpPr txBox="1"/>
          <p:nvPr/>
        </p:nvSpPr>
        <p:spPr>
          <a:xfrm>
            <a:off x="5415700" y="1605713"/>
            <a:ext cx="2166300" cy="8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Nuevamente con las flechas bajamos para seleccionar JavaScript.</a:t>
            </a:r>
            <a:endParaRPr sz="1350">
              <a:latin typeface="DM Sans"/>
              <a:ea typeface="DM Sans"/>
              <a:cs typeface="DM Sans"/>
              <a:sym typeface="DM Sans"/>
            </a:endParaRPr>
          </a:p>
        </p:txBody>
      </p:sp>
      <p:sp>
        <p:nvSpPr>
          <p:cNvPr id="389" name="Google Shape;389;p65"/>
          <p:cNvSpPr txBox="1"/>
          <p:nvPr/>
        </p:nvSpPr>
        <p:spPr>
          <a:xfrm>
            <a:off x="3586200" y="2897800"/>
            <a:ext cx="4864500" cy="1265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Una vez creado:</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Nos movemos a la carpeta con cd + &lt;nombre de la app&gt;</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Instalamos dependencias con npm install</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npm run dev, levantamos al servidor local</a:t>
            </a:r>
            <a:endParaRPr sz="1250">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a:solidFill>
                <a:schemeClr val="dk1"/>
              </a:solidFill>
              <a:latin typeface="DM Sans"/>
              <a:ea typeface="DM Sans"/>
              <a:cs typeface="DM Sans"/>
              <a:sym typeface="DM Sans"/>
            </a:endParaRPr>
          </a:p>
        </p:txBody>
      </p:sp>
      <p:pic>
        <p:nvPicPr>
          <p:cNvPr id="390" name="Google Shape;390;p65"/>
          <p:cNvPicPr preferRelativeResize="0"/>
          <p:nvPr/>
        </p:nvPicPr>
        <p:blipFill>
          <a:blip r:embed="rId3">
            <a:alphaModFix/>
          </a:blip>
          <a:stretch>
            <a:fillRect/>
          </a:stretch>
        </p:blipFill>
        <p:spPr>
          <a:xfrm>
            <a:off x="831099" y="1409000"/>
            <a:ext cx="4447975" cy="1095375"/>
          </a:xfrm>
          <a:prstGeom prst="rect">
            <a:avLst/>
          </a:prstGeom>
          <a:noFill/>
          <a:ln>
            <a:noFill/>
          </a:ln>
        </p:spPr>
      </p:pic>
      <p:pic>
        <p:nvPicPr>
          <p:cNvPr id="391" name="Google Shape;391;p65"/>
          <p:cNvPicPr preferRelativeResize="0"/>
          <p:nvPr/>
        </p:nvPicPr>
        <p:blipFill>
          <a:blip r:embed="rId4">
            <a:alphaModFix/>
          </a:blip>
          <a:stretch>
            <a:fillRect/>
          </a:stretch>
        </p:blipFill>
        <p:spPr>
          <a:xfrm>
            <a:off x="831100" y="2942850"/>
            <a:ext cx="2533650" cy="118110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6" name="Google Shape;396;p66"/>
          <p:cNvPicPr preferRelativeResize="0"/>
          <p:nvPr/>
        </p:nvPicPr>
        <p:blipFill>
          <a:blip r:embed="rId3">
            <a:alphaModFix/>
          </a:blip>
          <a:stretch>
            <a:fillRect/>
          </a:stretch>
        </p:blipFill>
        <p:spPr>
          <a:xfrm>
            <a:off x="288225" y="755900"/>
            <a:ext cx="2059225" cy="2034926"/>
          </a:xfrm>
          <a:prstGeom prst="rect">
            <a:avLst/>
          </a:prstGeom>
          <a:noFill/>
          <a:ln>
            <a:noFill/>
          </a:ln>
        </p:spPr>
      </p:pic>
      <p:sp>
        <p:nvSpPr>
          <p:cNvPr id="397" name="Google Shape;397;p66"/>
          <p:cNvSpPr txBox="1"/>
          <p:nvPr/>
        </p:nvSpPr>
        <p:spPr>
          <a:xfrm>
            <a:off x="2437994" y="862855"/>
            <a:ext cx="5994600" cy="1736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6000" b="1">
                <a:solidFill>
                  <a:schemeClr val="dk1"/>
                </a:solidFill>
                <a:latin typeface="DM Sans"/>
                <a:ea typeface="DM Sans"/>
                <a:cs typeface="DM Sans"/>
                <a:sym typeface="DM Sans"/>
              </a:rPr>
              <a:t>VITE</a:t>
            </a:r>
            <a:endParaRPr sz="6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2600" b="1">
                <a:solidFill>
                  <a:schemeClr val="dk1"/>
                </a:solidFill>
                <a:latin typeface="DM Sans"/>
                <a:ea typeface="DM Sans"/>
                <a:cs typeface="DM Sans"/>
                <a:sym typeface="DM Sans"/>
              </a:rPr>
              <a:t>Estos 2 videos tienen todos los comandos de Terminal que usarás.</a:t>
            </a:r>
            <a:endParaRPr sz="2600" b="1">
              <a:solidFill>
                <a:schemeClr val="dk1"/>
              </a:solidFill>
              <a:latin typeface="DM Sans"/>
              <a:ea typeface="DM Sans"/>
              <a:cs typeface="DM Sans"/>
              <a:sym typeface="DM Sans"/>
            </a:endParaRPr>
          </a:p>
        </p:txBody>
      </p:sp>
      <p:sp>
        <p:nvSpPr>
          <p:cNvPr id="398" name="Google Shape;398;p66"/>
          <p:cNvSpPr txBox="1"/>
          <p:nvPr/>
        </p:nvSpPr>
        <p:spPr>
          <a:xfrm>
            <a:off x="206825" y="3311800"/>
            <a:ext cx="85386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4"/>
              </a:rPr>
              <a:t>https://www.youtube.com/watch?v=jcKoP-FvPsY&amp;ab_channel=JuniorPride</a:t>
            </a:r>
            <a:endParaRPr sz="160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5"/>
              </a:rPr>
              <a:t>https://www.youtube.com/shorts/yx9as2yqS8Y</a:t>
            </a:r>
            <a:endParaRPr sz="1600">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7"/>
          <p:cNvSpPr txBox="1"/>
          <p:nvPr/>
        </p:nvSpPr>
        <p:spPr>
          <a:xfrm>
            <a:off x="1404863" y="1941375"/>
            <a:ext cx="6221400" cy="2401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Clr>
                <a:schemeClr val="dk1"/>
              </a:buClr>
              <a:buSzPts val="1100"/>
              <a:buFont typeface="Arial"/>
              <a:buNone/>
            </a:pPr>
            <a:r>
              <a:rPr lang="es" sz="4000" b="1">
                <a:solidFill>
                  <a:schemeClr val="lt1"/>
                </a:solidFill>
                <a:latin typeface="DM Sans"/>
                <a:ea typeface="DM Sans"/>
                <a:cs typeface="DM Sans"/>
                <a:sym typeface="DM Sans"/>
              </a:rPr>
              <a:t>Funcionamiento de</a:t>
            </a: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r>
              <a:rPr lang="es" sz="4000" b="1">
                <a:solidFill>
                  <a:schemeClr val="accent6"/>
                </a:solidFill>
                <a:latin typeface="DM Sans"/>
                <a:ea typeface="DM Sans"/>
                <a:cs typeface="DM Sans"/>
                <a:sym typeface="DM Sans"/>
              </a:rPr>
              <a:t>REACT JS</a:t>
            </a:r>
            <a:endParaRPr sz="4000" b="1">
              <a:solidFill>
                <a:schemeClr val="accent6"/>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chemeClr val="lt1"/>
              </a:solidFill>
              <a:latin typeface="DM Sans"/>
              <a:ea typeface="DM Sans"/>
              <a:cs typeface="DM Sans"/>
              <a:sym typeface="DM San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68"/>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es reactivo</a:t>
            </a:r>
            <a:endParaRPr sz="4000" b="1">
              <a:solidFill>
                <a:schemeClr val="dk1"/>
              </a:solidFill>
              <a:latin typeface="DM Sans"/>
              <a:ea typeface="DM Sans"/>
              <a:cs typeface="DM Sans"/>
              <a:sym typeface="DM Sans"/>
            </a:endParaRPr>
          </a:p>
        </p:txBody>
      </p:sp>
      <p:sp>
        <p:nvSpPr>
          <p:cNvPr id="409" name="Google Shape;409;p68"/>
          <p:cNvSpPr txBox="1"/>
          <p:nvPr/>
        </p:nvSpPr>
        <p:spPr>
          <a:xfrm>
            <a:off x="475500" y="1993150"/>
            <a:ext cx="4730100" cy="246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El enfoque de React fue revolucionario en términos de performance (rendimiento).</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Hablemos de 3 conceptos importantes en React:</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Virtual DOM</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Diff</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Reconciliación</a:t>
            </a:r>
            <a:endParaRPr sz="1450">
              <a:highlight>
                <a:schemeClr val="accent6"/>
              </a:highlight>
              <a:latin typeface="DM Sans"/>
              <a:ea typeface="DM Sans"/>
              <a:cs typeface="DM Sans"/>
              <a:sym typeface="DM Sans"/>
            </a:endParaRPr>
          </a:p>
          <a:p>
            <a:pPr marL="0" lvl="0" indent="0" algn="l" rtl="0">
              <a:spcBef>
                <a:spcPts val="0"/>
              </a:spcBef>
              <a:spcAft>
                <a:spcPts val="0"/>
              </a:spcAft>
              <a:buNone/>
            </a:pPr>
            <a:endParaRPr sz="1450">
              <a:latin typeface="DM Sans"/>
              <a:ea typeface="DM Sans"/>
              <a:cs typeface="DM Sans"/>
              <a:sym typeface="DM Sans"/>
            </a:endParaRPr>
          </a:p>
        </p:txBody>
      </p:sp>
      <p:pic>
        <p:nvPicPr>
          <p:cNvPr id="410" name="Google Shape;410;p68"/>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6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Virtual DOM</a:t>
            </a:r>
            <a:endParaRPr sz="4000" b="1">
              <a:solidFill>
                <a:schemeClr val="dk1"/>
              </a:solidFill>
              <a:latin typeface="DM Sans"/>
              <a:ea typeface="DM Sans"/>
              <a:cs typeface="DM Sans"/>
              <a:sym typeface="DM Sans"/>
            </a:endParaRPr>
          </a:p>
        </p:txBody>
      </p:sp>
      <p:sp>
        <p:nvSpPr>
          <p:cNvPr id="416" name="Google Shape;416;p69"/>
          <p:cNvSpPr txBox="1"/>
          <p:nvPr/>
        </p:nvSpPr>
        <p:spPr>
          <a:xfrm>
            <a:off x="475500" y="1752575"/>
            <a:ext cx="3834600" cy="469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acceso indiscriminado al DOM es costoso.</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Se necesitaba encontrar una manera de realizar modificaciones en el DOM de una manera más óptima.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Virtual DOM</a:t>
            </a:r>
            <a:r>
              <a:rPr lang="es" sz="1350">
                <a:latin typeface="DM Sans"/>
                <a:ea typeface="DM Sans"/>
                <a:cs typeface="DM Sans"/>
                <a:sym typeface="DM Sans"/>
              </a:rPr>
              <a:t> </a:t>
            </a:r>
            <a:r>
              <a:rPr lang="es" sz="1350" b="1">
                <a:latin typeface="DM Sans"/>
                <a:ea typeface="DM Sans"/>
                <a:cs typeface="DM Sans"/>
                <a:sym typeface="DM Sans"/>
              </a:rPr>
              <a:t>(VDOM)</a:t>
            </a:r>
            <a:r>
              <a:rPr lang="es" sz="1350">
                <a:latin typeface="DM Sans"/>
                <a:ea typeface="DM Sans"/>
                <a:cs typeface="DM Sans"/>
                <a:sym typeface="DM Sans"/>
              </a:rPr>
              <a:t> es una copia ligera, una representación virtual del DOM guardada en memoria.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VDOM</a:t>
            </a:r>
            <a:r>
              <a:rPr lang="es" sz="1350">
                <a:latin typeface="DM Sans"/>
                <a:ea typeface="DM Sans"/>
                <a:cs typeface="DM Sans"/>
                <a:sym typeface="DM Sans"/>
              </a:rPr>
              <a:t> está sincronizado con el DOM real.</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17" name="Google Shape;417;p69"/>
          <p:cNvPicPr preferRelativeResize="0"/>
          <p:nvPr/>
        </p:nvPicPr>
        <p:blipFill>
          <a:blip r:embed="rId3">
            <a:alphaModFix/>
          </a:blip>
          <a:stretch>
            <a:fillRect/>
          </a:stretch>
        </p:blipFill>
        <p:spPr>
          <a:xfrm>
            <a:off x="7194900" y="1742025"/>
            <a:ext cx="1742050" cy="1659450"/>
          </a:xfrm>
          <a:prstGeom prst="rect">
            <a:avLst/>
          </a:prstGeom>
          <a:noFill/>
          <a:ln>
            <a:noFill/>
          </a:ln>
        </p:spPr>
      </p:pic>
      <p:pic>
        <p:nvPicPr>
          <p:cNvPr id="418" name="Google Shape;418;p69"/>
          <p:cNvPicPr preferRelativeResize="0"/>
          <p:nvPr/>
        </p:nvPicPr>
        <p:blipFill>
          <a:blip r:embed="rId3">
            <a:alphaModFix/>
          </a:blip>
          <a:stretch>
            <a:fillRect/>
          </a:stretch>
        </p:blipFill>
        <p:spPr>
          <a:xfrm>
            <a:off x="5278250" y="1734131"/>
            <a:ext cx="1742050" cy="1659450"/>
          </a:xfrm>
          <a:prstGeom prst="rect">
            <a:avLst/>
          </a:prstGeom>
          <a:noFill/>
          <a:ln>
            <a:noFill/>
          </a:ln>
        </p:spPr>
      </p:pic>
      <p:sp>
        <p:nvSpPr>
          <p:cNvPr id="419" name="Google Shape;419;p69"/>
          <p:cNvSpPr txBox="1"/>
          <p:nvPr/>
        </p:nvSpPr>
        <p:spPr>
          <a:xfrm>
            <a:off x="5529625" y="1158050"/>
            <a:ext cx="35406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DOM</a:t>
            </a:r>
            <a:endParaRPr sz="1800" b="1">
              <a:solidFill>
                <a:schemeClr val="dk1"/>
              </a:solidFill>
              <a:latin typeface="DM Sans"/>
              <a:ea typeface="DM Sans"/>
              <a:cs typeface="DM Sans"/>
              <a:sym typeface="DM Sans"/>
            </a:endParaRPr>
          </a:p>
        </p:txBody>
      </p:sp>
      <p:sp>
        <p:nvSpPr>
          <p:cNvPr id="420" name="Google Shape;420;p69"/>
          <p:cNvSpPr txBox="1"/>
          <p:nvPr/>
        </p:nvSpPr>
        <p:spPr>
          <a:xfrm>
            <a:off x="5668500" y="3662700"/>
            <a:ext cx="3000000" cy="392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 sz="1350" b="1">
                <a:solidFill>
                  <a:schemeClr val="dk1"/>
                </a:solidFill>
                <a:latin typeface="DM Sans"/>
                <a:ea typeface="DM Sans"/>
                <a:cs typeface="DM Sans"/>
                <a:sym typeface="DM Sans"/>
              </a:rPr>
              <a:t>Somos igualitos!</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7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HTML por defecto en React</a:t>
            </a:r>
            <a:endParaRPr sz="4000" b="1">
              <a:solidFill>
                <a:schemeClr val="dk1"/>
              </a:solidFill>
              <a:latin typeface="DM Sans"/>
              <a:ea typeface="DM Sans"/>
              <a:cs typeface="DM Sans"/>
              <a:sym typeface="DM Sans"/>
            </a:endParaRPr>
          </a:p>
        </p:txBody>
      </p:sp>
      <p:pic>
        <p:nvPicPr>
          <p:cNvPr id="426" name="Google Shape;426;p70"/>
          <p:cNvPicPr preferRelativeResize="0"/>
          <p:nvPr/>
        </p:nvPicPr>
        <p:blipFill>
          <a:blip r:embed="rId3">
            <a:alphaModFix/>
          </a:blip>
          <a:stretch>
            <a:fillRect/>
          </a:stretch>
        </p:blipFill>
        <p:spPr>
          <a:xfrm>
            <a:off x="2430488" y="1435175"/>
            <a:ext cx="4226832" cy="3480275"/>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71"/>
          <p:cNvSpPr txBox="1"/>
          <p:nvPr/>
        </p:nvSpPr>
        <p:spPr>
          <a:xfrm>
            <a:off x="473350" y="3926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React en el navegador</a:t>
            </a:r>
            <a:endParaRPr sz="4000" b="1">
              <a:solidFill>
                <a:schemeClr val="dk1"/>
              </a:solidFill>
              <a:latin typeface="DM Sans"/>
              <a:ea typeface="DM Sans"/>
              <a:cs typeface="DM Sans"/>
              <a:sym typeface="DM Sans"/>
            </a:endParaRPr>
          </a:p>
        </p:txBody>
      </p:sp>
      <p:pic>
        <p:nvPicPr>
          <p:cNvPr id="432" name="Google Shape;432;p71"/>
          <p:cNvPicPr preferRelativeResize="0"/>
          <p:nvPr/>
        </p:nvPicPr>
        <p:blipFill>
          <a:blip r:embed="rId3">
            <a:alphaModFix/>
          </a:blip>
          <a:stretch>
            <a:fillRect/>
          </a:stretch>
        </p:blipFill>
        <p:spPr>
          <a:xfrm>
            <a:off x="1723048" y="1419500"/>
            <a:ext cx="5641701" cy="303537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7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DIFFING       </a:t>
            </a:r>
            <a:endParaRPr sz="4000" b="1">
              <a:solidFill>
                <a:schemeClr val="dk1"/>
              </a:solidFill>
              <a:latin typeface="DM Sans"/>
              <a:ea typeface="DM Sans"/>
              <a:cs typeface="DM Sans"/>
              <a:sym typeface="DM Sans"/>
            </a:endParaRPr>
          </a:p>
        </p:txBody>
      </p:sp>
      <p:sp>
        <p:nvSpPr>
          <p:cNvPr id="438" name="Google Shape;438;p72"/>
          <p:cNvSpPr txBox="1"/>
          <p:nvPr/>
        </p:nvSpPr>
        <p:spPr>
          <a:xfrm>
            <a:off x="475500" y="1600175"/>
            <a:ext cx="3834600" cy="445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Cuando en nuestra aplicación ocurre un cambio en el </a:t>
            </a:r>
            <a:r>
              <a:rPr lang="es" sz="1350" b="1">
                <a:solidFill>
                  <a:schemeClr val="accent5"/>
                </a:solidFill>
                <a:latin typeface="DM Sans"/>
                <a:ea typeface="DM Sans"/>
                <a:cs typeface="DM Sans"/>
                <a:sym typeface="DM Sans"/>
              </a:rPr>
              <a:t>estado</a:t>
            </a:r>
            <a:r>
              <a:rPr lang="es" sz="1350">
                <a:latin typeface="DM Sans"/>
                <a:ea typeface="DM Sans"/>
                <a:cs typeface="DM Sans"/>
                <a:sym typeface="DM Sans"/>
              </a:rPr>
              <a:t> de nuestros datos.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React crea una nueva versión del </a:t>
            </a:r>
            <a:r>
              <a:rPr lang="es" sz="1350" b="1">
                <a:latin typeface="DM Sans"/>
                <a:ea typeface="DM Sans"/>
                <a:cs typeface="DM Sans"/>
                <a:sym typeface="DM Sans"/>
              </a:rPr>
              <a:t>VDOM</a:t>
            </a:r>
            <a:r>
              <a:rPr lang="es" sz="1350">
                <a:latin typeface="DM Sans"/>
                <a:ea typeface="DM Sans"/>
                <a:cs typeface="DM Sans"/>
                <a:sym typeface="DM Sans"/>
              </a:rPr>
              <a:t> y la compara con el </a:t>
            </a:r>
            <a:r>
              <a:rPr lang="es" sz="1350" b="1">
                <a:latin typeface="DM Sans"/>
                <a:ea typeface="DM Sans"/>
                <a:cs typeface="DM Sans"/>
                <a:sym typeface="DM Sans"/>
              </a:rPr>
              <a:t>VDOM</a:t>
            </a:r>
            <a:r>
              <a:rPr lang="es" sz="1350">
                <a:latin typeface="DM Sans"/>
                <a:ea typeface="DM Sans"/>
                <a:cs typeface="DM Sans"/>
                <a:sym typeface="DM Sans"/>
              </a:rPr>
              <a:t> guardado en memoria.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De este modo obtiene la diferencia exacta  entre ambas instantáneas (snapshots).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Este proceso se llama </a:t>
            </a:r>
            <a:r>
              <a:rPr lang="es" sz="1350" b="1">
                <a:latin typeface="DM Sans"/>
                <a:ea typeface="DM Sans"/>
                <a:cs typeface="DM Sans"/>
                <a:sym typeface="DM Sans"/>
              </a:rPr>
              <a:t>diffing</a:t>
            </a:r>
            <a:r>
              <a:rPr lang="es" sz="1350">
                <a:latin typeface="DM Sans"/>
                <a:ea typeface="DM Sans"/>
                <a:cs typeface="DM Sans"/>
                <a:sym typeface="DM Sans"/>
              </a:rPr>
              <a:t>.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39" name="Google Shape;439;p72"/>
          <p:cNvPicPr preferRelativeResize="0"/>
          <p:nvPr/>
        </p:nvPicPr>
        <p:blipFill>
          <a:blip r:embed="rId3">
            <a:alphaModFix/>
          </a:blip>
          <a:stretch>
            <a:fillRect/>
          </a:stretch>
        </p:blipFill>
        <p:spPr>
          <a:xfrm>
            <a:off x="5754091" y="1812700"/>
            <a:ext cx="2209800" cy="2105025"/>
          </a:xfrm>
          <a:prstGeom prst="rect">
            <a:avLst/>
          </a:prstGeom>
          <a:noFill/>
          <a:ln>
            <a:noFill/>
          </a:ln>
        </p:spPr>
      </p:pic>
      <p:sp>
        <p:nvSpPr>
          <p:cNvPr id="440" name="Google Shape;440;p72"/>
          <p:cNvSpPr txBox="1"/>
          <p:nvPr/>
        </p:nvSpPr>
        <p:spPr>
          <a:xfrm>
            <a:off x="6221721" y="1195225"/>
            <a:ext cx="19452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a:t>
            </a:r>
            <a:endParaRPr sz="1800" b="1">
              <a:solidFill>
                <a:schemeClr val="dk1"/>
              </a:solidFill>
              <a:latin typeface="DM Sans"/>
              <a:ea typeface="DM Sans"/>
              <a:cs typeface="DM Sans"/>
              <a:sym typeface="DM San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7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Reconciliación</a:t>
            </a:r>
            <a:endParaRPr sz="4000" b="1">
              <a:solidFill>
                <a:schemeClr val="dk1"/>
              </a:solidFill>
              <a:latin typeface="DM Sans"/>
              <a:ea typeface="DM Sans"/>
              <a:cs typeface="DM Sans"/>
              <a:sym typeface="DM Sans"/>
            </a:endParaRPr>
          </a:p>
        </p:txBody>
      </p:sp>
      <p:sp>
        <p:nvSpPr>
          <p:cNvPr id="446" name="Google Shape;446;p73"/>
          <p:cNvSpPr txBox="1"/>
          <p:nvPr/>
        </p:nvSpPr>
        <p:spPr>
          <a:xfrm>
            <a:off x="473350" y="1810200"/>
            <a:ext cx="3834600" cy="442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 luego, con los datos obtenidos del </a:t>
            </a:r>
            <a:r>
              <a:rPr lang="es" sz="1350" b="1">
                <a:solidFill>
                  <a:schemeClr val="dk1"/>
                </a:solidFill>
                <a:latin typeface="DM Sans"/>
                <a:ea typeface="DM Sans"/>
                <a:cs typeface="DM Sans"/>
                <a:sym typeface="DM Sans"/>
              </a:rPr>
              <a:t>diff,</a:t>
            </a:r>
            <a:r>
              <a:rPr lang="es" sz="1350">
                <a:solidFill>
                  <a:schemeClr val="dk1"/>
                </a:solidFill>
                <a:latin typeface="DM Sans"/>
                <a:ea typeface="DM Sans"/>
                <a:cs typeface="DM Sans"/>
                <a:sym typeface="DM Sans"/>
              </a:rPr>
              <a:t> efectúa un proceso llamado de </a:t>
            </a:r>
            <a:r>
              <a:rPr lang="es" sz="1350" b="1">
                <a:solidFill>
                  <a:schemeClr val="dk1"/>
                </a:solidFill>
                <a:highlight>
                  <a:schemeClr val="accent1"/>
                </a:highlight>
                <a:latin typeface="DM Sans"/>
                <a:ea typeface="DM Sans"/>
                <a:cs typeface="DM Sans"/>
                <a:sym typeface="DM Sans"/>
              </a:rPr>
              <a:t>reconciliación</a:t>
            </a:r>
            <a:r>
              <a:rPr lang="es" sz="1350">
                <a:solidFill>
                  <a:schemeClr val="dk1"/>
                </a:solidFill>
                <a:latin typeface="DM Sans"/>
                <a:ea typeface="DM Sans"/>
                <a:cs typeface="DM Sans"/>
                <a:sym typeface="DM Sans"/>
              </a:rPr>
              <a:t> en el cuál detecta por sí mismo todos los cambios que serán necesarios en el DOM y como realizarlos de la manera más óptima.</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chemeClr val="accent6"/>
              </a:highlight>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47" name="Google Shape;447;p73"/>
          <p:cNvPicPr preferRelativeResize="0"/>
          <p:nvPr/>
        </p:nvPicPr>
        <p:blipFill>
          <a:blip r:embed="rId3">
            <a:alphaModFix/>
          </a:blip>
          <a:stretch>
            <a:fillRect/>
          </a:stretch>
        </p:blipFill>
        <p:spPr>
          <a:xfrm>
            <a:off x="4612750" y="1207825"/>
            <a:ext cx="4531251" cy="2529948"/>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7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74"/>
          <p:cNvSpPr txBox="1"/>
          <p:nvPr/>
        </p:nvSpPr>
        <p:spPr>
          <a:xfrm>
            <a:off x="316225" y="345975"/>
            <a:ext cx="8438400" cy="5448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2600" b="1">
                <a:solidFill>
                  <a:schemeClr val="lt1"/>
                </a:solidFill>
                <a:latin typeface="DM Sans"/>
                <a:ea typeface="DM Sans"/>
                <a:cs typeface="DM Sans"/>
                <a:sym typeface="DM Sans"/>
              </a:rPr>
              <a:t>Primera premisa: Optimicemos los movimientos</a:t>
            </a:r>
            <a:endParaRPr sz="3500" b="1">
              <a:solidFill>
                <a:schemeClr val="lt1"/>
              </a:solidFill>
              <a:latin typeface="DM Sans"/>
              <a:ea typeface="DM Sans"/>
              <a:cs typeface="DM Sans"/>
              <a:sym typeface="DM Sans"/>
            </a:endParaRPr>
          </a:p>
        </p:txBody>
      </p:sp>
      <p:pic>
        <p:nvPicPr>
          <p:cNvPr id="454" name="Google Shape;454;p74"/>
          <p:cNvPicPr preferRelativeResize="0"/>
          <p:nvPr/>
        </p:nvPicPr>
        <p:blipFill rotWithShape="1">
          <a:blip r:embed="rId3">
            <a:alphaModFix/>
          </a:blip>
          <a:srcRect t="15725"/>
          <a:stretch/>
        </p:blipFill>
        <p:spPr>
          <a:xfrm>
            <a:off x="1868975" y="2031850"/>
            <a:ext cx="5406051" cy="1632000"/>
          </a:xfrm>
          <a:prstGeom prst="rect">
            <a:avLst/>
          </a:prstGeom>
          <a:noFill/>
          <a:ln>
            <a:noFill/>
          </a:ln>
        </p:spPr>
      </p:pic>
      <p:sp>
        <p:nvSpPr>
          <p:cNvPr id="455" name="Google Shape;455;p74"/>
          <p:cNvSpPr txBox="1"/>
          <p:nvPr/>
        </p:nvSpPr>
        <p:spPr>
          <a:xfrm>
            <a:off x="7318550" y="1394750"/>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Zona de</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evento</a:t>
            </a:r>
            <a:endParaRPr sz="1350">
              <a:latin typeface="DM Sans"/>
              <a:ea typeface="DM Sans"/>
              <a:cs typeface="DM Sans"/>
              <a:sym typeface="DM Sans"/>
            </a:endParaRPr>
          </a:p>
        </p:txBody>
      </p:sp>
      <p:cxnSp>
        <p:nvCxnSpPr>
          <p:cNvPr id="456" name="Google Shape;456;p74"/>
          <p:cNvCxnSpPr/>
          <p:nvPr/>
        </p:nvCxnSpPr>
        <p:spPr>
          <a:xfrm flipH="1">
            <a:off x="4446700" y="1691625"/>
            <a:ext cx="2823300" cy="855300"/>
          </a:xfrm>
          <a:prstGeom prst="straightConnector1">
            <a:avLst/>
          </a:prstGeom>
          <a:noFill/>
          <a:ln w="9525" cap="flat" cmpd="sng">
            <a:solidFill>
              <a:srgbClr val="595959"/>
            </a:solidFill>
            <a:prstDash val="solid"/>
            <a:round/>
            <a:headEnd type="none" w="med" len="med"/>
            <a:tailEnd type="triangle" w="med" len="med"/>
          </a:ln>
        </p:spPr>
      </p:cxnSp>
      <p:sp>
        <p:nvSpPr>
          <p:cNvPr id="457" name="Google Shape;457;p74"/>
          <p:cNvSpPr txBox="1"/>
          <p:nvPr/>
        </p:nvSpPr>
        <p:spPr>
          <a:xfrm>
            <a:off x="7630250" y="2155350"/>
            <a:ext cx="1394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Cambio </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aislado</a:t>
            </a:r>
            <a:endParaRPr sz="1350">
              <a:latin typeface="DM Sans"/>
              <a:ea typeface="DM Sans"/>
              <a:cs typeface="DM Sans"/>
              <a:sym typeface="DM Sans"/>
            </a:endParaRPr>
          </a:p>
        </p:txBody>
      </p:sp>
      <p:cxnSp>
        <p:nvCxnSpPr>
          <p:cNvPr id="458" name="Google Shape;458;p74"/>
          <p:cNvCxnSpPr/>
          <p:nvPr/>
        </p:nvCxnSpPr>
        <p:spPr>
          <a:xfrm rot="10800000">
            <a:off x="1550975" y="2547000"/>
            <a:ext cx="557700" cy="49500"/>
          </a:xfrm>
          <a:prstGeom prst="straightConnector1">
            <a:avLst/>
          </a:prstGeom>
          <a:noFill/>
          <a:ln w="9525" cap="flat" cmpd="sng">
            <a:solidFill>
              <a:srgbClr val="595959"/>
            </a:solidFill>
            <a:prstDash val="solid"/>
            <a:round/>
            <a:headEnd type="none" w="med" len="med"/>
            <a:tailEnd type="triangle" w="med" len="med"/>
          </a:ln>
        </p:spPr>
      </p:cxnSp>
      <p:sp>
        <p:nvSpPr>
          <p:cNvPr id="459" name="Google Shape;459;p74"/>
          <p:cNvSpPr txBox="1"/>
          <p:nvPr/>
        </p:nvSpPr>
        <p:spPr>
          <a:xfrm>
            <a:off x="647400" y="2289425"/>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b="1">
                <a:latin typeface="DM Sans"/>
                <a:ea typeface="DM Sans"/>
                <a:cs typeface="DM Sans"/>
                <a:sym typeface="DM Sans"/>
              </a:rPr>
              <a:t>Nodos</a:t>
            </a:r>
            <a:endParaRPr sz="1350">
              <a:latin typeface="DM Sans"/>
              <a:ea typeface="DM Sans"/>
              <a:cs typeface="DM Sans"/>
              <a:sym typeface="DM Sans"/>
            </a:endParaRPr>
          </a:p>
        </p:txBody>
      </p:sp>
      <p:cxnSp>
        <p:nvCxnSpPr>
          <p:cNvPr id="460" name="Google Shape;460;p74"/>
          <p:cNvCxnSpPr/>
          <p:nvPr/>
        </p:nvCxnSpPr>
        <p:spPr>
          <a:xfrm rot="10800000" flipH="1">
            <a:off x="6398375" y="2408300"/>
            <a:ext cx="1179600" cy="471000"/>
          </a:xfrm>
          <a:prstGeom prst="straightConnector1">
            <a:avLst/>
          </a:prstGeom>
          <a:noFill/>
          <a:ln w="9525" cap="flat" cmpd="sng">
            <a:solidFill>
              <a:srgbClr val="595959"/>
            </a:solidFill>
            <a:prstDash val="solid"/>
            <a:round/>
            <a:headEnd type="none" w="med" len="med"/>
            <a:tailEnd type="triangle" w="med" len="med"/>
          </a:ln>
        </p:spPr>
      </p:cxnSp>
      <p:sp>
        <p:nvSpPr>
          <p:cNvPr id="461" name="Google Shape;461;p74"/>
          <p:cNvSpPr txBox="1"/>
          <p:nvPr/>
        </p:nvSpPr>
        <p:spPr>
          <a:xfrm>
            <a:off x="3546571" y="3746593"/>
            <a:ext cx="15864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Estado original</a:t>
            </a:r>
            <a:endParaRPr sz="1350">
              <a:latin typeface="DM Sans"/>
              <a:ea typeface="DM Sans"/>
              <a:cs typeface="DM Sans"/>
              <a:sym typeface="DM Sans"/>
            </a:endParaRPr>
          </a:p>
        </p:txBody>
      </p:sp>
      <p:cxnSp>
        <p:nvCxnSpPr>
          <p:cNvPr id="462" name="Google Shape;462;p74"/>
          <p:cNvCxnSpPr/>
          <p:nvPr/>
        </p:nvCxnSpPr>
        <p:spPr>
          <a:xfrm rot="10800000">
            <a:off x="2899525" y="3242150"/>
            <a:ext cx="595800" cy="651600"/>
          </a:xfrm>
          <a:prstGeom prst="straightConnector1">
            <a:avLst/>
          </a:prstGeom>
          <a:noFill/>
          <a:ln w="9525" cap="flat" cmpd="sng">
            <a:solidFill>
              <a:srgbClr val="595959"/>
            </a:solidFill>
            <a:prstDash val="solid"/>
            <a:round/>
            <a:headEnd type="none" w="med" len="med"/>
            <a:tailEnd type="triangle" w="med" len="med"/>
          </a:ln>
        </p:spPr>
      </p:cxnSp>
      <p:cxnSp>
        <p:nvCxnSpPr>
          <p:cNvPr id="463" name="Google Shape;463;p74"/>
          <p:cNvCxnSpPr/>
          <p:nvPr/>
        </p:nvCxnSpPr>
        <p:spPr>
          <a:xfrm flipH="1">
            <a:off x="5310475" y="2704600"/>
            <a:ext cx="384300" cy="582600"/>
          </a:xfrm>
          <a:prstGeom prst="straightConnector1">
            <a:avLst/>
          </a:prstGeom>
          <a:noFill/>
          <a:ln w="9525" cap="flat" cmpd="sng">
            <a:solidFill>
              <a:srgbClr val="595959"/>
            </a:solidFill>
            <a:prstDash val="solid"/>
            <a:round/>
            <a:headEnd type="none" w="med" len="med"/>
            <a:tailEnd type="triangle" w="med" len="med"/>
          </a:ln>
        </p:spPr>
      </p:cxnSp>
      <p:cxnSp>
        <p:nvCxnSpPr>
          <p:cNvPr id="464" name="Google Shape;464;p74"/>
          <p:cNvCxnSpPr/>
          <p:nvPr/>
        </p:nvCxnSpPr>
        <p:spPr>
          <a:xfrm>
            <a:off x="5967150" y="2879300"/>
            <a:ext cx="235500" cy="309900"/>
          </a:xfrm>
          <a:prstGeom prst="straightConnector1">
            <a:avLst/>
          </a:prstGeom>
          <a:noFill/>
          <a:ln w="9525" cap="flat" cmpd="sng">
            <a:solidFill>
              <a:srgbClr val="595959"/>
            </a:solidFill>
            <a:prstDash val="solid"/>
            <a:round/>
            <a:headEnd type="none" w="med" len="med"/>
            <a:tailEnd type="triangle" w="med" len="med"/>
          </a:ln>
        </p:spPr>
      </p:cxn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75"/>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a:t>
            </a:r>
            <a:endParaRPr sz="4000" b="1">
              <a:solidFill>
                <a:schemeClr val="dk1"/>
              </a:solidFill>
              <a:latin typeface="DM Sans"/>
              <a:ea typeface="DM Sans"/>
              <a:cs typeface="DM Sans"/>
              <a:sym typeface="DM Sans"/>
            </a:endParaRPr>
          </a:p>
        </p:txBody>
      </p:sp>
      <p:sp>
        <p:nvSpPr>
          <p:cNvPr id="470" name="Google Shape;470;p75"/>
          <p:cNvSpPr txBox="1"/>
          <p:nvPr/>
        </p:nvSpPr>
        <p:spPr>
          <a:xfrm>
            <a:off x="436525" y="2233250"/>
            <a:ext cx="4730100" cy="13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En vez de aplicar </a:t>
            </a:r>
            <a:r>
              <a:rPr lang="es" sz="1350">
                <a:highlight>
                  <a:schemeClr val="accent6"/>
                </a:highlight>
                <a:latin typeface="DM Sans"/>
                <a:ea typeface="DM Sans"/>
                <a:cs typeface="DM Sans"/>
                <a:sym typeface="DM Sans"/>
              </a:rPr>
              <a:t>uno a uno</a:t>
            </a:r>
            <a:r>
              <a:rPr lang="es" sz="1350">
                <a:latin typeface="DM Sans"/>
                <a:ea typeface="DM Sans"/>
                <a:cs typeface="DM Sans"/>
                <a:sym typeface="DM Sans"/>
              </a:rPr>
              <a:t> los cambios en los cinco nodos, </a:t>
            </a:r>
            <a:r>
              <a:rPr lang="es" sz="1350">
                <a:highlight>
                  <a:schemeClr val="accent6"/>
                </a:highlight>
                <a:latin typeface="DM Sans"/>
                <a:ea typeface="DM Sans"/>
                <a:cs typeface="DM Sans"/>
                <a:sym typeface="DM Sans"/>
              </a:rPr>
              <a:t>React</a:t>
            </a:r>
            <a:r>
              <a:rPr lang="es" sz="1350">
                <a:latin typeface="DM Sans"/>
                <a:ea typeface="DM Sans"/>
                <a:cs typeface="DM Sans"/>
                <a:sym typeface="DM Sans"/>
              </a:rPr>
              <a:t> procesa este resultado en una memoria. Calcula el área de impacto y determina la menor cantidad de movimientos de modo </a:t>
            </a:r>
            <a:r>
              <a:rPr lang="es" sz="1350">
                <a:highlight>
                  <a:schemeClr val="accent6"/>
                </a:highlight>
                <a:latin typeface="DM Sans"/>
                <a:ea typeface="DM Sans"/>
                <a:cs typeface="DM Sans"/>
                <a:sym typeface="DM Sans"/>
              </a:rPr>
              <a:t>heurístico</a:t>
            </a:r>
            <a:r>
              <a:rPr lang="es" sz="1350">
                <a:latin typeface="DM Sans"/>
                <a:ea typeface="DM Sans"/>
                <a:cs typeface="DM Sans"/>
                <a:sym typeface="DM Sans"/>
              </a:rPr>
              <a:t>, por lo que también sabe donde</a:t>
            </a:r>
            <a:r>
              <a:rPr lang="es" sz="1350">
                <a:highlight>
                  <a:schemeClr val="accent6"/>
                </a:highlight>
                <a:latin typeface="DM Sans"/>
                <a:ea typeface="DM Sans"/>
                <a:cs typeface="DM Sans"/>
                <a:sym typeface="DM Sans"/>
              </a:rPr>
              <a:t> pueden no haber ocurrido</a:t>
            </a:r>
            <a:r>
              <a:rPr lang="es" sz="1350">
                <a:latin typeface="DM Sans"/>
                <a:ea typeface="DM Sans"/>
                <a:cs typeface="DM Sans"/>
                <a:sym typeface="DM Sans"/>
              </a:rPr>
              <a:t> cambios.</a:t>
            </a:r>
            <a:endParaRPr sz="1350">
              <a:latin typeface="DM Sans"/>
              <a:ea typeface="DM Sans"/>
              <a:cs typeface="DM Sans"/>
              <a:sym typeface="DM Sans"/>
            </a:endParaRPr>
          </a:p>
        </p:txBody>
      </p:sp>
      <p:pic>
        <p:nvPicPr>
          <p:cNvPr id="471" name="Google Shape;471;p75"/>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76"/>
          <p:cNvSpPr txBox="1"/>
          <p:nvPr/>
        </p:nvSpPr>
        <p:spPr>
          <a:xfrm>
            <a:off x="475500" y="941400"/>
            <a:ext cx="7085400" cy="2401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 sz="4000" b="1">
                <a:solidFill>
                  <a:schemeClr val="dk1"/>
                </a:solidFill>
                <a:latin typeface="DM Sans"/>
                <a:ea typeface="DM Sans"/>
                <a:cs typeface="DM Sans"/>
                <a:sym typeface="DM Sans"/>
              </a:rPr>
              <a:t>Flujo de datos unidireccional</a:t>
            </a: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Clr>
                <a:schemeClr val="dk1"/>
              </a:buClr>
              <a:buSzPts val="1100"/>
              <a:buFont typeface="Arial"/>
              <a:buNone/>
            </a:pP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4000" b="1">
              <a:solidFill>
                <a:schemeClr val="dk1"/>
              </a:solidFill>
              <a:latin typeface="DM Sans"/>
              <a:ea typeface="DM Sans"/>
              <a:cs typeface="DM Sans"/>
              <a:sym typeface="DM Sans"/>
            </a:endParaRPr>
          </a:p>
        </p:txBody>
      </p:sp>
      <p:sp>
        <p:nvSpPr>
          <p:cNvPr id="477" name="Google Shape;477;p76"/>
          <p:cNvSpPr txBox="1"/>
          <p:nvPr/>
        </p:nvSpPr>
        <p:spPr>
          <a:xfrm>
            <a:off x="436525" y="2233250"/>
            <a:ext cx="47301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Para lograr esto React plantea una arquitectura en donde los datos fluyen de manera unidireccional.</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De arriba hacia abajo</a:t>
            </a:r>
            <a:endParaRPr sz="1350">
              <a:highlight>
                <a:schemeClr val="accent6"/>
              </a:highlight>
              <a:latin typeface="DM Sans"/>
              <a:ea typeface="DM Sans"/>
              <a:cs typeface="DM Sans"/>
              <a:sym typeface="DM Sans"/>
            </a:endParaRPr>
          </a:p>
        </p:txBody>
      </p:sp>
      <p:pic>
        <p:nvPicPr>
          <p:cNvPr id="478" name="Google Shape;478;p76"/>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7"/>
          <p:cNvSpPr txBox="1"/>
          <p:nvPr/>
        </p:nvSpPr>
        <p:spPr>
          <a:xfrm>
            <a:off x="436525" y="518850"/>
            <a:ext cx="7085400" cy="1293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ACTUALIZACIÓN DE ESTADO</a:t>
            </a:r>
            <a:endParaRPr sz="4000" b="1">
              <a:solidFill>
                <a:schemeClr val="dk1"/>
              </a:solidFill>
              <a:latin typeface="DM Sans"/>
              <a:ea typeface="DM Sans"/>
              <a:cs typeface="DM Sans"/>
              <a:sym typeface="DM Sans"/>
            </a:endParaRPr>
          </a:p>
        </p:txBody>
      </p:sp>
      <p:sp>
        <p:nvSpPr>
          <p:cNvPr id="484" name="Google Shape;484;p77"/>
          <p:cNvSpPr txBox="1"/>
          <p:nvPr/>
        </p:nvSpPr>
        <p:spPr>
          <a:xfrm>
            <a:off x="436525" y="1928450"/>
            <a:ext cx="4730100" cy="226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highlight>
                  <a:schemeClr val="accent6"/>
                </a:highlight>
                <a:latin typeface="DM Sans"/>
                <a:ea typeface="DM Sans"/>
                <a:cs typeface="DM Sans"/>
                <a:sym typeface="DM Sans"/>
              </a:rPr>
              <a:t>Resumiendo el proceso</a:t>
            </a:r>
            <a:endParaRPr sz="1350">
              <a:highlight>
                <a:schemeClr val="accent6"/>
              </a:highlight>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En primer lugar, tras un cambio en el valor de estado, React ejecuta un algoritmo de “diffing” que identifica lo que ha cambiado.</a:t>
            </a:r>
            <a:endParaRPr sz="1350">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El segundo paso es la reconciliación, donde se actualiza el DOM con los resultados de diff.</a:t>
            </a:r>
            <a:endParaRPr sz="1350">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React se encarga de todo esto, nosotros solo aprenderemos a ayudarlo</a:t>
            </a:r>
            <a:endParaRPr sz="1350">
              <a:highlight>
                <a:schemeClr val="accent6"/>
              </a:highlight>
              <a:latin typeface="DM Sans"/>
              <a:ea typeface="DM Sans"/>
              <a:cs typeface="DM Sans"/>
              <a:sym typeface="DM San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1913605296"/>
      </p:ext>
    </p:extLst>
  </p:cSld>
  <p:clrMapOvr>
    <a:masterClrMapping/>
  </p:clrMapOvr>
</p:sld>
</file>

<file path=ppt/theme/theme1.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TotalTime>
  <Words>2724</Words>
  <Application>Microsoft Office PowerPoint</Application>
  <PresentationFormat>Presentación en pantalla (16:9)</PresentationFormat>
  <Paragraphs>346</Paragraphs>
  <Slides>58</Slides>
  <Notes>58</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58</vt:i4>
      </vt:variant>
    </vt:vector>
  </HeadingPairs>
  <TitlesOfParts>
    <vt:vector size="63" baseType="lpstr">
      <vt:lpstr>DM Sans</vt:lpstr>
      <vt:lpstr>Helvetica Neue Light</vt:lpstr>
      <vt:lpstr>Arial</vt:lpstr>
      <vt:lpstr>Helvetica Neue</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15</cp:revision>
  <dcterms:modified xsi:type="dcterms:W3CDTF">2025-11-05T00:03:46Z</dcterms:modified>
</cp:coreProperties>
</file>