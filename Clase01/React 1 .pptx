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5143500" cx="9144000"/>
  <p:notesSz cx="6858000" cy="9144000"/>
  <p:embeddedFontLst>
    <p:embeddedFont>
      <p:font typeface="Helvetica Neue"/>
      <p:regular r:id="rId68"/>
      <p:bold r:id="rId69"/>
      <p:italic r:id="rId70"/>
      <p:boldItalic r:id="rId71"/>
    </p:embeddedFont>
    <p:embeddedFont>
      <p:font typeface="Helvetica Neue Light"/>
      <p:regular r:id="rId72"/>
      <p:bold r:id="rId73"/>
      <p:italic r:id="rId74"/>
      <p:boldItalic r:id="rId75"/>
    </p:embeddedFont>
    <p:embeddedFont>
      <p:font typeface="DM Sans"/>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95">
          <p15:clr>
            <a:srgbClr val="A4A3A4"/>
          </p15:clr>
        </p15:guide>
        <p15:guide id="2" pos="5460">
          <p15:clr>
            <a:srgbClr val="A4A3A4"/>
          </p15:clr>
        </p15:guide>
        <p15:guide id="3" pos="300">
          <p15:clr>
            <a:srgbClr val="9AA0A6"/>
          </p15:clr>
        </p15:guide>
        <p15:guide id="4" orient="horz" pos="289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5" orient="horz"/>
        <p:guide pos="5460"/>
        <p:guide pos="300"/>
        <p:guide pos="2892"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HelveticaNeueLight-bold.fntdata"/><Relationship Id="rId72" Type="http://schemas.openxmlformats.org/officeDocument/2006/relationships/font" Target="fonts/HelveticaNeueLight-regular.fntdata"/><Relationship Id="rId31" Type="http://schemas.openxmlformats.org/officeDocument/2006/relationships/slide" Target="slides/slide26.xml"/><Relationship Id="rId75" Type="http://schemas.openxmlformats.org/officeDocument/2006/relationships/font" Target="fonts/HelveticaNeueLight-boldItalic.fntdata"/><Relationship Id="rId30" Type="http://schemas.openxmlformats.org/officeDocument/2006/relationships/slide" Target="slides/slide25.xml"/><Relationship Id="rId74" Type="http://schemas.openxmlformats.org/officeDocument/2006/relationships/font" Target="fonts/HelveticaNeueLight-italic.fntdata"/><Relationship Id="rId33" Type="http://schemas.openxmlformats.org/officeDocument/2006/relationships/slide" Target="slides/slide28.xml"/><Relationship Id="rId77" Type="http://schemas.openxmlformats.org/officeDocument/2006/relationships/font" Target="fonts/DMSans-bold.fntdata"/><Relationship Id="rId32" Type="http://schemas.openxmlformats.org/officeDocument/2006/relationships/slide" Target="slides/slide27.xml"/><Relationship Id="rId76" Type="http://schemas.openxmlformats.org/officeDocument/2006/relationships/font" Target="fonts/DMSans-regular.fntdata"/><Relationship Id="rId35" Type="http://schemas.openxmlformats.org/officeDocument/2006/relationships/slide" Target="slides/slide30.xml"/><Relationship Id="rId79" Type="http://schemas.openxmlformats.org/officeDocument/2006/relationships/font" Target="fonts/DMSans-boldItalic.fntdata"/><Relationship Id="rId34" Type="http://schemas.openxmlformats.org/officeDocument/2006/relationships/slide" Target="slides/slide29.xml"/><Relationship Id="rId78" Type="http://schemas.openxmlformats.org/officeDocument/2006/relationships/font" Target="fonts/DMSans-italic.fntdata"/><Relationship Id="rId71" Type="http://schemas.openxmlformats.org/officeDocument/2006/relationships/font" Target="fonts/HelveticaNeue-boldItalic.fntdata"/><Relationship Id="rId70" Type="http://schemas.openxmlformats.org/officeDocument/2006/relationships/font" Target="fonts/HelveticaNeue-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HelveticaNeue-regular.fntdata"/><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HelveticaNeue-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g2d849c382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 name="Google Shape;44;g2d849c382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highlight>
                  <a:schemeClr val="accent4"/>
                </a:highlight>
                <a:latin typeface="DM Sans"/>
                <a:ea typeface="DM Sans"/>
                <a:cs typeface="DM Sans"/>
                <a:sym typeface="DM Sans"/>
              </a:rPr>
              <a:t>LOS VIDEOS DE ONBOARDING ESTÁN DISPONIBLES EN EL ESPACIO DE LA CLASE 1</a:t>
            </a:r>
            <a:endParaRPr>
              <a:highlight>
                <a:schemeClr val="accent4"/>
              </a:highlight>
              <a:latin typeface="DM Sans"/>
              <a:ea typeface="DM Sans"/>
              <a:cs typeface="DM Sans"/>
              <a:sym typeface="DM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1469de882e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1469de882e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latin typeface="DM Sans"/>
                <a:ea typeface="DM Sans"/>
                <a:cs typeface="DM Sans"/>
                <a:sym typeface="DM Sans"/>
              </a:rPr>
              <a:t>Se presenta en la primera clase. </a:t>
            </a:r>
            <a:r>
              <a:rPr lang="es">
                <a:solidFill>
                  <a:schemeClr val="dk1"/>
                </a:solidFill>
                <a:highlight>
                  <a:schemeClr val="accent3"/>
                </a:highlight>
                <a:latin typeface="DM Sans"/>
                <a:ea typeface="DM Sans"/>
                <a:cs typeface="DM Sans"/>
                <a:sym typeface="DM Sans"/>
              </a:rPr>
              <a:t>Colocar el número de comisión correspondiente</a:t>
            </a:r>
            <a:r>
              <a:rPr lang="es">
                <a:solidFill>
                  <a:schemeClr val="dk1"/>
                </a:solidFill>
                <a:latin typeface="DM Sans"/>
                <a:ea typeface="DM Sans"/>
                <a:cs typeface="DM Sans"/>
                <a:sym typeface="DM Sans"/>
              </a:rPr>
              <a:t>. </a:t>
            </a:r>
            <a:r>
              <a:rPr lang="es">
                <a:latin typeface="DM Sans"/>
                <a:ea typeface="DM Sans"/>
                <a:cs typeface="DM Sans"/>
                <a:sym typeface="DM Sans"/>
              </a:rPr>
              <a:t>Se debe editar y completar con los nombres del equipo a cargo. Se sugiere linkearlos a los perfiles de Linkedin (quienes quieran).</a:t>
            </a:r>
            <a:endParaRPr>
              <a:latin typeface="DM Sans"/>
              <a:ea typeface="DM Sans"/>
              <a:cs typeface="DM Sans"/>
              <a:sym typeface="DM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e921cbaab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e921cbaab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Colocar todas las clases.</a:t>
            </a:r>
            <a:endParaRPr>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469de882e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469de882e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highlight>
                  <a:schemeClr val="accent4"/>
                </a:highlight>
                <a:latin typeface="DM Sans"/>
                <a:ea typeface="DM Sans"/>
                <a:cs typeface="DM Sans"/>
                <a:sym typeface="DM Sans"/>
              </a:rPr>
              <a:t>LOS VIDEOS DE ONBOARDING ESTÁN DISPONIBLES EN EL ESPACIO DE LA CLASE 1</a:t>
            </a:r>
            <a:endParaRPr>
              <a:highlight>
                <a:schemeClr val="accent4"/>
              </a:highlight>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d849c382c6_0_1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d849c382c6_0_1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highlight>
                  <a:schemeClr val="accent4"/>
                </a:highlight>
                <a:latin typeface="DM Sans"/>
                <a:ea typeface="DM Sans"/>
                <a:cs typeface="DM Sans"/>
                <a:sym typeface="DM Sans"/>
              </a:rPr>
              <a:t>LOS VIDEOS DE ONBOARDING ESTÁN DISPONIBLES EN EL ESPACIO DE LA CLASE 1</a:t>
            </a:r>
            <a:endParaRPr>
              <a:highlight>
                <a:schemeClr val="accent4"/>
              </a:highlight>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d849c382c6_0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d849c382c6_0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Primera clase.</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d849c382c6_0_10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d849c382c6_0_10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Sólo se muestra la primera clase.</a:t>
            </a:r>
            <a:br>
              <a:rPr lang="es">
                <a:solidFill>
                  <a:schemeClr val="dk1"/>
                </a:solidFill>
                <a:latin typeface="DM Sans"/>
                <a:ea typeface="DM Sans"/>
                <a:cs typeface="DM Sans"/>
                <a:sym typeface="DM Sans"/>
              </a:rPr>
            </a:b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Sugerencias:</a:t>
            </a:r>
            <a:endParaRPr b="1">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No solicitar más de un desafío entregable por clase a los estudiantes.</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Si se utiliza una Actividad en clase, si bien no se entregan, que demuestre una finalidad. Por ejemplo, puede utilizarse para solicitar algo puntual de tarea: “Para la próxima clase traer anotado…” o ser la práctica necesaria para otro entregable vinculado con el Proyecto.</a:t>
            </a:r>
            <a:endParaRPr>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43efd25ae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43efd25ae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subtemas de un módulo.</a:t>
            </a:r>
            <a:endParaRPr>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d849c382c6_0_1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d849c382c6_0_1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highlight>
                  <a:schemeClr val="accent4"/>
                </a:highlight>
                <a:latin typeface="DM Sans"/>
                <a:ea typeface="DM Sans"/>
                <a:cs typeface="DM Sans"/>
                <a:sym typeface="DM Sans"/>
              </a:rPr>
              <a:t>LOS VIDEOS DE ONBOARDING ESTÁN DISPONIBLES EN EL ESPACIO DE LA CLASE 1</a:t>
            </a:r>
            <a:endParaRPr>
              <a:highlight>
                <a:schemeClr val="accent4"/>
              </a:highlight>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d849c382c6_0_1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d849c382c6_0_1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d849c382c6_0_1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d849c382c6_0_1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d84aeddda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d84aeddda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Verbal</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d84aeddda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d84aeddda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highlight>
                  <a:schemeClr val="accent4"/>
                </a:highlight>
                <a:latin typeface="DM Sans"/>
                <a:ea typeface="DM Sans"/>
                <a:cs typeface="DM Sans"/>
                <a:sym typeface="DM Sans"/>
              </a:rPr>
              <a:t>LOS VIDEOS DE ONBOARDING ESTÁN DISPONIBLES EN EL ESPACIO DE LA CLASE 1</a:t>
            </a:r>
            <a:endParaRPr>
              <a:highlight>
                <a:schemeClr val="accent4"/>
              </a:highlight>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d84aeddd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d84aeddd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d849c382c6_0_1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d849c382c6_0_1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d849c382c6_0_1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d849c382c6_0_1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d849c382c6_0_1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d849c382c6_0_1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d849c382c6_0_1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d849c382c6_0_1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d84aeddda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d84aeddda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highlight>
                <a:schemeClr val="lt1"/>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d84aeddda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d84aeddda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highlight>
                <a:schemeClr val="lt1"/>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d84aeddda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d84aeddda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highlight>
                <a:schemeClr val="lt1"/>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d84aeddda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d84aeddda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highlight>
                <a:schemeClr val="lt1"/>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d84aeddda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d84aeddda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highlight>
                <a:schemeClr val="lt1"/>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d84aeddda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d84aeddda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Obligatoria siempre.</a:t>
            </a:r>
            <a:r>
              <a:rPr lang="es">
                <a:solidFill>
                  <a:schemeClr val="dk1"/>
                </a:solidFill>
                <a:latin typeface="DM Sans"/>
                <a:ea typeface="DM Sans"/>
                <a:cs typeface="DM Sans"/>
                <a:sym typeface="DM Sans"/>
              </a:rPr>
              <a:t> A la hora del Break, entre 5 y 10 minutos. Considerar ubicar este espacio en un momento adecuado de la clase. Al volver, mostrar los resultados de la pregunta del anterior slide y generar un breve intercambio.</a:t>
            </a:r>
            <a:endParaRPr>
              <a:latin typeface="DM Sans"/>
              <a:ea typeface="DM Sans"/>
              <a:cs typeface="DM Sans"/>
              <a:sym typeface="DM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455f3c4fd4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455f3c4fd4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módulos más importantes de la clase, donde se introducen conceptos que se ven en varios slides. No hay que usarla para todos los módulos.</a:t>
            </a:r>
            <a:endParaRPr>
              <a:latin typeface="DM Sans"/>
              <a:ea typeface="DM Sans"/>
              <a:cs typeface="DM Sans"/>
              <a:sym typeface="DM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e830cb081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e830cb081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4b98852c9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4b98852c9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455f3c4fd4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455f3c4fd4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4b98852c93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4b98852c93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4b98852c93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4b98852c93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4b98852c93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4b98852c93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dc4e612093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dc4e612093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subtemas de un módulo.</a:t>
            </a:r>
            <a:endParaRPr>
              <a:latin typeface="DM Sans"/>
              <a:ea typeface="DM Sans"/>
              <a:cs typeface="DM Sans"/>
              <a:sym typeface="DM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4b98852c93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4b98852c93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d84aeddda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d84aeddda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46c9b3ed55_0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46c9b3ed55_0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“Ejemplo en vivo”</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El docente realizará una tarea compartiendo la pantalla en vivo. Se centrará en los pasos y los aspectos a tener en cuenta.</a:t>
            </a:r>
            <a:endParaRPr>
              <a:latin typeface="DM Sans"/>
              <a:ea typeface="DM Sans"/>
              <a:cs typeface="DM Sans"/>
              <a:sym typeface="DM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d849c382c6_0_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d849c382c6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Se puede usar para comenzar o finalizar la clase, según sea más conveniente..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Recurso: Glosario</a:t>
            </a:r>
            <a:endParaRPr b="1">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Repasa y define rápidamente los conceptos centrales acumulados. Ayuda a los estudiantes a recuperar aquellos saberes que se darán por dados.</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Sugerencia:</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Puede incorporarse links e imágenes que apoyen al concepto presentado.</a:t>
            </a:r>
            <a:endParaRPr>
              <a:latin typeface="DM Sans"/>
              <a:ea typeface="DM Sans"/>
              <a:cs typeface="DM Sans"/>
              <a:sym typeface="DM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d849c382c6_0_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d849c382c6_0_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Se puede usar para comenzar o finalizar la clase, según sea más conveniente..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b="1" lang="es">
                <a:solidFill>
                  <a:schemeClr val="dk1"/>
                </a:solidFill>
                <a:latin typeface="DM Sans"/>
                <a:ea typeface="DM Sans"/>
                <a:cs typeface="DM Sans"/>
                <a:sym typeface="DM Sans"/>
              </a:rPr>
              <a:t>Recurso: Glosario</a:t>
            </a:r>
            <a:endParaRPr b="1">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Repasa y define rápidamente los conceptos centrales acumulados. Ayuda a los estudiantes a recuperar aquellos saberes que se darán por dados.</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Sugerencia:</a:t>
            </a:r>
            <a:endParaRPr>
              <a:solidFill>
                <a:schemeClr val="dk1"/>
              </a:solidFill>
              <a:latin typeface="DM Sans"/>
              <a:ea typeface="DM Sans"/>
              <a:cs typeface="DM Sans"/>
              <a:sym typeface="DM Sans"/>
            </a:endParaRPr>
          </a:p>
          <a:p>
            <a:pPr indent="-298450" lvl="0" marL="457200" rtl="0" algn="l">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Puede incorporarse links e imágenes que apoyen al concepto presentado.</a:t>
            </a:r>
            <a:endParaRPr>
              <a:latin typeface="DM Sans"/>
              <a:ea typeface="DM Sans"/>
              <a:cs typeface="DM Sans"/>
              <a:sym typeface="DM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d849c382c6_0_7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d849c382c6_0_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Verbal</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d849c382c6_0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d849c382c6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d849c382c6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d849c382c6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d849c382c6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2d849c382c6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d849c382c6_0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2d849c382c6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Se sugiere ubicar al finalizar la explicación de algún tema, para abrir formalmente el espacio de preguntas y ordenar la interacción.</a:t>
            </a:r>
            <a:endParaRPr>
              <a:latin typeface="DM Sans"/>
              <a:ea typeface="DM Sans"/>
              <a:cs typeface="DM Sans"/>
              <a:sym typeface="DM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d849c382c6_0_7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d849c382c6_0_7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7b17b6bb6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7b17b6bb6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7b17b6bb6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7b17b6bb6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7b17b6bb6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7b17b6bb6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7b17b6bb6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7b17b6bb6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7b17b6bb6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7b17b6bb6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Actividades en clase.</a:t>
            </a:r>
            <a:endParaRPr>
              <a:latin typeface="DM Sans"/>
              <a:ea typeface="DM Sans"/>
              <a:cs typeface="DM Sans"/>
              <a:sym typeface="DM San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7b17b6bb6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7b17b6bb6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7b17b6bb64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7b17b6bb6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7b17b6bb64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7b17b6bb64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Actividades en clase.</a:t>
            </a:r>
            <a:endParaRPr>
              <a:latin typeface="DM Sans"/>
              <a:ea typeface="DM Sans"/>
              <a:cs typeface="DM Sans"/>
              <a:sym typeface="DM Sa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d849c382c6_0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2d849c382c6_0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d849c382c6_0_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d849c382c6_0_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highlight>
                  <a:schemeClr val="lt1"/>
                </a:highlight>
                <a:latin typeface="DM Sans"/>
                <a:ea typeface="DM Sans"/>
                <a:cs typeface="DM Sans"/>
                <a:sym typeface="DM Sans"/>
              </a:rPr>
              <a:t>El secreto de ReactJS para tener un </a:t>
            </a:r>
            <a:r>
              <a:rPr b="1" lang="es">
                <a:solidFill>
                  <a:schemeClr val="dk1"/>
                </a:solidFill>
                <a:highlight>
                  <a:schemeClr val="lt1"/>
                </a:highlight>
                <a:latin typeface="DM Sans"/>
                <a:ea typeface="DM Sans"/>
                <a:cs typeface="DM Sans"/>
                <a:sym typeface="DM Sans"/>
              </a:rPr>
              <a:t>performance muy alto </a:t>
            </a:r>
            <a:r>
              <a:rPr lang="es">
                <a:solidFill>
                  <a:schemeClr val="dk1"/>
                </a:solidFill>
                <a:highlight>
                  <a:schemeClr val="lt1"/>
                </a:highlight>
                <a:latin typeface="DM Sans"/>
                <a:ea typeface="DM Sans"/>
                <a:cs typeface="DM Sans"/>
                <a:sym typeface="DM Sans"/>
              </a:rPr>
              <a:t>es que implementa un </a:t>
            </a:r>
            <a:r>
              <a:rPr b="1" lang="es">
                <a:solidFill>
                  <a:schemeClr val="dk1"/>
                </a:solidFill>
                <a:highlight>
                  <a:schemeClr val="lt1"/>
                </a:highlight>
                <a:latin typeface="DM Sans"/>
                <a:ea typeface="DM Sans"/>
                <a:cs typeface="DM Sans"/>
                <a:sym typeface="DM Sans"/>
              </a:rPr>
              <a:t>Virtual DOM</a:t>
            </a:r>
            <a:r>
              <a:rPr lang="es">
                <a:solidFill>
                  <a:schemeClr val="dk1"/>
                </a:solidFill>
                <a:highlight>
                  <a:schemeClr val="lt1"/>
                </a:highlight>
                <a:latin typeface="DM Sans"/>
                <a:ea typeface="DM Sans"/>
                <a:cs typeface="DM Sans"/>
                <a:sym typeface="DM Sans"/>
              </a:rPr>
              <a:t>. En lugar de renderizar todo, como normalmente se hace, ReactJS hace los </a:t>
            </a:r>
            <a:r>
              <a:rPr b="1" lang="es">
                <a:solidFill>
                  <a:schemeClr val="dk1"/>
                </a:solidFill>
                <a:highlight>
                  <a:schemeClr val="lt1"/>
                </a:highlight>
                <a:latin typeface="DM Sans"/>
                <a:ea typeface="DM Sans"/>
                <a:cs typeface="DM Sans"/>
                <a:sym typeface="DM Sans"/>
              </a:rPr>
              <a:t>cambios </a:t>
            </a:r>
            <a:r>
              <a:rPr lang="es">
                <a:solidFill>
                  <a:schemeClr val="dk1"/>
                </a:solidFill>
                <a:highlight>
                  <a:schemeClr val="lt1"/>
                </a:highlight>
                <a:latin typeface="DM Sans"/>
                <a:ea typeface="DM Sans"/>
                <a:cs typeface="DM Sans"/>
                <a:sym typeface="DM Sans"/>
              </a:rPr>
              <a:t>en una </a:t>
            </a:r>
            <a:r>
              <a:rPr b="1" lang="es">
                <a:solidFill>
                  <a:schemeClr val="dk1"/>
                </a:solidFill>
                <a:highlight>
                  <a:schemeClr val="lt1"/>
                </a:highlight>
                <a:latin typeface="DM Sans"/>
                <a:ea typeface="DM Sans"/>
                <a:cs typeface="DM Sans"/>
                <a:sym typeface="DM Sans"/>
              </a:rPr>
              <a:t>copia en memoria</a:t>
            </a:r>
            <a:r>
              <a:rPr lang="es">
                <a:solidFill>
                  <a:schemeClr val="dk1"/>
                </a:solidFill>
                <a:highlight>
                  <a:schemeClr val="lt1"/>
                </a:highlight>
                <a:latin typeface="DM Sans"/>
                <a:ea typeface="DM Sans"/>
                <a:cs typeface="DM Sans"/>
                <a:sym typeface="DM Sans"/>
              </a:rPr>
              <a:t>. Luego utiliza un algoritmo para comparar sus propiedades con las de la versión del DOM, y así </a:t>
            </a:r>
            <a:r>
              <a:rPr b="1" lang="es">
                <a:solidFill>
                  <a:schemeClr val="dk1"/>
                </a:solidFill>
                <a:highlight>
                  <a:schemeClr val="lt1"/>
                </a:highlight>
                <a:latin typeface="DM Sans"/>
                <a:ea typeface="DM Sans"/>
                <a:cs typeface="DM Sans"/>
                <a:sym typeface="DM Sans"/>
              </a:rPr>
              <a:t>aplicar cambios exclusivamente en las partes que varían</a:t>
            </a:r>
            <a:r>
              <a:rPr lang="es">
                <a:solidFill>
                  <a:schemeClr val="dk1"/>
                </a:solidFill>
                <a:highlight>
                  <a:schemeClr val="lt1"/>
                </a:highlight>
                <a:latin typeface="DM Sans"/>
                <a:ea typeface="DM Sans"/>
                <a:cs typeface="DM Sans"/>
                <a:sym typeface="DM Sans"/>
              </a:rPr>
              <a:t>.</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2d849c382c6_0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2d849c382c6_0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d849c382c6_0_7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2d849c382c6_0_7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2d849c382c6_0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2d849c382c6_0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d849c382c6_0_7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2d849c382c6_0_7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2d849c382c6_0_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2d849c382c6_0_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d849c382c6_0_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d849c382c6_0_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d849c382c6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2d849c382c6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highlight>
                  <a:schemeClr val="lt1"/>
                </a:highlight>
                <a:latin typeface="DM Sans"/>
                <a:ea typeface="DM Sans"/>
                <a:cs typeface="DM Sans"/>
                <a:sym typeface="DM Sans"/>
              </a:rPr>
              <a:t>Esto puede sonar como mucho trabajo, pero en la práctica es mucho más eficiente que el método tradicional.</a:t>
            </a:r>
            <a:endParaRPr>
              <a:solidFill>
                <a:schemeClr val="dk1"/>
              </a:solidFill>
              <a:highlight>
                <a:schemeClr val="lt1"/>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a:solidFill>
                  <a:schemeClr val="dk1"/>
                </a:solidFill>
                <a:highlight>
                  <a:schemeClr val="lt1"/>
                </a:highlight>
                <a:latin typeface="DM Sans"/>
                <a:ea typeface="DM Sans"/>
                <a:cs typeface="DM Sans"/>
                <a:sym typeface="DM Sans"/>
              </a:rPr>
              <a:t>Por ejemplo: si tenemos una lista de 2000 elementos en la interfaz y ocurren 10 cambios, es más eficiente aplicar 10 cambios, ubicar los componentes que tuvieron un cambio en sus propiedades y renderizar estos 10 elementos, en lugar de aplicar 10 cambios y renderizar 2000 elementos.</a:t>
            </a:r>
            <a:endParaRPr>
              <a:solidFill>
                <a:schemeClr val="dk1"/>
              </a:solidFill>
              <a:highlight>
                <a:schemeClr val="lt1"/>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highlight>
                <a:schemeClr val="lt1"/>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d849c382c6_0_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2d849c382c6_0_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highlight>
                <a:schemeClr val="lt1"/>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2d849c382c6_0_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2d849c382c6_0_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highlight>
                <a:schemeClr val="lt1"/>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5.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Font typeface="DM Sans"/>
              <a:buNone/>
              <a:defRPr b="1" sz="4000">
                <a:latin typeface="DM Sans"/>
                <a:ea typeface="DM Sans"/>
                <a:cs typeface="DM Sans"/>
                <a:sym typeface="DM Sans"/>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000"/>
              <a:buFont typeface="Helvetica Neue Light"/>
              <a:buNone/>
              <a:defRPr sz="2000">
                <a:latin typeface="Helvetica Neue Light"/>
                <a:ea typeface="Helvetica Neue Light"/>
                <a:cs typeface="Helvetica Neue Light"/>
                <a:sym typeface="Helvetica Neue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2" name="Google Shape;12;p2" title="logo CoderHouse"/>
          <p:cNvPicPr preferRelativeResize="0"/>
          <p:nvPr/>
        </p:nvPicPr>
        <p:blipFill>
          <a:blip r:embed="rId2">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B">
  <p:cSld name="SECTION_HEADER_1">
    <p:bg>
      <p:bgPr>
        <a:blipFill>
          <a:blip r:embed="rId2">
            <a:alphaModFix/>
          </a:blip>
          <a:stretch>
            <a:fillRect/>
          </a:stretch>
        </a:blipFill>
      </p:bgPr>
    </p:bg>
    <p:spTree>
      <p:nvGrpSpPr>
        <p:cNvPr id="13" name="Shape 13"/>
        <p:cNvGrpSpPr/>
        <p:nvPr/>
      </p:nvGrpSpPr>
      <p:grpSpPr>
        <a:xfrm>
          <a:off x="0" y="0"/>
          <a:ext cx="0" cy="0"/>
          <a:chOff x="0" y="0"/>
          <a:chExt cx="0" cy="0"/>
        </a:xfrm>
      </p:grpSpPr>
      <p:pic>
        <p:nvPicPr>
          <p:cNvPr id="14" name="Google Shape;14;p3" title="logo coderhouse"/>
          <p:cNvPicPr preferRelativeResize="0"/>
          <p:nvPr/>
        </p:nvPicPr>
        <p:blipFill>
          <a:blip r:embed="rId3">
            <a:alphaModFix/>
          </a:blip>
          <a:stretch>
            <a:fillRect/>
          </a:stretch>
        </p:blipFill>
        <p:spPr>
          <a:xfrm>
            <a:off x="7874775" y="4720250"/>
            <a:ext cx="1024025" cy="2116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A">
  <p:cSld name="SECTION_HEADER_1_1">
    <p:bg>
      <p:bgPr>
        <a:blipFill>
          <a:blip r:embed="rId2">
            <a:alphaModFix/>
          </a:blip>
          <a:stretch>
            <a:fillRect/>
          </a:stretch>
        </a:blipFill>
      </p:bgPr>
    </p:bg>
    <p:spTree>
      <p:nvGrpSpPr>
        <p:cNvPr id="15" name="Shape 15"/>
        <p:cNvGrpSpPr/>
        <p:nvPr/>
      </p:nvGrpSpPr>
      <p:grpSpPr>
        <a:xfrm>
          <a:off x="0" y="0"/>
          <a:ext cx="0" cy="0"/>
          <a:chOff x="0" y="0"/>
          <a:chExt cx="0" cy="0"/>
        </a:xfrm>
      </p:grpSpPr>
      <p:pic>
        <p:nvPicPr>
          <p:cNvPr id="16" name="Google Shape;16;p4"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átula 1">
  <p:cSld name="SECTION_HEADER_1_1_1">
    <p:bg>
      <p:bgPr>
        <a:blipFill>
          <a:blip r:embed="rId2">
            <a:alphaModFix/>
          </a:blip>
          <a:stretch>
            <a:fillRect/>
          </a:stretch>
        </a:blipFill>
      </p:bgPr>
    </p:bg>
    <p:spTree>
      <p:nvGrpSpPr>
        <p:cNvPr id="17" name="Shape 17"/>
        <p:cNvGrpSpPr/>
        <p:nvPr/>
      </p:nvGrpSpPr>
      <p:grpSpPr>
        <a:xfrm>
          <a:off x="0" y="0"/>
          <a:ext cx="0" cy="0"/>
          <a:chOff x="0" y="0"/>
          <a:chExt cx="0" cy="0"/>
        </a:xfrm>
      </p:grpSpPr>
      <p:pic>
        <p:nvPicPr>
          <p:cNvPr id="18" name="Google Shape;18;p5"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átula 2">
  <p:cSld name="SECTION_HEADER_1_1_1_1">
    <p:bg>
      <p:bgPr>
        <a:blipFill>
          <a:blip r:embed="rId2">
            <a:alphaModFix/>
          </a:blip>
          <a:stretch>
            <a:fillRect/>
          </a:stretch>
        </a:blipFill>
      </p:bgPr>
    </p:bg>
    <p:spTree>
      <p:nvGrpSpPr>
        <p:cNvPr id="19" name="Shape 19"/>
        <p:cNvGrpSpPr/>
        <p:nvPr/>
      </p:nvGrpSpPr>
      <p:grpSpPr>
        <a:xfrm>
          <a:off x="0" y="0"/>
          <a:ext cx="0" cy="0"/>
          <a:chOff x="0" y="0"/>
          <a:chExt cx="0" cy="0"/>
        </a:xfrm>
      </p:grpSpPr>
      <p:pic>
        <p:nvPicPr>
          <p:cNvPr id="20" name="Google Shape;20;p6"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átula 3">
  <p:cSld name="SECTION_HEADER_1_1_1_1_1">
    <p:bg>
      <p:bgPr>
        <a:blipFill>
          <a:blip r:embed="rId2">
            <a:alphaModFix/>
          </a:blip>
          <a:stretch>
            <a:fillRect/>
          </a:stretch>
        </a:blipFill>
      </p:bgPr>
    </p:bg>
    <p:spTree>
      <p:nvGrpSpPr>
        <p:cNvPr id="21" name="Shape 21"/>
        <p:cNvGrpSpPr/>
        <p:nvPr/>
      </p:nvGrpSpPr>
      <p:grpSpPr>
        <a:xfrm>
          <a:off x="0" y="0"/>
          <a:ext cx="0" cy="0"/>
          <a:chOff x="0" y="0"/>
          <a:chExt cx="0" cy="0"/>
        </a:xfrm>
      </p:grpSpPr>
      <p:pic>
        <p:nvPicPr>
          <p:cNvPr id="22" name="Google Shape;22;p7"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adro">
  <p:cSld name="SECTION_HEADER_1_1_1_1_1_1">
    <p:bg>
      <p:bgPr>
        <a:blipFill>
          <a:blip r:embed="rId2">
            <a:alphaModFix/>
          </a:blip>
          <a:stretch>
            <a:fillRect/>
          </a:stretch>
        </a:blipFill>
      </p:bgPr>
    </p:bg>
    <p:spTree>
      <p:nvGrpSpPr>
        <p:cNvPr id="23" name="Shape 23"/>
        <p:cNvGrpSpPr/>
        <p:nvPr/>
      </p:nvGrpSpPr>
      <p:grpSpPr>
        <a:xfrm>
          <a:off x="0" y="0"/>
          <a:ext cx="0" cy="0"/>
          <a:chOff x="0" y="0"/>
          <a:chExt cx="0" cy="0"/>
        </a:xfrm>
      </p:grpSpPr>
      <p:pic>
        <p:nvPicPr>
          <p:cNvPr id="24" name="Google Shape;24;p8"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 imagen">
  <p:cSld name="SECTION_HEADER_1_1_1_1_1_1_1">
    <p:bg>
      <p:bgPr>
        <a:blipFill>
          <a:blip r:embed="rId2">
            <a:alphaModFix/>
          </a:blip>
          <a:stretch>
            <a:fillRect/>
          </a:stretch>
        </a:blipFill>
      </p:bgPr>
    </p:bg>
    <p:spTree>
      <p:nvGrpSpPr>
        <p:cNvPr id="25" name="Shape 25"/>
        <p:cNvGrpSpPr/>
        <p:nvPr/>
      </p:nvGrpSpPr>
      <p:grpSpPr>
        <a:xfrm>
          <a:off x="0" y="0"/>
          <a:ext cx="0" cy="0"/>
          <a:chOff x="0" y="0"/>
          <a:chExt cx="0" cy="0"/>
        </a:xfrm>
      </p:grpSpPr>
      <p:sp>
        <p:nvSpPr>
          <p:cNvPr id="26" name="Google Shape;26;p9"/>
          <p:cNvSpPr/>
          <p:nvPr/>
        </p:nvSpPr>
        <p:spPr>
          <a:xfrm>
            <a:off x="6592475" y="0"/>
            <a:ext cx="2551500" cy="51435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 name="Google Shape;27;p9"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blanco">
  <p:cSld name="SECTION_HEADER_1_1_1_1_1_1_1_1">
    <p:spTree>
      <p:nvGrpSpPr>
        <p:cNvPr id="28" name="Shape 28"/>
        <p:cNvGrpSpPr/>
        <p:nvPr/>
      </p:nvGrpSpPr>
      <p:grpSpPr>
        <a:xfrm>
          <a:off x="0" y="0"/>
          <a:ext cx="0" cy="0"/>
          <a:chOff x="0" y="0"/>
          <a:chExt cx="0" cy="0"/>
        </a:xfrm>
      </p:grpSpPr>
      <p:pic>
        <p:nvPicPr>
          <p:cNvPr id="29" name="Google Shape;29;p10" title="logo coderhouse"/>
          <p:cNvPicPr preferRelativeResize="0"/>
          <p:nvPr/>
        </p:nvPicPr>
        <p:blipFill>
          <a:blip r:embed="rId2">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p:cSld name="SECTION_HEADER_1_1_1_1_1_1_1_1_1">
    <p:bg>
      <p:bgPr>
        <a:blipFill>
          <a:blip r:embed="rId2">
            <a:alphaModFix/>
          </a:blip>
          <a:stretch>
            <a:fillRect/>
          </a:stretch>
        </a:blipFill>
      </p:bgPr>
    </p:bg>
    <p:spTree>
      <p:nvGrpSpPr>
        <p:cNvPr id="30" name="Shape 30"/>
        <p:cNvGrpSpPr/>
        <p:nvPr/>
      </p:nvGrpSpPr>
      <p:grpSpPr>
        <a:xfrm>
          <a:off x="0" y="0"/>
          <a:ext cx="0" cy="0"/>
          <a:chOff x="0" y="0"/>
          <a:chExt cx="0" cy="0"/>
        </a:xfrm>
      </p:grpSpPr>
      <p:pic>
        <p:nvPicPr>
          <p:cNvPr id="31" name="Google Shape;31;p11"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A">
  <p:cSld name="SECTION_HEADER_1_1_1_1_1_1_1_1_1_1">
    <p:bg>
      <p:bgPr>
        <a:blipFill>
          <a:blip r:embed="rId2">
            <a:alphaModFix/>
          </a:blip>
          <a:stretch>
            <a:fillRect/>
          </a:stretch>
        </a:blipFill>
      </p:bgPr>
    </p:bg>
    <p:spTree>
      <p:nvGrpSpPr>
        <p:cNvPr id="32" name="Shape 32"/>
        <p:cNvGrpSpPr/>
        <p:nvPr/>
      </p:nvGrpSpPr>
      <p:grpSpPr>
        <a:xfrm>
          <a:off x="0" y="0"/>
          <a:ext cx="0" cy="0"/>
          <a:chOff x="0" y="0"/>
          <a:chExt cx="0" cy="0"/>
        </a:xfrm>
      </p:grpSpPr>
      <p:pic>
        <p:nvPicPr>
          <p:cNvPr id="33" name="Google Shape;33;p12"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4" name="Shape 34"/>
        <p:cNvGrpSpPr/>
        <p:nvPr/>
      </p:nvGrpSpPr>
      <p:grpSpPr>
        <a:xfrm>
          <a:off x="0" y="0"/>
          <a:ext cx="0" cy="0"/>
          <a:chOff x="0" y="0"/>
          <a:chExt cx="0" cy="0"/>
        </a:xfrm>
      </p:grpSpPr>
      <p:sp>
        <p:nvSpPr>
          <p:cNvPr id="35" name="Google Shape;35;p1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1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37" name="Google Shape;37;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5">
  <p:cSld name="SECTION_HEADER_1_1_1_1_1_1_1_1_1_8">
    <p:bg>
      <p:bgPr>
        <a:blipFill>
          <a:blip r:embed="rId2">
            <a:alphaModFix/>
          </a:blip>
          <a:stretch>
            <a:fillRect/>
          </a:stretch>
        </a:blipFill>
      </p:bgPr>
    </p:bg>
    <p:spTree>
      <p:nvGrpSpPr>
        <p:cNvPr id="38" name="Shape 38"/>
        <p:cNvGrpSpPr/>
        <p:nvPr/>
      </p:nvGrpSpPr>
      <p:grpSpPr>
        <a:xfrm>
          <a:off x="0" y="0"/>
          <a:ext cx="0" cy="0"/>
          <a:chOff x="0" y="0"/>
          <a:chExt cx="0" cy="0"/>
        </a:xfrm>
      </p:grpSpPr>
      <p:pic>
        <p:nvPicPr>
          <p:cNvPr id="39" name="Google Shape;39;p14"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1">
  <p:cSld name="SECTION_HEADER_1_1_1_1_1_1_1_1_1_3">
    <p:bg>
      <p:bgPr>
        <a:blipFill>
          <a:blip r:embed="rId2">
            <a:alphaModFix/>
          </a:blip>
          <a:stretch>
            <a:fillRect/>
          </a:stretch>
        </a:blipFill>
      </p:bgPr>
    </p:bg>
    <p:spTree>
      <p:nvGrpSpPr>
        <p:cNvPr id="40" name="Shape 40"/>
        <p:cNvGrpSpPr/>
        <p:nvPr/>
      </p:nvGrpSpPr>
      <p:grpSpPr>
        <a:xfrm>
          <a:off x="0" y="0"/>
          <a:ext cx="0" cy="0"/>
          <a:chOff x="0" y="0"/>
          <a:chExt cx="0" cy="0"/>
        </a:xfrm>
      </p:grpSpPr>
      <p:pic>
        <p:nvPicPr>
          <p:cNvPr id="41" name="Google Shape;41;p15"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hyperlink" Target="https://www.youtube.com/watch?v=J82zzv_2RPc&amp;list=PLG2TTAOwfN5-UnGx6o1u-pQ5P1BSImoBQ&amp;index=9&amp;ab_channel=JuniorPrid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11.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6.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12.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14.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24.png"/><Relationship Id="rId4" Type="http://schemas.openxmlformats.org/officeDocument/2006/relationships/image" Target="../media/image19.png"/><Relationship Id="rId5"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 Id="rId3"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 Id="rId3" Type="http://schemas.openxmlformats.org/officeDocument/2006/relationships/image" Target="../media/image27.png"/><Relationship Id="rId4" Type="http://schemas.openxmlformats.org/officeDocument/2006/relationships/image" Target="../media/image43.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 Id="rId3"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 Id="rId3" Type="http://schemas.openxmlformats.org/officeDocument/2006/relationships/image" Target="../media/image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Relationship Id="rId3"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Relationship Id="rId3"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5.xml"/><Relationship Id="rId3"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 Id="rId3" Type="http://schemas.openxmlformats.org/officeDocument/2006/relationships/image" Target="../media/image63.png"/><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 Id="rId3" Type="http://schemas.openxmlformats.org/officeDocument/2006/relationships/image" Target="../media/image63.png"/><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 Id="rId3"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 Id="rId3" Type="http://schemas.openxmlformats.org/officeDocument/2006/relationships/image" Target="../media/image64.png"/><Relationship Id="rId4" Type="http://schemas.openxmlformats.org/officeDocument/2006/relationships/image" Target="../media/image33.png"/><Relationship Id="rId5" Type="http://schemas.openxmlformats.org/officeDocument/2006/relationships/image" Target="../media/image44.png"/><Relationship Id="rId6" Type="http://schemas.openxmlformats.org/officeDocument/2006/relationships/image" Target="../media/image54.png"/><Relationship Id="rId7" Type="http://schemas.openxmlformats.org/officeDocument/2006/relationships/image" Target="../media/image5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4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4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50.png"/><Relationship Id="rId4" Type="http://schemas.openxmlformats.org/officeDocument/2006/relationships/image" Target="../media/image4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48.png"/><Relationship Id="rId4" Type="http://schemas.openxmlformats.org/officeDocument/2006/relationships/image" Target="../media/image5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60.png"/><Relationship Id="rId4" Type="http://schemas.openxmlformats.org/officeDocument/2006/relationships/hyperlink" Target="https://www.youtube.com/watch?v=jcKoP-FvPsY&amp;ab_channel=JuniorPride" TargetMode="External"/><Relationship Id="rId5" Type="http://schemas.openxmlformats.org/officeDocument/2006/relationships/hyperlink" Target="https://www.youtube.com/shorts/yx9as2yqS8Y"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3.xml"/><Relationship Id="rId3"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4.xml"/><Relationship Id="rId3" Type="http://schemas.openxmlformats.org/officeDocument/2006/relationships/image" Target="../media/image5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Relationship Id="rId3" Type="http://schemas.openxmlformats.org/officeDocument/2006/relationships/image" Target="../media/image5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6.xml"/><Relationship Id="rId3" Type="http://schemas.openxmlformats.org/officeDocument/2006/relationships/image" Target="../media/image5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7.xml"/><Relationship Id="rId3" Type="http://schemas.openxmlformats.org/officeDocument/2006/relationships/image" Target="../media/image5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8.xml"/><Relationship Id="rId3" Type="http://schemas.openxmlformats.org/officeDocument/2006/relationships/image" Target="../media/image6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6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0.xml"/><Relationship Id="rId3" Type="http://schemas.openxmlformats.org/officeDocument/2006/relationships/image" Target="../media/image4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1.xml"/><Relationship Id="rId3" Type="http://schemas.openxmlformats.org/officeDocument/2006/relationships/image" Target="../media/image4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6"/>
          <p:cNvSpPr txBox="1"/>
          <p:nvPr/>
        </p:nvSpPr>
        <p:spPr>
          <a:xfrm>
            <a:off x="1461288" y="1299288"/>
            <a:ext cx="6221400" cy="2622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7200">
                <a:solidFill>
                  <a:schemeClr val="lt1"/>
                </a:solidFill>
                <a:latin typeface="DM Sans"/>
                <a:ea typeface="DM Sans"/>
                <a:cs typeface="DM Sans"/>
                <a:sym typeface="DM Sans"/>
              </a:rPr>
              <a:t>React</a:t>
            </a:r>
            <a:endParaRPr b="1" sz="7200">
              <a:solidFill>
                <a:schemeClr val="lt1"/>
              </a:solidFill>
              <a:latin typeface="DM Sans"/>
              <a:ea typeface="DM Sans"/>
              <a:cs typeface="DM Sans"/>
              <a:sym typeface="DM Sans"/>
            </a:endParaRPr>
          </a:p>
          <a:p>
            <a:pPr indent="0" lvl="0" marL="0" rtl="0" algn="ctr">
              <a:lnSpc>
                <a:spcPct val="90000"/>
              </a:lnSpc>
              <a:spcBef>
                <a:spcPts val="0"/>
              </a:spcBef>
              <a:spcAft>
                <a:spcPts val="0"/>
              </a:spcAft>
              <a:buNone/>
            </a:pPr>
            <a:r>
              <a:rPr b="1" lang="es" sz="6000">
                <a:solidFill>
                  <a:srgbClr val="EAFF6A"/>
                </a:solidFill>
                <a:latin typeface="DM Sans"/>
                <a:ea typeface="DM Sans"/>
                <a:cs typeface="DM Sans"/>
                <a:sym typeface="DM Sans"/>
              </a:rPr>
              <a:t>Flex</a:t>
            </a:r>
            <a:br>
              <a:rPr b="1" lang="es" sz="6000">
                <a:solidFill>
                  <a:srgbClr val="EAFF6A"/>
                </a:solidFill>
                <a:latin typeface="DM Sans"/>
                <a:ea typeface="DM Sans"/>
                <a:cs typeface="DM Sans"/>
                <a:sym typeface="DM Sans"/>
              </a:rPr>
            </a:br>
            <a:endParaRPr b="1" sz="600">
              <a:solidFill>
                <a:srgbClr val="EAFF6A"/>
              </a:solidFill>
              <a:latin typeface="DM Sans"/>
              <a:ea typeface="DM Sans"/>
              <a:cs typeface="DM Sans"/>
              <a:sym typeface="DM Sans"/>
            </a:endParaRPr>
          </a:p>
          <a:p>
            <a:pPr indent="0" lvl="0" marL="0" rtl="0" algn="ctr">
              <a:lnSpc>
                <a:spcPct val="90000"/>
              </a:lnSpc>
              <a:spcBef>
                <a:spcPts val="0"/>
              </a:spcBef>
              <a:spcAft>
                <a:spcPts val="0"/>
              </a:spcAft>
              <a:buNone/>
            </a:pPr>
            <a:r>
              <a:t/>
            </a:r>
            <a:endParaRPr b="1" sz="600">
              <a:solidFill>
                <a:srgbClr val="EAFF6A"/>
              </a:solidFill>
              <a:latin typeface="DM Sans"/>
              <a:ea typeface="DM Sans"/>
              <a:cs typeface="DM Sans"/>
              <a:sym typeface="DM Sans"/>
            </a:endParaRPr>
          </a:p>
          <a:p>
            <a:pPr indent="0" lvl="0" marL="0" rtl="0" algn="ctr">
              <a:lnSpc>
                <a:spcPct val="90000"/>
              </a:lnSpc>
              <a:spcBef>
                <a:spcPts val="0"/>
              </a:spcBef>
              <a:spcAft>
                <a:spcPts val="0"/>
              </a:spcAft>
              <a:buNone/>
            </a:pPr>
            <a:r>
              <a:t/>
            </a:r>
            <a:endParaRPr b="1" sz="1600">
              <a:solidFill>
                <a:schemeClr val="lt1"/>
              </a:solidFill>
              <a:latin typeface="DM Sans"/>
              <a:ea typeface="DM Sans"/>
              <a:cs typeface="DM Sans"/>
              <a:sym typeface="DM Sans"/>
            </a:endParaRPr>
          </a:p>
          <a:p>
            <a:pPr indent="0" lvl="0" marL="0" rtl="0" algn="ctr">
              <a:lnSpc>
                <a:spcPct val="90000"/>
              </a:lnSpc>
              <a:spcBef>
                <a:spcPts val="0"/>
              </a:spcBef>
              <a:spcAft>
                <a:spcPts val="0"/>
              </a:spcAft>
              <a:buNone/>
            </a:pPr>
            <a:r>
              <a:rPr lang="es" sz="1600">
                <a:solidFill>
                  <a:schemeClr val="lt1"/>
                </a:solidFill>
                <a:latin typeface="DM Sans"/>
                <a:ea typeface="DM Sans"/>
                <a:cs typeface="DM Sans"/>
                <a:sym typeface="DM Sans"/>
              </a:rPr>
              <a:t>con ajustes por</a:t>
            </a:r>
            <a:r>
              <a:rPr b="1" lang="es" sz="1600">
                <a:solidFill>
                  <a:schemeClr val="lt1"/>
                </a:solidFill>
                <a:latin typeface="DM Sans"/>
                <a:ea typeface="DM Sans"/>
                <a:cs typeface="DM Sans"/>
                <a:sym typeface="DM Sans"/>
              </a:rPr>
              <a:t> Julio Avantt!</a:t>
            </a:r>
            <a:endParaRPr b="1" sz="1600">
              <a:solidFill>
                <a:schemeClr val="lt1"/>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7"/>
          <p:cNvSpPr txBox="1"/>
          <p:nvPr/>
        </p:nvSpPr>
        <p:spPr>
          <a:xfrm>
            <a:off x="3742800" y="1114625"/>
            <a:ext cx="4925700" cy="636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s" sz="3000">
                <a:solidFill>
                  <a:schemeClr val="lt1"/>
                </a:solidFill>
                <a:latin typeface="Helvetica Neue"/>
                <a:ea typeface="Helvetica Neue"/>
                <a:cs typeface="Helvetica Neue"/>
                <a:sym typeface="Helvetica Neue"/>
              </a:rPr>
              <a:t>Presentación </a:t>
            </a:r>
            <a:r>
              <a:rPr b="1" lang="es" sz="3000">
                <a:solidFill>
                  <a:schemeClr val="accent6"/>
                </a:solidFill>
                <a:latin typeface="Helvetica Neue"/>
                <a:ea typeface="Helvetica Neue"/>
                <a:cs typeface="Helvetica Neue"/>
                <a:sym typeface="Helvetica Neue"/>
              </a:rPr>
              <a:t>del equipo </a:t>
            </a:r>
            <a:endParaRPr b="1" sz="3000">
              <a:solidFill>
                <a:schemeClr val="lt1"/>
              </a:solidFill>
              <a:latin typeface="Helvetica Neue"/>
              <a:ea typeface="Helvetica Neue"/>
              <a:cs typeface="Helvetica Neue"/>
              <a:sym typeface="Helvetica Neue"/>
            </a:endParaRPr>
          </a:p>
        </p:txBody>
      </p:sp>
      <p:sp>
        <p:nvSpPr>
          <p:cNvPr id="52" name="Google Shape;52;p17"/>
          <p:cNvSpPr txBox="1"/>
          <p:nvPr/>
        </p:nvSpPr>
        <p:spPr>
          <a:xfrm>
            <a:off x="3742800" y="2169851"/>
            <a:ext cx="4925700" cy="10518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rgbClr val="EAFF6A"/>
              </a:buClr>
              <a:buSzPts val="2400"/>
              <a:buFont typeface="DM Sans"/>
              <a:buChar char="✔"/>
            </a:pPr>
            <a:r>
              <a:rPr b="1" lang="es" sz="2400">
                <a:solidFill>
                  <a:schemeClr val="lt1"/>
                </a:solidFill>
                <a:latin typeface="DM Sans"/>
                <a:ea typeface="DM Sans"/>
                <a:cs typeface="DM Sans"/>
                <a:sym typeface="DM Sans"/>
              </a:rPr>
              <a:t>Profesor/a: </a:t>
            </a:r>
            <a:r>
              <a:rPr lang="es" sz="2400">
                <a:solidFill>
                  <a:schemeClr val="lt1"/>
                </a:solidFill>
                <a:latin typeface="DM Sans"/>
                <a:ea typeface="DM Sans"/>
                <a:cs typeface="DM Sans"/>
                <a:sym typeface="DM Sans"/>
              </a:rPr>
              <a:t>Julio Avantt!</a:t>
            </a:r>
            <a:endParaRPr b="1" sz="2400">
              <a:solidFill>
                <a:schemeClr val="lt1"/>
              </a:solidFill>
              <a:latin typeface="DM Sans"/>
              <a:ea typeface="DM Sans"/>
              <a:cs typeface="DM Sans"/>
              <a:sym typeface="DM Sans"/>
            </a:endParaRPr>
          </a:p>
          <a:p>
            <a:pPr indent="-381000" lvl="0" marL="457200" rtl="0" algn="l">
              <a:spcBef>
                <a:spcPts val="1000"/>
              </a:spcBef>
              <a:spcAft>
                <a:spcPts val="1000"/>
              </a:spcAft>
              <a:buClr>
                <a:srgbClr val="EAFF6A"/>
              </a:buClr>
              <a:buSzPts val="2400"/>
              <a:buFont typeface="DM Sans"/>
              <a:buChar char="✔"/>
            </a:pPr>
            <a:r>
              <a:rPr b="1" lang="es" sz="2400">
                <a:solidFill>
                  <a:schemeClr val="lt1"/>
                </a:solidFill>
                <a:latin typeface="DM Sans"/>
                <a:ea typeface="DM Sans"/>
                <a:cs typeface="DM Sans"/>
                <a:sym typeface="DM Sans"/>
              </a:rPr>
              <a:t>Tutor adjunto: </a:t>
            </a:r>
            <a:r>
              <a:rPr lang="es" sz="2400">
                <a:solidFill>
                  <a:schemeClr val="lt1"/>
                </a:solidFill>
                <a:latin typeface="DM Sans"/>
                <a:ea typeface="DM Sans"/>
                <a:cs typeface="DM Sans"/>
                <a:sym typeface="DM Sans"/>
              </a:rPr>
              <a:t>Arturo Grottoli</a:t>
            </a:r>
            <a:endParaRPr sz="1350">
              <a:solidFill>
                <a:schemeClr val="lt1"/>
              </a:solidFill>
              <a:latin typeface="DM Sans"/>
              <a:ea typeface="DM Sans"/>
              <a:cs typeface="DM Sans"/>
              <a:sym typeface="DM Sans"/>
            </a:endParaRPr>
          </a:p>
        </p:txBody>
      </p:sp>
      <p:sp>
        <p:nvSpPr>
          <p:cNvPr id="53" name="Google Shape;53;p17"/>
          <p:cNvSpPr txBox="1"/>
          <p:nvPr/>
        </p:nvSpPr>
        <p:spPr>
          <a:xfrm>
            <a:off x="3742925" y="849275"/>
            <a:ext cx="49257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rgbClr val="B7B7B7"/>
                </a:solidFill>
                <a:latin typeface="DM Sans"/>
                <a:ea typeface="DM Sans"/>
                <a:cs typeface="DM Sans"/>
                <a:sym typeface="DM Sans"/>
              </a:rPr>
              <a:t>COMISIÓN N° 88070</a:t>
            </a:r>
            <a:endParaRPr sz="1350">
              <a:solidFill>
                <a:srgbClr val="B7B7B7"/>
              </a:solidFill>
              <a:latin typeface="DM Sans"/>
              <a:ea typeface="DM Sans"/>
              <a:cs typeface="DM Sans"/>
              <a:sym typeface="DM Sans"/>
            </a:endParaRPr>
          </a:p>
        </p:txBody>
      </p:sp>
      <p:pic>
        <p:nvPicPr>
          <p:cNvPr id="54" name="Google Shape;54;p17"/>
          <p:cNvPicPr preferRelativeResize="0"/>
          <p:nvPr/>
        </p:nvPicPr>
        <p:blipFill rotWithShape="1">
          <a:blip r:embed="rId3">
            <a:alphaModFix/>
          </a:blip>
          <a:srcRect b="0" l="35558" r="0" t="0"/>
          <a:stretch/>
        </p:blipFill>
        <p:spPr>
          <a:xfrm>
            <a:off x="0" y="0"/>
            <a:ext cx="3314525"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8"/>
          <p:cNvSpPr txBox="1"/>
          <p:nvPr/>
        </p:nvSpPr>
        <p:spPr>
          <a:xfrm>
            <a:off x="651675" y="506363"/>
            <a:ext cx="62214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lt1"/>
                </a:solidFill>
                <a:latin typeface="DM Sans"/>
                <a:ea typeface="DM Sans"/>
                <a:cs typeface="DM Sans"/>
                <a:sym typeface="DM Sans"/>
              </a:rPr>
              <a:t>Cómo enseño</a:t>
            </a:r>
            <a:endParaRPr b="1" sz="4000">
              <a:solidFill>
                <a:srgbClr val="DEFC52"/>
              </a:solidFill>
              <a:latin typeface="DM Sans"/>
              <a:ea typeface="DM Sans"/>
              <a:cs typeface="DM Sans"/>
              <a:sym typeface="DM Sans"/>
            </a:endParaRPr>
          </a:p>
        </p:txBody>
      </p:sp>
      <p:sp>
        <p:nvSpPr>
          <p:cNvPr id="60" name="Google Shape;60;p18"/>
          <p:cNvSpPr txBox="1"/>
          <p:nvPr/>
        </p:nvSpPr>
        <p:spPr>
          <a:xfrm>
            <a:off x="609600" y="1445100"/>
            <a:ext cx="6572400" cy="3937800"/>
          </a:xfrm>
          <a:prstGeom prst="rect">
            <a:avLst/>
          </a:prstGeom>
          <a:noFill/>
          <a:ln>
            <a:noFill/>
          </a:ln>
        </p:spPr>
        <p:txBody>
          <a:bodyPr anchorCtr="0" anchor="t" bIns="91425" lIns="91425" spcFirstLastPara="1" rIns="91425" wrap="square" tIns="91425">
            <a:spAutoFit/>
          </a:bodyPr>
          <a:lstStyle/>
          <a:p>
            <a:pPr indent="-320675" lvl="0" marL="457200" rtl="0" algn="l">
              <a:spcBef>
                <a:spcPts val="0"/>
              </a:spcBef>
              <a:spcAft>
                <a:spcPts val="0"/>
              </a:spcAft>
              <a:buClr>
                <a:srgbClr val="EAFF6A"/>
              </a:buClr>
              <a:buSzPts val="1450"/>
              <a:buFont typeface="DM Sans"/>
              <a:buChar char="✓"/>
            </a:pPr>
            <a:r>
              <a:rPr lang="es" sz="1450">
                <a:solidFill>
                  <a:schemeClr val="lt1"/>
                </a:solidFill>
                <a:latin typeface="DM Sans"/>
                <a:ea typeface="DM Sans"/>
                <a:cs typeface="DM Sans"/>
                <a:sym typeface="DM Sans"/>
              </a:rPr>
              <a:t>Me gusta la </a:t>
            </a:r>
            <a:r>
              <a:rPr b="1" lang="es" sz="1450">
                <a:solidFill>
                  <a:schemeClr val="accent6"/>
                </a:solidFill>
                <a:latin typeface="DM Sans"/>
                <a:ea typeface="DM Sans"/>
                <a:cs typeface="DM Sans"/>
                <a:sym typeface="DM Sans"/>
              </a:rPr>
              <a:t>interacción.</a:t>
            </a:r>
            <a:endParaRPr b="1" sz="1450">
              <a:solidFill>
                <a:schemeClr val="accent6"/>
              </a:solidFill>
              <a:latin typeface="DM Sans"/>
              <a:ea typeface="DM Sans"/>
              <a:cs typeface="DM Sans"/>
              <a:sym typeface="DM Sans"/>
            </a:endParaRPr>
          </a:p>
          <a:p>
            <a:pPr indent="-320675" lvl="0" marL="457200" rtl="0" algn="l">
              <a:spcBef>
                <a:spcPts val="1000"/>
              </a:spcBef>
              <a:spcAft>
                <a:spcPts val="0"/>
              </a:spcAft>
              <a:buClr>
                <a:srgbClr val="EAFF6A"/>
              </a:buClr>
              <a:buSzPts val="1450"/>
              <a:buFont typeface="DM Sans"/>
              <a:buChar char="✓"/>
            </a:pPr>
            <a:r>
              <a:rPr lang="es" sz="1450">
                <a:solidFill>
                  <a:schemeClr val="lt1"/>
                </a:solidFill>
                <a:latin typeface="DM Sans"/>
                <a:ea typeface="DM Sans"/>
                <a:cs typeface="DM Sans"/>
                <a:sym typeface="DM Sans"/>
              </a:rPr>
              <a:t>Pregunten, sin timidez, </a:t>
            </a:r>
            <a:r>
              <a:rPr b="1" lang="es" sz="1450">
                <a:solidFill>
                  <a:schemeClr val="accent6"/>
                </a:solidFill>
                <a:latin typeface="DM Sans"/>
                <a:ea typeface="DM Sans"/>
                <a:cs typeface="DM Sans"/>
                <a:sym typeface="DM Sans"/>
              </a:rPr>
              <a:t>usen el chat</a:t>
            </a:r>
            <a:r>
              <a:rPr lang="es" sz="1450">
                <a:solidFill>
                  <a:schemeClr val="lt1"/>
                </a:solidFill>
                <a:latin typeface="DM Sans"/>
                <a:ea typeface="DM Sans"/>
                <a:cs typeface="DM Sans"/>
                <a:sym typeface="DM Sans"/>
              </a:rPr>
              <a:t> general</a:t>
            </a:r>
            <a:endParaRPr sz="1450">
              <a:solidFill>
                <a:schemeClr val="lt1"/>
              </a:solidFill>
              <a:latin typeface="DM Sans"/>
              <a:ea typeface="DM Sans"/>
              <a:cs typeface="DM Sans"/>
              <a:sym typeface="DM Sans"/>
            </a:endParaRPr>
          </a:p>
          <a:p>
            <a:pPr indent="-320675" lvl="0" marL="457200" rtl="0" algn="l">
              <a:spcBef>
                <a:spcPts val="1000"/>
              </a:spcBef>
              <a:spcAft>
                <a:spcPts val="0"/>
              </a:spcAft>
              <a:buClr>
                <a:srgbClr val="EAFF6A"/>
              </a:buClr>
              <a:buSzPts val="1450"/>
              <a:buFont typeface="DM Sans"/>
              <a:buChar char="✓"/>
            </a:pPr>
            <a:r>
              <a:rPr lang="es" sz="1450">
                <a:solidFill>
                  <a:schemeClr val="lt1"/>
                </a:solidFill>
                <a:latin typeface="DM Sans"/>
                <a:ea typeface="DM Sans"/>
                <a:cs typeface="DM Sans"/>
                <a:sym typeface="DM Sans"/>
              </a:rPr>
              <a:t>Me gusta una </a:t>
            </a:r>
            <a:r>
              <a:rPr b="1" lang="es" sz="1450">
                <a:solidFill>
                  <a:schemeClr val="accent6"/>
                </a:solidFill>
                <a:latin typeface="DM Sans"/>
                <a:ea typeface="DM Sans"/>
                <a:cs typeface="DM Sans"/>
                <a:sym typeface="DM Sans"/>
              </a:rPr>
              <a:t>clase entretenida</a:t>
            </a:r>
            <a:r>
              <a:rPr lang="es" sz="1450">
                <a:solidFill>
                  <a:schemeClr val="lt1"/>
                </a:solidFill>
                <a:latin typeface="DM Sans"/>
                <a:ea typeface="DM Sans"/>
                <a:cs typeface="DM Sans"/>
                <a:sym typeface="DM Sans"/>
              </a:rPr>
              <a:t>, con cierto humor. </a:t>
            </a:r>
            <a:endParaRPr sz="1450">
              <a:solidFill>
                <a:schemeClr val="lt1"/>
              </a:solidFill>
              <a:latin typeface="DM Sans"/>
              <a:ea typeface="DM Sans"/>
              <a:cs typeface="DM Sans"/>
              <a:sym typeface="DM Sans"/>
            </a:endParaRPr>
          </a:p>
          <a:p>
            <a:pPr indent="-320675" lvl="0" marL="457200" rtl="0" algn="l">
              <a:spcBef>
                <a:spcPts val="1000"/>
              </a:spcBef>
              <a:spcAft>
                <a:spcPts val="0"/>
              </a:spcAft>
              <a:buClr>
                <a:srgbClr val="EAFF6A"/>
              </a:buClr>
              <a:buSzPts val="1450"/>
              <a:buFont typeface="DM Sans"/>
              <a:buChar char="✓"/>
            </a:pPr>
            <a:r>
              <a:rPr lang="es" sz="1450">
                <a:solidFill>
                  <a:schemeClr val="lt1"/>
                </a:solidFill>
                <a:latin typeface="DM Sans"/>
                <a:ea typeface="DM Sans"/>
                <a:cs typeface="DM Sans"/>
                <a:sym typeface="DM Sans"/>
              </a:rPr>
              <a:t>Quiero que se ayuden entre ustedes, </a:t>
            </a:r>
            <a:r>
              <a:rPr b="1" lang="es" sz="1450">
                <a:solidFill>
                  <a:schemeClr val="accent6"/>
                </a:solidFill>
                <a:latin typeface="DM Sans"/>
                <a:ea typeface="DM Sans"/>
                <a:cs typeface="DM Sans"/>
                <a:sym typeface="DM Sans"/>
              </a:rPr>
              <a:t>conozcanse</a:t>
            </a:r>
            <a:r>
              <a:rPr lang="es" sz="1450">
                <a:solidFill>
                  <a:schemeClr val="lt1"/>
                </a:solidFill>
                <a:latin typeface="DM Sans"/>
                <a:ea typeface="DM Sans"/>
                <a:cs typeface="DM Sans"/>
                <a:sym typeface="DM Sans"/>
              </a:rPr>
              <a:t>.</a:t>
            </a:r>
            <a:endParaRPr sz="1450">
              <a:solidFill>
                <a:schemeClr val="lt1"/>
              </a:solidFill>
              <a:latin typeface="DM Sans"/>
              <a:ea typeface="DM Sans"/>
              <a:cs typeface="DM Sans"/>
              <a:sym typeface="DM Sans"/>
            </a:endParaRPr>
          </a:p>
          <a:p>
            <a:pPr indent="-320675" lvl="0" marL="457200" rtl="0" algn="l">
              <a:spcBef>
                <a:spcPts val="1000"/>
              </a:spcBef>
              <a:spcAft>
                <a:spcPts val="0"/>
              </a:spcAft>
              <a:buClr>
                <a:srgbClr val="EAFF6A"/>
              </a:buClr>
              <a:buSzPts val="1450"/>
              <a:buFont typeface="DM Sans"/>
              <a:buChar char="✓"/>
            </a:pPr>
            <a:r>
              <a:rPr lang="es" sz="1450">
                <a:solidFill>
                  <a:schemeClr val="lt1"/>
                </a:solidFill>
                <a:latin typeface="DM Sans"/>
                <a:ea typeface="DM Sans"/>
                <a:cs typeface="DM Sans"/>
                <a:sym typeface="DM Sans"/>
              </a:rPr>
              <a:t>La clase tiene que generar ganas de </a:t>
            </a:r>
            <a:r>
              <a:rPr b="1" lang="es" sz="1450">
                <a:solidFill>
                  <a:schemeClr val="accent6"/>
                </a:solidFill>
                <a:latin typeface="DM Sans"/>
                <a:ea typeface="DM Sans"/>
                <a:cs typeface="DM Sans"/>
                <a:sym typeface="DM Sans"/>
              </a:rPr>
              <a:t>progresar</a:t>
            </a:r>
            <a:r>
              <a:rPr lang="es" sz="1450">
                <a:solidFill>
                  <a:schemeClr val="lt1"/>
                </a:solidFill>
                <a:latin typeface="DM Sans"/>
                <a:ea typeface="DM Sans"/>
                <a:cs typeface="DM Sans"/>
                <a:sym typeface="DM Sans"/>
              </a:rPr>
              <a:t>.</a:t>
            </a:r>
            <a:endParaRPr sz="1450">
              <a:solidFill>
                <a:schemeClr val="lt1"/>
              </a:solidFill>
              <a:latin typeface="DM Sans"/>
              <a:ea typeface="DM Sans"/>
              <a:cs typeface="DM Sans"/>
              <a:sym typeface="DM Sans"/>
            </a:endParaRPr>
          </a:p>
          <a:p>
            <a:pPr indent="-320675" lvl="0" marL="457200" rtl="0" algn="l">
              <a:spcBef>
                <a:spcPts val="1000"/>
              </a:spcBef>
              <a:spcAft>
                <a:spcPts val="0"/>
              </a:spcAft>
              <a:buClr>
                <a:schemeClr val="accent6"/>
              </a:buClr>
              <a:buSzPts val="1450"/>
              <a:buFont typeface="DM Sans"/>
              <a:buChar char="✓"/>
            </a:pPr>
            <a:r>
              <a:rPr lang="es" sz="1450">
                <a:solidFill>
                  <a:schemeClr val="lt1"/>
                </a:solidFill>
                <a:latin typeface="DM Sans"/>
                <a:ea typeface="DM Sans"/>
                <a:cs typeface="DM Sans"/>
                <a:sym typeface="DM Sans"/>
              </a:rPr>
              <a:t>Van a aprender mucho </a:t>
            </a:r>
            <a:r>
              <a:rPr b="1" lang="es" sz="1450">
                <a:solidFill>
                  <a:schemeClr val="accent6"/>
                </a:solidFill>
                <a:latin typeface="DM Sans"/>
                <a:ea typeface="DM Sans"/>
                <a:cs typeface="DM Sans"/>
                <a:sym typeface="DM Sans"/>
              </a:rPr>
              <a:t>si se esfuerzan</a:t>
            </a:r>
            <a:r>
              <a:rPr lang="es" sz="1450">
                <a:solidFill>
                  <a:schemeClr val="lt1"/>
                </a:solidFill>
                <a:latin typeface="DM Sans"/>
                <a:ea typeface="DM Sans"/>
                <a:cs typeface="DM Sans"/>
                <a:sym typeface="DM Sans"/>
              </a:rPr>
              <a:t>.</a:t>
            </a:r>
            <a:endParaRPr sz="1450">
              <a:solidFill>
                <a:schemeClr val="lt1"/>
              </a:solidFill>
              <a:latin typeface="DM Sans"/>
              <a:ea typeface="DM Sans"/>
              <a:cs typeface="DM Sans"/>
              <a:sym typeface="DM Sans"/>
            </a:endParaRPr>
          </a:p>
          <a:p>
            <a:pPr indent="-320675" lvl="0" marL="457200" rtl="0" algn="l">
              <a:spcBef>
                <a:spcPts val="1000"/>
              </a:spcBef>
              <a:spcAft>
                <a:spcPts val="0"/>
              </a:spcAft>
              <a:buClr>
                <a:schemeClr val="accent6"/>
              </a:buClr>
              <a:buSzPts val="1450"/>
              <a:buFont typeface="DM Sans"/>
              <a:buChar char="✓"/>
            </a:pPr>
            <a:r>
              <a:rPr lang="es" sz="1450">
                <a:solidFill>
                  <a:schemeClr val="lt1"/>
                </a:solidFill>
                <a:latin typeface="DM Sans"/>
                <a:ea typeface="DM Sans"/>
                <a:cs typeface="DM Sans"/>
                <a:sym typeface="DM Sans"/>
              </a:rPr>
              <a:t>Creo </a:t>
            </a:r>
            <a:r>
              <a:rPr b="1" lang="es" sz="1450">
                <a:solidFill>
                  <a:schemeClr val="accent6"/>
                </a:solidFill>
                <a:latin typeface="DM Sans"/>
                <a:ea typeface="DM Sans"/>
                <a:cs typeface="DM Sans"/>
                <a:sym typeface="DM Sans"/>
              </a:rPr>
              <a:t>repositorios</a:t>
            </a:r>
            <a:r>
              <a:rPr lang="es" sz="1450">
                <a:solidFill>
                  <a:schemeClr val="lt1"/>
                </a:solidFill>
                <a:latin typeface="DM Sans"/>
                <a:ea typeface="DM Sans"/>
                <a:cs typeface="DM Sans"/>
                <a:sym typeface="DM Sans"/>
              </a:rPr>
              <a:t> específicos.</a:t>
            </a:r>
            <a:endParaRPr sz="1450">
              <a:solidFill>
                <a:schemeClr val="lt1"/>
              </a:solidFill>
              <a:latin typeface="DM Sans"/>
              <a:ea typeface="DM Sans"/>
              <a:cs typeface="DM Sans"/>
              <a:sym typeface="DM Sans"/>
            </a:endParaRPr>
          </a:p>
          <a:p>
            <a:pPr indent="-320675" lvl="0" marL="457200" rtl="0" algn="l">
              <a:spcBef>
                <a:spcPts val="1000"/>
              </a:spcBef>
              <a:spcAft>
                <a:spcPts val="0"/>
              </a:spcAft>
              <a:buClr>
                <a:schemeClr val="accent6"/>
              </a:buClr>
              <a:buSzPts val="1450"/>
              <a:buFont typeface="DM Sans"/>
              <a:buChar char="✓"/>
            </a:pPr>
            <a:r>
              <a:rPr lang="es" sz="1450">
                <a:solidFill>
                  <a:schemeClr val="lt1"/>
                </a:solidFill>
                <a:latin typeface="DM Sans"/>
                <a:ea typeface="DM Sans"/>
                <a:cs typeface="DM Sans"/>
                <a:sym typeface="DM Sans"/>
              </a:rPr>
              <a:t>Creo </a:t>
            </a:r>
            <a:r>
              <a:rPr b="1" lang="es" sz="1450">
                <a:solidFill>
                  <a:schemeClr val="accent6"/>
                </a:solidFill>
                <a:latin typeface="DM Sans"/>
                <a:ea typeface="DM Sans"/>
                <a:cs typeface="DM Sans"/>
                <a:sym typeface="DM Sans"/>
              </a:rPr>
              <a:t>videos</a:t>
            </a:r>
            <a:r>
              <a:rPr lang="es" sz="1450">
                <a:solidFill>
                  <a:schemeClr val="lt1"/>
                </a:solidFill>
                <a:latin typeface="DM Sans"/>
                <a:ea typeface="DM Sans"/>
                <a:cs typeface="DM Sans"/>
                <a:sym typeface="DM Sans"/>
              </a:rPr>
              <a:t> para dudas comunes.</a:t>
            </a:r>
            <a:endParaRPr sz="1450">
              <a:solidFill>
                <a:schemeClr val="lt1"/>
              </a:solidFill>
              <a:latin typeface="DM Sans"/>
              <a:ea typeface="DM Sans"/>
              <a:cs typeface="DM Sans"/>
              <a:sym typeface="DM Sans"/>
            </a:endParaRPr>
          </a:p>
          <a:p>
            <a:pPr indent="-320675" lvl="0" marL="457200" rtl="0" algn="l">
              <a:spcBef>
                <a:spcPts val="1000"/>
              </a:spcBef>
              <a:spcAft>
                <a:spcPts val="0"/>
              </a:spcAft>
              <a:buClr>
                <a:schemeClr val="accent6"/>
              </a:buClr>
              <a:buSzPts val="1450"/>
              <a:buFont typeface="DM Sans"/>
              <a:buChar char="✓"/>
            </a:pPr>
            <a:r>
              <a:rPr lang="es" sz="1450">
                <a:solidFill>
                  <a:schemeClr val="lt1"/>
                </a:solidFill>
                <a:latin typeface="DM Sans"/>
                <a:ea typeface="DM Sans"/>
                <a:cs typeface="DM Sans"/>
                <a:sym typeface="DM Sans"/>
              </a:rPr>
              <a:t>Creo estas </a:t>
            </a:r>
            <a:r>
              <a:rPr b="1" lang="es" sz="1450">
                <a:solidFill>
                  <a:schemeClr val="accent6"/>
                </a:solidFill>
                <a:latin typeface="DM Sans"/>
                <a:ea typeface="DM Sans"/>
                <a:cs typeface="DM Sans"/>
                <a:sym typeface="DM Sans"/>
              </a:rPr>
              <a:t>diapos</a:t>
            </a:r>
            <a:r>
              <a:rPr lang="es" sz="1450">
                <a:solidFill>
                  <a:schemeClr val="lt1"/>
                </a:solidFill>
                <a:latin typeface="DM Sans"/>
                <a:ea typeface="DM Sans"/>
                <a:cs typeface="DM Sans"/>
                <a:sym typeface="DM Sans"/>
              </a:rPr>
              <a:t> para sumar valor.</a:t>
            </a:r>
            <a:endParaRPr sz="1450">
              <a:solidFill>
                <a:schemeClr val="lt1"/>
              </a:solidFill>
              <a:latin typeface="DM Sans"/>
              <a:ea typeface="DM Sans"/>
              <a:cs typeface="DM Sans"/>
              <a:sym typeface="DM Sans"/>
            </a:endParaRPr>
          </a:p>
          <a:p>
            <a:pPr indent="0" lvl="0" marL="0" rtl="0" algn="l">
              <a:spcBef>
                <a:spcPts val="1000"/>
              </a:spcBef>
              <a:spcAft>
                <a:spcPts val="0"/>
              </a:spcAft>
              <a:buNone/>
            </a:pPr>
            <a:r>
              <a:t/>
            </a:r>
            <a:endParaRPr sz="1650">
              <a:solidFill>
                <a:schemeClr val="lt1"/>
              </a:solidFill>
              <a:latin typeface="DM Sans"/>
              <a:ea typeface="DM Sans"/>
              <a:cs typeface="DM Sans"/>
              <a:sym typeface="DM Sans"/>
            </a:endParaRPr>
          </a:p>
          <a:p>
            <a:pPr indent="0" lvl="0" marL="457200" rtl="0" algn="l">
              <a:spcBef>
                <a:spcPts val="1000"/>
              </a:spcBef>
              <a:spcAft>
                <a:spcPts val="1000"/>
              </a:spcAft>
              <a:buNone/>
            </a:pPr>
            <a:r>
              <a:t/>
            </a:r>
            <a:endParaRPr sz="1350">
              <a:solidFill>
                <a:schemeClr val="lt1"/>
              </a:solidFill>
              <a:latin typeface="DM Sans"/>
              <a:ea typeface="DM Sans"/>
              <a:cs typeface="DM Sans"/>
              <a:sym typeface="DM Sans"/>
            </a:endParaRPr>
          </a:p>
        </p:txBody>
      </p:sp>
      <p:pic>
        <p:nvPicPr>
          <p:cNvPr id="61" name="Google Shape;61;p18"/>
          <p:cNvPicPr preferRelativeResize="0"/>
          <p:nvPr/>
        </p:nvPicPr>
        <p:blipFill>
          <a:blip r:embed="rId3">
            <a:alphaModFix/>
          </a:blip>
          <a:stretch>
            <a:fillRect/>
          </a:stretch>
        </p:blipFill>
        <p:spPr>
          <a:xfrm>
            <a:off x="5342100" y="1171575"/>
            <a:ext cx="4200525" cy="2800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9"/>
          <p:cNvSpPr txBox="1"/>
          <p:nvPr/>
        </p:nvSpPr>
        <p:spPr>
          <a:xfrm>
            <a:off x="1404863" y="2238463"/>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lt1"/>
                </a:solidFill>
                <a:latin typeface="DM Sans"/>
                <a:ea typeface="DM Sans"/>
                <a:cs typeface="DM Sans"/>
                <a:sym typeface="DM Sans"/>
              </a:rPr>
              <a:t>¿Du</a:t>
            </a:r>
            <a:r>
              <a:rPr b="1" lang="es" sz="4000">
                <a:solidFill>
                  <a:srgbClr val="EAFF6A"/>
                </a:solidFill>
                <a:latin typeface="DM Sans"/>
                <a:ea typeface="DM Sans"/>
                <a:cs typeface="DM Sans"/>
                <a:sym typeface="DM Sans"/>
              </a:rPr>
              <a:t>das</a:t>
            </a:r>
            <a:r>
              <a:rPr b="1" lang="es" sz="4000">
                <a:solidFill>
                  <a:schemeClr val="lt1"/>
                </a:solidFill>
                <a:latin typeface="DM Sans"/>
                <a:ea typeface="DM Sans"/>
                <a:cs typeface="DM Sans"/>
                <a:sym typeface="DM Sans"/>
              </a:rPr>
              <a:t>?</a:t>
            </a:r>
            <a:endParaRPr b="1" sz="4000">
              <a:solidFill>
                <a:srgbClr val="EAFF6A"/>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0"/>
          <p:cNvSpPr txBox="1"/>
          <p:nvPr/>
        </p:nvSpPr>
        <p:spPr>
          <a:xfrm>
            <a:off x="1461300" y="322288"/>
            <a:ext cx="6221400" cy="1293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lt1"/>
                </a:solidFill>
                <a:latin typeface="DM Sans"/>
                <a:ea typeface="DM Sans"/>
                <a:cs typeface="DM Sans"/>
                <a:sym typeface="DM Sans"/>
              </a:rPr>
              <a:t>¿Cuál es nuestro </a:t>
            </a:r>
            <a:r>
              <a:rPr b="1" lang="es" sz="4000" u="sng">
                <a:solidFill>
                  <a:schemeClr val="lt1"/>
                </a:solidFill>
                <a:latin typeface="DM Sans"/>
                <a:ea typeface="DM Sans"/>
                <a:cs typeface="DM Sans"/>
                <a:sym typeface="DM Sans"/>
              </a:rPr>
              <a:t>Proyecto final?</a:t>
            </a:r>
            <a:endParaRPr b="1" sz="4000" u="sng">
              <a:solidFill>
                <a:schemeClr val="lt1"/>
              </a:solidFill>
              <a:latin typeface="DM Sans"/>
              <a:ea typeface="DM Sans"/>
              <a:cs typeface="DM Sans"/>
              <a:sym typeface="DM Sans"/>
            </a:endParaRPr>
          </a:p>
        </p:txBody>
      </p:sp>
      <p:pic>
        <p:nvPicPr>
          <p:cNvPr id="72" name="Google Shape;72;p20"/>
          <p:cNvPicPr preferRelativeResize="0"/>
          <p:nvPr/>
        </p:nvPicPr>
        <p:blipFill>
          <a:blip r:embed="rId3">
            <a:alphaModFix/>
          </a:blip>
          <a:stretch>
            <a:fillRect/>
          </a:stretch>
        </p:blipFill>
        <p:spPr>
          <a:xfrm>
            <a:off x="3100826" y="1949050"/>
            <a:ext cx="2942350" cy="2718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21"/>
          <p:cNvSpPr txBox="1"/>
          <p:nvPr/>
        </p:nvSpPr>
        <p:spPr>
          <a:xfrm>
            <a:off x="457350" y="1084475"/>
            <a:ext cx="4931700" cy="1182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600">
                <a:solidFill>
                  <a:schemeClr val="dk1"/>
                </a:solidFill>
                <a:latin typeface="DM Sans"/>
                <a:ea typeface="DM Sans"/>
                <a:cs typeface="DM Sans"/>
                <a:sym typeface="DM Sans"/>
              </a:rPr>
              <a:t>Crea tu propia tienda E-commerce</a:t>
            </a:r>
            <a:endParaRPr b="1" sz="3600">
              <a:solidFill>
                <a:schemeClr val="dk1"/>
              </a:solidFill>
              <a:latin typeface="DM Sans"/>
              <a:ea typeface="DM Sans"/>
              <a:cs typeface="DM Sans"/>
              <a:sym typeface="DM Sans"/>
            </a:endParaRPr>
          </a:p>
        </p:txBody>
      </p:sp>
      <p:sp>
        <p:nvSpPr>
          <p:cNvPr id="78" name="Google Shape;78;p21"/>
          <p:cNvSpPr txBox="1"/>
          <p:nvPr/>
        </p:nvSpPr>
        <p:spPr>
          <a:xfrm>
            <a:off x="457350" y="2451575"/>
            <a:ext cx="4730100" cy="153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latin typeface="DM Sans"/>
                <a:ea typeface="DM Sans"/>
                <a:cs typeface="DM Sans"/>
                <a:sym typeface="DM Sans"/>
              </a:rPr>
              <a:t>Desarrollarás el front end de una tienda online con carrito de compras, utilizando los componentes de React y Firebase como servidor en la nube. </a:t>
            </a:r>
            <a:endParaRPr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a:p>
            <a:pPr indent="0" lvl="0" marL="0" rtl="0" algn="l">
              <a:lnSpc>
                <a:spcPct val="150000"/>
              </a:lnSpc>
              <a:spcBef>
                <a:spcPts val="0"/>
              </a:spcBef>
              <a:spcAft>
                <a:spcPts val="0"/>
              </a:spcAft>
              <a:buClr>
                <a:schemeClr val="dk1"/>
              </a:buClr>
              <a:buSzPts val="1350"/>
              <a:buFont typeface="Arial"/>
              <a:buNone/>
            </a:pPr>
            <a:r>
              <a:rPr lang="es" sz="1350">
                <a:solidFill>
                  <a:schemeClr val="dk1"/>
                </a:solidFill>
                <a:highlight>
                  <a:schemeClr val="accent6"/>
                </a:highlight>
                <a:latin typeface="DM Sans"/>
                <a:ea typeface="DM Sans"/>
                <a:cs typeface="DM Sans"/>
                <a:sym typeface="DM Sans"/>
              </a:rPr>
              <a:t>Nicolás Ramírez: </a:t>
            </a:r>
            <a:br>
              <a:rPr lang="es" sz="1350">
                <a:solidFill>
                  <a:schemeClr val="dk1"/>
                </a:solidFill>
                <a:highlight>
                  <a:schemeClr val="accent6"/>
                </a:highlight>
                <a:latin typeface="DM Sans"/>
                <a:ea typeface="DM Sans"/>
                <a:cs typeface="DM Sans"/>
                <a:sym typeface="DM Sans"/>
              </a:rPr>
            </a:br>
            <a:r>
              <a:rPr lang="es" sz="1350">
                <a:solidFill>
                  <a:schemeClr val="dk1"/>
                </a:solidFill>
                <a:latin typeface="DM Sans"/>
                <a:ea typeface="DM Sans"/>
                <a:cs typeface="DM Sans"/>
                <a:sym typeface="DM Sans"/>
              </a:rPr>
              <a:t>https://get-growing.netlify.app/</a:t>
            </a:r>
            <a:endParaRPr sz="1350">
              <a:latin typeface="DM Sans"/>
              <a:ea typeface="DM Sans"/>
              <a:cs typeface="DM Sans"/>
              <a:sym typeface="DM Sans"/>
            </a:endParaRPr>
          </a:p>
        </p:txBody>
      </p:sp>
      <p:sp>
        <p:nvSpPr>
          <p:cNvPr id="79" name="Google Shape;79;p21"/>
          <p:cNvSpPr txBox="1"/>
          <p:nvPr/>
        </p:nvSpPr>
        <p:spPr>
          <a:xfrm>
            <a:off x="930550" y="468275"/>
            <a:ext cx="2461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DM Sans"/>
                <a:ea typeface="DM Sans"/>
                <a:cs typeface="DM Sans"/>
                <a:sym typeface="DM Sans"/>
              </a:rPr>
              <a:t>PROYECTO FINAL</a:t>
            </a:r>
            <a:endParaRPr>
              <a:latin typeface="DM Sans"/>
              <a:ea typeface="DM Sans"/>
              <a:cs typeface="DM Sans"/>
              <a:sym typeface="DM Sans"/>
            </a:endParaRPr>
          </a:p>
        </p:txBody>
      </p:sp>
      <p:pic>
        <p:nvPicPr>
          <p:cNvPr id="80" name="Google Shape;80;p21"/>
          <p:cNvPicPr preferRelativeResize="0"/>
          <p:nvPr/>
        </p:nvPicPr>
        <p:blipFill rotWithShape="1">
          <a:blip r:embed="rId3">
            <a:alphaModFix/>
          </a:blip>
          <a:srcRect b="0" l="3956" r="48715" t="0"/>
          <a:stretch/>
        </p:blipFill>
        <p:spPr>
          <a:xfrm>
            <a:off x="5712875" y="468275"/>
            <a:ext cx="2923973" cy="4118748"/>
          </a:xfrm>
          <a:prstGeom prst="rect">
            <a:avLst/>
          </a:prstGeom>
          <a:noFill/>
          <a:ln>
            <a:noFill/>
          </a:ln>
        </p:spPr>
      </p:pic>
      <p:grpSp>
        <p:nvGrpSpPr>
          <p:cNvPr id="81" name="Google Shape;81;p21"/>
          <p:cNvGrpSpPr/>
          <p:nvPr/>
        </p:nvGrpSpPr>
        <p:grpSpPr>
          <a:xfrm>
            <a:off x="457343" y="468298"/>
            <a:ext cx="431074" cy="431074"/>
            <a:chOff x="7208351" y="2467173"/>
            <a:chExt cx="738900" cy="738900"/>
          </a:xfrm>
        </p:grpSpPr>
        <p:sp>
          <p:nvSpPr>
            <p:cNvPr id="82" name="Google Shape;82;p21"/>
            <p:cNvSpPr/>
            <p:nvPr/>
          </p:nvSpPr>
          <p:spPr>
            <a:xfrm>
              <a:off x="7208351" y="2467173"/>
              <a:ext cx="738900" cy="738900"/>
            </a:xfrm>
            <a:prstGeom prst="ellipse">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 name="Google Shape;83;p21" title="ícono de proyecto final"/>
            <p:cNvPicPr preferRelativeResize="0"/>
            <p:nvPr/>
          </p:nvPicPr>
          <p:blipFill>
            <a:blip r:embed="rId4">
              <a:alphaModFix/>
            </a:blip>
            <a:stretch>
              <a:fillRect/>
            </a:stretch>
          </p:blipFill>
          <p:spPr>
            <a:xfrm>
              <a:off x="7352500" y="2611301"/>
              <a:ext cx="450600" cy="450622"/>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22"/>
          <p:cNvSpPr/>
          <p:nvPr/>
        </p:nvSpPr>
        <p:spPr>
          <a:xfrm>
            <a:off x="588525" y="686550"/>
            <a:ext cx="2708700" cy="1209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2"/>
          <p:cNvSpPr txBox="1"/>
          <p:nvPr/>
        </p:nvSpPr>
        <p:spPr>
          <a:xfrm>
            <a:off x="588525" y="484650"/>
            <a:ext cx="4730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DM Sans"/>
                <a:ea typeface="DM Sans"/>
                <a:cs typeface="DM Sans"/>
                <a:sym typeface="DM Sans"/>
              </a:rPr>
              <a:t>ENTREGAS </a:t>
            </a:r>
            <a:endParaRPr>
              <a:latin typeface="DM Sans"/>
              <a:ea typeface="DM Sans"/>
              <a:cs typeface="DM Sans"/>
              <a:sym typeface="DM Sans"/>
            </a:endParaRPr>
          </a:p>
        </p:txBody>
      </p:sp>
      <p:sp>
        <p:nvSpPr>
          <p:cNvPr id="90" name="Google Shape;90;p22"/>
          <p:cNvSpPr txBox="1"/>
          <p:nvPr/>
        </p:nvSpPr>
        <p:spPr>
          <a:xfrm>
            <a:off x="501450" y="894975"/>
            <a:ext cx="27957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¿Qué son?</a:t>
            </a:r>
            <a:endParaRPr b="1" sz="4000">
              <a:solidFill>
                <a:schemeClr val="dk1"/>
              </a:solidFill>
              <a:latin typeface="DM Sans"/>
              <a:ea typeface="DM Sans"/>
              <a:cs typeface="DM Sans"/>
              <a:sym typeface="DM Sans"/>
            </a:endParaRPr>
          </a:p>
        </p:txBody>
      </p:sp>
      <p:sp>
        <p:nvSpPr>
          <p:cNvPr id="91" name="Google Shape;91;p22"/>
          <p:cNvSpPr txBox="1"/>
          <p:nvPr/>
        </p:nvSpPr>
        <p:spPr>
          <a:xfrm>
            <a:off x="588525" y="1826013"/>
            <a:ext cx="8166900" cy="261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550">
                <a:solidFill>
                  <a:schemeClr val="dk1"/>
                </a:solidFill>
                <a:latin typeface="DM Sans"/>
                <a:ea typeface="DM Sans"/>
                <a:cs typeface="DM Sans"/>
                <a:sym typeface="DM Sans"/>
              </a:rPr>
              <a:t>A lo largo del curso iremos trabajando en un </a:t>
            </a:r>
            <a:r>
              <a:rPr b="1" lang="es" sz="1550">
                <a:solidFill>
                  <a:srgbClr val="EAFF6A"/>
                </a:solidFill>
                <a:highlight>
                  <a:schemeClr val="dk1"/>
                </a:highlight>
                <a:latin typeface="DM Sans"/>
                <a:ea typeface="DM Sans"/>
                <a:cs typeface="DM Sans"/>
                <a:sym typeface="DM Sans"/>
              </a:rPr>
              <a:t>único</a:t>
            </a:r>
            <a:r>
              <a:rPr lang="es" sz="1550">
                <a:solidFill>
                  <a:schemeClr val="dk1"/>
                </a:solidFill>
                <a:latin typeface="DM Sans"/>
                <a:ea typeface="DM Sans"/>
                <a:cs typeface="DM Sans"/>
                <a:sym typeface="DM Sans"/>
              </a:rPr>
              <a:t> proyecto: E-Commerce.</a:t>
            </a:r>
            <a:endParaRPr sz="155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lang="es" sz="1550">
                <a:solidFill>
                  <a:schemeClr val="dk1"/>
                </a:solidFill>
                <a:latin typeface="DM Sans"/>
                <a:ea typeface="DM Sans"/>
                <a:cs typeface="DM Sans"/>
                <a:sym typeface="DM Sans"/>
              </a:rPr>
              <a:t>Habrá 2 entregas parciales del proyecto a lo largo de la cursada.</a:t>
            </a:r>
            <a:endParaRPr sz="155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lang="es" sz="1550">
                <a:solidFill>
                  <a:schemeClr val="dk1"/>
                </a:solidFill>
                <a:latin typeface="DM Sans"/>
                <a:ea typeface="DM Sans"/>
                <a:cs typeface="DM Sans"/>
                <a:sym typeface="DM Sans"/>
              </a:rPr>
              <a:t>Y una entrega final, al concluir el curso.</a:t>
            </a:r>
            <a:endParaRPr sz="155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lang="es" sz="1550">
                <a:solidFill>
                  <a:schemeClr val="dk1"/>
                </a:solidFill>
                <a:latin typeface="DM Sans"/>
                <a:ea typeface="DM Sans"/>
                <a:cs typeface="DM Sans"/>
                <a:sym typeface="DM Sans"/>
              </a:rPr>
              <a:t>Deben, en cada entrega, subir el link del repositorio a GitHub con el último commit.</a:t>
            </a:r>
            <a:endParaRPr sz="155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55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lang="es" sz="1550">
                <a:solidFill>
                  <a:schemeClr val="dk1"/>
                </a:solidFill>
                <a:latin typeface="DM Sans"/>
                <a:ea typeface="DM Sans"/>
                <a:cs typeface="DM Sans"/>
                <a:sym typeface="DM Sans"/>
              </a:rPr>
              <a:t>L</a:t>
            </a:r>
            <a:r>
              <a:rPr lang="es" sz="1550">
                <a:solidFill>
                  <a:schemeClr val="dk1"/>
                </a:solidFill>
                <a:latin typeface="DM Sans"/>
                <a:ea typeface="DM Sans"/>
                <a:cs typeface="DM Sans"/>
                <a:sym typeface="DM Sans"/>
              </a:rPr>
              <a:t>as corregimos con Arturo.</a:t>
            </a:r>
            <a:endParaRPr sz="1550">
              <a:solidFill>
                <a:schemeClr val="dk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3"/>
          <p:cNvSpPr txBox="1"/>
          <p:nvPr/>
        </p:nvSpPr>
        <p:spPr>
          <a:xfrm>
            <a:off x="1461300" y="1925250"/>
            <a:ext cx="6221400" cy="1293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Instalaciones</a:t>
            </a:r>
            <a:endParaRPr b="1" sz="4000">
              <a:solidFill>
                <a:schemeClr val="dk1"/>
              </a:solidFill>
              <a:latin typeface="DM Sans"/>
              <a:ea typeface="DM Sans"/>
              <a:cs typeface="DM Sans"/>
              <a:sym typeface="DM Sans"/>
            </a:endParaRPr>
          </a:p>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obligatorias</a:t>
            </a:r>
            <a:endParaRPr b="1" sz="4000">
              <a:solidFill>
                <a:schemeClr val="dk1"/>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4"/>
          <p:cNvSpPr txBox="1"/>
          <p:nvPr/>
        </p:nvSpPr>
        <p:spPr>
          <a:xfrm>
            <a:off x="494550" y="1265900"/>
            <a:ext cx="8154900" cy="2331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800">
                <a:solidFill>
                  <a:schemeClr val="accent6"/>
                </a:solidFill>
                <a:latin typeface="DM Sans"/>
                <a:ea typeface="DM Sans"/>
                <a:cs typeface="DM Sans"/>
                <a:sym typeface="DM Sans"/>
              </a:rPr>
              <a:t>Obligatorio</a:t>
            </a:r>
            <a:endParaRPr b="1" sz="4800">
              <a:solidFill>
                <a:schemeClr val="dk1"/>
              </a:solidFill>
              <a:latin typeface="DM Sans"/>
              <a:ea typeface="DM Sans"/>
              <a:cs typeface="DM Sans"/>
              <a:sym typeface="DM Sans"/>
            </a:endParaRPr>
          </a:p>
          <a:p>
            <a:pPr indent="0" lvl="0" marL="0" rtl="0" algn="ctr">
              <a:lnSpc>
                <a:spcPct val="90000"/>
              </a:lnSpc>
              <a:spcBef>
                <a:spcPts val="0"/>
              </a:spcBef>
              <a:spcAft>
                <a:spcPts val="0"/>
              </a:spcAft>
              <a:buNone/>
            </a:pPr>
            <a:r>
              <a:t/>
            </a:r>
            <a:endParaRPr b="1" sz="3500">
              <a:solidFill>
                <a:schemeClr val="dk1"/>
              </a:solidFill>
              <a:latin typeface="DM Sans"/>
              <a:ea typeface="DM Sans"/>
              <a:cs typeface="DM Sans"/>
              <a:sym typeface="DM Sans"/>
            </a:endParaRPr>
          </a:p>
          <a:p>
            <a:pPr indent="0" lvl="0" marL="0" rtl="0" algn="ctr">
              <a:lnSpc>
                <a:spcPct val="90000"/>
              </a:lnSpc>
              <a:spcBef>
                <a:spcPts val="0"/>
              </a:spcBef>
              <a:spcAft>
                <a:spcPts val="0"/>
              </a:spcAft>
              <a:buNone/>
            </a:pPr>
            <a:r>
              <a:rPr b="1" lang="es" sz="3600">
                <a:solidFill>
                  <a:schemeClr val="lt1"/>
                </a:solidFill>
                <a:latin typeface="DM Sans"/>
                <a:ea typeface="DM Sans"/>
                <a:cs typeface="DM Sans"/>
                <a:sym typeface="DM Sans"/>
              </a:rPr>
              <a:t>Node Js</a:t>
            </a:r>
            <a:endParaRPr b="1" sz="3600">
              <a:solidFill>
                <a:schemeClr val="lt1"/>
              </a:solidFill>
              <a:latin typeface="DM Sans"/>
              <a:ea typeface="DM Sans"/>
              <a:cs typeface="DM Sans"/>
              <a:sym typeface="DM Sans"/>
            </a:endParaRPr>
          </a:p>
          <a:p>
            <a:pPr indent="0" lvl="0" marL="0" rtl="0" algn="ctr">
              <a:lnSpc>
                <a:spcPct val="90000"/>
              </a:lnSpc>
              <a:spcBef>
                <a:spcPts val="0"/>
              </a:spcBef>
              <a:spcAft>
                <a:spcPts val="0"/>
              </a:spcAft>
              <a:buNone/>
            </a:pPr>
            <a:r>
              <a:rPr b="1" lang="es" sz="3600">
                <a:solidFill>
                  <a:schemeClr val="lt1"/>
                </a:solidFill>
                <a:latin typeface="DM Sans"/>
                <a:ea typeface="DM Sans"/>
                <a:cs typeface="DM Sans"/>
                <a:sym typeface="DM Sans"/>
              </a:rPr>
              <a:t>VSCode</a:t>
            </a:r>
            <a:endParaRPr b="1" sz="3600">
              <a:solidFill>
                <a:schemeClr val="lt1"/>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5"/>
          <p:cNvSpPr txBox="1"/>
          <p:nvPr/>
        </p:nvSpPr>
        <p:spPr>
          <a:xfrm>
            <a:off x="485430" y="288775"/>
            <a:ext cx="8154900" cy="1071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200">
                <a:solidFill>
                  <a:srgbClr val="27282D"/>
                </a:solidFill>
                <a:latin typeface="DM Sans"/>
                <a:ea typeface="DM Sans"/>
                <a:cs typeface="DM Sans"/>
                <a:sym typeface="DM Sans"/>
              </a:rPr>
              <a:t>Repaso completo de Git y Github en </a:t>
            </a:r>
            <a:endParaRPr b="1" sz="3200">
              <a:solidFill>
                <a:srgbClr val="27282D"/>
              </a:solidFill>
              <a:latin typeface="DM Sans"/>
              <a:ea typeface="DM Sans"/>
              <a:cs typeface="DM Sans"/>
              <a:sym typeface="DM Sans"/>
            </a:endParaRPr>
          </a:p>
          <a:p>
            <a:pPr indent="0" lvl="0" marL="0" rtl="0" algn="l">
              <a:lnSpc>
                <a:spcPct val="90000"/>
              </a:lnSpc>
              <a:spcBef>
                <a:spcPts val="0"/>
              </a:spcBef>
              <a:spcAft>
                <a:spcPts val="0"/>
              </a:spcAft>
              <a:buNone/>
            </a:pPr>
            <a:r>
              <a:rPr b="1" lang="es" sz="3200">
                <a:solidFill>
                  <a:schemeClr val="accent4"/>
                </a:solidFill>
                <a:latin typeface="DM Sans"/>
                <a:ea typeface="DM Sans"/>
                <a:cs typeface="DM Sans"/>
                <a:sym typeface="DM Sans"/>
              </a:rPr>
              <a:t>7 </a:t>
            </a:r>
            <a:r>
              <a:rPr b="1" lang="es" sz="3200">
                <a:solidFill>
                  <a:srgbClr val="27282D"/>
                </a:solidFill>
                <a:latin typeface="DM Sans"/>
                <a:ea typeface="DM Sans"/>
                <a:cs typeface="DM Sans"/>
                <a:sym typeface="DM Sans"/>
              </a:rPr>
              <a:t>minutos.</a:t>
            </a:r>
            <a:endParaRPr b="1" sz="3000">
              <a:solidFill>
                <a:srgbClr val="27282D"/>
              </a:solidFill>
              <a:latin typeface="DM Sans"/>
              <a:ea typeface="DM Sans"/>
              <a:cs typeface="DM Sans"/>
              <a:sym typeface="DM Sans"/>
            </a:endParaRPr>
          </a:p>
        </p:txBody>
      </p:sp>
      <p:sp>
        <p:nvSpPr>
          <p:cNvPr id="107" name="Google Shape;107;p25"/>
          <p:cNvSpPr txBox="1"/>
          <p:nvPr/>
        </p:nvSpPr>
        <p:spPr>
          <a:xfrm>
            <a:off x="457350" y="24461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08" name="Google Shape;108;p25"/>
          <p:cNvSpPr txBox="1"/>
          <p:nvPr/>
        </p:nvSpPr>
        <p:spPr>
          <a:xfrm>
            <a:off x="425100" y="1360075"/>
            <a:ext cx="7493100" cy="409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latin typeface="DM Sans"/>
                <a:ea typeface="DM Sans"/>
                <a:cs typeface="DM Sans"/>
                <a:sym typeface="DM Sans"/>
              </a:rPr>
              <a:t>Video: https://www.youtube.com/watch?v=pSU7HIHN4Iw</a:t>
            </a:r>
            <a:endParaRPr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b="1" lang="es" sz="1250">
                <a:solidFill>
                  <a:schemeClr val="accent4"/>
                </a:solidFill>
                <a:latin typeface="DM Sans"/>
                <a:ea typeface="DM Sans"/>
                <a:cs typeface="DM Sans"/>
                <a:sym typeface="DM Sans"/>
              </a:rPr>
              <a:t>Contenido:</a:t>
            </a:r>
            <a:endParaRPr b="1" sz="1250">
              <a:solidFill>
                <a:schemeClr val="accent4"/>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br>
              <a:rPr lang="es" sz="1250">
                <a:latin typeface="DM Sans"/>
                <a:ea typeface="DM Sans"/>
                <a:cs typeface="DM Sans"/>
                <a:sym typeface="DM Sans"/>
              </a:rPr>
            </a:br>
            <a:r>
              <a:rPr lang="es" sz="1250">
                <a:latin typeface="DM Sans"/>
                <a:ea typeface="DM Sans"/>
                <a:cs typeface="DM Sans"/>
                <a:sym typeface="DM Sans"/>
              </a:rPr>
              <a:t>Cómo instalar GIT</a:t>
            </a:r>
            <a:endParaRPr sz="12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Como verificar que lo instalamos bien</a:t>
            </a:r>
            <a:endParaRPr sz="12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Crear credenciales en git</a:t>
            </a:r>
            <a:endParaRPr sz="12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Crear un repo remoto</a:t>
            </a:r>
            <a:endParaRPr sz="12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Iniciar un repo en git</a:t>
            </a:r>
            <a:endParaRPr sz="12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Corroborar que lo iniciamos</a:t>
            </a:r>
            <a:endParaRPr sz="12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Agregar al monitoreo de git archivos</a:t>
            </a:r>
            <a:endParaRPr sz="12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Vincular git con remoto</a:t>
            </a:r>
            <a:endParaRPr sz="12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Hacer commits</a:t>
            </a:r>
            <a:endParaRPr sz="12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Hacer el primer push y los siguientes</a:t>
            </a:r>
            <a:endParaRPr sz="12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Ver el estado del repo</a:t>
            </a:r>
            <a:endParaRPr sz="12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250">
                <a:latin typeface="DM Sans"/>
                <a:ea typeface="DM Sans"/>
                <a:cs typeface="DM Sans"/>
                <a:sym typeface="DM Sans"/>
              </a:rPr>
              <a:t>Volver al último commit</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2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6"/>
          <p:cNvSpPr txBox="1"/>
          <p:nvPr/>
        </p:nvSpPr>
        <p:spPr>
          <a:xfrm>
            <a:off x="457350" y="390025"/>
            <a:ext cx="8154900" cy="1680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600">
                <a:solidFill>
                  <a:srgbClr val="EA90FF"/>
                </a:solidFill>
                <a:latin typeface="DM Sans"/>
                <a:ea typeface="DM Sans"/>
                <a:cs typeface="DM Sans"/>
                <a:sym typeface="DM Sans"/>
              </a:rPr>
              <a:t>Obligatorio</a:t>
            </a:r>
            <a:r>
              <a:rPr b="1" lang="es" sz="3600">
                <a:solidFill>
                  <a:schemeClr val="dk1"/>
                </a:solidFill>
                <a:latin typeface="DM Sans"/>
                <a:ea typeface="DM Sans"/>
                <a:cs typeface="DM Sans"/>
                <a:sym typeface="DM Sans"/>
              </a:rPr>
              <a:t> instalar Prettier correctamente para la próxima clase </a:t>
            </a:r>
            <a:endParaRPr b="1" sz="3400">
              <a:solidFill>
                <a:schemeClr val="dk1"/>
              </a:solidFill>
              <a:latin typeface="DM Sans"/>
              <a:ea typeface="DM Sans"/>
              <a:cs typeface="DM Sans"/>
              <a:sym typeface="DM Sans"/>
            </a:endParaRPr>
          </a:p>
        </p:txBody>
      </p:sp>
      <p:sp>
        <p:nvSpPr>
          <p:cNvPr id="114" name="Google Shape;114;p26"/>
          <p:cNvSpPr txBox="1"/>
          <p:nvPr/>
        </p:nvSpPr>
        <p:spPr>
          <a:xfrm>
            <a:off x="457350" y="24461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15" name="Google Shape;115;p26"/>
          <p:cNvSpPr txBox="1"/>
          <p:nvPr/>
        </p:nvSpPr>
        <p:spPr>
          <a:xfrm>
            <a:off x="423775" y="2167650"/>
            <a:ext cx="7646700" cy="236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latin typeface="DM Sans"/>
                <a:ea typeface="DM Sans"/>
                <a:cs typeface="DM Sans"/>
                <a:sym typeface="DM Sans"/>
              </a:rPr>
              <a:t>Video: </a:t>
            </a:r>
            <a:r>
              <a:rPr lang="es" sz="1350" u="sng">
                <a:solidFill>
                  <a:schemeClr val="hlink"/>
                </a:solidFill>
                <a:latin typeface="DM Sans"/>
                <a:ea typeface="DM Sans"/>
                <a:cs typeface="DM Sans"/>
                <a:sym typeface="DM Sans"/>
                <a:hlinkClick r:id="rId3"/>
              </a:rPr>
              <a:t>https://www.youtube.com/watch?v=J82zzv_2RPc</a:t>
            </a:r>
            <a:endParaRPr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250">
                <a:latin typeface="DM Sans"/>
                <a:ea typeface="DM Sans"/>
                <a:cs typeface="DM Sans"/>
                <a:sym typeface="DM Sans"/>
              </a:rPr>
              <a:t>Qué es Prettier.</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250">
                <a:latin typeface="DM Sans"/>
                <a:ea typeface="DM Sans"/>
                <a:cs typeface="DM Sans"/>
                <a:sym typeface="DM Sans"/>
              </a:rPr>
              <a:t>Para qué usamos Prettier.</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250">
                <a:latin typeface="DM Sans"/>
                <a:ea typeface="DM Sans"/>
                <a:cs typeface="DM Sans"/>
                <a:sym typeface="DM Sans"/>
              </a:rPr>
              <a:t>Cómo instalamos Prettier.</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250">
                <a:latin typeface="DM Sans"/>
                <a:ea typeface="DM Sans"/>
                <a:cs typeface="DM Sans"/>
                <a:sym typeface="DM Sans"/>
              </a:rPr>
              <a:t>Por qué no me anda Prettier.</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250">
                <a:latin typeface="DM Sans"/>
                <a:ea typeface="DM Sans"/>
                <a:cs typeface="DM Sans"/>
                <a:sym typeface="DM Sans"/>
              </a:rPr>
              <a:t>Cómo establecer Prettier como formateador predeterminado.</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250">
                <a:latin typeface="DM Sans"/>
                <a:ea typeface="DM Sans"/>
                <a:cs typeface="DM Sans"/>
                <a:sym typeface="DM Sans"/>
              </a:rPr>
              <a:t>Cómo establecer una configuración personalizada de Prettier.</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250">
                <a:latin typeface="DM Sans"/>
                <a:ea typeface="DM Sans"/>
                <a:cs typeface="DM Sans"/>
                <a:sym typeface="DM Sans"/>
              </a:rPr>
              <a:t>Cómo compartir la configuración de Prettier con GIT / GITHUB</a:t>
            </a:r>
            <a:endParaRPr sz="12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7"/>
          <p:cNvSpPr txBox="1"/>
          <p:nvPr/>
        </p:nvSpPr>
        <p:spPr>
          <a:xfrm>
            <a:off x="1461300" y="2202300"/>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RECAP: JAVASCRIPT</a:t>
            </a:r>
            <a:endParaRPr b="1" sz="4000">
              <a:solidFill>
                <a:schemeClr val="dk1"/>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8"/>
          <p:cNvSpPr txBox="1"/>
          <p:nvPr/>
        </p:nvSpPr>
        <p:spPr>
          <a:xfrm>
            <a:off x="494550" y="1646900"/>
            <a:ext cx="8154900" cy="18333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800">
                <a:solidFill>
                  <a:schemeClr val="accent6"/>
                </a:solidFill>
                <a:latin typeface="DM Sans"/>
                <a:ea typeface="DM Sans"/>
                <a:cs typeface="DM Sans"/>
                <a:sym typeface="DM Sans"/>
              </a:rPr>
              <a:t>REPO DE CLASE</a:t>
            </a:r>
            <a:endParaRPr b="1" sz="4800">
              <a:solidFill>
                <a:schemeClr val="dk1"/>
              </a:solidFill>
              <a:latin typeface="DM Sans"/>
              <a:ea typeface="DM Sans"/>
              <a:cs typeface="DM Sans"/>
              <a:sym typeface="DM Sans"/>
            </a:endParaRPr>
          </a:p>
          <a:p>
            <a:pPr indent="0" lvl="0" marL="0" rtl="0" algn="ctr">
              <a:lnSpc>
                <a:spcPct val="90000"/>
              </a:lnSpc>
              <a:spcBef>
                <a:spcPts val="0"/>
              </a:spcBef>
              <a:spcAft>
                <a:spcPts val="0"/>
              </a:spcAft>
              <a:buNone/>
            </a:pPr>
            <a:r>
              <a:t/>
            </a:r>
            <a:endParaRPr b="1" sz="3500">
              <a:solidFill>
                <a:schemeClr val="dk1"/>
              </a:solidFill>
              <a:latin typeface="DM Sans"/>
              <a:ea typeface="DM Sans"/>
              <a:cs typeface="DM Sans"/>
              <a:sym typeface="DM Sans"/>
            </a:endParaRPr>
          </a:p>
          <a:p>
            <a:pPr indent="0" lvl="0" marL="0" rtl="0" algn="ctr">
              <a:lnSpc>
                <a:spcPct val="90000"/>
              </a:lnSpc>
              <a:spcBef>
                <a:spcPts val="0"/>
              </a:spcBef>
              <a:spcAft>
                <a:spcPts val="0"/>
              </a:spcAft>
              <a:buNone/>
            </a:pPr>
            <a:r>
              <a:rPr b="1" lang="es" sz="2200">
                <a:solidFill>
                  <a:schemeClr val="lt1"/>
                </a:solidFill>
                <a:latin typeface="DM Sans"/>
                <a:ea typeface="DM Sans"/>
                <a:cs typeface="DM Sans"/>
                <a:sym typeface="DM Sans"/>
              </a:rPr>
              <a:t>https://github.com/julioavantt/coder_react_flex_1</a:t>
            </a:r>
            <a:r>
              <a:rPr b="1" lang="es" sz="3600">
                <a:solidFill>
                  <a:schemeClr val="lt1"/>
                </a:solidFill>
                <a:latin typeface="DM Sans"/>
                <a:ea typeface="DM Sans"/>
                <a:cs typeface="DM Sans"/>
                <a:sym typeface="DM Sans"/>
              </a:rPr>
              <a:t> </a:t>
            </a:r>
            <a:endParaRPr b="1" sz="3600">
              <a:solidFill>
                <a:schemeClr val="lt1"/>
              </a:solidFill>
              <a:latin typeface="DM Sans"/>
              <a:ea typeface="DM Sans"/>
              <a:cs typeface="DM Sans"/>
              <a:sym typeface="DM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9"/>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Valores y mutación</a:t>
            </a:r>
            <a:endParaRPr b="1" sz="4000">
              <a:solidFill>
                <a:schemeClr val="dk1"/>
              </a:solidFill>
              <a:latin typeface="DM Sans"/>
              <a:ea typeface="DM Sans"/>
              <a:cs typeface="DM Sans"/>
              <a:sym typeface="DM Sans"/>
            </a:endParaRPr>
          </a:p>
        </p:txBody>
      </p:sp>
      <p:pic>
        <p:nvPicPr>
          <p:cNvPr id="131" name="Google Shape;131;p29"/>
          <p:cNvPicPr preferRelativeResize="0"/>
          <p:nvPr/>
        </p:nvPicPr>
        <p:blipFill>
          <a:blip r:embed="rId3">
            <a:alphaModFix/>
          </a:blip>
          <a:stretch>
            <a:fillRect/>
          </a:stretch>
        </p:blipFill>
        <p:spPr>
          <a:xfrm>
            <a:off x="3052400" y="1641975"/>
            <a:ext cx="3039200" cy="3039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0"/>
          <p:cNvSpPr txBox="1"/>
          <p:nvPr/>
        </p:nvSpPr>
        <p:spPr>
          <a:xfrm>
            <a:off x="457725" y="1754425"/>
            <a:ext cx="5041500" cy="281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Estilo de programación en el que se especifica cada paso detallado a realizar para lograr un resultado. </a:t>
            </a:r>
            <a:endParaRPr sz="1350">
              <a:solidFill>
                <a:schemeClr val="dk1"/>
              </a:solidFill>
              <a:latin typeface="DM Sans"/>
              <a:ea typeface="DM Sans"/>
              <a:cs typeface="DM Sans"/>
              <a:sym typeface="DM Sans"/>
            </a:endParaRPr>
          </a:p>
          <a:p>
            <a:pPr indent="0" lvl="0" marL="0" rtl="0" algn="l">
              <a:spcBef>
                <a:spcPts val="1000"/>
              </a:spcBef>
              <a:spcAft>
                <a:spcPts val="0"/>
              </a:spcAft>
              <a:buNone/>
            </a:pPr>
            <a:r>
              <a:rPr b="1" lang="es" sz="1350">
                <a:solidFill>
                  <a:schemeClr val="dk1"/>
                </a:solidFill>
                <a:latin typeface="DM Sans"/>
                <a:ea typeface="DM Sans"/>
                <a:cs typeface="DM Sans"/>
                <a:sym typeface="DM Sans"/>
              </a:rPr>
              <a:t>S</a:t>
            </a:r>
            <a:r>
              <a:rPr b="1" lang="es" sz="1350">
                <a:solidFill>
                  <a:schemeClr val="dk1"/>
                </a:solidFill>
                <a:latin typeface="DM Sans"/>
                <a:ea typeface="DM Sans"/>
                <a:cs typeface="DM Sans"/>
                <a:sym typeface="DM Sans"/>
              </a:rPr>
              <a:t>e enfoca en cómo se logra un resultado. </a:t>
            </a:r>
            <a:endParaRPr b="1" sz="1350">
              <a:solidFill>
                <a:schemeClr val="dk1"/>
              </a:solidFill>
              <a:latin typeface="DM Sans"/>
              <a:ea typeface="DM Sans"/>
              <a:cs typeface="DM Sans"/>
              <a:sym typeface="DM Sans"/>
            </a:endParaRPr>
          </a:p>
          <a:p>
            <a:pPr indent="0" lvl="0" marL="0" rtl="0" algn="l">
              <a:spcBef>
                <a:spcPts val="1000"/>
              </a:spcBef>
              <a:spcAft>
                <a:spcPts val="0"/>
              </a:spcAft>
              <a:buNone/>
            </a:pPr>
            <a:r>
              <a:rPr lang="es" sz="1350">
                <a:solidFill>
                  <a:schemeClr val="dk1"/>
                </a:solidFill>
                <a:latin typeface="DM Sans"/>
                <a:ea typeface="DM Sans"/>
                <a:cs typeface="DM Sans"/>
                <a:sym typeface="DM Sans"/>
              </a:rPr>
              <a:t>Es menos legible, requiere más código.</a:t>
            </a:r>
            <a:endParaRPr sz="1350">
              <a:solidFill>
                <a:schemeClr val="dk1"/>
              </a:solidFill>
              <a:latin typeface="DM Sans"/>
              <a:ea typeface="DM Sans"/>
              <a:cs typeface="DM Sans"/>
              <a:sym typeface="DM Sans"/>
            </a:endParaRPr>
          </a:p>
          <a:p>
            <a:pPr indent="0" lvl="0" marL="0" rtl="0" algn="l">
              <a:spcBef>
                <a:spcPts val="1000"/>
              </a:spcBef>
              <a:spcAft>
                <a:spcPts val="0"/>
              </a:spcAft>
              <a:buNone/>
            </a:pPr>
            <a:r>
              <a:t/>
            </a:r>
            <a:endParaRPr sz="1350">
              <a:solidFill>
                <a:schemeClr val="dk1"/>
              </a:solidFill>
              <a:latin typeface="DM Sans"/>
              <a:ea typeface="DM Sans"/>
              <a:cs typeface="DM Sans"/>
              <a:sym typeface="DM Sans"/>
            </a:endParaRPr>
          </a:p>
          <a:p>
            <a:pPr indent="0" lvl="0" marL="0" rtl="0" algn="l">
              <a:spcBef>
                <a:spcPts val="1000"/>
              </a:spcBef>
              <a:spcAft>
                <a:spcPts val="1000"/>
              </a:spcAft>
              <a:buNone/>
            </a:pPr>
            <a:r>
              <a:rPr lang="es" sz="1750">
                <a:solidFill>
                  <a:schemeClr val="dk1"/>
                </a:solidFill>
                <a:latin typeface="DM Sans"/>
                <a:ea typeface="DM Sans"/>
                <a:cs typeface="DM Sans"/>
                <a:sym typeface="DM Sans"/>
              </a:rPr>
              <a:t>Un ejemplo, es la creación de una UI utilizando Vanilla JS donde debemos indicar paso a paso cómo generar cada elemento en el DOM y decir dónde ubicarlo.</a:t>
            </a:r>
            <a:endParaRPr sz="1750">
              <a:solidFill>
                <a:schemeClr val="dk1"/>
              </a:solidFill>
              <a:latin typeface="DM Sans"/>
              <a:ea typeface="DM Sans"/>
              <a:cs typeface="DM Sans"/>
              <a:sym typeface="DM Sans"/>
            </a:endParaRPr>
          </a:p>
        </p:txBody>
      </p:sp>
      <p:sp>
        <p:nvSpPr>
          <p:cNvPr id="137" name="Google Shape;137;p30"/>
          <p:cNvSpPr txBox="1"/>
          <p:nvPr/>
        </p:nvSpPr>
        <p:spPr>
          <a:xfrm>
            <a:off x="450600" y="787125"/>
            <a:ext cx="71187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Código imperativo</a:t>
            </a:r>
            <a:endParaRPr b="1" sz="4000">
              <a:solidFill>
                <a:schemeClr val="dk1"/>
              </a:solidFill>
              <a:latin typeface="DM Sans"/>
              <a:ea typeface="DM Sans"/>
              <a:cs typeface="DM Sans"/>
              <a:sym typeface="DM Sans"/>
            </a:endParaRPr>
          </a:p>
        </p:txBody>
      </p:sp>
      <p:pic>
        <p:nvPicPr>
          <p:cNvPr id="138" name="Google Shape;138;p30"/>
          <p:cNvPicPr preferRelativeResize="0"/>
          <p:nvPr/>
        </p:nvPicPr>
        <p:blipFill>
          <a:blip r:embed="rId3">
            <a:alphaModFix/>
          </a:blip>
          <a:stretch>
            <a:fillRect/>
          </a:stretch>
        </p:blipFill>
        <p:spPr>
          <a:xfrm>
            <a:off x="6033675" y="1754425"/>
            <a:ext cx="2556676" cy="25566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1"/>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C</a:t>
            </a:r>
            <a:r>
              <a:rPr b="1" lang="es" sz="4000">
                <a:solidFill>
                  <a:schemeClr val="dk1"/>
                </a:solidFill>
                <a:latin typeface="DM Sans"/>
                <a:ea typeface="DM Sans"/>
                <a:cs typeface="DM Sans"/>
                <a:sym typeface="DM Sans"/>
              </a:rPr>
              <a:t>ódigo declarativo</a:t>
            </a:r>
            <a:endParaRPr b="1" sz="4000">
              <a:solidFill>
                <a:schemeClr val="dk1"/>
              </a:solidFill>
              <a:latin typeface="DM Sans"/>
              <a:ea typeface="DM Sans"/>
              <a:cs typeface="DM Sans"/>
              <a:sym typeface="DM Sans"/>
            </a:endParaRPr>
          </a:p>
        </p:txBody>
      </p:sp>
      <p:sp>
        <p:nvSpPr>
          <p:cNvPr id="144" name="Google Shape;144;p31"/>
          <p:cNvSpPr txBox="1"/>
          <p:nvPr/>
        </p:nvSpPr>
        <p:spPr>
          <a:xfrm>
            <a:off x="543075" y="2011725"/>
            <a:ext cx="4122900" cy="208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latin typeface="DM Sans"/>
                <a:ea typeface="DM Sans"/>
                <a:cs typeface="DM Sans"/>
                <a:sym typeface="DM Sans"/>
              </a:rPr>
              <a:t>Estilo de programación en el que se declaran las intenciones y lógica detrás de un componente o aplicación. </a:t>
            </a:r>
            <a:endParaRPr sz="1350">
              <a:latin typeface="DM Sans"/>
              <a:ea typeface="DM Sans"/>
              <a:cs typeface="DM Sans"/>
              <a:sym typeface="DM Sans"/>
            </a:endParaRPr>
          </a:p>
          <a:p>
            <a:pPr indent="0" lvl="0" marL="0" rtl="0" algn="l">
              <a:lnSpc>
                <a:spcPct val="115000"/>
              </a:lnSpc>
              <a:spcBef>
                <a:spcPts val="1000"/>
              </a:spcBef>
              <a:spcAft>
                <a:spcPts val="0"/>
              </a:spcAft>
              <a:buNone/>
            </a:pPr>
            <a:r>
              <a:rPr lang="es" sz="1350">
                <a:latin typeface="DM Sans"/>
                <a:ea typeface="DM Sans"/>
                <a:cs typeface="DM Sans"/>
                <a:sym typeface="DM Sans"/>
              </a:rPr>
              <a:t>En s</a:t>
            </a:r>
            <a:r>
              <a:rPr lang="es" sz="1350">
                <a:latin typeface="DM Sans"/>
                <a:ea typeface="DM Sans"/>
                <a:cs typeface="DM Sans"/>
                <a:sym typeface="DM Sans"/>
              </a:rPr>
              <a:t>íntesis:</a:t>
            </a:r>
            <a:r>
              <a:rPr lang="es" sz="1350">
                <a:latin typeface="DM Sans"/>
                <a:ea typeface="DM Sans"/>
                <a:cs typeface="DM Sans"/>
                <a:sym typeface="DM Sans"/>
              </a:rPr>
              <a:t> </a:t>
            </a:r>
            <a:r>
              <a:rPr b="1" lang="es" sz="1350">
                <a:solidFill>
                  <a:schemeClr val="accent5"/>
                </a:solidFill>
                <a:latin typeface="DM Sans"/>
                <a:ea typeface="DM Sans"/>
                <a:cs typeface="DM Sans"/>
                <a:sym typeface="DM Sans"/>
              </a:rPr>
              <a:t>”se enfoca en lo que se quiere ver”</a:t>
            </a:r>
            <a:r>
              <a:rPr b="1" lang="es" sz="1350">
                <a:latin typeface="DM Sans"/>
                <a:ea typeface="DM Sans"/>
                <a:cs typeface="DM Sans"/>
                <a:sym typeface="DM Sans"/>
              </a:rPr>
              <a:t>.</a:t>
            </a:r>
            <a:endParaRPr b="1" sz="1350">
              <a:latin typeface="DM Sans"/>
              <a:ea typeface="DM Sans"/>
              <a:cs typeface="DM Sans"/>
              <a:sym typeface="DM Sans"/>
            </a:endParaRPr>
          </a:p>
          <a:p>
            <a:pPr indent="0" lvl="0" marL="0" rtl="0" algn="l">
              <a:lnSpc>
                <a:spcPct val="115000"/>
              </a:lnSpc>
              <a:spcBef>
                <a:spcPts val="1000"/>
              </a:spcBef>
              <a:spcAft>
                <a:spcPts val="0"/>
              </a:spcAft>
              <a:buClr>
                <a:schemeClr val="dk1"/>
              </a:buClr>
              <a:buSzPts val="1100"/>
              <a:buFont typeface="Arial"/>
              <a:buNone/>
            </a:pPr>
            <a:r>
              <a:rPr lang="es" sz="1350">
                <a:solidFill>
                  <a:schemeClr val="dk1"/>
                </a:solidFill>
                <a:latin typeface="DM Sans"/>
                <a:ea typeface="DM Sans"/>
                <a:cs typeface="DM Sans"/>
                <a:sym typeface="DM Sans"/>
              </a:rPr>
              <a:t>Este enfoque permite una mayor legibilidad y separar la lógica de cada unidad de código.</a:t>
            </a:r>
            <a:endParaRPr sz="1350">
              <a:solidFill>
                <a:schemeClr val="dk1"/>
              </a:solidFill>
              <a:latin typeface="DM Sans"/>
              <a:ea typeface="DM Sans"/>
              <a:cs typeface="DM Sans"/>
              <a:sym typeface="DM Sans"/>
            </a:endParaRPr>
          </a:p>
          <a:p>
            <a:pPr indent="0" lvl="0" marL="0" rtl="0" algn="l">
              <a:lnSpc>
                <a:spcPct val="115000"/>
              </a:lnSpc>
              <a:spcBef>
                <a:spcPts val="0"/>
              </a:spcBef>
              <a:spcAft>
                <a:spcPts val="1000"/>
              </a:spcAft>
              <a:buNone/>
            </a:pPr>
            <a:r>
              <a:t/>
            </a:r>
            <a:endParaRPr b="1" sz="1350">
              <a:latin typeface="DM Sans"/>
              <a:ea typeface="DM Sans"/>
              <a:cs typeface="DM Sans"/>
              <a:sym typeface="DM Sans"/>
            </a:endParaRPr>
          </a:p>
        </p:txBody>
      </p:sp>
      <p:pic>
        <p:nvPicPr>
          <p:cNvPr id="145" name="Google Shape;145;p31"/>
          <p:cNvPicPr preferRelativeResize="0"/>
          <p:nvPr/>
        </p:nvPicPr>
        <p:blipFill>
          <a:blip r:embed="rId3">
            <a:alphaModFix/>
          </a:blip>
          <a:stretch>
            <a:fillRect/>
          </a:stretch>
        </p:blipFill>
        <p:spPr>
          <a:xfrm>
            <a:off x="5714625" y="1524825"/>
            <a:ext cx="2691125" cy="2691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2"/>
          <p:cNvSpPr txBox="1"/>
          <p:nvPr/>
        </p:nvSpPr>
        <p:spPr>
          <a:xfrm>
            <a:off x="519650" y="1664163"/>
            <a:ext cx="5052600" cy="102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50">
                <a:solidFill>
                  <a:schemeClr val="dk1"/>
                </a:solidFill>
                <a:latin typeface="DM Sans"/>
                <a:ea typeface="DM Sans"/>
                <a:cs typeface="DM Sans"/>
                <a:sym typeface="DM Sans"/>
              </a:rPr>
              <a:t>Las expresiones son preguntas que JavaScript puede responder con </a:t>
            </a:r>
            <a:r>
              <a:rPr lang="es" sz="1650">
                <a:solidFill>
                  <a:schemeClr val="dk1"/>
                </a:solidFill>
                <a:highlight>
                  <a:schemeClr val="accent6"/>
                </a:highlight>
                <a:latin typeface="DM Sans"/>
                <a:ea typeface="DM Sans"/>
                <a:cs typeface="DM Sans"/>
                <a:sym typeface="DM Sans"/>
              </a:rPr>
              <a:t>valores</a:t>
            </a:r>
            <a:r>
              <a:rPr lang="es" sz="1650">
                <a:solidFill>
                  <a:schemeClr val="dk1"/>
                </a:solidFill>
                <a:latin typeface="DM Sans"/>
                <a:ea typeface="DM Sans"/>
                <a:cs typeface="DM Sans"/>
                <a:sym typeface="DM Sans"/>
              </a:rPr>
              <a:t>.</a:t>
            </a:r>
            <a:endParaRPr sz="1650">
              <a:solidFill>
                <a:schemeClr val="dk1"/>
              </a:solidFill>
              <a:latin typeface="DM Sans"/>
              <a:ea typeface="DM Sans"/>
              <a:cs typeface="DM Sans"/>
              <a:sym typeface="DM Sans"/>
            </a:endParaRPr>
          </a:p>
          <a:p>
            <a:pPr indent="0" lvl="0" marL="0" rtl="0" algn="l">
              <a:spcBef>
                <a:spcPts val="1000"/>
              </a:spcBef>
              <a:spcAft>
                <a:spcPts val="1000"/>
              </a:spcAft>
              <a:buNone/>
            </a:pPr>
            <a:r>
              <a:t/>
            </a:r>
            <a:endParaRPr b="1" sz="1350">
              <a:solidFill>
                <a:schemeClr val="dk1"/>
              </a:solidFill>
              <a:latin typeface="DM Sans"/>
              <a:ea typeface="DM Sans"/>
              <a:cs typeface="DM Sans"/>
              <a:sym typeface="DM Sans"/>
            </a:endParaRPr>
          </a:p>
        </p:txBody>
      </p:sp>
      <p:sp>
        <p:nvSpPr>
          <p:cNvPr id="151" name="Google Shape;151;p32"/>
          <p:cNvSpPr txBox="1"/>
          <p:nvPr/>
        </p:nvSpPr>
        <p:spPr>
          <a:xfrm>
            <a:off x="519650" y="558550"/>
            <a:ext cx="4730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E</a:t>
            </a:r>
            <a:r>
              <a:rPr b="1" lang="es" sz="4000">
                <a:solidFill>
                  <a:schemeClr val="dk1"/>
                </a:solidFill>
                <a:latin typeface="DM Sans"/>
                <a:ea typeface="DM Sans"/>
                <a:cs typeface="DM Sans"/>
                <a:sym typeface="DM Sans"/>
              </a:rPr>
              <a:t>xpresión</a:t>
            </a:r>
            <a:endParaRPr b="1" sz="4000">
              <a:solidFill>
                <a:schemeClr val="dk1"/>
              </a:solidFill>
              <a:latin typeface="DM Sans"/>
              <a:ea typeface="DM Sans"/>
              <a:cs typeface="DM Sans"/>
              <a:sym typeface="DM Sans"/>
            </a:endParaRPr>
          </a:p>
        </p:txBody>
      </p:sp>
      <p:pic>
        <p:nvPicPr>
          <p:cNvPr id="152" name="Google Shape;152;p32"/>
          <p:cNvPicPr preferRelativeResize="0"/>
          <p:nvPr/>
        </p:nvPicPr>
        <p:blipFill>
          <a:blip r:embed="rId3">
            <a:alphaModFix/>
          </a:blip>
          <a:stretch>
            <a:fillRect/>
          </a:stretch>
        </p:blipFill>
        <p:spPr>
          <a:xfrm>
            <a:off x="595599" y="3198024"/>
            <a:ext cx="2876851" cy="11116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3"/>
          <p:cNvSpPr txBox="1"/>
          <p:nvPr/>
        </p:nvSpPr>
        <p:spPr>
          <a:xfrm>
            <a:off x="519650" y="2062350"/>
            <a:ext cx="5524200" cy="2152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Definimos funciones para poder llamarlas más tarde y ejecutar el código dentro de ellas. </a:t>
            </a:r>
            <a:endParaRPr sz="1350">
              <a:solidFill>
                <a:schemeClr val="dk1"/>
              </a:solidFill>
              <a:latin typeface="DM Sans"/>
              <a:ea typeface="DM Sans"/>
              <a:cs typeface="DM Sans"/>
              <a:sym typeface="DM Sans"/>
            </a:endParaRPr>
          </a:p>
          <a:p>
            <a:pPr indent="0" lvl="0" marL="0" rtl="0" algn="l">
              <a:spcBef>
                <a:spcPts val="1000"/>
              </a:spcBef>
              <a:spcAft>
                <a:spcPts val="0"/>
              </a:spcAft>
              <a:buNone/>
            </a:pPr>
            <a:r>
              <a:t/>
            </a:r>
            <a:endParaRPr sz="1350">
              <a:solidFill>
                <a:schemeClr val="dk1"/>
              </a:solidFill>
              <a:latin typeface="DM Sans"/>
              <a:ea typeface="DM Sans"/>
              <a:cs typeface="DM Sans"/>
              <a:sym typeface="DM Sans"/>
            </a:endParaRPr>
          </a:p>
          <a:p>
            <a:pPr indent="0" lvl="0" marL="0" rtl="0" algn="l">
              <a:spcBef>
                <a:spcPts val="1000"/>
              </a:spcBef>
              <a:spcAft>
                <a:spcPts val="0"/>
              </a:spcAft>
              <a:buNone/>
            </a:pPr>
            <a:r>
              <a:rPr b="1" lang="es" sz="1350">
                <a:solidFill>
                  <a:schemeClr val="dk1"/>
                </a:solidFill>
                <a:latin typeface="DM Sans"/>
                <a:ea typeface="DM Sans"/>
                <a:cs typeface="DM Sans"/>
                <a:sym typeface="DM Sans"/>
              </a:rPr>
              <a:t>Algo importante es que, en Javascript y en React, las funciones son un tipo de valor.</a:t>
            </a:r>
            <a:endParaRPr b="1" sz="1350">
              <a:solidFill>
                <a:schemeClr val="dk1"/>
              </a:solidFill>
              <a:latin typeface="DM Sans"/>
              <a:ea typeface="DM Sans"/>
              <a:cs typeface="DM Sans"/>
              <a:sym typeface="DM Sans"/>
            </a:endParaRPr>
          </a:p>
          <a:p>
            <a:pPr indent="0" lvl="0" marL="0" rtl="0" algn="l">
              <a:spcBef>
                <a:spcPts val="1000"/>
              </a:spcBef>
              <a:spcAft>
                <a:spcPts val="0"/>
              </a:spcAft>
              <a:buNone/>
            </a:pPr>
            <a:r>
              <a:rPr b="1" lang="es" sz="1350">
                <a:solidFill>
                  <a:schemeClr val="dk1"/>
                </a:solidFill>
                <a:latin typeface="DM Sans"/>
                <a:ea typeface="DM Sans"/>
                <a:cs typeface="DM Sans"/>
                <a:sym typeface="DM Sans"/>
              </a:rPr>
              <a:t>Tal como un número, un string o un objeto.</a:t>
            </a:r>
            <a:endParaRPr b="1" sz="1350">
              <a:solidFill>
                <a:schemeClr val="dk1"/>
              </a:solidFill>
              <a:latin typeface="DM Sans"/>
              <a:ea typeface="DM Sans"/>
              <a:cs typeface="DM Sans"/>
              <a:sym typeface="DM Sans"/>
            </a:endParaRPr>
          </a:p>
          <a:p>
            <a:pPr indent="0" lvl="0" marL="0" rtl="0" algn="l">
              <a:spcBef>
                <a:spcPts val="1000"/>
              </a:spcBef>
              <a:spcAft>
                <a:spcPts val="1000"/>
              </a:spcAft>
              <a:buNone/>
            </a:pPr>
            <a:r>
              <a:t/>
            </a:r>
            <a:endParaRPr sz="1350">
              <a:solidFill>
                <a:schemeClr val="dk1"/>
              </a:solidFill>
              <a:latin typeface="DM Sans"/>
              <a:ea typeface="DM Sans"/>
              <a:cs typeface="DM Sans"/>
              <a:sym typeface="DM Sans"/>
            </a:endParaRPr>
          </a:p>
        </p:txBody>
      </p:sp>
      <p:sp>
        <p:nvSpPr>
          <p:cNvPr id="158" name="Google Shape;158;p33"/>
          <p:cNvSpPr txBox="1"/>
          <p:nvPr/>
        </p:nvSpPr>
        <p:spPr>
          <a:xfrm>
            <a:off x="519650" y="787150"/>
            <a:ext cx="4730100" cy="1182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600">
                <a:solidFill>
                  <a:schemeClr val="dk1"/>
                </a:solidFill>
                <a:latin typeface="DM Sans"/>
                <a:ea typeface="DM Sans"/>
                <a:cs typeface="DM Sans"/>
                <a:sym typeface="DM Sans"/>
              </a:rPr>
              <a:t>Las funciones </a:t>
            </a:r>
            <a:br>
              <a:rPr b="1" lang="es" sz="3600">
                <a:solidFill>
                  <a:schemeClr val="dk1"/>
                </a:solidFill>
                <a:latin typeface="DM Sans"/>
                <a:ea typeface="DM Sans"/>
                <a:cs typeface="DM Sans"/>
                <a:sym typeface="DM Sans"/>
              </a:rPr>
            </a:br>
            <a:r>
              <a:rPr b="1" lang="es" sz="3600">
                <a:solidFill>
                  <a:schemeClr val="dk1"/>
                </a:solidFill>
                <a:latin typeface="DM Sans"/>
                <a:ea typeface="DM Sans"/>
                <a:cs typeface="DM Sans"/>
                <a:sym typeface="DM Sans"/>
              </a:rPr>
              <a:t>son valores</a:t>
            </a:r>
            <a:endParaRPr b="1" sz="3600">
              <a:solidFill>
                <a:schemeClr val="dk1"/>
              </a:solidFill>
              <a:latin typeface="DM Sans"/>
              <a:ea typeface="DM Sans"/>
              <a:cs typeface="DM Sans"/>
              <a:sym typeface="DM Sans"/>
            </a:endParaRPr>
          </a:p>
        </p:txBody>
      </p:sp>
      <p:pic>
        <p:nvPicPr>
          <p:cNvPr id="159" name="Google Shape;159;p33"/>
          <p:cNvPicPr preferRelativeResize="0"/>
          <p:nvPr/>
        </p:nvPicPr>
        <p:blipFill>
          <a:blip r:embed="rId3">
            <a:alphaModFix/>
          </a:blip>
          <a:stretch>
            <a:fillRect/>
          </a:stretch>
        </p:blipFill>
        <p:spPr>
          <a:xfrm>
            <a:off x="6843950" y="1372325"/>
            <a:ext cx="2083050" cy="20830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4"/>
          <p:cNvSpPr txBox="1"/>
          <p:nvPr/>
        </p:nvSpPr>
        <p:spPr>
          <a:xfrm>
            <a:off x="475500" y="941400"/>
            <a:ext cx="70854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NODE</a:t>
            </a:r>
            <a:endParaRPr b="1" sz="4000">
              <a:solidFill>
                <a:schemeClr val="dk1"/>
              </a:solidFill>
              <a:latin typeface="DM Sans"/>
              <a:ea typeface="DM Sans"/>
              <a:cs typeface="DM Sans"/>
              <a:sym typeface="DM Sans"/>
            </a:endParaRPr>
          </a:p>
        </p:txBody>
      </p:sp>
      <p:sp>
        <p:nvSpPr>
          <p:cNvPr id="165" name="Google Shape;165;p34"/>
          <p:cNvSpPr txBox="1"/>
          <p:nvPr/>
        </p:nvSpPr>
        <p:spPr>
          <a:xfrm>
            <a:off x="475500" y="1931500"/>
            <a:ext cx="4730100" cy="24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latin typeface="DM Sans"/>
                <a:ea typeface="DM Sans"/>
                <a:cs typeface="DM Sans"/>
                <a:sym typeface="DM Sans"/>
              </a:rPr>
              <a:t>Node.js es un entorno de ejecución (runtime) de </a:t>
            </a:r>
            <a:r>
              <a:rPr lang="es" sz="1350">
                <a:highlight>
                  <a:schemeClr val="accent1"/>
                </a:highlight>
                <a:latin typeface="DM Sans"/>
                <a:ea typeface="DM Sans"/>
                <a:cs typeface="DM Sans"/>
                <a:sym typeface="DM Sans"/>
              </a:rPr>
              <a:t>JavaScript.</a:t>
            </a:r>
            <a:r>
              <a:rPr lang="es" sz="1350">
                <a:highlight>
                  <a:schemeClr val="lt1"/>
                </a:highlight>
                <a:latin typeface="DM Sans"/>
                <a:ea typeface="DM Sans"/>
                <a:cs typeface="DM Sans"/>
                <a:sym typeface="DM Sans"/>
              </a:rPr>
              <a:t> </a:t>
            </a:r>
            <a:r>
              <a:rPr lang="es" sz="1350">
                <a:latin typeface="DM Sans"/>
                <a:ea typeface="DM Sans"/>
                <a:cs typeface="DM Sans"/>
                <a:sym typeface="DM Sans"/>
              </a:rPr>
              <a:t>Permite ejecutar código </a:t>
            </a:r>
            <a:r>
              <a:rPr lang="es" sz="1350">
                <a:highlight>
                  <a:schemeClr val="accent1"/>
                </a:highlight>
                <a:latin typeface="DM Sans"/>
                <a:ea typeface="DM Sans"/>
                <a:cs typeface="DM Sans"/>
                <a:sym typeface="DM Sans"/>
              </a:rPr>
              <a:t>Javascript</a:t>
            </a:r>
            <a:r>
              <a:rPr lang="es" sz="1350">
                <a:latin typeface="DM Sans"/>
                <a:ea typeface="DM Sans"/>
                <a:cs typeface="DM Sans"/>
                <a:sym typeface="DM Sans"/>
              </a:rPr>
              <a:t> en nuestra computadora.</a:t>
            </a:r>
            <a:endParaRPr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a:p>
            <a:pPr indent="0" lvl="0" marL="0" rtl="0" algn="l">
              <a:spcBef>
                <a:spcPts val="0"/>
              </a:spcBef>
              <a:spcAft>
                <a:spcPts val="0"/>
              </a:spcAft>
              <a:buNone/>
            </a:pPr>
            <a:r>
              <a:rPr lang="es" sz="1350">
                <a:latin typeface="DM Sans"/>
                <a:ea typeface="DM Sans"/>
                <a:cs typeface="DM Sans"/>
                <a:sym typeface="DM Sans"/>
              </a:rPr>
              <a:t>Está diseñado para crear aplicaciones escalables.</a:t>
            </a:r>
            <a:endParaRPr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a:p>
            <a:pPr indent="0" lvl="0" marL="0" rtl="0" algn="l">
              <a:spcBef>
                <a:spcPts val="0"/>
              </a:spcBef>
              <a:spcAft>
                <a:spcPts val="0"/>
              </a:spcAft>
              <a:buNone/>
            </a:pPr>
            <a:r>
              <a:rPr lang="es" sz="1350">
                <a:latin typeface="DM Sans"/>
                <a:ea typeface="DM Sans"/>
                <a:cs typeface="DM Sans"/>
                <a:sym typeface="DM Sans"/>
              </a:rPr>
              <a:t>Podemos darle a node un archivo de Javascript y éste puede ejecutarlo, y darle acceso a recursos de nuestra computadora (IO, Network, Etc).</a:t>
            </a:r>
            <a:endParaRPr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p:txBody>
      </p:sp>
      <p:pic>
        <p:nvPicPr>
          <p:cNvPr id="166" name="Google Shape;166;p34"/>
          <p:cNvPicPr preferRelativeResize="0"/>
          <p:nvPr/>
        </p:nvPicPr>
        <p:blipFill rotWithShape="1">
          <a:blip r:embed="rId3">
            <a:alphaModFix/>
          </a:blip>
          <a:srcRect b="0" l="0" r="48633" t="0"/>
          <a:stretch/>
        </p:blipFill>
        <p:spPr>
          <a:xfrm>
            <a:off x="5517650" y="1638275"/>
            <a:ext cx="2459950" cy="19639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5"/>
          <p:cNvSpPr txBox="1"/>
          <p:nvPr/>
        </p:nvSpPr>
        <p:spPr>
          <a:xfrm>
            <a:off x="298400" y="433200"/>
            <a:ext cx="7085400" cy="144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3800">
                <a:solidFill>
                  <a:schemeClr val="accent5"/>
                </a:solidFill>
                <a:latin typeface="DM Sans"/>
                <a:ea typeface="DM Sans"/>
                <a:cs typeface="DM Sans"/>
                <a:sym typeface="DM Sans"/>
              </a:rPr>
              <a:t>N</a:t>
            </a:r>
            <a:r>
              <a:rPr b="1" lang="es" sz="3800">
                <a:solidFill>
                  <a:schemeClr val="dk1"/>
                </a:solidFill>
                <a:latin typeface="DM Sans"/>
                <a:ea typeface="DM Sans"/>
                <a:cs typeface="DM Sans"/>
                <a:sym typeface="DM Sans"/>
              </a:rPr>
              <a:t>ode </a:t>
            </a:r>
            <a:r>
              <a:rPr b="1" lang="es" sz="3800">
                <a:solidFill>
                  <a:schemeClr val="accent5"/>
                </a:solidFill>
                <a:latin typeface="DM Sans"/>
                <a:ea typeface="DM Sans"/>
                <a:cs typeface="DM Sans"/>
                <a:sym typeface="DM Sans"/>
              </a:rPr>
              <a:t>P</a:t>
            </a:r>
            <a:r>
              <a:rPr b="1" lang="es" sz="3800">
                <a:solidFill>
                  <a:schemeClr val="dk1"/>
                </a:solidFill>
                <a:latin typeface="DM Sans"/>
                <a:ea typeface="DM Sans"/>
                <a:cs typeface="DM Sans"/>
                <a:sym typeface="DM Sans"/>
              </a:rPr>
              <a:t>ackage </a:t>
            </a:r>
            <a:r>
              <a:rPr b="1" lang="es" sz="3800">
                <a:solidFill>
                  <a:schemeClr val="accent5"/>
                </a:solidFill>
                <a:latin typeface="DM Sans"/>
                <a:ea typeface="DM Sans"/>
                <a:cs typeface="DM Sans"/>
                <a:sym typeface="DM Sans"/>
              </a:rPr>
              <a:t>M</a:t>
            </a:r>
            <a:r>
              <a:rPr b="1" lang="es" sz="3800">
                <a:solidFill>
                  <a:schemeClr val="dk1"/>
                </a:solidFill>
                <a:latin typeface="DM Sans"/>
                <a:ea typeface="DM Sans"/>
                <a:cs typeface="DM Sans"/>
                <a:sym typeface="DM Sans"/>
              </a:rPr>
              <a:t>anager  </a:t>
            </a:r>
            <a:endParaRPr b="1" sz="38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b="1" lang="es" sz="3800">
                <a:solidFill>
                  <a:schemeClr val="dk1"/>
                </a:solidFill>
                <a:latin typeface="DM Sans"/>
                <a:ea typeface="DM Sans"/>
                <a:cs typeface="DM Sans"/>
                <a:sym typeface="DM Sans"/>
              </a:rPr>
              <a:t>NPM</a:t>
            </a:r>
            <a:endParaRPr b="1" sz="3800">
              <a:solidFill>
                <a:schemeClr val="dk1"/>
              </a:solidFill>
              <a:latin typeface="DM Sans"/>
              <a:ea typeface="DM Sans"/>
              <a:cs typeface="DM Sans"/>
              <a:sym typeface="DM Sans"/>
            </a:endParaRPr>
          </a:p>
        </p:txBody>
      </p:sp>
      <p:sp>
        <p:nvSpPr>
          <p:cNvPr id="172" name="Google Shape;172;p35"/>
          <p:cNvSpPr txBox="1"/>
          <p:nvPr/>
        </p:nvSpPr>
        <p:spPr>
          <a:xfrm>
            <a:off x="298400" y="2040050"/>
            <a:ext cx="4923600" cy="254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latin typeface="DM Sans"/>
                <a:ea typeface="DM Sans"/>
                <a:cs typeface="DM Sans"/>
                <a:sym typeface="DM Sans"/>
              </a:rPr>
              <a:t>Cuando usamos Node.js, es necesario instalar y gestionar un gran número de bibliotecas, ya que al ser un sistema fuertemente modular viene prácticamente “vacío”. </a:t>
            </a:r>
            <a:endParaRPr sz="1350">
              <a:latin typeface="DM Sans"/>
              <a:ea typeface="DM Sans"/>
              <a:cs typeface="DM Sans"/>
              <a:sym typeface="DM Sans"/>
            </a:endParaRPr>
          </a:p>
          <a:p>
            <a:pPr indent="0" lvl="0" marL="0" rtl="0" algn="l">
              <a:lnSpc>
                <a:spcPct val="115000"/>
              </a:lnSpc>
              <a:spcBef>
                <a:spcPts val="0"/>
              </a:spcBef>
              <a:spcAft>
                <a:spcPts val="0"/>
              </a:spcAft>
              <a:buNone/>
            </a:pPr>
            <a:r>
              <a:t/>
            </a:r>
            <a:endParaRPr sz="1350">
              <a:latin typeface="DM Sans"/>
              <a:ea typeface="DM Sans"/>
              <a:cs typeface="DM Sans"/>
              <a:sym typeface="DM Sans"/>
            </a:endParaRPr>
          </a:p>
          <a:p>
            <a:pPr indent="0" lvl="0" marL="0" rtl="0" algn="l">
              <a:lnSpc>
                <a:spcPct val="115000"/>
              </a:lnSpc>
              <a:spcBef>
                <a:spcPts val="0"/>
              </a:spcBef>
              <a:spcAft>
                <a:spcPts val="0"/>
              </a:spcAft>
              <a:buNone/>
            </a:pPr>
            <a:r>
              <a:rPr lang="es" sz="1350">
                <a:latin typeface="DM Sans"/>
                <a:ea typeface="DM Sans"/>
                <a:cs typeface="DM Sans"/>
                <a:sym typeface="DM Sans"/>
              </a:rPr>
              <a:t>Para esto Nodejs cuenta con una herramienta llamada NPM que, nos permite instalar dependencias, ejecutar scripts, ejecutar servidores de desarrollo, construir build de nuestras aplicaciones, etc..</a:t>
            </a:r>
            <a:endParaRPr sz="1350">
              <a:latin typeface="DM Sans"/>
              <a:ea typeface="DM Sans"/>
              <a:cs typeface="DM Sans"/>
              <a:sym typeface="DM Sans"/>
            </a:endParaRPr>
          </a:p>
          <a:p>
            <a:pPr indent="0" lvl="0" marL="0" rtl="0" algn="l">
              <a:lnSpc>
                <a:spcPct val="115000"/>
              </a:lnSpc>
              <a:spcBef>
                <a:spcPts val="0"/>
              </a:spcBef>
              <a:spcAft>
                <a:spcPts val="0"/>
              </a:spcAft>
              <a:buNone/>
            </a:pPr>
            <a:r>
              <a:t/>
            </a:r>
            <a:endParaRPr sz="1350">
              <a:latin typeface="DM Sans"/>
              <a:ea typeface="DM Sans"/>
              <a:cs typeface="DM Sans"/>
              <a:sym typeface="DM Sans"/>
            </a:endParaRPr>
          </a:p>
          <a:p>
            <a:pPr indent="0" lvl="0" marL="0" rtl="0" algn="l">
              <a:lnSpc>
                <a:spcPct val="115000"/>
              </a:lnSpc>
              <a:spcBef>
                <a:spcPts val="0"/>
              </a:spcBef>
              <a:spcAft>
                <a:spcPts val="0"/>
              </a:spcAft>
              <a:buNone/>
            </a:pPr>
            <a:r>
              <a:rPr lang="es" sz="1350">
                <a:latin typeface="DM Sans"/>
                <a:ea typeface="DM Sans"/>
                <a:cs typeface="DM Sans"/>
                <a:sym typeface="DM Sans"/>
              </a:rPr>
              <a:t>Todo a través de instrucciones por medio de una terminal.</a:t>
            </a:r>
            <a:endParaRPr sz="1350">
              <a:latin typeface="DM Sans"/>
              <a:ea typeface="DM Sans"/>
              <a:cs typeface="DM Sans"/>
              <a:sym typeface="DM Sans"/>
            </a:endParaRPr>
          </a:p>
        </p:txBody>
      </p:sp>
      <p:pic>
        <p:nvPicPr>
          <p:cNvPr id="173" name="Google Shape;173;p35"/>
          <p:cNvPicPr preferRelativeResize="0"/>
          <p:nvPr/>
        </p:nvPicPr>
        <p:blipFill rotWithShape="1">
          <a:blip r:embed="rId3">
            <a:alphaModFix/>
          </a:blip>
          <a:srcRect b="0" l="50782" r="0" t="0"/>
          <a:stretch/>
        </p:blipFill>
        <p:spPr>
          <a:xfrm>
            <a:off x="6928375" y="1678850"/>
            <a:ext cx="1912500" cy="1593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6"/>
          <p:cNvSpPr txBox="1"/>
          <p:nvPr/>
        </p:nvSpPr>
        <p:spPr>
          <a:xfrm>
            <a:off x="420550" y="2105950"/>
            <a:ext cx="7085400" cy="76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3800">
                <a:solidFill>
                  <a:schemeClr val="accent5"/>
                </a:solidFill>
                <a:latin typeface="DM Sans"/>
                <a:ea typeface="DM Sans"/>
                <a:cs typeface="DM Sans"/>
                <a:sym typeface="DM Sans"/>
              </a:rPr>
              <a:t>package.json</a:t>
            </a:r>
            <a:endParaRPr b="1" sz="3800">
              <a:solidFill>
                <a:schemeClr val="dk1"/>
              </a:solidFill>
              <a:latin typeface="DM Sans"/>
              <a:ea typeface="DM Sans"/>
              <a:cs typeface="DM Sans"/>
              <a:sym typeface="DM Sans"/>
            </a:endParaRPr>
          </a:p>
        </p:txBody>
      </p:sp>
      <p:pic>
        <p:nvPicPr>
          <p:cNvPr id="179" name="Google Shape;179;p36"/>
          <p:cNvPicPr preferRelativeResize="0"/>
          <p:nvPr/>
        </p:nvPicPr>
        <p:blipFill>
          <a:blip r:embed="rId3">
            <a:alphaModFix/>
          </a:blip>
          <a:stretch>
            <a:fillRect/>
          </a:stretch>
        </p:blipFill>
        <p:spPr>
          <a:xfrm>
            <a:off x="4492998" y="303700"/>
            <a:ext cx="4319574" cy="42469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7"/>
          <p:cNvSpPr txBox="1"/>
          <p:nvPr/>
        </p:nvSpPr>
        <p:spPr>
          <a:xfrm>
            <a:off x="375475" y="419925"/>
            <a:ext cx="7085400" cy="186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3300">
                <a:solidFill>
                  <a:schemeClr val="dk1"/>
                </a:solidFill>
                <a:latin typeface="DM Sans"/>
                <a:ea typeface="DM Sans"/>
                <a:cs typeface="DM Sans"/>
                <a:sym typeface="DM Sans"/>
              </a:rPr>
              <a:t>NPM como registro </a:t>
            </a:r>
            <a:endParaRPr b="1" sz="33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b="1" lang="es" sz="3300">
                <a:solidFill>
                  <a:schemeClr val="dk1"/>
                </a:solidFill>
                <a:latin typeface="DM Sans"/>
                <a:ea typeface="DM Sans"/>
                <a:cs typeface="DM Sans"/>
                <a:sym typeface="DM Sans"/>
              </a:rPr>
              <a:t>público mundial de proyectos</a:t>
            </a:r>
            <a:endParaRPr b="1" sz="33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b="1" lang="es" sz="3300">
                <a:solidFill>
                  <a:schemeClr val="accent1"/>
                </a:solidFill>
                <a:latin typeface="DM Sans"/>
                <a:ea typeface="DM Sans"/>
                <a:cs typeface="DM Sans"/>
                <a:sym typeface="DM Sans"/>
              </a:rPr>
              <a:t>+2.000.000</a:t>
            </a:r>
            <a:endParaRPr b="1" sz="3300">
              <a:solidFill>
                <a:schemeClr val="accent1"/>
              </a:solidFill>
              <a:latin typeface="DM Sans"/>
              <a:ea typeface="DM Sans"/>
              <a:cs typeface="DM Sans"/>
              <a:sym typeface="DM Sans"/>
            </a:endParaRPr>
          </a:p>
        </p:txBody>
      </p:sp>
      <p:pic>
        <p:nvPicPr>
          <p:cNvPr id="185" name="Google Shape;185;p37"/>
          <p:cNvPicPr preferRelativeResize="0"/>
          <p:nvPr/>
        </p:nvPicPr>
        <p:blipFill rotWithShape="1">
          <a:blip r:embed="rId3">
            <a:alphaModFix/>
          </a:blip>
          <a:srcRect b="0" l="50782" r="0" t="0"/>
          <a:stretch/>
        </p:blipFill>
        <p:spPr>
          <a:xfrm>
            <a:off x="7102874" y="649775"/>
            <a:ext cx="1489426" cy="1241050"/>
          </a:xfrm>
          <a:prstGeom prst="rect">
            <a:avLst/>
          </a:prstGeom>
          <a:noFill/>
          <a:ln>
            <a:noFill/>
          </a:ln>
        </p:spPr>
      </p:pic>
      <p:pic>
        <p:nvPicPr>
          <p:cNvPr id="186" name="Google Shape;186;p37"/>
          <p:cNvPicPr preferRelativeResize="0"/>
          <p:nvPr/>
        </p:nvPicPr>
        <p:blipFill>
          <a:blip r:embed="rId4">
            <a:alphaModFix/>
          </a:blip>
          <a:stretch>
            <a:fillRect/>
          </a:stretch>
        </p:blipFill>
        <p:spPr>
          <a:xfrm>
            <a:off x="475500" y="2423525"/>
            <a:ext cx="6415325" cy="22318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8"/>
          <p:cNvSpPr txBox="1"/>
          <p:nvPr/>
        </p:nvSpPr>
        <p:spPr>
          <a:xfrm>
            <a:off x="375475" y="419925"/>
            <a:ext cx="7085400" cy="69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3300">
                <a:solidFill>
                  <a:schemeClr val="dk1"/>
                </a:solidFill>
                <a:latin typeface="DM Sans"/>
                <a:ea typeface="DM Sans"/>
                <a:cs typeface="DM Sans"/>
                <a:sym typeface="DM Sans"/>
              </a:rPr>
              <a:t>React en NPM</a:t>
            </a:r>
            <a:endParaRPr b="1" sz="3300">
              <a:solidFill>
                <a:schemeClr val="accent1"/>
              </a:solidFill>
              <a:latin typeface="DM Sans"/>
              <a:ea typeface="DM Sans"/>
              <a:cs typeface="DM Sans"/>
              <a:sym typeface="DM Sans"/>
            </a:endParaRPr>
          </a:p>
        </p:txBody>
      </p:sp>
      <p:pic>
        <p:nvPicPr>
          <p:cNvPr id="192" name="Google Shape;192;p38"/>
          <p:cNvPicPr preferRelativeResize="0"/>
          <p:nvPr/>
        </p:nvPicPr>
        <p:blipFill>
          <a:blip r:embed="rId3">
            <a:alphaModFix/>
          </a:blip>
          <a:stretch>
            <a:fillRect/>
          </a:stretch>
        </p:blipFill>
        <p:spPr>
          <a:xfrm>
            <a:off x="427625" y="1569350"/>
            <a:ext cx="6427374" cy="2907399"/>
          </a:xfrm>
          <a:prstGeom prst="rect">
            <a:avLst/>
          </a:prstGeom>
          <a:noFill/>
          <a:ln>
            <a:noFill/>
          </a:ln>
        </p:spPr>
      </p:pic>
      <p:pic>
        <p:nvPicPr>
          <p:cNvPr id="193" name="Google Shape;193;p38"/>
          <p:cNvPicPr preferRelativeResize="0"/>
          <p:nvPr/>
        </p:nvPicPr>
        <p:blipFill>
          <a:blip r:embed="rId4">
            <a:alphaModFix/>
          </a:blip>
          <a:stretch>
            <a:fillRect/>
          </a:stretch>
        </p:blipFill>
        <p:spPr>
          <a:xfrm>
            <a:off x="7132825" y="1199700"/>
            <a:ext cx="1779973" cy="692701"/>
          </a:xfrm>
          <a:prstGeom prst="rect">
            <a:avLst/>
          </a:prstGeom>
          <a:noFill/>
          <a:ln>
            <a:noFill/>
          </a:ln>
        </p:spPr>
      </p:pic>
      <p:pic>
        <p:nvPicPr>
          <p:cNvPr id="194" name="Google Shape;194;p38"/>
          <p:cNvPicPr preferRelativeResize="0"/>
          <p:nvPr/>
        </p:nvPicPr>
        <p:blipFill>
          <a:blip r:embed="rId5">
            <a:alphaModFix/>
          </a:blip>
          <a:stretch>
            <a:fillRect/>
          </a:stretch>
        </p:blipFill>
        <p:spPr>
          <a:xfrm>
            <a:off x="7085200" y="2383566"/>
            <a:ext cx="1779975" cy="154708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9"/>
          <p:cNvSpPr txBox="1"/>
          <p:nvPr/>
        </p:nvSpPr>
        <p:spPr>
          <a:xfrm>
            <a:off x="1461300" y="1598325"/>
            <a:ext cx="6221400" cy="1431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lang="es" sz="5000">
                <a:solidFill>
                  <a:srgbClr val="E8E7E3"/>
                </a:solidFill>
              </a:rPr>
              <a:t>☕</a:t>
            </a:r>
            <a:endParaRPr sz="5000">
              <a:solidFill>
                <a:srgbClr val="E8E7E3"/>
              </a:solidFill>
            </a:endParaRPr>
          </a:p>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Break</a:t>
            </a:r>
            <a:endParaRPr b="1" sz="4000">
              <a:solidFill>
                <a:schemeClr val="lt1"/>
              </a:solidFill>
              <a:latin typeface="DM Sans"/>
              <a:ea typeface="DM Sans"/>
              <a:cs typeface="DM Sans"/>
              <a:sym typeface="DM Sans"/>
            </a:endParaRPr>
          </a:p>
        </p:txBody>
      </p:sp>
      <p:sp>
        <p:nvSpPr>
          <p:cNvPr id="200" name="Google Shape;200;p39"/>
          <p:cNvSpPr txBox="1"/>
          <p:nvPr/>
        </p:nvSpPr>
        <p:spPr>
          <a:xfrm>
            <a:off x="2998200" y="2971950"/>
            <a:ext cx="3147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chemeClr val="lt1"/>
                </a:solidFill>
                <a:latin typeface="DM Sans"/>
                <a:ea typeface="DM Sans"/>
                <a:cs typeface="DM Sans"/>
                <a:sym typeface="DM Sans"/>
              </a:rPr>
              <a:t>¡5 minutos y volvemos!</a:t>
            </a:r>
            <a:endParaRPr sz="2000">
              <a:solidFill>
                <a:schemeClr val="lt1"/>
              </a:solidFill>
              <a:latin typeface="DM Sans"/>
              <a:ea typeface="DM Sans"/>
              <a:cs typeface="DM Sans"/>
              <a:sym typeface="DM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0"/>
          <p:cNvSpPr txBox="1"/>
          <p:nvPr/>
        </p:nvSpPr>
        <p:spPr>
          <a:xfrm>
            <a:off x="1461288" y="1939407"/>
            <a:ext cx="6221400" cy="1182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7200">
                <a:solidFill>
                  <a:schemeClr val="lt1"/>
                </a:solidFill>
                <a:latin typeface="DM Sans"/>
                <a:ea typeface="DM Sans"/>
                <a:cs typeface="DM Sans"/>
                <a:sym typeface="DM Sans"/>
              </a:rPr>
              <a:t>React </a:t>
            </a:r>
            <a:r>
              <a:rPr b="1" lang="es" sz="7200">
                <a:solidFill>
                  <a:srgbClr val="EAFF6A"/>
                </a:solidFill>
                <a:latin typeface="DM Sans"/>
                <a:ea typeface="DM Sans"/>
                <a:cs typeface="DM Sans"/>
                <a:sym typeface="DM Sans"/>
              </a:rPr>
              <a:t>Js</a:t>
            </a:r>
            <a:endParaRPr b="1" sz="7200">
              <a:solidFill>
                <a:srgbClr val="EAFF6A"/>
              </a:solidFill>
              <a:latin typeface="DM Sans"/>
              <a:ea typeface="DM Sans"/>
              <a:cs typeface="DM Sans"/>
              <a:sym typeface="DM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41"/>
          <p:cNvPicPr preferRelativeResize="0"/>
          <p:nvPr/>
        </p:nvPicPr>
        <p:blipFill>
          <a:blip r:embed="rId3">
            <a:alphaModFix/>
          </a:blip>
          <a:stretch>
            <a:fillRect/>
          </a:stretch>
        </p:blipFill>
        <p:spPr>
          <a:xfrm>
            <a:off x="152400" y="152400"/>
            <a:ext cx="8839201" cy="431123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42"/>
          <p:cNvSpPr txBox="1"/>
          <p:nvPr/>
        </p:nvSpPr>
        <p:spPr>
          <a:xfrm>
            <a:off x="457725" y="1071050"/>
            <a:ext cx="4730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Los inicios</a:t>
            </a:r>
            <a:endParaRPr b="1" sz="4000">
              <a:solidFill>
                <a:schemeClr val="dk1"/>
              </a:solidFill>
              <a:latin typeface="DM Sans"/>
              <a:ea typeface="DM Sans"/>
              <a:cs typeface="DM Sans"/>
              <a:sym typeface="DM Sans"/>
            </a:endParaRPr>
          </a:p>
        </p:txBody>
      </p:sp>
      <p:sp>
        <p:nvSpPr>
          <p:cNvPr id="216" name="Google Shape;216;p42"/>
          <p:cNvSpPr txBox="1"/>
          <p:nvPr/>
        </p:nvSpPr>
        <p:spPr>
          <a:xfrm>
            <a:off x="475500" y="2104150"/>
            <a:ext cx="4730100" cy="228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latin typeface="DM Sans"/>
                <a:ea typeface="DM Sans"/>
                <a:cs typeface="DM Sans"/>
                <a:sym typeface="DM Sans"/>
              </a:rPr>
              <a:t>React JS fue creada por Jordan Walke, un ingeniero de software en Facebook, inspirado por los problemas que tenía la compañía con el mantenimiento del código de de su plataforma, que no paraba de crecer.</a:t>
            </a:r>
            <a:endParaRPr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a:p>
            <a:pPr indent="0" lvl="0" marL="0" rtl="0" algn="l">
              <a:spcBef>
                <a:spcPts val="0"/>
              </a:spcBef>
              <a:spcAft>
                <a:spcPts val="0"/>
              </a:spcAft>
              <a:buNone/>
            </a:pPr>
            <a:r>
              <a:rPr b="1" lang="es" sz="1350">
                <a:solidFill>
                  <a:srgbClr val="83AEFB"/>
                </a:solidFill>
                <a:latin typeface="DM Sans"/>
                <a:ea typeface="DM Sans"/>
                <a:cs typeface="DM Sans"/>
                <a:sym typeface="DM Sans"/>
              </a:rPr>
              <a:t>React fue liberado el 29 de mayo de 2013. </a:t>
            </a:r>
            <a:endParaRPr b="1" sz="1350">
              <a:solidFill>
                <a:srgbClr val="83AEFB"/>
              </a:solidFill>
              <a:latin typeface="DM Sans"/>
              <a:ea typeface="DM Sans"/>
              <a:cs typeface="DM Sans"/>
              <a:sym typeface="DM Sans"/>
            </a:endParaRPr>
          </a:p>
          <a:p>
            <a:pPr indent="0" lvl="0" marL="0" rtl="0" algn="l">
              <a:spcBef>
                <a:spcPts val="0"/>
              </a:spcBef>
              <a:spcAft>
                <a:spcPts val="0"/>
              </a:spcAft>
              <a:buNone/>
            </a:pPr>
            <a:r>
              <a:t/>
            </a:r>
            <a:endParaRPr b="1" sz="1350">
              <a:solidFill>
                <a:srgbClr val="83AEFB"/>
              </a:solidFill>
              <a:latin typeface="DM Sans"/>
              <a:ea typeface="DM Sans"/>
              <a:cs typeface="DM Sans"/>
              <a:sym typeface="DM Sans"/>
            </a:endParaRPr>
          </a:p>
          <a:p>
            <a:pPr indent="0" lvl="0" marL="0" rtl="0" algn="l">
              <a:lnSpc>
                <a:spcPct val="150000"/>
              </a:lnSpc>
              <a:spcBef>
                <a:spcPts val="0"/>
              </a:spcBef>
              <a:spcAft>
                <a:spcPts val="0"/>
              </a:spcAft>
              <a:buNone/>
            </a:pPr>
            <a:r>
              <a:rPr lang="es" sz="1350">
                <a:solidFill>
                  <a:schemeClr val="dk1"/>
                </a:solidFill>
                <a:latin typeface="DM Sans"/>
                <a:ea typeface="DM Sans"/>
                <a:cs typeface="DM Sans"/>
                <a:sym typeface="DM Sans"/>
              </a:rPr>
              <a:t>Short sobre los inicios de React:</a:t>
            </a:r>
            <a:br>
              <a:rPr lang="es" sz="1350">
                <a:solidFill>
                  <a:schemeClr val="dk1"/>
                </a:solidFill>
                <a:latin typeface="DM Sans"/>
                <a:ea typeface="DM Sans"/>
                <a:cs typeface="DM Sans"/>
                <a:sym typeface="DM Sans"/>
              </a:rPr>
            </a:br>
            <a:r>
              <a:rPr lang="es" sz="1350">
                <a:solidFill>
                  <a:schemeClr val="dk1"/>
                </a:solidFill>
                <a:latin typeface="DM Sans"/>
                <a:ea typeface="DM Sans"/>
                <a:cs typeface="DM Sans"/>
                <a:sym typeface="DM Sans"/>
              </a:rPr>
              <a:t>https://www.youtube.com/shorts/PPIaoKdyXCw</a:t>
            </a:r>
            <a:endParaRPr sz="1350">
              <a:solidFill>
                <a:schemeClr val="dk1"/>
              </a:solidFill>
              <a:latin typeface="DM Sans"/>
              <a:ea typeface="DM Sans"/>
              <a:cs typeface="DM Sans"/>
              <a:sym typeface="DM Sans"/>
            </a:endParaRPr>
          </a:p>
        </p:txBody>
      </p:sp>
      <p:pic>
        <p:nvPicPr>
          <p:cNvPr id="217" name="Google Shape;217;p42"/>
          <p:cNvPicPr preferRelativeResize="0"/>
          <p:nvPr/>
        </p:nvPicPr>
        <p:blipFill>
          <a:blip r:embed="rId3">
            <a:alphaModFix/>
          </a:blip>
          <a:stretch>
            <a:fillRect/>
          </a:stretch>
        </p:blipFill>
        <p:spPr>
          <a:xfrm>
            <a:off x="6880525" y="1500425"/>
            <a:ext cx="1989726" cy="17294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3"/>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Sitios basados en React Js</a:t>
            </a:r>
            <a:endParaRPr b="1" sz="4000">
              <a:solidFill>
                <a:schemeClr val="dk1"/>
              </a:solidFill>
              <a:latin typeface="DM Sans"/>
              <a:ea typeface="DM Sans"/>
              <a:cs typeface="DM Sans"/>
              <a:sym typeface="DM Sans"/>
            </a:endParaRPr>
          </a:p>
        </p:txBody>
      </p:sp>
      <p:pic>
        <p:nvPicPr>
          <p:cNvPr id="223" name="Google Shape;223;p43"/>
          <p:cNvPicPr preferRelativeResize="0"/>
          <p:nvPr/>
        </p:nvPicPr>
        <p:blipFill>
          <a:blip r:embed="rId3">
            <a:alphaModFix/>
          </a:blip>
          <a:stretch>
            <a:fillRect/>
          </a:stretch>
        </p:blipFill>
        <p:spPr>
          <a:xfrm>
            <a:off x="1391998" y="1741750"/>
            <a:ext cx="1143974" cy="1143976"/>
          </a:xfrm>
          <a:prstGeom prst="rect">
            <a:avLst/>
          </a:prstGeom>
          <a:noFill/>
          <a:ln>
            <a:noFill/>
          </a:ln>
        </p:spPr>
      </p:pic>
      <p:pic>
        <p:nvPicPr>
          <p:cNvPr id="224" name="Google Shape;224;p43"/>
          <p:cNvPicPr preferRelativeResize="0"/>
          <p:nvPr/>
        </p:nvPicPr>
        <p:blipFill>
          <a:blip r:embed="rId4">
            <a:alphaModFix/>
          </a:blip>
          <a:stretch>
            <a:fillRect/>
          </a:stretch>
        </p:blipFill>
        <p:spPr>
          <a:xfrm>
            <a:off x="3959979" y="1823008"/>
            <a:ext cx="1224052" cy="1143976"/>
          </a:xfrm>
          <a:prstGeom prst="rect">
            <a:avLst/>
          </a:prstGeom>
          <a:noFill/>
          <a:ln>
            <a:noFill/>
          </a:ln>
        </p:spPr>
      </p:pic>
      <p:pic>
        <p:nvPicPr>
          <p:cNvPr id="225" name="Google Shape;225;p43"/>
          <p:cNvPicPr preferRelativeResize="0"/>
          <p:nvPr/>
        </p:nvPicPr>
        <p:blipFill>
          <a:blip r:embed="rId5">
            <a:alphaModFix/>
          </a:blip>
          <a:stretch>
            <a:fillRect/>
          </a:stretch>
        </p:blipFill>
        <p:spPr>
          <a:xfrm>
            <a:off x="6451680" y="1889410"/>
            <a:ext cx="1244143" cy="848656"/>
          </a:xfrm>
          <a:prstGeom prst="rect">
            <a:avLst/>
          </a:prstGeom>
          <a:noFill/>
          <a:ln>
            <a:noFill/>
          </a:ln>
        </p:spPr>
      </p:pic>
      <p:pic>
        <p:nvPicPr>
          <p:cNvPr id="226" name="Google Shape;226;p43"/>
          <p:cNvPicPr preferRelativeResize="0"/>
          <p:nvPr/>
        </p:nvPicPr>
        <p:blipFill rotWithShape="1">
          <a:blip r:embed="rId6">
            <a:alphaModFix/>
          </a:blip>
          <a:srcRect b="15135" l="9489" r="9956" t="18538"/>
          <a:stretch/>
        </p:blipFill>
        <p:spPr>
          <a:xfrm>
            <a:off x="2216502" y="3433634"/>
            <a:ext cx="1704581" cy="848656"/>
          </a:xfrm>
          <a:prstGeom prst="rect">
            <a:avLst/>
          </a:prstGeom>
          <a:noFill/>
          <a:ln>
            <a:noFill/>
          </a:ln>
        </p:spPr>
      </p:pic>
      <p:pic>
        <p:nvPicPr>
          <p:cNvPr id="227" name="Google Shape;227;p43"/>
          <p:cNvPicPr preferRelativeResize="0"/>
          <p:nvPr/>
        </p:nvPicPr>
        <p:blipFill>
          <a:blip r:embed="rId7">
            <a:alphaModFix/>
          </a:blip>
          <a:stretch>
            <a:fillRect/>
          </a:stretch>
        </p:blipFill>
        <p:spPr>
          <a:xfrm>
            <a:off x="5344039" y="3285974"/>
            <a:ext cx="1143974" cy="1143976"/>
          </a:xfrm>
          <a:prstGeom prst="rect">
            <a:avLst/>
          </a:prstGeom>
          <a:noFill/>
          <a:ln>
            <a:noFill/>
          </a:ln>
        </p:spPr>
      </p:pic>
      <p:sp>
        <p:nvSpPr>
          <p:cNvPr id="228" name="Google Shape;228;p43"/>
          <p:cNvSpPr txBox="1"/>
          <p:nvPr/>
        </p:nvSpPr>
        <p:spPr>
          <a:xfrm>
            <a:off x="6825600" y="3615263"/>
            <a:ext cx="1842900" cy="48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2000">
                <a:solidFill>
                  <a:srgbClr val="202122"/>
                </a:solidFill>
                <a:highlight>
                  <a:srgbClr val="FFFFFF"/>
                </a:highlight>
                <a:latin typeface="DM Sans"/>
                <a:ea typeface="DM Sans"/>
                <a:cs typeface="DM Sans"/>
                <a:sym typeface="DM Sans"/>
              </a:rPr>
              <a:t>y más...</a:t>
            </a:r>
            <a:endParaRPr>
              <a:latin typeface="DM Sans"/>
              <a:ea typeface="DM Sans"/>
              <a:cs typeface="DM Sans"/>
              <a:sym typeface="DM Sans"/>
            </a:endParaRPr>
          </a:p>
        </p:txBody>
      </p:sp>
      <p:pic>
        <p:nvPicPr>
          <p:cNvPr id="229" name="Google Shape;229;p43"/>
          <p:cNvPicPr preferRelativeResize="0"/>
          <p:nvPr/>
        </p:nvPicPr>
        <p:blipFill>
          <a:blip r:embed="rId3">
            <a:alphaModFix/>
          </a:blip>
          <a:stretch>
            <a:fillRect/>
          </a:stretch>
        </p:blipFill>
        <p:spPr>
          <a:xfrm>
            <a:off x="1391986" y="1741750"/>
            <a:ext cx="1143974" cy="1143976"/>
          </a:xfrm>
          <a:prstGeom prst="rect">
            <a:avLst/>
          </a:prstGeom>
          <a:noFill/>
          <a:ln>
            <a:noFill/>
          </a:ln>
        </p:spPr>
      </p:pic>
      <p:pic>
        <p:nvPicPr>
          <p:cNvPr id="230" name="Google Shape;230;p43"/>
          <p:cNvPicPr preferRelativeResize="0"/>
          <p:nvPr/>
        </p:nvPicPr>
        <p:blipFill>
          <a:blip r:embed="rId4">
            <a:alphaModFix/>
          </a:blip>
          <a:stretch>
            <a:fillRect/>
          </a:stretch>
        </p:blipFill>
        <p:spPr>
          <a:xfrm>
            <a:off x="3959967" y="1823008"/>
            <a:ext cx="1224052" cy="1143976"/>
          </a:xfrm>
          <a:prstGeom prst="rect">
            <a:avLst/>
          </a:prstGeom>
          <a:noFill/>
          <a:ln>
            <a:noFill/>
          </a:ln>
        </p:spPr>
      </p:pic>
      <p:pic>
        <p:nvPicPr>
          <p:cNvPr id="231" name="Google Shape;231;p43"/>
          <p:cNvPicPr preferRelativeResize="0"/>
          <p:nvPr/>
        </p:nvPicPr>
        <p:blipFill>
          <a:blip r:embed="rId5">
            <a:alphaModFix/>
          </a:blip>
          <a:stretch>
            <a:fillRect/>
          </a:stretch>
        </p:blipFill>
        <p:spPr>
          <a:xfrm>
            <a:off x="6451667" y="1889410"/>
            <a:ext cx="1244143" cy="848656"/>
          </a:xfrm>
          <a:prstGeom prst="rect">
            <a:avLst/>
          </a:prstGeom>
          <a:noFill/>
          <a:ln>
            <a:noFill/>
          </a:ln>
        </p:spPr>
      </p:pic>
      <p:pic>
        <p:nvPicPr>
          <p:cNvPr id="232" name="Google Shape;232;p43"/>
          <p:cNvPicPr preferRelativeResize="0"/>
          <p:nvPr/>
        </p:nvPicPr>
        <p:blipFill>
          <a:blip r:embed="rId7">
            <a:alphaModFix/>
          </a:blip>
          <a:stretch>
            <a:fillRect/>
          </a:stretch>
        </p:blipFill>
        <p:spPr>
          <a:xfrm>
            <a:off x="5344027" y="3285974"/>
            <a:ext cx="1143974" cy="114397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4"/>
          <p:cNvSpPr txBox="1"/>
          <p:nvPr/>
        </p:nvSpPr>
        <p:spPr>
          <a:xfrm>
            <a:off x="280375" y="322750"/>
            <a:ext cx="68235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Razones para usar React</a:t>
            </a:r>
            <a:endParaRPr b="1" sz="4000">
              <a:solidFill>
                <a:schemeClr val="dk1"/>
              </a:solidFill>
              <a:latin typeface="DM Sans"/>
              <a:ea typeface="DM Sans"/>
              <a:cs typeface="DM Sans"/>
              <a:sym typeface="DM Sans"/>
            </a:endParaRPr>
          </a:p>
        </p:txBody>
      </p:sp>
      <p:pic>
        <p:nvPicPr>
          <p:cNvPr id="238" name="Google Shape;238;p44"/>
          <p:cNvPicPr preferRelativeResize="0"/>
          <p:nvPr/>
        </p:nvPicPr>
        <p:blipFill>
          <a:blip r:embed="rId3">
            <a:alphaModFix/>
          </a:blip>
          <a:stretch>
            <a:fillRect/>
          </a:stretch>
        </p:blipFill>
        <p:spPr>
          <a:xfrm>
            <a:off x="385775" y="1173675"/>
            <a:ext cx="5952427" cy="36602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5"/>
          <p:cNvSpPr txBox="1"/>
          <p:nvPr/>
        </p:nvSpPr>
        <p:spPr>
          <a:xfrm>
            <a:off x="533925" y="1144825"/>
            <a:ext cx="5052600" cy="319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latin typeface="DM Sans"/>
                <a:ea typeface="DM Sans"/>
                <a:cs typeface="DM Sans"/>
                <a:sym typeface="DM Sans"/>
              </a:rPr>
              <a:t>Es una </a:t>
            </a:r>
            <a:r>
              <a:rPr b="1" lang="es" sz="1350">
                <a:solidFill>
                  <a:srgbClr val="83AEFB"/>
                </a:solidFill>
                <a:latin typeface="DM Sans"/>
                <a:ea typeface="DM Sans"/>
                <a:cs typeface="DM Sans"/>
                <a:sym typeface="DM Sans"/>
              </a:rPr>
              <a:t>biblioteca</a:t>
            </a:r>
            <a:r>
              <a:rPr lang="es" sz="1350">
                <a:latin typeface="DM Sans"/>
                <a:ea typeface="DM Sans"/>
                <a:cs typeface="DM Sans"/>
                <a:sym typeface="DM Sans"/>
              </a:rPr>
              <a:t> de Javascript para construir </a:t>
            </a:r>
            <a:r>
              <a:rPr b="1" lang="es" sz="1350">
                <a:solidFill>
                  <a:srgbClr val="83AEFB"/>
                </a:solidFill>
                <a:latin typeface="DM Sans"/>
                <a:ea typeface="DM Sans"/>
                <a:cs typeface="DM Sans"/>
                <a:sym typeface="DM Sans"/>
              </a:rPr>
              <a:t>interfaces de usuario</a:t>
            </a:r>
            <a:r>
              <a:rPr lang="es" sz="1350">
                <a:latin typeface="DM Sans"/>
                <a:ea typeface="DM Sans"/>
                <a:cs typeface="DM Sans"/>
                <a:sym typeface="DM Sans"/>
              </a:rPr>
              <a:t>. Las interfaces son el espacio que tiene el usuario para interactuar con la aplicación.</a:t>
            </a:r>
            <a:endParaRPr sz="1350">
              <a:latin typeface="DM Sans"/>
              <a:ea typeface="DM Sans"/>
              <a:cs typeface="DM Sans"/>
              <a:sym typeface="DM Sans"/>
            </a:endParaRPr>
          </a:p>
          <a:p>
            <a:pPr indent="0" lvl="0" marL="0" rtl="0" algn="l">
              <a:spcBef>
                <a:spcPts val="1000"/>
              </a:spcBef>
              <a:spcAft>
                <a:spcPts val="0"/>
              </a:spcAft>
              <a:buNone/>
            </a:pPr>
            <a:r>
              <a:rPr lang="es" sz="1350">
                <a:latin typeface="DM Sans"/>
                <a:ea typeface="DM Sans"/>
                <a:cs typeface="DM Sans"/>
                <a:sym typeface="DM Sans"/>
              </a:rPr>
              <a:t>React se enfoca en la creación y gestión de la lógica interna de la interfaz de usuario. </a:t>
            </a:r>
            <a:endParaRPr sz="1350">
              <a:latin typeface="DM Sans"/>
              <a:ea typeface="DM Sans"/>
              <a:cs typeface="DM Sans"/>
              <a:sym typeface="DM Sans"/>
            </a:endParaRPr>
          </a:p>
          <a:p>
            <a:pPr indent="0" lvl="0" marL="0" rtl="0" algn="l">
              <a:spcBef>
                <a:spcPts val="1000"/>
              </a:spcBef>
              <a:spcAft>
                <a:spcPts val="0"/>
              </a:spcAft>
              <a:buNone/>
            </a:pPr>
            <a:r>
              <a:rPr lang="es" sz="1350">
                <a:latin typeface="DM Sans"/>
                <a:ea typeface="DM Sans"/>
                <a:cs typeface="DM Sans"/>
                <a:sym typeface="DM Sans"/>
              </a:rPr>
              <a:t>React Js nos permite crear aplicaciones web, aplicaciones móviles y aplicaciones de escritorio interactivas y reactivas, estructurando la interfaz a través de componentes modulares y reutilizables. </a:t>
            </a:r>
            <a:endParaRPr sz="1350">
              <a:latin typeface="DM Sans"/>
              <a:ea typeface="DM Sans"/>
              <a:cs typeface="DM Sans"/>
              <a:sym typeface="DM Sans"/>
            </a:endParaRPr>
          </a:p>
          <a:p>
            <a:pPr indent="0" lvl="0" marL="0" rtl="0" algn="l">
              <a:spcBef>
                <a:spcPts val="1000"/>
              </a:spcBef>
              <a:spcAft>
                <a:spcPts val="0"/>
              </a:spcAft>
              <a:buNone/>
            </a:pPr>
            <a:r>
              <a:t/>
            </a:r>
            <a:endParaRPr sz="1350">
              <a:latin typeface="DM Sans"/>
              <a:ea typeface="DM Sans"/>
              <a:cs typeface="DM Sans"/>
              <a:sym typeface="DM Sans"/>
            </a:endParaRPr>
          </a:p>
          <a:p>
            <a:pPr indent="0" lvl="0" marL="0" rtl="0" algn="l">
              <a:spcBef>
                <a:spcPts val="1000"/>
              </a:spcBef>
              <a:spcAft>
                <a:spcPts val="1000"/>
              </a:spcAft>
              <a:buNone/>
            </a:pPr>
            <a:r>
              <a:rPr b="1" lang="es" sz="1350">
                <a:latin typeface="DM Sans"/>
                <a:ea typeface="DM Sans"/>
                <a:cs typeface="DM Sans"/>
                <a:sym typeface="DM Sans"/>
              </a:rPr>
              <a:t>En este curso veremos interfaces de usuario para aplicaciones web.</a:t>
            </a:r>
            <a:r>
              <a:rPr lang="es" sz="1350">
                <a:latin typeface="DM Sans"/>
                <a:ea typeface="DM Sans"/>
                <a:cs typeface="DM Sans"/>
                <a:sym typeface="DM Sans"/>
              </a:rPr>
              <a:t> 😎</a:t>
            </a:r>
            <a:endParaRPr sz="1350">
              <a:latin typeface="DM Sans"/>
              <a:ea typeface="DM Sans"/>
              <a:cs typeface="DM Sans"/>
              <a:sym typeface="DM Sans"/>
            </a:endParaRPr>
          </a:p>
        </p:txBody>
      </p:sp>
      <p:sp>
        <p:nvSpPr>
          <p:cNvPr id="244" name="Google Shape;244;p45"/>
          <p:cNvSpPr txBox="1"/>
          <p:nvPr/>
        </p:nvSpPr>
        <p:spPr>
          <a:xfrm>
            <a:off x="526800" y="406125"/>
            <a:ext cx="4730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React Js</a:t>
            </a:r>
            <a:endParaRPr b="1" sz="4000">
              <a:solidFill>
                <a:schemeClr val="dk1"/>
              </a:solidFill>
              <a:latin typeface="DM Sans"/>
              <a:ea typeface="DM Sans"/>
              <a:cs typeface="DM Sans"/>
              <a:sym typeface="DM Sans"/>
            </a:endParaRPr>
          </a:p>
        </p:txBody>
      </p:sp>
      <p:pic>
        <p:nvPicPr>
          <p:cNvPr id="245" name="Google Shape;245;p45"/>
          <p:cNvPicPr preferRelativeResize="0"/>
          <p:nvPr/>
        </p:nvPicPr>
        <p:blipFill>
          <a:blip r:embed="rId3">
            <a:alphaModFix/>
          </a:blip>
          <a:stretch>
            <a:fillRect/>
          </a:stretch>
        </p:blipFill>
        <p:spPr>
          <a:xfrm>
            <a:off x="6813375" y="229250"/>
            <a:ext cx="2133726" cy="185457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6"/>
          <p:cNvSpPr txBox="1"/>
          <p:nvPr/>
        </p:nvSpPr>
        <p:spPr>
          <a:xfrm>
            <a:off x="533925" y="1387000"/>
            <a:ext cx="5155800" cy="290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React.Js es, en inglés, una </a:t>
            </a:r>
            <a:r>
              <a:rPr b="1" lang="es" sz="1350">
                <a:solidFill>
                  <a:srgbClr val="83AEFB"/>
                </a:solidFill>
                <a:latin typeface="DM Sans"/>
                <a:ea typeface="DM Sans"/>
                <a:cs typeface="DM Sans"/>
                <a:sym typeface="DM Sans"/>
              </a:rPr>
              <a:t>library</a:t>
            </a:r>
            <a:r>
              <a:rPr lang="es" sz="1350">
                <a:solidFill>
                  <a:schemeClr val="dk1"/>
                </a:solidFill>
                <a:latin typeface="DM Sans"/>
                <a:ea typeface="DM Sans"/>
                <a:cs typeface="DM Sans"/>
                <a:sym typeface="DM Sans"/>
              </a:rPr>
              <a:t>. Es muy habitual encontrar la pol</a:t>
            </a:r>
            <a:r>
              <a:rPr lang="es" sz="1350">
                <a:solidFill>
                  <a:schemeClr val="dk1"/>
                </a:solidFill>
                <a:latin typeface="DM Sans"/>
                <a:ea typeface="DM Sans"/>
                <a:cs typeface="DM Sans"/>
                <a:sym typeface="DM Sans"/>
              </a:rPr>
              <a:t>émica</a:t>
            </a:r>
            <a:r>
              <a:rPr lang="es" sz="1350">
                <a:solidFill>
                  <a:schemeClr val="dk1"/>
                </a:solidFill>
                <a:latin typeface="DM Sans"/>
                <a:ea typeface="DM Sans"/>
                <a:cs typeface="DM Sans"/>
                <a:sym typeface="DM Sans"/>
              </a:rPr>
              <a:t> traducción al español: </a:t>
            </a:r>
            <a:r>
              <a:rPr b="1" lang="es" sz="1350">
                <a:solidFill>
                  <a:srgbClr val="83AEFB"/>
                </a:solidFill>
                <a:highlight>
                  <a:schemeClr val="lt1"/>
                </a:highlight>
                <a:latin typeface="DM Sans"/>
                <a:ea typeface="DM Sans"/>
                <a:cs typeface="DM Sans"/>
                <a:sym typeface="DM Sans"/>
              </a:rPr>
              <a:t>librería</a:t>
            </a:r>
            <a:r>
              <a:rPr lang="es" sz="1350">
                <a:solidFill>
                  <a:schemeClr val="dk1"/>
                </a:solidFill>
                <a:latin typeface="DM Sans"/>
                <a:ea typeface="DM Sans"/>
                <a:cs typeface="DM Sans"/>
                <a:sym typeface="DM Sans"/>
              </a:rPr>
              <a:t>.</a:t>
            </a:r>
            <a:endParaRPr sz="1350">
              <a:solidFill>
                <a:schemeClr val="dk1"/>
              </a:solidFill>
              <a:latin typeface="DM Sans"/>
              <a:ea typeface="DM Sans"/>
              <a:cs typeface="DM Sans"/>
              <a:sym typeface="DM Sans"/>
            </a:endParaRPr>
          </a:p>
          <a:p>
            <a:pPr indent="0" lvl="0" marL="0" rtl="0" algn="l">
              <a:spcBef>
                <a:spcPts val="1000"/>
              </a:spcBef>
              <a:spcAft>
                <a:spcPts val="0"/>
              </a:spcAft>
              <a:buClr>
                <a:schemeClr val="dk1"/>
              </a:buClr>
              <a:buSzPts val="1100"/>
              <a:buFont typeface="Arial"/>
              <a:buNone/>
            </a:pPr>
            <a:r>
              <a:rPr lang="es" sz="1350">
                <a:solidFill>
                  <a:schemeClr val="dk1"/>
                </a:solidFill>
                <a:latin typeface="DM Sans"/>
                <a:ea typeface="DM Sans"/>
                <a:cs typeface="DM Sans"/>
                <a:sym typeface="DM Sans"/>
              </a:rPr>
              <a:t>Pero la traducción correcta es </a:t>
            </a:r>
            <a:r>
              <a:rPr b="1" lang="es" sz="1350">
                <a:solidFill>
                  <a:srgbClr val="83AEFB"/>
                </a:solidFill>
                <a:latin typeface="DM Sans"/>
                <a:ea typeface="DM Sans"/>
                <a:cs typeface="DM Sans"/>
                <a:sym typeface="DM Sans"/>
              </a:rPr>
              <a:t>biblioteca</a:t>
            </a:r>
            <a:r>
              <a:rPr lang="es" sz="1350">
                <a:solidFill>
                  <a:schemeClr val="dk1"/>
                </a:solidFill>
                <a:latin typeface="DM Sans"/>
                <a:ea typeface="DM Sans"/>
                <a:cs typeface="DM Sans"/>
                <a:sym typeface="DM Sans"/>
              </a:rPr>
              <a:t>. Es una biblioteca de recursos y archivos.</a:t>
            </a:r>
            <a:endParaRPr sz="1350">
              <a:solidFill>
                <a:schemeClr val="dk1"/>
              </a:solidFill>
              <a:latin typeface="DM Sans"/>
              <a:ea typeface="DM Sans"/>
              <a:cs typeface="DM Sans"/>
              <a:sym typeface="DM Sans"/>
            </a:endParaRPr>
          </a:p>
          <a:p>
            <a:pPr indent="0" lvl="0" marL="0" rtl="0" algn="l">
              <a:spcBef>
                <a:spcPts val="1000"/>
              </a:spcBef>
              <a:spcAft>
                <a:spcPts val="0"/>
              </a:spcAft>
              <a:buClr>
                <a:schemeClr val="dk1"/>
              </a:buClr>
              <a:buSzPts val="1100"/>
              <a:buFont typeface="Arial"/>
              <a:buNone/>
            </a:pPr>
            <a:r>
              <a:t/>
            </a:r>
            <a:endParaRPr sz="1350">
              <a:solidFill>
                <a:schemeClr val="dk1"/>
              </a:solidFill>
              <a:latin typeface="DM Sans"/>
              <a:ea typeface="DM Sans"/>
              <a:cs typeface="DM Sans"/>
              <a:sym typeface="DM Sans"/>
            </a:endParaRPr>
          </a:p>
          <a:p>
            <a:pPr indent="0" lvl="0" marL="0" rtl="0" algn="l">
              <a:spcBef>
                <a:spcPts val="1000"/>
              </a:spcBef>
              <a:spcAft>
                <a:spcPts val="0"/>
              </a:spcAft>
              <a:buClr>
                <a:schemeClr val="dk1"/>
              </a:buClr>
              <a:buSzPts val="1100"/>
              <a:buFont typeface="Arial"/>
              <a:buNone/>
            </a:pPr>
            <a:r>
              <a:rPr b="1" lang="es" sz="1350">
                <a:solidFill>
                  <a:schemeClr val="dk1"/>
                </a:solidFill>
                <a:latin typeface="DM Sans"/>
                <a:ea typeface="DM Sans"/>
                <a:cs typeface="DM Sans"/>
                <a:sym typeface="DM Sans"/>
              </a:rPr>
              <a:t>No es un framework</a:t>
            </a:r>
            <a:endParaRPr b="1" sz="1350">
              <a:solidFill>
                <a:schemeClr val="dk1"/>
              </a:solidFill>
              <a:latin typeface="DM Sans"/>
              <a:ea typeface="DM Sans"/>
              <a:cs typeface="DM Sans"/>
              <a:sym typeface="DM Sans"/>
            </a:endParaRPr>
          </a:p>
          <a:p>
            <a:pPr indent="0" lvl="0" marL="0" rtl="0" algn="l">
              <a:spcBef>
                <a:spcPts val="1000"/>
              </a:spcBef>
              <a:spcAft>
                <a:spcPts val="0"/>
              </a:spcAft>
              <a:buClr>
                <a:schemeClr val="dk1"/>
              </a:buClr>
              <a:buSzPts val="1100"/>
              <a:buFont typeface="Arial"/>
              <a:buNone/>
            </a:pPr>
            <a:r>
              <a:rPr lang="es" sz="1350">
                <a:solidFill>
                  <a:schemeClr val="dk1"/>
                </a:solidFill>
                <a:latin typeface="DM Sans"/>
                <a:ea typeface="DM Sans"/>
                <a:cs typeface="DM Sans"/>
                <a:sym typeface="DM Sans"/>
              </a:rPr>
              <a:t>Un framework como, por ejemplo, Angular, es una solución que nos brinda todas las herramientas para resolver un problema.</a:t>
            </a:r>
            <a:endParaRPr sz="1350">
              <a:solidFill>
                <a:schemeClr val="dk1"/>
              </a:solidFill>
              <a:latin typeface="DM Sans"/>
              <a:ea typeface="DM Sans"/>
              <a:cs typeface="DM Sans"/>
              <a:sym typeface="DM Sans"/>
            </a:endParaRPr>
          </a:p>
          <a:p>
            <a:pPr indent="0" lvl="0" marL="0" rtl="0" algn="l">
              <a:spcBef>
                <a:spcPts val="1000"/>
              </a:spcBef>
              <a:spcAft>
                <a:spcPts val="1000"/>
              </a:spcAft>
              <a:buClr>
                <a:schemeClr val="dk1"/>
              </a:buClr>
              <a:buSzPts val="1100"/>
              <a:buFont typeface="Arial"/>
              <a:buNone/>
            </a:pPr>
            <a:r>
              <a:rPr lang="es" sz="1350">
                <a:solidFill>
                  <a:schemeClr val="dk1"/>
                </a:solidFill>
                <a:latin typeface="DM Sans"/>
                <a:ea typeface="DM Sans"/>
                <a:cs typeface="DM Sans"/>
                <a:sym typeface="DM Sans"/>
              </a:rPr>
              <a:t>Una biblioteca en cambio trabaja en conjunto con otras herramientas lo que permite más flexibilidad.</a:t>
            </a:r>
            <a:endParaRPr sz="1350">
              <a:solidFill>
                <a:schemeClr val="dk1"/>
              </a:solidFill>
              <a:latin typeface="DM Sans"/>
              <a:ea typeface="DM Sans"/>
              <a:cs typeface="DM Sans"/>
              <a:sym typeface="DM Sans"/>
            </a:endParaRPr>
          </a:p>
        </p:txBody>
      </p:sp>
      <p:sp>
        <p:nvSpPr>
          <p:cNvPr id="251" name="Google Shape;251;p46"/>
          <p:cNvSpPr txBox="1"/>
          <p:nvPr/>
        </p:nvSpPr>
        <p:spPr>
          <a:xfrm>
            <a:off x="533925" y="391825"/>
            <a:ext cx="5953800" cy="71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800">
                <a:solidFill>
                  <a:schemeClr val="dk1"/>
                </a:solidFill>
                <a:latin typeface="DM Sans"/>
                <a:ea typeface="DM Sans"/>
                <a:cs typeface="DM Sans"/>
                <a:sym typeface="DM Sans"/>
              </a:rPr>
              <a:t>React es una biblioteca</a:t>
            </a:r>
            <a:endParaRPr b="1" sz="3800">
              <a:solidFill>
                <a:schemeClr val="dk1"/>
              </a:solidFill>
              <a:latin typeface="DM Sans"/>
              <a:ea typeface="DM Sans"/>
              <a:cs typeface="DM Sans"/>
              <a:sym typeface="DM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7"/>
          <p:cNvSpPr txBox="1"/>
          <p:nvPr/>
        </p:nvSpPr>
        <p:spPr>
          <a:xfrm>
            <a:off x="1461300" y="1925250"/>
            <a:ext cx="6221400" cy="1293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Basado en componentes</a:t>
            </a:r>
            <a:endParaRPr b="1" sz="4000">
              <a:solidFill>
                <a:schemeClr val="dk1"/>
              </a:solidFill>
              <a:latin typeface="DM Sans"/>
              <a:ea typeface="DM Sans"/>
              <a:cs typeface="DM Sans"/>
              <a:sym typeface="DM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8"/>
          <p:cNvSpPr txBox="1"/>
          <p:nvPr/>
        </p:nvSpPr>
        <p:spPr>
          <a:xfrm>
            <a:off x="569875" y="1700675"/>
            <a:ext cx="5536500" cy="256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solidFill>
                  <a:schemeClr val="dk1"/>
                </a:solidFill>
                <a:latin typeface="DM Sans"/>
                <a:ea typeface="DM Sans"/>
                <a:cs typeface="DM Sans"/>
                <a:sym typeface="DM Sans"/>
              </a:rPr>
              <a:t>Las </a:t>
            </a:r>
            <a:r>
              <a:rPr b="1" lang="es" sz="1350">
                <a:solidFill>
                  <a:srgbClr val="83AEFB"/>
                </a:solidFill>
                <a:latin typeface="DM Sans"/>
                <a:ea typeface="DM Sans"/>
                <a:cs typeface="DM Sans"/>
                <a:sym typeface="DM Sans"/>
              </a:rPr>
              <a:t>interfaces de usuario (UI)</a:t>
            </a:r>
            <a:r>
              <a:rPr lang="es" sz="1350">
                <a:solidFill>
                  <a:schemeClr val="dk1"/>
                </a:solidFill>
                <a:latin typeface="DM Sans"/>
                <a:ea typeface="DM Sans"/>
                <a:cs typeface="DM Sans"/>
                <a:sym typeface="DM Sans"/>
              </a:rPr>
              <a:t> que crearemos están basadas en componentes. </a:t>
            </a:r>
            <a:endParaRPr sz="1350">
              <a:solidFill>
                <a:schemeClr val="dk1"/>
              </a:solidFill>
              <a:latin typeface="DM Sans"/>
              <a:ea typeface="DM Sans"/>
              <a:cs typeface="DM Sans"/>
              <a:sym typeface="DM Sans"/>
            </a:endParaRPr>
          </a:p>
          <a:p>
            <a:pPr indent="0" lvl="0" marL="0" rtl="0" algn="l">
              <a:lnSpc>
                <a:spcPct val="115000"/>
              </a:lnSpc>
              <a:spcBef>
                <a:spcPts val="1000"/>
              </a:spcBef>
              <a:spcAft>
                <a:spcPts val="0"/>
              </a:spcAft>
              <a:buNone/>
            </a:pPr>
            <a:r>
              <a:rPr b="1" lang="es" sz="1350">
                <a:solidFill>
                  <a:schemeClr val="dk1"/>
                </a:solidFill>
                <a:latin typeface="DM Sans"/>
                <a:ea typeface="DM Sans"/>
                <a:cs typeface="DM Sans"/>
                <a:sym typeface="DM Sans"/>
              </a:rPr>
              <a:t>Un componente, hoy en día es una </a:t>
            </a:r>
            <a:r>
              <a:rPr b="1" lang="es" sz="1350">
                <a:solidFill>
                  <a:schemeClr val="accent5"/>
                </a:solidFill>
                <a:latin typeface="DM Sans"/>
                <a:ea typeface="DM Sans"/>
                <a:cs typeface="DM Sans"/>
                <a:sym typeface="DM Sans"/>
              </a:rPr>
              <a:t>función</a:t>
            </a:r>
            <a:r>
              <a:rPr b="1" lang="es" sz="1350">
                <a:solidFill>
                  <a:schemeClr val="dk1"/>
                </a:solidFill>
                <a:latin typeface="DM Sans"/>
                <a:ea typeface="DM Sans"/>
                <a:cs typeface="DM Sans"/>
                <a:sym typeface="DM Sans"/>
              </a:rPr>
              <a:t> que renderiza (muestra) un elemento en la interfaz de usuario</a:t>
            </a:r>
            <a:r>
              <a:rPr lang="es" sz="1350">
                <a:solidFill>
                  <a:schemeClr val="dk1"/>
                </a:solidFill>
                <a:latin typeface="DM Sans"/>
                <a:ea typeface="DM Sans"/>
                <a:cs typeface="DM Sans"/>
                <a:sym typeface="DM Sans"/>
              </a:rPr>
              <a:t>. Por ejemplo, </a:t>
            </a:r>
            <a:r>
              <a:rPr b="1" lang="es" sz="1350">
                <a:solidFill>
                  <a:srgbClr val="83AEFB"/>
                </a:solidFill>
                <a:latin typeface="DM Sans"/>
                <a:ea typeface="DM Sans"/>
                <a:cs typeface="DM Sans"/>
                <a:sym typeface="DM Sans"/>
              </a:rPr>
              <a:t>un botón</a:t>
            </a:r>
            <a:r>
              <a:rPr lang="es" sz="1350">
                <a:solidFill>
                  <a:schemeClr val="dk1"/>
                </a:solidFill>
                <a:latin typeface="DM Sans"/>
                <a:ea typeface="DM Sans"/>
                <a:cs typeface="DM Sans"/>
                <a:sym typeface="DM Sans"/>
              </a:rPr>
              <a:t>.</a:t>
            </a:r>
            <a:endParaRPr sz="1350">
              <a:solidFill>
                <a:schemeClr val="dk1"/>
              </a:solidFill>
              <a:latin typeface="DM Sans"/>
              <a:ea typeface="DM Sans"/>
              <a:cs typeface="DM Sans"/>
              <a:sym typeface="DM Sans"/>
            </a:endParaRPr>
          </a:p>
          <a:p>
            <a:pPr indent="0" lvl="0" marL="0" rtl="0" algn="l">
              <a:lnSpc>
                <a:spcPct val="115000"/>
              </a:lnSpc>
              <a:spcBef>
                <a:spcPts val="1000"/>
              </a:spcBef>
              <a:spcAft>
                <a:spcPts val="1000"/>
              </a:spcAft>
              <a:buNone/>
            </a:pPr>
            <a:r>
              <a:rPr lang="es" sz="1350">
                <a:solidFill>
                  <a:schemeClr val="dk1"/>
                </a:solidFill>
                <a:latin typeface="DM Sans"/>
                <a:ea typeface="DM Sans"/>
                <a:cs typeface="DM Sans"/>
                <a:sym typeface="DM Sans"/>
              </a:rPr>
              <a:t>Además, puedo tener componentes compuestos por otros componentes. Esto quiere decir que la UI está compuesta por componentes padres/madres y componentes hijos permitiendo un desarrollo jerárquico, modular y la reutilización de código. </a:t>
            </a:r>
            <a:endParaRPr sz="1350">
              <a:solidFill>
                <a:schemeClr val="dk1"/>
              </a:solidFill>
              <a:latin typeface="DM Sans"/>
              <a:ea typeface="DM Sans"/>
              <a:cs typeface="DM Sans"/>
              <a:sym typeface="DM Sans"/>
            </a:endParaRPr>
          </a:p>
        </p:txBody>
      </p:sp>
      <p:sp>
        <p:nvSpPr>
          <p:cNvPr id="262" name="Google Shape;262;p48"/>
          <p:cNvSpPr txBox="1"/>
          <p:nvPr/>
        </p:nvSpPr>
        <p:spPr>
          <a:xfrm>
            <a:off x="526800" y="863325"/>
            <a:ext cx="4730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Componentes</a:t>
            </a:r>
            <a:endParaRPr b="1" sz="4000">
              <a:solidFill>
                <a:schemeClr val="dk1"/>
              </a:solidFill>
              <a:latin typeface="DM Sans"/>
              <a:ea typeface="DM Sans"/>
              <a:cs typeface="DM Sans"/>
              <a:sym typeface="DM Sans"/>
            </a:endParaRPr>
          </a:p>
        </p:txBody>
      </p:sp>
      <p:pic>
        <p:nvPicPr>
          <p:cNvPr id="263" name="Google Shape;263;p48"/>
          <p:cNvPicPr preferRelativeResize="0"/>
          <p:nvPr/>
        </p:nvPicPr>
        <p:blipFill>
          <a:blip r:embed="rId3">
            <a:alphaModFix/>
          </a:blip>
          <a:stretch>
            <a:fillRect/>
          </a:stretch>
        </p:blipFill>
        <p:spPr>
          <a:xfrm>
            <a:off x="6898775" y="1582050"/>
            <a:ext cx="1953726" cy="169812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9"/>
          <p:cNvSpPr txBox="1"/>
          <p:nvPr/>
        </p:nvSpPr>
        <p:spPr>
          <a:xfrm>
            <a:off x="569875" y="1700675"/>
            <a:ext cx="5536500" cy="195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solidFill>
                  <a:schemeClr val="dk1"/>
                </a:solidFill>
                <a:latin typeface="DM Sans"/>
                <a:ea typeface="DM Sans"/>
                <a:cs typeface="DM Sans"/>
                <a:sym typeface="DM Sans"/>
              </a:rPr>
              <a:t>Al dividir la interfaz en pequeños módulos independientes llamados componentes, los desarrolladores pueden trabajar en diferentes partes de la aplicación simultáneamente, facilitando el trabajo en equipo. </a:t>
            </a:r>
            <a:endParaRPr sz="1350">
              <a:solidFill>
                <a:schemeClr val="dk1"/>
              </a:solidFill>
              <a:latin typeface="DM Sans"/>
              <a:ea typeface="DM Sans"/>
              <a:cs typeface="DM Sans"/>
              <a:sym typeface="DM Sans"/>
            </a:endParaRPr>
          </a:p>
          <a:p>
            <a:pPr indent="0" lvl="0" marL="0" rtl="0" algn="l">
              <a:lnSpc>
                <a:spcPct val="115000"/>
              </a:lnSpc>
              <a:spcBef>
                <a:spcPts val="1000"/>
              </a:spcBef>
              <a:spcAft>
                <a:spcPts val="1000"/>
              </a:spcAft>
              <a:buNone/>
            </a:pPr>
            <a:r>
              <a:rPr lang="es" sz="1350">
                <a:solidFill>
                  <a:schemeClr val="dk1"/>
                </a:solidFill>
                <a:latin typeface="DM Sans"/>
                <a:ea typeface="DM Sans"/>
                <a:cs typeface="DM Sans"/>
                <a:sym typeface="DM Sans"/>
              </a:rPr>
              <a:t>Además, los componentes pueden ser reutilizados en distintos lugares de la aplicación o incluso en otros proyectos, ahorrando tiempo y esfuerzo.</a:t>
            </a:r>
            <a:endParaRPr sz="1350">
              <a:solidFill>
                <a:schemeClr val="dk1"/>
              </a:solidFill>
              <a:latin typeface="DM Sans"/>
              <a:ea typeface="DM Sans"/>
              <a:cs typeface="DM Sans"/>
              <a:sym typeface="DM Sans"/>
            </a:endParaRPr>
          </a:p>
        </p:txBody>
      </p:sp>
      <p:sp>
        <p:nvSpPr>
          <p:cNvPr id="269" name="Google Shape;269;p49"/>
          <p:cNvSpPr txBox="1"/>
          <p:nvPr/>
        </p:nvSpPr>
        <p:spPr>
          <a:xfrm>
            <a:off x="526800" y="863325"/>
            <a:ext cx="4730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Modularidad</a:t>
            </a:r>
            <a:endParaRPr b="1" sz="4000">
              <a:solidFill>
                <a:schemeClr val="dk1"/>
              </a:solidFill>
              <a:latin typeface="DM Sans"/>
              <a:ea typeface="DM Sans"/>
              <a:cs typeface="DM Sans"/>
              <a:sym typeface="DM Sans"/>
            </a:endParaRPr>
          </a:p>
        </p:txBody>
      </p:sp>
      <p:pic>
        <p:nvPicPr>
          <p:cNvPr id="270" name="Google Shape;270;p49"/>
          <p:cNvPicPr preferRelativeResize="0"/>
          <p:nvPr/>
        </p:nvPicPr>
        <p:blipFill>
          <a:blip r:embed="rId3">
            <a:alphaModFix/>
          </a:blip>
          <a:stretch>
            <a:fillRect/>
          </a:stretch>
        </p:blipFill>
        <p:spPr>
          <a:xfrm>
            <a:off x="6898775" y="1582050"/>
            <a:ext cx="1953726" cy="169812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50"/>
          <p:cNvSpPr txBox="1"/>
          <p:nvPr/>
        </p:nvSpPr>
        <p:spPr>
          <a:xfrm>
            <a:off x="1445150" y="688825"/>
            <a:ext cx="7169400" cy="66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500">
                <a:solidFill>
                  <a:srgbClr val="EAFF6A"/>
                </a:solidFill>
                <a:latin typeface="DM Sans"/>
                <a:ea typeface="DM Sans"/>
                <a:cs typeface="DM Sans"/>
                <a:sym typeface="DM Sans"/>
              </a:rPr>
              <a:t>Ejemplo en vivo</a:t>
            </a:r>
            <a:endParaRPr b="1" sz="3500">
              <a:solidFill>
                <a:srgbClr val="EAFF6A"/>
              </a:solidFill>
              <a:latin typeface="DM Sans"/>
              <a:ea typeface="DM Sans"/>
              <a:cs typeface="DM Sans"/>
              <a:sym typeface="DM Sans"/>
            </a:endParaRPr>
          </a:p>
        </p:txBody>
      </p:sp>
      <p:sp>
        <p:nvSpPr>
          <p:cNvPr id="276" name="Google Shape;276;p50"/>
          <p:cNvSpPr txBox="1"/>
          <p:nvPr/>
        </p:nvSpPr>
        <p:spPr>
          <a:xfrm>
            <a:off x="473350" y="1626100"/>
            <a:ext cx="7169400" cy="227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500">
              <a:solidFill>
                <a:srgbClr val="B7B7B7"/>
              </a:solidFill>
              <a:latin typeface="DM Sans"/>
              <a:ea typeface="DM Sans"/>
              <a:cs typeface="DM Sans"/>
              <a:sym typeface="DM Sans"/>
            </a:endParaRPr>
          </a:p>
          <a:p>
            <a:pPr indent="0" lvl="0" marL="0" rtl="0" algn="l">
              <a:lnSpc>
                <a:spcPct val="150000"/>
              </a:lnSpc>
              <a:spcBef>
                <a:spcPts val="0"/>
              </a:spcBef>
              <a:spcAft>
                <a:spcPts val="0"/>
              </a:spcAft>
              <a:buNone/>
            </a:pPr>
            <a:r>
              <a:rPr lang="es" sz="1900">
                <a:solidFill>
                  <a:schemeClr val="lt1"/>
                </a:solidFill>
                <a:latin typeface="DM Sans"/>
                <a:ea typeface="DM Sans"/>
                <a:cs typeface="DM Sans"/>
                <a:sym typeface="DM Sans"/>
              </a:rPr>
              <a:t>Creación de componente con HTML.</a:t>
            </a:r>
            <a:endParaRPr sz="1900">
              <a:solidFill>
                <a:schemeClr val="lt1"/>
              </a:solidFill>
              <a:latin typeface="DM Sans"/>
              <a:ea typeface="DM Sans"/>
              <a:cs typeface="DM Sans"/>
              <a:sym typeface="DM Sans"/>
            </a:endParaRPr>
          </a:p>
          <a:p>
            <a:pPr indent="0" lvl="0" marL="0" rtl="0" algn="l">
              <a:lnSpc>
                <a:spcPct val="150000"/>
              </a:lnSpc>
              <a:spcBef>
                <a:spcPts val="0"/>
              </a:spcBef>
              <a:spcAft>
                <a:spcPts val="0"/>
              </a:spcAft>
              <a:buNone/>
            </a:pPr>
            <a:r>
              <a:rPr lang="es" sz="1900">
                <a:solidFill>
                  <a:schemeClr val="lt1"/>
                </a:solidFill>
                <a:latin typeface="DM Sans"/>
                <a:ea typeface="DM Sans"/>
                <a:cs typeface="DM Sans"/>
                <a:sym typeface="DM Sans"/>
              </a:rPr>
              <a:t>Creación de componente con Vanilla JavaScript.</a:t>
            </a:r>
            <a:endParaRPr sz="1900">
              <a:solidFill>
                <a:schemeClr val="lt1"/>
              </a:solidFill>
              <a:latin typeface="DM Sans"/>
              <a:ea typeface="DM Sans"/>
              <a:cs typeface="DM Sans"/>
              <a:sym typeface="DM Sans"/>
            </a:endParaRPr>
          </a:p>
          <a:p>
            <a:pPr indent="0" lvl="0" marL="0" rtl="0" algn="l">
              <a:lnSpc>
                <a:spcPct val="150000"/>
              </a:lnSpc>
              <a:spcBef>
                <a:spcPts val="0"/>
              </a:spcBef>
              <a:spcAft>
                <a:spcPts val="0"/>
              </a:spcAft>
              <a:buClr>
                <a:schemeClr val="dk1"/>
              </a:buClr>
              <a:buSzPts val="1100"/>
              <a:buFont typeface="Arial"/>
              <a:buNone/>
            </a:pPr>
            <a:r>
              <a:rPr lang="es" sz="1900">
                <a:solidFill>
                  <a:schemeClr val="lt1"/>
                </a:solidFill>
                <a:latin typeface="DM Sans"/>
                <a:ea typeface="DM Sans"/>
                <a:cs typeface="DM Sans"/>
                <a:sym typeface="DM Sans"/>
              </a:rPr>
              <a:t>Creación de componente con React en su forma más pura.</a:t>
            </a:r>
            <a:endParaRPr sz="1900">
              <a:solidFill>
                <a:schemeClr val="lt1"/>
              </a:solidFill>
              <a:latin typeface="DM Sans"/>
              <a:ea typeface="DM Sans"/>
              <a:cs typeface="DM Sans"/>
              <a:sym typeface="DM Sans"/>
            </a:endParaRPr>
          </a:p>
          <a:p>
            <a:pPr indent="0" lvl="0" marL="0" rtl="0" algn="l">
              <a:lnSpc>
                <a:spcPct val="150000"/>
              </a:lnSpc>
              <a:spcBef>
                <a:spcPts val="0"/>
              </a:spcBef>
              <a:spcAft>
                <a:spcPts val="0"/>
              </a:spcAft>
              <a:buNone/>
            </a:pPr>
            <a:r>
              <a:t/>
            </a:r>
            <a:endParaRPr b="1" sz="2500">
              <a:solidFill>
                <a:srgbClr val="B7B7B7"/>
              </a:solidFill>
              <a:latin typeface="Helvetica Neue"/>
              <a:ea typeface="Helvetica Neue"/>
              <a:cs typeface="Helvetica Neue"/>
              <a:sym typeface="Helvetica Neue"/>
            </a:endParaRPr>
          </a:p>
        </p:txBody>
      </p:sp>
      <p:grpSp>
        <p:nvGrpSpPr>
          <p:cNvPr id="277" name="Google Shape;277;p50"/>
          <p:cNvGrpSpPr/>
          <p:nvPr/>
        </p:nvGrpSpPr>
        <p:grpSpPr>
          <a:xfrm>
            <a:off x="473351" y="619523"/>
            <a:ext cx="738900" cy="738900"/>
            <a:chOff x="473351" y="619523"/>
            <a:chExt cx="738900" cy="738900"/>
          </a:xfrm>
        </p:grpSpPr>
        <p:sp>
          <p:nvSpPr>
            <p:cNvPr id="278" name="Google Shape;278;p50"/>
            <p:cNvSpPr/>
            <p:nvPr/>
          </p:nvSpPr>
          <p:spPr>
            <a:xfrm>
              <a:off x="473351" y="619523"/>
              <a:ext cx="738900" cy="73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9" name="Google Shape;279;p50" title="ícono de ejemplo en vivo"/>
            <p:cNvPicPr preferRelativeResize="0"/>
            <p:nvPr/>
          </p:nvPicPr>
          <p:blipFill>
            <a:blip r:embed="rId3">
              <a:alphaModFix/>
            </a:blip>
            <a:stretch>
              <a:fillRect/>
            </a:stretch>
          </p:blipFill>
          <p:spPr>
            <a:xfrm>
              <a:off x="616475" y="762650"/>
              <a:ext cx="452650" cy="452650"/>
            </a:xfrm>
            <a:prstGeom prst="rect">
              <a:avLst/>
            </a:prstGeom>
            <a:noFill/>
            <a:ln>
              <a:noFill/>
            </a:ln>
          </p:spPr>
        </p:pic>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1"/>
          <p:cNvSpPr txBox="1"/>
          <p:nvPr/>
        </p:nvSpPr>
        <p:spPr>
          <a:xfrm>
            <a:off x="465275" y="468275"/>
            <a:ext cx="3003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DM Sans"/>
                <a:ea typeface="DM Sans"/>
                <a:cs typeface="DM Sans"/>
                <a:sym typeface="DM Sans"/>
              </a:rPr>
              <a:t>CLASE N°1 - PRIMERA HORA</a:t>
            </a:r>
            <a:endParaRPr>
              <a:latin typeface="DM Sans"/>
              <a:ea typeface="DM Sans"/>
              <a:cs typeface="DM Sans"/>
              <a:sym typeface="DM Sans"/>
            </a:endParaRPr>
          </a:p>
        </p:txBody>
      </p:sp>
      <p:sp>
        <p:nvSpPr>
          <p:cNvPr id="285" name="Google Shape;285;p51"/>
          <p:cNvSpPr txBox="1"/>
          <p:nvPr/>
        </p:nvSpPr>
        <p:spPr>
          <a:xfrm>
            <a:off x="465275" y="82227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Glosario</a:t>
            </a:r>
            <a:endParaRPr b="1" sz="4000">
              <a:solidFill>
                <a:schemeClr val="dk1"/>
              </a:solidFill>
              <a:latin typeface="DM Sans"/>
              <a:ea typeface="DM Sans"/>
              <a:cs typeface="DM Sans"/>
              <a:sym typeface="DM Sans"/>
            </a:endParaRPr>
          </a:p>
        </p:txBody>
      </p:sp>
      <p:sp>
        <p:nvSpPr>
          <p:cNvPr id="286" name="Google Shape;286;p51"/>
          <p:cNvSpPr txBox="1"/>
          <p:nvPr/>
        </p:nvSpPr>
        <p:spPr>
          <a:xfrm>
            <a:off x="465275" y="1559850"/>
            <a:ext cx="3834600" cy="319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2000"/>
              <a:buFont typeface="Arial"/>
              <a:buNone/>
            </a:pPr>
            <a:r>
              <a:rPr b="1" lang="es" sz="1250">
                <a:solidFill>
                  <a:schemeClr val="dk1"/>
                </a:solidFill>
                <a:highlight>
                  <a:srgbClr val="EAFF6A"/>
                </a:highlight>
                <a:latin typeface="DM Sans"/>
                <a:ea typeface="DM Sans"/>
                <a:cs typeface="DM Sans"/>
                <a:sym typeface="DM Sans"/>
              </a:rPr>
              <a:t>React JS</a:t>
            </a:r>
            <a:r>
              <a:rPr b="1" lang="es" sz="1250">
                <a:solidFill>
                  <a:schemeClr val="dk1"/>
                </a:solidFill>
                <a:latin typeface="DM Sans"/>
                <a:ea typeface="DM Sans"/>
                <a:cs typeface="DM Sans"/>
                <a:sym typeface="DM Sans"/>
              </a:rPr>
              <a:t>:</a:t>
            </a:r>
            <a:r>
              <a:rPr lang="es" sz="1250">
                <a:solidFill>
                  <a:schemeClr val="dk1"/>
                </a:solidFill>
                <a:latin typeface="DM Sans"/>
                <a:ea typeface="DM Sans"/>
                <a:cs typeface="DM Sans"/>
                <a:sym typeface="DM Sans"/>
              </a:rPr>
              <a:t> Es una biblioteca de Javascript para construir interfaces de usuario.</a:t>
            </a:r>
            <a:endParaRPr sz="12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2000"/>
              <a:buFont typeface="Arial"/>
              <a:buNone/>
            </a:pPr>
            <a:r>
              <a:t/>
            </a:r>
            <a:endParaRPr sz="12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2000"/>
              <a:buFont typeface="Arial"/>
              <a:buNone/>
            </a:pPr>
            <a:r>
              <a:rPr b="1" lang="es" sz="1250">
                <a:solidFill>
                  <a:schemeClr val="dk1"/>
                </a:solidFill>
                <a:highlight>
                  <a:srgbClr val="EAFF6A"/>
                </a:highlight>
                <a:latin typeface="DM Sans"/>
                <a:ea typeface="DM Sans"/>
                <a:cs typeface="DM Sans"/>
                <a:sym typeface="DM Sans"/>
              </a:rPr>
              <a:t>Interfaz de usuario: </a:t>
            </a:r>
            <a:r>
              <a:rPr lang="es" sz="1350">
                <a:solidFill>
                  <a:schemeClr val="dk1"/>
                </a:solidFill>
                <a:latin typeface="DM Sans"/>
                <a:ea typeface="DM Sans"/>
                <a:cs typeface="DM Sans"/>
                <a:sym typeface="DM Sans"/>
              </a:rPr>
              <a:t>Las interfaces de usuario son el espacio que tiene el usuario para interactuar con la aplicación.</a:t>
            </a:r>
            <a:endParaRPr sz="13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2000"/>
              <a:buFont typeface="Arial"/>
              <a:buNone/>
            </a:pPr>
            <a:r>
              <a:t/>
            </a:r>
            <a:endParaRPr sz="13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2000"/>
              <a:buFont typeface="Arial"/>
              <a:buNone/>
            </a:pPr>
            <a:r>
              <a:rPr b="1" lang="es" sz="1250">
                <a:solidFill>
                  <a:schemeClr val="dk1"/>
                </a:solidFill>
                <a:highlight>
                  <a:schemeClr val="accent6"/>
                </a:highlight>
                <a:latin typeface="DM Sans"/>
                <a:ea typeface="DM Sans"/>
                <a:cs typeface="DM Sans"/>
                <a:sym typeface="DM Sans"/>
              </a:rPr>
              <a:t>Componente:</a:t>
            </a:r>
            <a:r>
              <a:rPr lang="es" sz="1350">
                <a:solidFill>
                  <a:schemeClr val="dk1"/>
                </a:solidFill>
                <a:latin typeface="DM Sans"/>
                <a:ea typeface="DM Sans"/>
                <a:cs typeface="DM Sans"/>
                <a:sym typeface="DM Sans"/>
              </a:rPr>
              <a:t> Son funciones a través de la cual se construye la interfaz de usuario. Tienen como objetivo </a:t>
            </a:r>
            <a:r>
              <a:rPr b="1" lang="es" sz="1350">
                <a:solidFill>
                  <a:schemeClr val="dk1"/>
                </a:solidFill>
                <a:latin typeface="DM Sans"/>
                <a:ea typeface="DM Sans"/>
                <a:cs typeface="DM Sans"/>
                <a:sym typeface="DM Sans"/>
              </a:rPr>
              <a:t>final </a:t>
            </a:r>
            <a:r>
              <a:rPr lang="es" sz="1350">
                <a:solidFill>
                  <a:schemeClr val="dk1"/>
                </a:solidFill>
                <a:latin typeface="DM Sans"/>
                <a:ea typeface="DM Sans"/>
                <a:cs typeface="DM Sans"/>
                <a:sym typeface="DM Sans"/>
              </a:rPr>
              <a:t>renderizar (representar) algo parecido a HTML.</a:t>
            </a:r>
            <a:endParaRPr sz="13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2000"/>
              <a:buFont typeface="Arial"/>
              <a:buNone/>
            </a:pPr>
            <a:r>
              <a:t/>
            </a:r>
            <a:endParaRPr sz="13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2000"/>
              <a:buFont typeface="Arial"/>
              <a:buNone/>
            </a:pPr>
            <a:r>
              <a:t/>
            </a:r>
            <a:endParaRPr sz="1250">
              <a:solidFill>
                <a:schemeClr val="dk1"/>
              </a:solidFill>
              <a:latin typeface="DM Sans"/>
              <a:ea typeface="DM Sans"/>
              <a:cs typeface="DM Sans"/>
              <a:sym typeface="DM Sans"/>
            </a:endParaRPr>
          </a:p>
        </p:txBody>
      </p:sp>
      <p:sp>
        <p:nvSpPr>
          <p:cNvPr id="287" name="Google Shape;287;p51"/>
          <p:cNvSpPr txBox="1"/>
          <p:nvPr/>
        </p:nvSpPr>
        <p:spPr>
          <a:xfrm>
            <a:off x="4519500" y="1561175"/>
            <a:ext cx="3834600" cy="281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2000"/>
              <a:buFont typeface="Arial"/>
              <a:buNone/>
            </a:pPr>
            <a:r>
              <a:rPr b="1" lang="es" sz="1250">
                <a:solidFill>
                  <a:schemeClr val="dk1"/>
                </a:solidFill>
                <a:highlight>
                  <a:srgbClr val="EAFF6A"/>
                </a:highlight>
                <a:latin typeface="DM Sans"/>
                <a:ea typeface="DM Sans"/>
                <a:cs typeface="DM Sans"/>
                <a:sym typeface="DM Sans"/>
              </a:rPr>
              <a:t>Biblioteca:</a:t>
            </a:r>
            <a:r>
              <a:rPr b="1" lang="es" sz="1250">
                <a:solidFill>
                  <a:schemeClr val="dk1"/>
                </a:solidFill>
                <a:latin typeface="DM Sans"/>
                <a:ea typeface="DM Sans"/>
                <a:cs typeface="DM Sans"/>
                <a:sym typeface="DM Sans"/>
              </a:rPr>
              <a:t> </a:t>
            </a:r>
            <a:r>
              <a:rPr lang="es" sz="1250">
                <a:solidFill>
                  <a:schemeClr val="dk1"/>
                </a:solidFill>
                <a:latin typeface="DM Sans"/>
                <a:ea typeface="DM Sans"/>
                <a:cs typeface="DM Sans"/>
                <a:sym typeface="DM Sans"/>
              </a:rPr>
              <a:t>Es una grupo de recursos y archivos que permite trabajar en algún problema. Trabaja en interacción con otras bibliotecas. Es más flexible.</a:t>
            </a:r>
            <a:endParaRPr sz="12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2000"/>
              <a:buFont typeface="Arial"/>
              <a:buNone/>
            </a:pPr>
            <a:r>
              <a:t/>
            </a:r>
            <a:endParaRPr sz="12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2000"/>
              <a:buFont typeface="Arial"/>
              <a:buNone/>
            </a:pPr>
            <a:r>
              <a:rPr b="1" lang="es" sz="1250">
                <a:solidFill>
                  <a:schemeClr val="dk1"/>
                </a:solidFill>
                <a:highlight>
                  <a:schemeClr val="accent6"/>
                </a:highlight>
                <a:latin typeface="DM Sans"/>
                <a:ea typeface="DM Sans"/>
                <a:cs typeface="DM Sans"/>
                <a:sym typeface="DM Sans"/>
              </a:rPr>
              <a:t>Framework:</a:t>
            </a:r>
            <a:r>
              <a:rPr b="1" lang="es" sz="1250">
                <a:solidFill>
                  <a:schemeClr val="dk1"/>
                </a:solidFill>
                <a:latin typeface="DM Sans"/>
                <a:ea typeface="DM Sans"/>
                <a:cs typeface="DM Sans"/>
                <a:sym typeface="DM Sans"/>
              </a:rPr>
              <a:t> </a:t>
            </a:r>
            <a:r>
              <a:rPr lang="es" sz="1250">
                <a:solidFill>
                  <a:schemeClr val="dk1"/>
                </a:solidFill>
                <a:latin typeface="DM Sans"/>
                <a:ea typeface="DM Sans"/>
                <a:cs typeface="DM Sans"/>
                <a:sym typeface="DM Sans"/>
              </a:rPr>
              <a:t>Es un marco que nos brinda todas las herramientas para resolver un problema.</a:t>
            </a:r>
            <a:endParaRPr sz="12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250">
                <a:solidFill>
                  <a:schemeClr val="dk1"/>
                </a:solidFill>
                <a:latin typeface="DM Sans"/>
                <a:ea typeface="DM Sans"/>
                <a:cs typeface="DM Sans"/>
                <a:sym typeface="DM Sans"/>
              </a:rPr>
              <a:t>Ej: Angular. Es rígido y a veces excesivo.</a:t>
            </a:r>
            <a:endParaRPr sz="12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2000"/>
              <a:buFont typeface="Arial"/>
              <a:buNone/>
            </a:pPr>
            <a:r>
              <a:t/>
            </a:r>
            <a:endParaRPr sz="12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2000"/>
              <a:buFont typeface="Arial"/>
              <a:buNone/>
            </a:pPr>
            <a:r>
              <a:t/>
            </a:r>
            <a:endParaRPr sz="12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2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2000"/>
              <a:buFont typeface="Arial"/>
              <a:buNone/>
            </a:pPr>
            <a:r>
              <a:t/>
            </a:r>
            <a:endParaRPr sz="1250">
              <a:solidFill>
                <a:schemeClr val="dk1"/>
              </a:solidFill>
              <a:latin typeface="DM Sans"/>
              <a:ea typeface="DM Sans"/>
              <a:cs typeface="DM Sans"/>
              <a:sym typeface="DM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2"/>
          <p:cNvSpPr txBox="1"/>
          <p:nvPr/>
        </p:nvSpPr>
        <p:spPr>
          <a:xfrm>
            <a:off x="465275" y="468275"/>
            <a:ext cx="2952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600">
                <a:solidFill>
                  <a:schemeClr val="dk1"/>
                </a:solidFill>
                <a:latin typeface="DM Sans"/>
                <a:ea typeface="DM Sans"/>
                <a:cs typeface="DM Sans"/>
                <a:sym typeface="DM Sans"/>
              </a:rPr>
              <a:t>CLASE N°1 - PRIMERA HORA</a:t>
            </a:r>
            <a:endParaRPr>
              <a:solidFill>
                <a:schemeClr val="dk1"/>
              </a:solidFill>
              <a:latin typeface="DM Sans"/>
              <a:ea typeface="DM Sans"/>
              <a:cs typeface="DM Sans"/>
              <a:sym typeface="DM Sans"/>
            </a:endParaRPr>
          </a:p>
          <a:p>
            <a:pPr indent="0" lvl="0" marL="0" rtl="0" algn="l">
              <a:spcBef>
                <a:spcPts val="0"/>
              </a:spcBef>
              <a:spcAft>
                <a:spcPts val="0"/>
              </a:spcAft>
              <a:buNone/>
            </a:pPr>
            <a:r>
              <a:t/>
            </a:r>
            <a:endParaRPr sz="1600">
              <a:solidFill>
                <a:schemeClr val="dk1"/>
              </a:solidFill>
              <a:latin typeface="DM Sans"/>
              <a:ea typeface="DM Sans"/>
              <a:cs typeface="DM Sans"/>
              <a:sym typeface="DM Sans"/>
            </a:endParaRPr>
          </a:p>
        </p:txBody>
      </p:sp>
      <p:sp>
        <p:nvSpPr>
          <p:cNvPr id="293" name="Google Shape;293;p52"/>
          <p:cNvSpPr txBox="1"/>
          <p:nvPr/>
        </p:nvSpPr>
        <p:spPr>
          <a:xfrm>
            <a:off x="465275" y="82227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Glosario</a:t>
            </a:r>
            <a:endParaRPr b="1" sz="4000">
              <a:solidFill>
                <a:schemeClr val="dk1"/>
              </a:solidFill>
              <a:latin typeface="DM Sans"/>
              <a:ea typeface="DM Sans"/>
              <a:cs typeface="DM Sans"/>
              <a:sym typeface="DM Sans"/>
            </a:endParaRPr>
          </a:p>
        </p:txBody>
      </p:sp>
      <p:sp>
        <p:nvSpPr>
          <p:cNvPr id="294" name="Google Shape;294;p52"/>
          <p:cNvSpPr txBox="1"/>
          <p:nvPr/>
        </p:nvSpPr>
        <p:spPr>
          <a:xfrm>
            <a:off x="465275" y="1559850"/>
            <a:ext cx="3834600" cy="327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2000"/>
              <a:buFont typeface="Arial"/>
              <a:buNone/>
            </a:pPr>
            <a:r>
              <a:rPr b="1" lang="es" sz="1250">
                <a:solidFill>
                  <a:schemeClr val="dk1"/>
                </a:solidFill>
                <a:highlight>
                  <a:srgbClr val="EAFF6A"/>
                </a:highlight>
                <a:latin typeface="DM Sans"/>
                <a:ea typeface="DM Sans"/>
                <a:cs typeface="DM Sans"/>
                <a:sym typeface="DM Sans"/>
              </a:rPr>
              <a:t>Código declarativo</a:t>
            </a:r>
            <a:r>
              <a:rPr b="1" lang="es" sz="1250">
                <a:solidFill>
                  <a:schemeClr val="dk1"/>
                </a:solidFill>
                <a:latin typeface="DM Sans"/>
                <a:ea typeface="DM Sans"/>
                <a:cs typeface="DM Sans"/>
                <a:sym typeface="DM Sans"/>
              </a:rPr>
              <a:t>:</a:t>
            </a:r>
            <a:r>
              <a:rPr lang="es" sz="1250">
                <a:solidFill>
                  <a:schemeClr val="dk1"/>
                </a:solidFill>
                <a:latin typeface="DM Sans"/>
                <a:ea typeface="DM Sans"/>
                <a:cs typeface="DM Sans"/>
                <a:sym typeface="DM Sans"/>
              </a:rPr>
              <a:t> Es un estilo de programación en el que se declaran las intenciones y la lógica detrás de un componente o aplicación. </a:t>
            </a:r>
            <a:endParaRPr sz="12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2000"/>
              <a:buFont typeface="Arial"/>
              <a:buNone/>
            </a:pPr>
            <a:r>
              <a:t/>
            </a:r>
            <a:endParaRPr sz="12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2000"/>
              <a:buFont typeface="Arial"/>
              <a:buNone/>
            </a:pPr>
            <a:r>
              <a:rPr b="1" lang="es" sz="1250">
                <a:solidFill>
                  <a:schemeClr val="dk1"/>
                </a:solidFill>
                <a:highlight>
                  <a:schemeClr val="accent6"/>
                </a:highlight>
                <a:latin typeface="DM Sans"/>
                <a:ea typeface="DM Sans"/>
                <a:cs typeface="DM Sans"/>
                <a:sym typeface="DM Sans"/>
              </a:rPr>
              <a:t>Código imperativo</a:t>
            </a:r>
            <a:r>
              <a:rPr b="1" lang="es" sz="1250">
                <a:solidFill>
                  <a:schemeClr val="dk1"/>
                </a:solidFill>
                <a:latin typeface="DM Sans"/>
                <a:ea typeface="DM Sans"/>
                <a:cs typeface="DM Sans"/>
                <a:sym typeface="DM Sans"/>
              </a:rPr>
              <a:t>:</a:t>
            </a:r>
            <a:r>
              <a:rPr lang="es" sz="1250">
                <a:solidFill>
                  <a:schemeClr val="dk1"/>
                </a:solidFill>
                <a:latin typeface="DM Sans"/>
                <a:ea typeface="DM Sans"/>
                <a:cs typeface="DM Sans"/>
                <a:sym typeface="DM Sans"/>
              </a:rPr>
              <a:t> Es un estilo de programación en el que se especifican los pasos detallados que se deben realizar para lograr un resultado específico. Es decir, se enfoca en cómo se logra un resultado. </a:t>
            </a:r>
            <a:endParaRPr sz="12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2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2000"/>
              <a:buFont typeface="Arial"/>
              <a:buNone/>
            </a:pPr>
            <a:r>
              <a:t/>
            </a:r>
            <a:endParaRPr sz="12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2000"/>
              <a:buFont typeface="Arial"/>
              <a:buNone/>
            </a:pPr>
            <a:r>
              <a:t/>
            </a:r>
            <a:endParaRPr sz="13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2000"/>
              <a:buFont typeface="Arial"/>
              <a:buNone/>
            </a:pPr>
            <a:r>
              <a:t/>
            </a:r>
            <a:endParaRPr sz="1250">
              <a:solidFill>
                <a:schemeClr val="dk1"/>
              </a:solidFill>
              <a:latin typeface="DM Sans"/>
              <a:ea typeface="DM Sans"/>
              <a:cs typeface="DM Sans"/>
              <a:sym typeface="DM Sans"/>
            </a:endParaRPr>
          </a:p>
        </p:txBody>
      </p:sp>
      <p:sp>
        <p:nvSpPr>
          <p:cNvPr id="295" name="Google Shape;295;p52"/>
          <p:cNvSpPr txBox="1"/>
          <p:nvPr/>
        </p:nvSpPr>
        <p:spPr>
          <a:xfrm>
            <a:off x="4519500" y="1561175"/>
            <a:ext cx="3834600" cy="1483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2000"/>
              <a:buFont typeface="Arial"/>
              <a:buNone/>
            </a:pPr>
            <a:r>
              <a:rPr b="1" lang="es" sz="1250">
                <a:solidFill>
                  <a:schemeClr val="dk1"/>
                </a:solidFill>
                <a:highlight>
                  <a:srgbClr val="EAFF6A"/>
                </a:highlight>
                <a:latin typeface="DM Sans"/>
                <a:ea typeface="DM Sans"/>
                <a:cs typeface="DM Sans"/>
                <a:sym typeface="DM Sans"/>
              </a:rPr>
              <a:t>Expresión:</a:t>
            </a:r>
            <a:r>
              <a:rPr b="1" lang="es" sz="1250">
                <a:solidFill>
                  <a:schemeClr val="dk1"/>
                </a:solidFill>
                <a:latin typeface="DM Sans"/>
                <a:ea typeface="DM Sans"/>
                <a:cs typeface="DM Sans"/>
                <a:sym typeface="DM Sans"/>
              </a:rPr>
              <a:t> </a:t>
            </a:r>
            <a:r>
              <a:rPr lang="es" sz="1250">
                <a:solidFill>
                  <a:schemeClr val="dk1"/>
                </a:solidFill>
                <a:latin typeface="DM Sans"/>
                <a:ea typeface="DM Sans"/>
                <a:cs typeface="DM Sans"/>
                <a:sym typeface="DM Sans"/>
              </a:rPr>
              <a:t>Las expresiones son preguntas que JavaScript puede responder, de la única manera que conoce: con valores. </a:t>
            </a:r>
            <a:endParaRPr sz="12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2000"/>
              <a:buFont typeface="Arial"/>
              <a:buNone/>
            </a:pPr>
            <a:r>
              <a:t/>
            </a:r>
            <a:endParaRPr sz="12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2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2000"/>
              <a:buFont typeface="Arial"/>
              <a:buNone/>
            </a:pPr>
            <a:r>
              <a:t/>
            </a:r>
            <a:endParaRPr sz="1250">
              <a:solidFill>
                <a:schemeClr val="dk1"/>
              </a:solidFill>
              <a:latin typeface="DM Sans"/>
              <a:ea typeface="DM Sans"/>
              <a:cs typeface="DM Sans"/>
              <a:sym typeface="DM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3"/>
          <p:cNvSpPr txBox="1"/>
          <p:nvPr/>
        </p:nvSpPr>
        <p:spPr>
          <a:xfrm>
            <a:off x="1461300" y="2202300"/>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RECAP: DOM</a:t>
            </a:r>
            <a:endParaRPr b="1" sz="4000">
              <a:solidFill>
                <a:schemeClr val="dk1"/>
              </a:solidFill>
              <a:latin typeface="DM Sans"/>
              <a:ea typeface="DM Sans"/>
              <a:cs typeface="DM Sans"/>
              <a:sym typeface="DM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4"/>
          <p:cNvSpPr txBox="1"/>
          <p:nvPr/>
        </p:nvSpPr>
        <p:spPr>
          <a:xfrm>
            <a:off x="473350" y="390925"/>
            <a:ext cx="8141100" cy="114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4000">
                <a:solidFill>
                  <a:schemeClr val="dk1"/>
                </a:solidFill>
                <a:latin typeface="DM Sans"/>
                <a:ea typeface="DM Sans"/>
                <a:cs typeface="DM Sans"/>
                <a:sym typeface="DM Sans"/>
              </a:rPr>
              <a:t>DOM DEL NAVEGADOR</a:t>
            </a:r>
            <a:endParaRPr b="1" sz="400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b="1" lang="es" sz="1650">
                <a:solidFill>
                  <a:schemeClr val="dk1"/>
                </a:solidFill>
                <a:highlight>
                  <a:schemeClr val="accent4"/>
                </a:highlight>
                <a:latin typeface="DM Sans"/>
                <a:ea typeface="DM Sans"/>
                <a:cs typeface="DM Sans"/>
                <a:sym typeface="DM Sans"/>
              </a:rPr>
              <a:t>Document Model Object</a:t>
            </a:r>
            <a:endParaRPr b="1" sz="4300">
              <a:solidFill>
                <a:schemeClr val="dk1"/>
              </a:solidFill>
              <a:latin typeface="DM Sans"/>
              <a:ea typeface="DM Sans"/>
              <a:cs typeface="DM Sans"/>
              <a:sym typeface="DM Sans"/>
            </a:endParaRPr>
          </a:p>
        </p:txBody>
      </p:sp>
      <p:sp>
        <p:nvSpPr>
          <p:cNvPr id="306" name="Google Shape;306;p54"/>
          <p:cNvSpPr txBox="1"/>
          <p:nvPr/>
        </p:nvSpPr>
        <p:spPr>
          <a:xfrm>
            <a:off x="519200" y="1668350"/>
            <a:ext cx="3834600" cy="391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250">
                <a:latin typeface="DM Sans"/>
                <a:ea typeface="DM Sans"/>
                <a:cs typeface="DM Sans"/>
                <a:sym typeface="DM Sans"/>
              </a:rPr>
              <a:t>Al dar clic en el buscador Google a un </a:t>
            </a:r>
            <a:r>
              <a:rPr lang="es" sz="1250" u="sng">
                <a:solidFill>
                  <a:srgbClr val="3C78D8"/>
                </a:solidFill>
                <a:latin typeface="DM Sans"/>
                <a:ea typeface="DM Sans"/>
                <a:cs typeface="DM Sans"/>
                <a:sym typeface="DM Sans"/>
              </a:rPr>
              <a:t>enlace</a:t>
            </a:r>
            <a:r>
              <a:rPr lang="es" sz="1250">
                <a:latin typeface="DM Sans"/>
                <a:ea typeface="DM Sans"/>
                <a:cs typeface="DM Sans"/>
                <a:sym typeface="DM Sans"/>
              </a:rPr>
              <a:t>, este nos redirige a una página web.</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250">
                <a:latin typeface="DM Sans"/>
                <a:ea typeface="DM Sans"/>
                <a:cs typeface="DM Sans"/>
                <a:sym typeface="DM Sans"/>
              </a:rPr>
              <a:t>El navegador hace una petición a un servidor que nos devuelve un archivo HTML.</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250">
                <a:latin typeface="DM Sans"/>
                <a:ea typeface="DM Sans"/>
                <a:cs typeface="DM Sans"/>
                <a:sym typeface="DM Sans"/>
              </a:rPr>
              <a:t>Este archivo HTML se convierte en el </a:t>
            </a:r>
            <a:r>
              <a:rPr b="1" lang="es" sz="1250">
                <a:latin typeface="DM Sans"/>
                <a:ea typeface="DM Sans"/>
                <a:cs typeface="DM Sans"/>
                <a:sym typeface="DM Sans"/>
              </a:rPr>
              <a:t>DOM</a:t>
            </a:r>
            <a:r>
              <a:rPr lang="es" sz="1250">
                <a:latin typeface="DM Sans"/>
                <a:ea typeface="DM Sans"/>
                <a:cs typeface="DM Sans"/>
                <a:sym typeface="DM Sans"/>
              </a:rPr>
              <a:t> que es un modelo del árbol del archivo HTML original y es pintado en la interfaz de usuario del navegador. </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250">
                <a:latin typeface="DM Sans"/>
                <a:ea typeface="DM Sans"/>
                <a:cs typeface="DM Sans"/>
                <a:sym typeface="DM Sans"/>
              </a:rPr>
              <a:t>El </a:t>
            </a:r>
            <a:r>
              <a:rPr b="1" lang="es" sz="1250">
                <a:latin typeface="DM Sans"/>
                <a:ea typeface="DM Sans"/>
                <a:cs typeface="DM Sans"/>
                <a:sym typeface="DM Sans"/>
              </a:rPr>
              <a:t>DOM</a:t>
            </a:r>
            <a:r>
              <a:rPr lang="es" sz="1250">
                <a:latin typeface="DM Sans"/>
                <a:ea typeface="DM Sans"/>
                <a:cs typeface="DM Sans"/>
                <a:sym typeface="DM Sans"/>
              </a:rPr>
              <a:t> es u</a:t>
            </a:r>
            <a:r>
              <a:rPr lang="es" sz="1250">
                <a:solidFill>
                  <a:schemeClr val="dk1"/>
                </a:solidFill>
                <a:latin typeface="DM Sans"/>
                <a:ea typeface="DM Sans"/>
                <a:cs typeface="DM Sans"/>
                <a:sym typeface="DM Sans"/>
              </a:rPr>
              <a:t>na estructura jerárquica de nodos compuesta por etiquetas y su contenido que permite su manipulación usando Javascript.</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1350">
              <a:highlight>
                <a:schemeClr val="accent4"/>
              </a:highlight>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p:txBody>
      </p:sp>
      <p:sp>
        <p:nvSpPr>
          <p:cNvPr id="307" name="Google Shape;307;p54"/>
          <p:cNvSpPr txBox="1"/>
          <p:nvPr/>
        </p:nvSpPr>
        <p:spPr>
          <a:xfrm>
            <a:off x="4674200" y="1668362"/>
            <a:ext cx="3834600" cy="27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250">
                <a:latin typeface="DM Sans"/>
                <a:ea typeface="DM Sans"/>
                <a:cs typeface="DM Sans"/>
                <a:sym typeface="DM Sans"/>
              </a:rPr>
              <a:t>La manipulación directa del DOM conlleva ciertos </a:t>
            </a:r>
            <a:r>
              <a:rPr b="1" lang="es" sz="1250">
                <a:latin typeface="DM Sans"/>
                <a:ea typeface="DM Sans"/>
                <a:cs typeface="DM Sans"/>
                <a:sym typeface="DM Sans"/>
              </a:rPr>
              <a:t>problemas</a:t>
            </a:r>
            <a:r>
              <a:rPr lang="es" sz="1250">
                <a:latin typeface="DM Sans"/>
                <a:ea typeface="DM Sans"/>
                <a:cs typeface="DM Sans"/>
                <a:sym typeface="DM Sans"/>
              </a:rPr>
              <a:t>:</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250">
                <a:highlight>
                  <a:srgbClr val="EA90FF"/>
                </a:highlight>
                <a:latin typeface="DM Sans"/>
                <a:ea typeface="DM Sans"/>
                <a:cs typeface="DM Sans"/>
                <a:sym typeface="DM Sans"/>
              </a:rPr>
              <a:t>Su manipulación directa a veces puede ser costosa en rendimiento </a:t>
            </a:r>
            <a:r>
              <a:rPr lang="es" sz="1250">
                <a:solidFill>
                  <a:schemeClr val="dk1"/>
                </a:solidFill>
                <a:highlight>
                  <a:schemeClr val="accent4"/>
                </a:highlight>
                <a:latin typeface="DM Sans"/>
                <a:ea typeface="DM Sans"/>
                <a:cs typeface="DM Sans"/>
                <a:sym typeface="DM Sans"/>
              </a:rPr>
              <a:t>y ser compleja y poco práctica.</a:t>
            </a:r>
            <a:endParaRPr sz="1250">
              <a:highlight>
                <a:srgbClr val="EA90FF"/>
              </a:highlight>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p:txBody>
      </p:sp>
      <p:pic>
        <p:nvPicPr>
          <p:cNvPr id="308" name="Google Shape;308;p54"/>
          <p:cNvPicPr preferRelativeResize="0"/>
          <p:nvPr/>
        </p:nvPicPr>
        <p:blipFill>
          <a:blip r:embed="rId3">
            <a:alphaModFix/>
          </a:blip>
          <a:stretch>
            <a:fillRect/>
          </a:stretch>
        </p:blipFill>
        <p:spPr>
          <a:xfrm>
            <a:off x="6472225" y="387719"/>
            <a:ext cx="738898" cy="738898"/>
          </a:xfrm>
          <a:prstGeom prst="rect">
            <a:avLst/>
          </a:prstGeom>
          <a:noFill/>
          <a:ln>
            <a:noFill/>
          </a:ln>
        </p:spPr>
      </p:pic>
      <p:pic>
        <p:nvPicPr>
          <p:cNvPr id="309" name="Google Shape;309;p54"/>
          <p:cNvPicPr preferRelativeResize="0"/>
          <p:nvPr/>
        </p:nvPicPr>
        <p:blipFill>
          <a:blip r:embed="rId4">
            <a:alphaModFix/>
          </a:blip>
          <a:stretch>
            <a:fillRect/>
          </a:stretch>
        </p:blipFill>
        <p:spPr>
          <a:xfrm flipH="1">
            <a:off x="5936625" y="1668350"/>
            <a:ext cx="1034525" cy="10345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5"/>
          <p:cNvSpPr txBox="1"/>
          <p:nvPr/>
        </p:nvSpPr>
        <p:spPr>
          <a:xfrm>
            <a:off x="473350" y="390925"/>
            <a:ext cx="8141100" cy="114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4000">
                <a:solidFill>
                  <a:schemeClr val="dk1"/>
                </a:solidFill>
                <a:latin typeface="DM Sans"/>
                <a:ea typeface="DM Sans"/>
                <a:cs typeface="DM Sans"/>
                <a:sym typeface="DM Sans"/>
              </a:rPr>
              <a:t>DOM DEL NAVEGADOR</a:t>
            </a:r>
            <a:endParaRPr b="1" sz="400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b="1" lang="es" sz="1650">
                <a:solidFill>
                  <a:schemeClr val="dk1"/>
                </a:solidFill>
                <a:highlight>
                  <a:schemeClr val="accent4"/>
                </a:highlight>
                <a:latin typeface="DM Sans"/>
                <a:ea typeface="DM Sans"/>
                <a:cs typeface="DM Sans"/>
                <a:sym typeface="DM Sans"/>
              </a:rPr>
              <a:t>Document Model Object</a:t>
            </a:r>
            <a:endParaRPr b="1" sz="4300">
              <a:solidFill>
                <a:schemeClr val="dk1"/>
              </a:solidFill>
              <a:latin typeface="DM Sans"/>
              <a:ea typeface="DM Sans"/>
              <a:cs typeface="DM Sans"/>
              <a:sym typeface="DM Sans"/>
            </a:endParaRPr>
          </a:p>
        </p:txBody>
      </p:sp>
      <p:sp>
        <p:nvSpPr>
          <p:cNvPr id="315" name="Google Shape;315;p55"/>
          <p:cNvSpPr txBox="1"/>
          <p:nvPr/>
        </p:nvSpPr>
        <p:spPr>
          <a:xfrm>
            <a:off x="519200" y="1668350"/>
            <a:ext cx="3834600" cy="1223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350">
                <a:latin typeface="DM Sans"/>
                <a:ea typeface="DM Sans"/>
                <a:cs typeface="DM Sans"/>
                <a:sym typeface="DM Sans"/>
              </a:rPr>
              <a:t>Si escribimos </a:t>
            </a:r>
            <a:r>
              <a:rPr b="1" lang="es" sz="1350">
                <a:solidFill>
                  <a:schemeClr val="accent5"/>
                </a:solidFill>
                <a:latin typeface="DM Sans"/>
                <a:ea typeface="DM Sans"/>
                <a:cs typeface="DM Sans"/>
                <a:sym typeface="DM Sans"/>
              </a:rPr>
              <a:t>document</a:t>
            </a:r>
            <a:r>
              <a:rPr lang="es" sz="1350">
                <a:latin typeface="DM Sans"/>
                <a:ea typeface="DM Sans"/>
                <a:cs typeface="DM Sans"/>
                <a:sym typeface="DM Sans"/>
              </a:rPr>
              <a:t> en la consola de Dev Tools veremos el </a:t>
            </a:r>
            <a:r>
              <a:rPr b="1" lang="es" sz="1350">
                <a:solidFill>
                  <a:schemeClr val="accent5"/>
                </a:solidFill>
                <a:latin typeface="DM Sans"/>
                <a:ea typeface="DM Sans"/>
                <a:cs typeface="DM Sans"/>
                <a:sym typeface="DM Sans"/>
              </a:rPr>
              <a:t>DOM</a:t>
            </a:r>
            <a:r>
              <a:rPr lang="es" sz="1350">
                <a:latin typeface="DM Sans"/>
                <a:ea typeface="DM Sans"/>
                <a:cs typeface="DM Sans"/>
                <a:sym typeface="DM Sans"/>
              </a:rPr>
              <a:t>.</a:t>
            </a:r>
            <a:endParaRPr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350">
                <a:latin typeface="DM Sans"/>
                <a:ea typeface="DM Sans"/>
                <a:cs typeface="DM Sans"/>
                <a:sym typeface="DM Sans"/>
              </a:rPr>
              <a:t>Si escribimos console.dir(document) </a:t>
            </a:r>
            <a:endParaRPr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350">
                <a:latin typeface="DM Sans"/>
                <a:ea typeface="DM Sans"/>
                <a:cs typeface="DM Sans"/>
                <a:sym typeface="DM Sans"/>
              </a:rPr>
              <a:t>veremos sus propiedades.</a:t>
            </a:r>
            <a:endParaRPr sz="1450">
              <a:latin typeface="DM Sans"/>
              <a:ea typeface="DM Sans"/>
              <a:cs typeface="DM Sans"/>
              <a:sym typeface="DM Sans"/>
            </a:endParaRPr>
          </a:p>
        </p:txBody>
      </p:sp>
      <p:sp>
        <p:nvSpPr>
          <p:cNvPr id="316" name="Google Shape;316;p55"/>
          <p:cNvSpPr txBox="1"/>
          <p:nvPr/>
        </p:nvSpPr>
        <p:spPr>
          <a:xfrm>
            <a:off x="4674200" y="1668362"/>
            <a:ext cx="38346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2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2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p:txBody>
      </p:sp>
      <p:pic>
        <p:nvPicPr>
          <p:cNvPr id="317" name="Google Shape;317;p55"/>
          <p:cNvPicPr preferRelativeResize="0"/>
          <p:nvPr/>
        </p:nvPicPr>
        <p:blipFill>
          <a:blip r:embed="rId3">
            <a:alphaModFix/>
          </a:blip>
          <a:stretch>
            <a:fillRect/>
          </a:stretch>
        </p:blipFill>
        <p:spPr>
          <a:xfrm>
            <a:off x="6472225" y="387719"/>
            <a:ext cx="738898" cy="738898"/>
          </a:xfrm>
          <a:prstGeom prst="rect">
            <a:avLst/>
          </a:prstGeom>
          <a:noFill/>
          <a:ln>
            <a:noFill/>
          </a:ln>
        </p:spPr>
      </p:pic>
      <p:pic>
        <p:nvPicPr>
          <p:cNvPr id="318" name="Google Shape;318;p55"/>
          <p:cNvPicPr preferRelativeResize="0"/>
          <p:nvPr/>
        </p:nvPicPr>
        <p:blipFill>
          <a:blip r:embed="rId4">
            <a:alphaModFix/>
          </a:blip>
          <a:stretch>
            <a:fillRect/>
          </a:stretch>
        </p:blipFill>
        <p:spPr>
          <a:xfrm>
            <a:off x="4310525" y="1537525"/>
            <a:ext cx="4623751" cy="26569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6"/>
          <p:cNvSpPr txBox="1"/>
          <p:nvPr/>
        </p:nvSpPr>
        <p:spPr>
          <a:xfrm>
            <a:off x="473350" y="619525"/>
            <a:ext cx="8141100" cy="292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4000">
                <a:solidFill>
                  <a:schemeClr val="dk1"/>
                </a:solidFill>
                <a:latin typeface="DM Sans"/>
                <a:ea typeface="DM Sans"/>
                <a:cs typeface="DM Sans"/>
                <a:sym typeface="DM Sans"/>
              </a:rPr>
              <a:t>FRAGMENTO </a:t>
            </a:r>
            <a:endParaRPr b="1" sz="40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b="1" lang="es" sz="4000">
                <a:solidFill>
                  <a:schemeClr val="dk1"/>
                </a:solidFill>
                <a:latin typeface="DM Sans"/>
                <a:ea typeface="DM Sans"/>
                <a:cs typeface="DM Sans"/>
                <a:sym typeface="DM Sans"/>
              </a:rPr>
              <a:t>DE UN </a:t>
            </a:r>
            <a:endParaRPr b="1" sz="40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b="1" lang="es" sz="4000">
                <a:solidFill>
                  <a:srgbClr val="93C47D"/>
                </a:solidFill>
                <a:latin typeface="DM Sans"/>
                <a:ea typeface="DM Sans"/>
                <a:cs typeface="DM Sans"/>
                <a:sym typeface="DM Sans"/>
              </a:rPr>
              <a:t>ÁRBOL</a:t>
            </a:r>
            <a:r>
              <a:rPr b="1" lang="es" sz="4000">
                <a:solidFill>
                  <a:schemeClr val="dk1"/>
                </a:solidFill>
                <a:latin typeface="DM Sans"/>
                <a:ea typeface="DM Sans"/>
                <a:cs typeface="DM Sans"/>
                <a:sym typeface="DM Sans"/>
              </a:rPr>
              <a:t> </a:t>
            </a:r>
            <a:endParaRPr b="1" sz="40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b="1" lang="es" sz="4000">
                <a:solidFill>
                  <a:schemeClr val="dk1"/>
                </a:solidFill>
                <a:latin typeface="DM Sans"/>
                <a:ea typeface="DM Sans"/>
                <a:cs typeface="DM Sans"/>
                <a:sym typeface="DM Sans"/>
              </a:rPr>
              <a:t>DOM </a:t>
            </a:r>
            <a:endParaRPr b="1" sz="4300">
              <a:solidFill>
                <a:schemeClr val="dk1"/>
              </a:solidFill>
              <a:latin typeface="DM Sans"/>
              <a:ea typeface="DM Sans"/>
              <a:cs typeface="DM Sans"/>
              <a:sym typeface="DM Sans"/>
            </a:endParaRPr>
          </a:p>
        </p:txBody>
      </p:sp>
      <p:pic>
        <p:nvPicPr>
          <p:cNvPr id="324" name="Google Shape;324;p56"/>
          <p:cNvPicPr preferRelativeResize="0"/>
          <p:nvPr/>
        </p:nvPicPr>
        <p:blipFill>
          <a:blip r:embed="rId3">
            <a:alphaModFix/>
          </a:blip>
          <a:stretch>
            <a:fillRect/>
          </a:stretch>
        </p:blipFill>
        <p:spPr>
          <a:xfrm>
            <a:off x="3677725" y="1724325"/>
            <a:ext cx="5049824" cy="15359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7"/>
          <p:cNvSpPr txBox="1"/>
          <p:nvPr/>
        </p:nvSpPr>
        <p:spPr>
          <a:xfrm>
            <a:off x="843000" y="1519500"/>
            <a:ext cx="7458000" cy="362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100"/>
              <a:buFont typeface="Arial"/>
              <a:buNone/>
            </a:pPr>
            <a:r>
              <a:rPr b="1" lang="es" sz="4000">
                <a:solidFill>
                  <a:srgbClr val="93C47D"/>
                </a:solidFill>
                <a:latin typeface="DM Sans"/>
                <a:ea typeface="DM Sans"/>
                <a:cs typeface="DM Sans"/>
                <a:sym typeface="DM Sans"/>
              </a:rPr>
              <a:t>A VECES ME PREGUNTO,</a:t>
            </a:r>
            <a:endParaRPr b="1" sz="4000">
              <a:solidFill>
                <a:srgbClr val="93C47D"/>
              </a:solidFill>
              <a:latin typeface="DM Sans"/>
              <a:ea typeface="DM Sans"/>
              <a:cs typeface="DM Sans"/>
              <a:sym typeface="DM Sans"/>
            </a:endParaRPr>
          </a:p>
          <a:p>
            <a:pPr indent="0" lvl="0" marL="0" rtl="0" algn="ctr">
              <a:lnSpc>
                <a:spcPct val="115000"/>
              </a:lnSpc>
              <a:spcBef>
                <a:spcPts val="0"/>
              </a:spcBef>
              <a:spcAft>
                <a:spcPts val="0"/>
              </a:spcAft>
              <a:buNone/>
            </a:pPr>
            <a:r>
              <a:rPr b="1" lang="es" sz="4000">
                <a:solidFill>
                  <a:srgbClr val="93C47D"/>
                </a:solidFill>
                <a:latin typeface="DM Sans"/>
                <a:ea typeface="DM Sans"/>
                <a:cs typeface="DM Sans"/>
                <a:sym typeface="DM Sans"/>
              </a:rPr>
              <a:t>¿POR QUÉ LE DICEN ÁRBOL?</a:t>
            </a:r>
            <a:endParaRPr b="1" sz="4000">
              <a:solidFill>
                <a:srgbClr val="93C47D"/>
              </a:solidFill>
              <a:latin typeface="DM Sans"/>
              <a:ea typeface="DM Sans"/>
              <a:cs typeface="DM Sans"/>
              <a:sym typeface="DM Sans"/>
            </a:endParaRPr>
          </a:p>
          <a:p>
            <a:pPr indent="0" lvl="0" marL="0" rtl="0" algn="ctr">
              <a:lnSpc>
                <a:spcPct val="115000"/>
              </a:lnSpc>
              <a:spcBef>
                <a:spcPts val="0"/>
              </a:spcBef>
              <a:spcAft>
                <a:spcPts val="0"/>
              </a:spcAft>
              <a:buClr>
                <a:schemeClr val="dk1"/>
              </a:buClr>
              <a:buSzPts val="1100"/>
              <a:buFont typeface="Arial"/>
              <a:buNone/>
            </a:pPr>
            <a:r>
              <a:rPr b="1" lang="es" sz="4000">
                <a:solidFill>
                  <a:srgbClr val="93C47D"/>
                </a:solidFill>
                <a:latin typeface="DM Sans"/>
                <a:ea typeface="DM Sans"/>
                <a:cs typeface="DM Sans"/>
                <a:sym typeface="DM Sans"/>
              </a:rPr>
              <a:t>E IMAGINO…</a:t>
            </a:r>
            <a:endParaRPr b="1" sz="4000">
              <a:solidFill>
                <a:srgbClr val="93C47D"/>
              </a:solidFill>
              <a:latin typeface="DM Sans"/>
              <a:ea typeface="DM Sans"/>
              <a:cs typeface="DM Sans"/>
              <a:sym typeface="DM Sans"/>
            </a:endParaRPr>
          </a:p>
          <a:p>
            <a:pPr indent="0" lvl="0" marL="0" rtl="0" algn="ctr">
              <a:lnSpc>
                <a:spcPct val="115000"/>
              </a:lnSpc>
              <a:spcBef>
                <a:spcPts val="0"/>
              </a:spcBef>
              <a:spcAft>
                <a:spcPts val="0"/>
              </a:spcAft>
              <a:buClr>
                <a:schemeClr val="dk1"/>
              </a:buClr>
              <a:buSzPts val="1100"/>
              <a:buFont typeface="Arial"/>
              <a:buNone/>
            </a:pPr>
            <a:r>
              <a:t/>
            </a:r>
            <a:endParaRPr b="1" sz="4300">
              <a:solidFill>
                <a:schemeClr val="dk1"/>
              </a:solidFill>
              <a:latin typeface="DM Sans"/>
              <a:ea typeface="DM Sans"/>
              <a:cs typeface="DM Sans"/>
              <a:sym typeface="DM Sans"/>
            </a:endParaRPr>
          </a:p>
          <a:p>
            <a:pPr indent="0" lvl="0" marL="0" rtl="0" algn="ctr">
              <a:lnSpc>
                <a:spcPct val="90000"/>
              </a:lnSpc>
              <a:spcBef>
                <a:spcPts val="0"/>
              </a:spcBef>
              <a:spcAft>
                <a:spcPts val="0"/>
              </a:spcAft>
              <a:buNone/>
            </a:pPr>
            <a:r>
              <a:t/>
            </a:r>
            <a:endParaRPr b="1" sz="4000">
              <a:solidFill>
                <a:srgbClr val="EAFF6A"/>
              </a:solidFill>
              <a:latin typeface="DM Sans"/>
              <a:ea typeface="DM Sans"/>
              <a:cs typeface="DM Sans"/>
              <a:sym typeface="DM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id="334" name="Google Shape;334;p58"/>
          <p:cNvPicPr preferRelativeResize="0"/>
          <p:nvPr/>
        </p:nvPicPr>
        <p:blipFill>
          <a:blip r:embed="rId3">
            <a:alphaModFix/>
          </a:blip>
          <a:stretch>
            <a:fillRect/>
          </a:stretch>
        </p:blipFill>
        <p:spPr>
          <a:xfrm>
            <a:off x="-12650" y="0"/>
            <a:ext cx="9156650" cy="4533900"/>
          </a:xfrm>
          <a:prstGeom prst="rect">
            <a:avLst/>
          </a:prstGeom>
          <a:noFill/>
          <a:ln>
            <a:noFill/>
          </a:ln>
        </p:spPr>
      </p:pic>
      <p:pic>
        <p:nvPicPr>
          <p:cNvPr id="335" name="Google Shape;335;p58"/>
          <p:cNvPicPr preferRelativeResize="0"/>
          <p:nvPr/>
        </p:nvPicPr>
        <p:blipFill>
          <a:blip r:embed="rId4">
            <a:alphaModFix/>
          </a:blip>
          <a:stretch>
            <a:fillRect/>
          </a:stretch>
        </p:blipFill>
        <p:spPr>
          <a:xfrm rot="5400000">
            <a:off x="67089" y="1826786"/>
            <a:ext cx="4193225" cy="1221002"/>
          </a:xfrm>
          <a:prstGeom prst="rect">
            <a:avLst/>
          </a:prstGeom>
          <a:noFill/>
          <a:ln>
            <a:noFill/>
          </a:ln>
        </p:spPr>
      </p:pic>
      <p:pic>
        <p:nvPicPr>
          <p:cNvPr id="336" name="Google Shape;336;p58"/>
          <p:cNvPicPr preferRelativeResize="0"/>
          <p:nvPr/>
        </p:nvPicPr>
        <p:blipFill>
          <a:blip r:embed="rId4">
            <a:alphaModFix/>
          </a:blip>
          <a:stretch>
            <a:fillRect/>
          </a:stretch>
        </p:blipFill>
        <p:spPr>
          <a:xfrm flipH="1" rot="-5400000">
            <a:off x="1272773" y="1872837"/>
            <a:ext cx="4193203" cy="1128901"/>
          </a:xfrm>
          <a:prstGeom prst="rect">
            <a:avLst/>
          </a:prstGeom>
          <a:noFill/>
          <a:ln>
            <a:noFill/>
          </a:ln>
        </p:spPr>
      </p:pic>
      <p:pic>
        <p:nvPicPr>
          <p:cNvPr id="337" name="Google Shape;337;p58"/>
          <p:cNvPicPr preferRelativeResize="0"/>
          <p:nvPr/>
        </p:nvPicPr>
        <p:blipFill>
          <a:blip r:embed="rId5">
            <a:alphaModFix/>
          </a:blip>
          <a:stretch>
            <a:fillRect/>
          </a:stretch>
        </p:blipFill>
        <p:spPr>
          <a:xfrm>
            <a:off x="1553200" y="1553900"/>
            <a:ext cx="510150" cy="510150"/>
          </a:xfrm>
          <a:prstGeom prst="rect">
            <a:avLst/>
          </a:prstGeom>
          <a:noFill/>
          <a:ln>
            <a:noFill/>
          </a:ln>
        </p:spPr>
      </p:pic>
      <p:pic>
        <p:nvPicPr>
          <p:cNvPr id="338" name="Google Shape;338;p58"/>
          <p:cNvPicPr preferRelativeResize="0"/>
          <p:nvPr/>
        </p:nvPicPr>
        <p:blipFill>
          <a:blip r:embed="rId5">
            <a:alphaModFix/>
          </a:blip>
          <a:stretch>
            <a:fillRect/>
          </a:stretch>
        </p:blipFill>
        <p:spPr>
          <a:xfrm>
            <a:off x="2207700" y="1661975"/>
            <a:ext cx="510150" cy="510150"/>
          </a:xfrm>
          <a:prstGeom prst="rect">
            <a:avLst/>
          </a:prstGeom>
          <a:noFill/>
          <a:ln>
            <a:noFill/>
          </a:ln>
        </p:spPr>
      </p:pic>
      <p:pic>
        <p:nvPicPr>
          <p:cNvPr id="339" name="Google Shape;339;p58"/>
          <p:cNvPicPr preferRelativeResize="0"/>
          <p:nvPr/>
        </p:nvPicPr>
        <p:blipFill>
          <a:blip r:embed="rId5">
            <a:alphaModFix/>
          </a:blip>
          <a:stretch>
            <a:fillRect/>
          </a:stretch>
        </p:blipFill>
        <p:spPr>
          <a:xfrm>
            <a:off x="3209225" y="1105550"/>
            <a:ext cx="510150" cy="510150"/>
          </a:xfrm>
          <a:prstGeom prst="rect">
            <a:avLst/>
          </a:prstGeom>
          <a:noFill/>
          <a:ln>
            <a:noFill/>
          </a:ln>
        </p:spPr>
      </p:pic>
      <p:pic>
        <p:nvPicPr>
          <p:cNvPr id="340" name="Google Shape;340;p58"/>
          <p:cNvPicPr preferRelativeResize="0"/>
          <p:nvPr/>
        </p:nvPicPr>
        <p:blipFill>
          <a:blip r:embed="rId5">
            <a:alphaModFix/>
          </a:blip>
          <a:stretch>
            <a:fillRect/>
          </a:stretch>
        </p:blipFill>
        <p:spPr>
          <a:xfrm>
            <a:off x="3590525" y="1826650"/>
            <a:ext cx="510150" cy="510150"/>
          </a:xfrm>
          <a:prstGeom prst="rect">
            <a:avLst/>
          </a:prstGeom>
          <a:noFill/>
          <a:ln>
            <a:noFill/>
          </a:ln>
        </p:spPr>
      </p:pic>
      <p:pic>
        <p:nvPicPr>
          <p:cNvPr id="341" name="Google Shape;341;p58"/>
          <p:cNvPicPr preferRelativeResize="0"/>
          <p:nvPr/>
        </p:nvPicPr>
        <p:blipFill>
          <a:blip r:embed="rId6">
            <a:alphaModFix/>
          </a:blip>
          <a:stretch>
            <a:fillRect/>
          </a:stretch>
        </p:blipFill>
        <p:spPr>
          <a:xfrm>
            <a:off x="4711750" y="2729175"/>
            <a:ext cx="1502150" cy="1502150"/>
          </a:xfrm>
          <a:prstGeom prst="rect">
            <a:avLst/>
          </a:prstGeom>
          <a:noFill/>
          <a:ln>
            <a:noFill/>
          </a:ln>
        </p:spPr>
      </p:pic>
      <p:pic>
        <p:nvPicPr>
          <p:cNvPr id="342" name="Google Shape;342;p58"/>
          <p:cNvPicPr preferRelativeResize="0"/>
          <p:nvPr/>
        </p:nvPicPr>
        <p:blipFill>
          <a:blip r:embed="rId7">
            <a:alphaModFix/>
          </a:blip>
          <a:stretch>
            <a:fillRect/>
          </a:stretch>
        </p:blipFill>
        <p:spPr>
          <a:xfrm>
            <a:off x="5527775" y="122513"/>
            <a:ext cx="3840925" cy="24762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9"/>
          <p:cNvSpPr txBox="1"/>
          <p:nvPr/>
        </p:nvSpPr>
        <p:spPr>
          <a:xfrm>
            <a:off x="1404863" y="1941375"/>
            <a:ext cx="6221400" cy="1293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lt1"/>
                </a:solidFill>
                <a:latin typeface="DM Sans"/>
                <a:ea typeface="DM Sans"/>
                <a:cs typeface="DM Sans"/>
                <a:sym typeface="DM Sans"/>
              </a:rPr>
              <a:t>Crear una aplicación utilizando</a:t>
            </a:r>
            <a:r>
              <a:rPr b="1" lang="es" sz="4000">
                <a:solidFill>
                  <a:schemeClr val="accent5"/>
                </a:solidFill>
                <a:latin typeface="DM Sans"/>
                <a:ea typeface="DM Sans"/>
                <a:cs typeface="DM Sans"/>
                <a:sym typeface="DM Sans"/>
              </a:rPr>
              <a:t> el CLI </a:t>
            </a:r>
            <a:endParaRPr b="1" sz="4000">
              <a:solidFill>
                <a:schemeClr val="accent5"/>
              </a:solidFill>
              <a:latin typeface="DM Sans"/>
              <a:ea typeface="DM Sans"/>
              <a:cs typeface="DM Sans"/>
              <a:sym typeface="DM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60"/>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¿Qué es el CLI?</a:t>
            </a:r>
            <a:endParaRPr b="1" sz="4000">
              <a:solidFill>
                <a:schemeClr val="dk1"/>
              </a:solidFill>
              <a:latin typeface="DM Sans"/>
              <a:ea typeface="DM Sans"/>
              <a:cs typeface="DM Sans"/>
              <a:sym typeface="DM Sans"/>
            </a:endParaRPr>
          </a:p>
        </p:txBody>
      </p:sp>
      <p:sp>
        <p:nvSpPr>
          <p:cNvPr id="353" name="Google Shape;353;p60"/>
          <p:cNvSpPr txBox="1"/>
          <p:nvPr/>
        </p:nvSpPr>
        <p:spPr>
          <a:xfrm>
            <a:off x="527250" y="1600200"/>
            <a:ext cx="5714100" cy="297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latin typeface="DM Sans"/>
                <a:ea typeface="DM Sans"/>
                <a:cs typeface="DM Sans"/>
                <a:sym typeface="DM Sans"/>
              </a:rPr>
              <a:t>CLI, son las siglas en inglés de:</a:t>
            </a:r>
            <a:r>
              <a:rPr b="1" lang="es" sz="1350">
                <a:latin typeface="DM Sans"/>
                <a:ea typeface="DM Sans"/>
                <a:cs typeface="DM Sans"/>
                <a:sym typeface="DM Sans"/>
              </a:rPr>
              <a:t> interfaz de línea de comandos. </a:t>
            </a:r>
            <a:r>
              <a:rPr lang="es" sz="1350">
                <a:latin typeface="DM Sans"/>
                <a:ea typeface="DM Sans"/>
                <a:cs typeface="DM Sans"/>
                <a:sym typeface="DM Sans"/>
              </a:rPr>
              <a:t>Es una interfaz de texto que funciona en una Terminal (como, por ejemplo </a:t>
            </a:r>
            <a:r>
              <a:rPr b="1" lang="es" sz="1350">
                <a:latin typeface="DM Sans"/>
                <a:ea typeface="DM Sans"/>
                <a:cs typeface="DM Sans"/>
                <a:sym typeface="DM Sans"/>
              </a:rPr>
              <a:t>CMD</a:t>
            </a:r>
            <a:r>
              <a:rPr lang="es" sz="1350">
                <a:latin typeface="DM Sans"/>
                <a:ea typeface="DM Sans"/>
                <a:cs typeface="DM Sans"/>
                <a:sym typeface="DM Sans"/>
              </a:rPr>
              <a:t>) y permite a los usuarios </a:t>
            </a:r>
            <a:r>
              <a:rPr b="1" lang="es" sz="1350">
                <a:latin typeface="DM Sans"/>
                <a:ea typeface="DM Sans"/>
                <a:cs typeface="DM Sans"/>
                <a:sym typeface="DM Sans"/>
              </a:rPr>
              <a:t>dar instrucciones</a:t>
            </a:r>
            <a:r>
              <a:rPr lang="es" sz="1350">
                <a:latin typeface="DM Sans"/>
                <a:ea typeface="DM Sans"/>
                <a:cs typeface="DM Sans"/>
                <a:sym typeface="DM Sans"/>
              </a:rPr>
              <a:t> a algún programa informático </a:t>
            </a:r>
            <a:r>
              <a:rPr b="1" lang="es" sz="1350">
                <a:latin typeface="DM Sans"/>
                <a:ea typeface="DM Sans"/>
                <a:cs typeface="DM Sans"/>
                <a:sym typeface="DM Sans"/>
              </a:rPr>
              <a:t>por medio de comandos escritos</a:t>
            </a:r>
            <a:r>
              <a:rPr lang="es" sz="1350">
                <a:latin typeface="DM Sans"/>
                <a:ea typeface="DM Sans"/>
                <a:cs typeface="DM Sans"/>
                <a:sym typeface="DM Sans"/>
              </a:rPr>
              <a:t>.</a:t>
            </a:r>
            <a:endParaRPr sz="1350">
              <a:latin typeface="DM Sans"/>
              <a:ea typeface="DM Sans"/>
              <a:cs typeface="DM Sans"/>
              <a:sym typeface="DM Sans"/>
            </a:endParaRPr>
          </a:p>
          <a:p>
            <a:pPr indent="0" lvl="0" marL="0" rtl="0" algn="l">
              <a:lnSpc>
                <a:spcPct val="115000"/>
              </a:lnSpc>
              <a:spcBef>
                <a:spcPts val="0"/>
              </a:spcBef>
              <a:spcAft>
                <a:spcPts val="0"/>
              </a:spcAft>
              <a:buNone/>
            </a:pPr>
            <a:r>
              <a:t/>
            </a:r>
            <a:endParaRPr sz="1350">
              <a:latin typeface="DM Sans"/>
              <a:ea typeface="DM Sans"/>
              <a:cs typeface="DM Sans"/>
              <a:sym typeface="DM Sans"/>
            </a:endParaRPr>
          </a:p>
          <a:p>
            <a:pPr indent="0" lvl="0" marL="0" rtl="0" algn="l">
              <a:lnSpc>
                <a:spcPct val="115000"/>
              </a:lnSpc>
              <a:spcBef>
                <a:spcPts val="0"/>
              </a:spcBef>
              <a:spcAft>
                <a:spcPts val="0"/>
              </a:spcAft>
              <a:buNone/>
            </a:pPr>
            <a:r>
              <a:rPr lang="es" sz="1350">
                <a:latin typeface="DM Sans"/>
                <a:ea typeface="DM Sans"/>
                <a:cs typeface="DM Sans"/>
                <a:sym typeface="DM Sans"/>
              </a:rPr>
              <a:t>Visual Code también tiene la suya. Puedes abrir Visual Studio Code </a:t>
            </a:r>
            <a:r>
              <a:rPr lang="es" sz="1350">
                <a:solidFill>
                  <a:schemeClr val="dk1"/>
                </a:solidFill>
                <a:latin typeface="DM Sans"/>
                <a:ea typeface="DM Sans"/>
                <a:cs typeface="DM Sans"/>
                <a:sym typeface="DM Sans"/>
              </a:rPr>
              <a:t>desde CMD,</a:t>
            </a:r>
            <a:r>
              <a:rPr lang="es" sz="1350">
                <a:latin typeface="DM Sans"/>
                <a:ea typeface="DM Sans"/>
                <a:cs typeface="DM Sans"/>
                <a:sym typeface="DM Sans"/>
              </a:rPr>
              <a:t> escribiendo:</a:t>
            </a:r>
            <a:endParaRPr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a:p>
            <a:pPr indent="0" lvl="0" marL="0" rtl="0" algn="l">
              <a:spcBef>
                <a:spcPts val="0"/>
              </a:spcBef>
              <a:spcAft>
                <a:spcPts val="0"/>
              </a:spcAft>
              <a:buNone/>
            </a:pPr>
            <a:r>
              <a:rPr lang="es" sz="1850">
                <a:highlight>
                  <a:schemeClr val="accent1"/>
                </a:highlight>
                <a:latin typeface="DM Sans"/>
                <a:ea typeface="DM Sans"/>
                <a:cs typeface="DM Sans"/>
                <a:sym typeface="DM Sans"/>
              </a:rPr>
              <a:t>&gt; code</a:t>
            </a:r>
            <a:endParaRPr sz="1850">
              <a:highlight>
                <a:schemeClr val="accent1"/>
              </a:highlight>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61"/>
          <p:cNvSpPr txBox="1"/>
          <p:nvPr/>
        </p:nvSpPr>
        <p:spPr>
          <a:xfrm>
            <a:off x="381600" y="302750"/>
            <a:ext cx="8380800" cy="1639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3500">
                <a:solidFill>
                  <a:schemeClr val="lt1"/>
                </a:solidFill>
                <a:latin typeface="DM Sans"/>
                <a:ea typeface="DM Sans"/>
                <a:cs typeface="DM Sans"/>
                <a:sym typeface="DM Sans"/>
              </a:rPr>
              <a:t>Abrir una terminal</a:t>
            </a:r>
            <a:endParaRPr b="1" sz="3500">
              <a:solidFill>
                <a:schemeClr val="lt1"/>
              </a:solidFill>
              <a:latin typeface="DM Sans"/>
              <a:ea typeface="DM Sans"/>
              <a:cs typeface="DM Sans"/>
              <a:sym typeface="DM Sans"/>
            </a:endParaRPr>
          </a:p>
          <a:p>
            <a:pPr indent="0" lvl="0" marL="0" rtl="0" algn="ctr">
              <a:lnSpc>
                <a:spcPct val="90000"/>
              </a:lnSpc>
              <a:spcBef>
                <a:spcPts val="0"/>
              </a:spcBef>
              <a:spcAft>
                <a:spcPts val="0"/>
              </a:spcAft>
              <a:buNone/>
            </a:pPr>
            <a:r>
              <a:rPr b="1" lang="es" sz="3500">
                <a:solidFill>
                  <a:schemeClr val="lt1"/>
                </a:solidFill>
                <a:latin typeface="DM Sans"/>
                <a:ea typeface="DM Sans"/>
                <a:cs typeface="DM Sans"/>
                <a:sym typeface="DM Sans"/>
              </a:rPr>
              <a:t>en Visual Studio Code</a:t>
            </a:r>
            <a:endParaRPr b="1" sz="3500">
              <a:solidFill>
                <a:schemeClr val="lt1"/>
              </a:solidFill>
              <a:latin typeface="DM Sans"/>
              <a:ea typeface="DM Sans"/>
              <a:cs typeface="DM Sans"/>
              <a:sym typeface="DM Sans"/>
            </a:endParaRPr>
          </a:p>
          <a:p>
            <a:pPr indent="0" lvl="0" marL="0" rtl="0" algn="l">
              <a:lnSpc>
                <a:spcPct val="90000"/>
              </a:lnSpc>
              <a:spcBef>
                <a:spcPts val="0"/>
              </a:spcBef>
              <a:spcAft>
                <a:spcPts val="0"/>
              </a:spcAft>
              <a:buNone/>
            </a:pPr>
            <a:r>
              <a:t/>
            </a:r>
            <a:endParaRPr b="1" sz="3500">
              <a:solidFill>
                <a:schemeClr val="lt1"/>
              </a:solidFill>
              <a:latin typeface="DM Sans"/>
              <a:ea typeface="DM Sans"/>
              <a:cs typeface="DM Sans"/>
              <a:sym typeface="DM Sans"/>
            </a:endParaRPr>
          </a:p>
        </p:txBody>
      </p:sp>
      <p:pic>
        <p:nvPicPr>
          <p:cNvPr id="359" name="Google Shape;359;p61"/>
          <p:cNvPicPr preferRelativeResize="0"/>
          <p:nvPr/>
        </p:nvPicPr>
        <p:blipFill>
          <a:blip r:embed="rId3">
            <a:alphaModFix/>
          </a:blip>
          <a:stretch>
            <a:fillRect/>
          </a:stretch>
        </p:blipFill>
        <p:spPr>
          <a:xfrm>
            <a:off x="777425" y="2472050"/>
            <a:ext cx="7587925" cy="9641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2"/>
          <p:cNvSpPr txBox="1"/>
          <p:nvPr/>
        </p:nvSpPr>
        <p:spPr>
          <a:xfrm>
            <a:off x="383250" y="345975"/>
            <a:ext cx="8380800" cy="1639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3500">
                <a:solidFill>
                  <a:schemeClr val="lt1"/>
                </a:solidFill>
                <a:latin typeface="DM Sans"/>
                <a:ea typeface="DM Sans"/>
                <a:cs typeface="DM Sans"/>
                <a:sym typeface="DM Sans"/>
              </a:rPr>
              <a:t>Se abrirá un panel inferior </a:t>
            </a:r>
            <a:endParaRPr b="1" sz="3500">
              <a:solidFill>
                <a:schemeClr val="lt1"/>
              </a:solidFill>
              <a:latin typeface="DM Sans"/>
              <a:ea typeface="DM Sans"/>
              <a:cs typeface="DM Sans"/>
              <a:sym typeface="DM Sans"/>
            </a:endParaRPr>
          </a:p>
          <a:p>
            <a:pPr indent="0" lvl="0" marL="0" rtl="0" algn="ctr">
              <a:lnSpc>
                <a:spcPct val="90000"/>
              </a:lnSpc>
              <a:spcBef>
                <a:spcPts val="0"/>
              </a:spcBef>
              <a:spcAft>
                <a:spcPts val="0"/>
              </a:spcAft>
              <a:buNone/>
            </a:pPr>
            <a:r>
              <a:rPr b="1" lang="es" sz="3500">
                <a:solidFill>
                  <a:schemeClr val="lt1"/>
                </a:solidFill>
                <a:latin typeface="DM Sans"/>
                <a:ea typeface="DM Sans"/>
                <a:cs typeface="DM Sans"/>
                <a:sym typeface="DM Sans"/>
              </a:rPr>
              <a:t>en Visual Studio Code</a:t>
            </a:r>
            <a:endParaRPr b="1" sz="3500">
              <a:solidFill>
                <a:schemeClr val="lt1"/>
              </a:solidFill>
              <a:latin typeface="DM Sans"/>
              <a:ea typeface="DM Sans"/>
              <a:cs typeface="DM Sans"/>
              <a:sym typeface="DM Sans"/>
            </a:endParaRPr>
          </a:p>
          <a:p>
            <a:pPr indent="0" lvl="0" marL="0" rtl="0" algn="l">
              <a:lnSpc>
                <a:spcPct val="90000"/>
              </a:lnSpc>
              <a:spcBef>
                <a:spcPts val="0"/>
              </a:spcBef>
              <a:spcAft>
                <a:spcPts val="0"/>
              </a:spcAft>
              <a:buNone/>
            </a:pPr>
            <a:r>
              <a:t/>
            </a:r>
            <a:endParaRPr b="1" sz="3500">
              <a:solidFill>
                <a:schemeClr val="lt1"/>
              </a:solidFill>
              <a:latin typeface="DM Sans"/>
              <a:ea typeface="DM Sans"/>
              <a:cs typeface="DM Sans"/>
              <a:sym typeface="DM Sans"/>
            </a:endParaRPr>
          </a:p>
        </p:txBody>
      </p:sp>
      <p:pic>
        <p:nvPicPr>
          <p:cNvPr id="365" name="Google Shape;365;p62"/>
          <p:cNvPicPr preferRelativeResize="0"/>
          <p:nvPr/>
        </p:nvPicPr>
        <p:blipFill>
          <a:blip r:embed="rId3">
            <a:alphaModFix/>
          </a:blip>
          <a:stretch>
            <a:fillRect/>
          </a:stretch>
        </p:blipFill>
        <p:spPr>
          <a:xfrm>
            <a:off x="1245862" y="1679200"/>
            <a:ext cx="6807976" cy="26823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id="370" name="Google Shape;370;p63"/>
          <p:cNvPicPr preferRelativeResize="0"/>
          <p:nvPr/>
        </p:nvPicPr>
        <p:blipFill>
          <a:blip r:embed="rId3">
            <a:alphaModFix/>
          </a:blip>
          <a:stretch>
            <a:fillRect/>
          </a:stretch>
        </p:blipFill>
        <p:spPr>
          <a:xfrm>
            <a:off x="-675" y="0"/>
            <a:ext cx="9621362" cy="5143500"/>
          </a:xfrm>
          <a:prstGeom prst="rect">
            <a:avLst/>
          </a:prstGeom>
          <a:noFill/>
          <a:ln>
            <a:noFill/>
          </a:ln>
        </p:spPr>
      </p:pic>
      <p:sp>
        <p:nvSpPr>
          <p:cNvPr id="371" name="Google Shape;371;p63"/>
          <p:cNvSpPr txBox="1"/>
          <p:nvPr/>
        </p:nvSpPr>
        <p:spPr>
          <a:xfrm>
            <a:off x="761551" y="1049300"/>
            <a:ext cx="8439600" cy="8913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5100">
                <a:solidFill>
                  <a:schemeClr val="lt1"/>
                </a:solidFill>
                <a:latin typeface="DM Sans"/>
                <a:ea typeface="DM Sans"/>
                <a:cs typeface="DM Sans"/>
                <a:sym typeface="DM Sans"/>
              </a:rPr>
              <a:t>Cuantos programas ves?</a:t>
            </a:r>
            <a:endParaRPr b="1" sz="5100">
              <a:solidFill>
                <a:schemeClr val="lt1"/>
              </a:solidFill>
              <a:highlight>
                <a:srgbClr val="EAFF6A"/>
              </a:highlight>
              <a:latin typeface="DM Sans"/>
              <a:ea typeface="DM Sans"/>
              <a:cs typeface="DM Sans"/>
              <a:sym typeface="DM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64"/>
          <p:cNvSpPr/>
          <p:nvPr/>
        </p:nvSpPr>
        <p:spPr>
          <a:xfrm>
            <a:off x="647400" y="1189150"/>
            <a:ext cx="7849200" cy="33174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64"/>
          <p:cNvSpPr txBox="1"/>
          <p:nvPr/>
        </p:nvSpPr>
        <p:spPr>
          <a:xfrm>
            <a:off x="383250" y="345975"/>
            <a:ext cx="8380800" cy="669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3500">
                <a:solidFill>
                  <a:schemeClr val="lt1"/>
                </a:solidFill>
                <a:latin typeface="DM Sans"/>
                <a:ea typeface="DM Sans"/>
                <a:cs typeface="DM Sans"/>
                <a:sym typeface="DM Sans"/>
              </a:rPr>
              <a:t>Crear App de react con vite</a:t>
            </a:r>
            <a:endParaRPr b="1" sz="3500">
              <a:solidFill>
                <a:schemeClr val="lt1"/>
              </a:solidFill>
              <a:latin typeface="DM Sans"/>
              <a:ea typeface="DM Sans"/>
              <a:cs typeface="DM Sans"/>
              <a:sym typeface="DM Sans"/>
            </a:endParaRPr>
          </a:p>
        </p:txBody>
      </p:sp>
      <p:sp>
        <p:nvSpPr>
          <p:cNvPr id="378" name="Google Shape;378;p64"/>
          <p:cNvSpPr txBox="1"/>
          <p:nvPr/>
        </p:nvSpPr>
        <p:spPr>
          <a:xfrm>
            <a:off x="5415700" y="1605713"/>
            <a:ext cx="2166300" cy="143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latin typeface="DM Sans"/>
                <a:ea typeface="DM Sans"/>
                <a:cs typeface="DM Sans"/>
                <a:sym typeface="DM Sans"/>
              </a:rPr>
              <a:t>Debemos ejecutar el comando npm create vite@latest seguido del nombre del proyecto, apreta enter para ejecutar el comando.</a:t>
            </a:r>
            <a:endParaRPr sz="1350">
              <a:latin typeface="DM Sans"/>
              <a:ea typeface="DM Sans"/>
              <a:cs typeface="DM Sans"/>
              <a:sym typeface="DM Sans"/>
            </a:endParaRPr>
          </a:p>
        </p:txBody>
      </p:sp>
      <p:sp>
        <p:nvSpPr>
          <p:cNvPr id="379" name="Google Shape;379;p64"/>
          <p:cNvSpPr txBox="1"/>
          <p:nvPr/>
        </p:nvSpPr>
        <p:spPr>
          <a:xfrm>
            <a:off x="5415700" y="3004050"/>
            <a:ext cx="2840700" cy="1119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1350" u="sng">
                <a:solidFill>
                  <a:schemeClr val="dk1"/>
                </a:solidFill>
                <a:latin typeface="DM Sans"/>
                <a:ea typeface="DM Sans"/>
                <a:cs typeface="DM Sans"/>
                <a:sym typeface="DM Sans"/>
              </a:rPr>
              <a:t>Elige el framework</a:t>
            </a:r>
            <a:endParaRPr b="1" sz="1350" u="sng">
              <a:solidFill>
                <a:schemeClr val="dk1"/>
              </a:solidFill>
              <a:latin typeface="DM Sans"/>
              <a:ea typeface="DM Sans"/>
              <a:cs typeface="DM Sans"/>
              <a:sym typeface="DM Sans"/>
            </a:endParaRPr>
          </a:p>
          <a:p>
            <a:pPr indent="0" lvl="0" marL="0" rtl="0" algn="l">
              <a:lnSpc>
                <a:spcPct val="90000"/>
              </a:lnSpc>
              <a:spcBef>
                <a:spcPts val="0"/>
              </a:spcBef>
              <a:spcAft>
                <a:spcPts val="0"/>
              </a:spcAft>
              <a:buNone/>
            </a:pPr>
            <a:r>
              <a:t/>
            </a:r>
            <a:endParaRPr b="1" sz="1350">
              <a:solidFill>
                <a:schemeClr val="dk1"/>
              </a:solidFill>
              <a:latin typeface="DM Sans"/>
              <a:ea typeface="DM Sans"/>
              <a:cs typeface="DM Sans"/>
              <a:sym typeface="DM Sans"/>
            </a:endParaRPr>
          </a:p>
          <a:p>
            <a:pPr indent="0" lvl="0" marL="0" rtl="0" algn="l">
              <a:lnSpc>
                <a:spcPct val="90000"/>
              </a:lnSpc>
              <a:spcBef>
                <a:spcPts val="0"/>
              </a:spcBef>
              <a:spcAft>
                <a:spcPts val="0"/>
              </a:spcAft>
              <a:buNone/>
            </a:pPr>
            <a:r>
              <a:rPr b="1" lang="es" sz="1350">
                <a:solidFill>
                  <a:schemeClr val="dk1"/>
                </a:solidFill>
                <a:latin typeface="DM Sans"/>
                <a:ea typeface="DM Sans"/>
                <a:cs typeface="DM Sans"/>
                <a:sym typeface="DM Sans"/>
              </a:rPr>
              <a:t>Con las flechas vamos a bajar hasta React y apretamos enter para seleccionarlo.</a:t>
            </a:r>
            <a:endParaRPr sz="1350">
              <a:solidFill>
                <a:schemeClr val="dk1"/>
              </a:solidFill>
              <a:latin typeface="DM Sans"/>
              <a:ea typeface="DM Sans"/>
              <a:cs typeface="DM Sans"/>
              <a:sym typeface="DM Sans"/>
            </a:endParaRPr>
          </a:p>
        </p:txBody>
      </p:sp>
      <p:pic>
        <p:nvPicPr>
          <p:cNvPr id="380" name="Google Shape;380;p64"/>
          <p:cNvPicPr preferRelativeResize="0"/>
          <p:nvPr/>
        </p:nvPicPr>
        <p:blipFill>
          <a:blip r:embed="rId3">
            <a:alphaModFix/>
          </a:blip>
          <a:stretch>
            <a:fillRect/>
          </a:stretch>
        </p:blipFill>
        <p:spPr>
          <a:xfrm>
            <a:off x="808925" y="1605725"/>
            <a:ext cx="4529150" cy="657225"/>
          </a:xfrm>
          <a:prstGeom prst="rect">
            <a:avLst/>
          </a:prstGeom>
          <a:noFill/>
          <a:ln>
            <a:noFill/>
          </a:ln>
        </p:spPr>
      </p:pic>
      <p:pic>
        <p:nvPicPr>
          <p:cNvPr id="381" name="Google Shape;381;p64"/>
          <p:cNvPicPr preferRelativeResize="0"/>
          <p:nvPr/>
        </p:nvPicPr>
        <p:blipFill rotWithShape="1">
          <a:blip r:embed="rId4">
            <a:alphaModFix/>
          </a:blip>
          <a:srcRect b="36126" l="0" r="0" t="0"/>
          <a:stretch/>
        </p:blipFill>
        <p:spPr>
          <a:xfrm>
            <a:off x="831088" y="2897813"/>
            <a:ext cx="4484825" cy="13323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5"/>
          <p:cNvSpPr/>
          <p:nvPr/>
        </p:nvSpPr>
        <p:spPr>
          <a:xfrm>
            <a:off x="647400" y="1189150"/>
            <a:ext cx="7849200" cy="33174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65"/>
          <p:cNvSpPr txBox="1"/>
          <p:nvPr/>
        </p:nvSpPr>
        <p:spPr>
          <a:xfrm>
            <a:off x="383250" y="345975"/>
            <a:ext cx="8380800" cy="669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3500">
                <a:solidFill>
                  <a:schemeClr val="lt1"/>
                </a:solidFill>
                <a:latin typeface="DM Sans"/>
                <a:ea typeface="DM Sans"/>
                <a:cs typeface="DM Sans"/>
                <a:sym typeface="DM Sans"/>
              </a:rPr>
              <a:t>Crear App de react con vite</a:t>
            </a:r>
            <a:endParaRPr b="1" sz="3500">
              <a:solidFill>
                <a:schemeClr val="lt1"/>
              </a:solidFill>
              <a:latin typeface="DM Sans"/>
              <a:ea typeface="DM Sans"/>
              <a:cs typeface="DM Sans"/>
              <a:sym typeface="DM Sans"/>
            </a:endParaRPr>
          </a:p>
        </p:txBody>
      </p:sp>
      <p:sp>
        <p:nvSpPr>
          <p:cNvPr id="388" name="Google Shape;388;p65"/>
          <p:cNvSpPr txBox="1"/>
          <p:nvPr/>
        </p:nvSpPr>
        <p:spPr>
          <a:xfrm>
            <a:off x="5415700" y="1605713"/>
            <a:ext cx="2166300" cy="8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latin typeface="DM Sans"/>
                <a:ea typeface="DM Sans"/>
                <a:cs typeface="DM Sans"/>
                <a:sym typeface="DM Sans"/>
              </a:rPr>
              <a:t>Nuevamente con las flechas bajamos para seleccionar JavaScript.</a:t>
            </a:r>
            <a:endParaRPr sz="1350">
              <a:latin typeface="DM Sans"/>
              <a:ea typeface="DM Sans"/>
              <a:cs typeface="DM Sans"/>
              <a:sym typeface="DM Sans"/>
            </a:endParaRPr>
          </a:p>
        </p:txBody>
      </p:sp>
      <p:sp>
        <p:nvSpPr>
          <p:cNvPr id="389" name="Google Shape;389;p65"/>
          <p:cNvSpPr txBox="1"/>
          <p:nvPr/>
        </p:nvSpPr>
        <p:spPr>
          <a:xfrm>
            <a:off x="3586200" y="2897800"/>
            <a:ext cx="4864500" cy="1265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1350" u="sng">
                <a:solidFill>
                  <a:schemeClr val="dk1"/>
                </a:solidFill>
                <a:latin typeface="DM Sans"/>
                <a:ea typeface="DM Sans"/>
                <a:cs typeface="DM Sans"/>
                <a:sym typeface="DM Sans"/>
              </a:rPr>
              <a:t>Una vez creado:</a:t>
            </a:r>
            <a:endParaRPr b="1" sz="1350" u="sng">
              <a:solidFill>
                <a:schemeClr val="dk1"/>
              </a:solidFill>
              <a:latin typeface="DM Sans"/>
              <a:ea typeface="DM Sans"/>
              <a:cs typeface="DM Sans"/>
              <a:sym typeface="DM Sans"/>
            </a:endParaRPr>
          </a:p>
          <a:p>
            <a:pPr indent="0" lvl="0" marL="0" rtl="0" algn="l">
              <a:lnSpc>
                <a:spcPct val="90000"/>
              </a:lnSpc>
              <a:spcBef>
                <a:spcPts val="0"/>
              </a:spcBef>
              <a:spcAft>
                <a:spcPts val="0"/>
              </a:spcAft>
              <a:buNone/>
            </a:pPr>
            <a:r>
              <a:t/>
            </a:r>
            <a:endParaRPr b="1" sz="1350">
              <a:solidFill>
                <a:schemeClr val="dk1"/>
              </a:solidFill>
              <a:latin typeface="DM Sans"/>
              <a:ea typeface="DM Sans"/>
              <a:cs typeface="DM Sans"/>
              <a:sym typeface="DM Sans"/>
            </a:endParaRPr>
          </a:p>
          <a:p>
            <a:pPr indent="-307975" lvl="0" marL="457200" rtl="0" algn="l">
              <a:lnSpc>
                <a:spcPct val="90000"/>
              </a:lnSpc>
              <a:spcBef>
                <a:spcPts val="0"/>
              </a:spcBef>
              <a:spcAft>
                <a:spcPts val="0"/>
              </a:spcAft>
              <a:buClr>
                <a:schemeClr val="dk1"/>
              </a:buClr>
              <a:buSzPts val="1250"/>
              <a:buFont typeface="DM Sans"/>
              <a:buChar char="-"/>
            </a:pPr>
            <a:r>
              <a:rPr lang="es" sz="1250">
                <a:solidFill>
                  <a:schemeClr val="dk1"/>
                </a:solidFill>
                <a:latin typeface="DM Sans"/>
                <a:ea typeface="DM Sans"/>
                <a:cs typeface="DM Sans"/>
                <a:sym typeface="DM Sans"/>
              </a:rPr>
              <a:t>Nos movemos a la carpeta con cd + &lt;nombre de la app&gt;</a:t>
            </a:r>
            <a:endParaRPr sz="1250">
              <a:solidFill>
                <a:schemeClr val="dk1"/>
              </a:solidFill>
              <a:latin typeface="DM Sans"/>
              <a:ea typeface="DM Sans"/>
              <a:cs typeface="DM Sans"/>
              <a:sym typeface="DM Sans"/>
            </a:endParaRPr>
          </a:p>
          <a:p>
            <a:pPr indent="-307975" lvl="0" marL="457200" rtl="0" algn="l">
              <a:lnSpc>
                <a:spcPct val="90000"/>
              </a:lnSpc>
              <a:spcBef>
                <a:spcPts val="0"/>
              </a:spcBef>
              <a:spcAft>
                <a:spcPts val="0"/>
              </a:spcAft>
              <a:buClr>
                <a:schemeClr val="dk1"/>
              </a:buClr>
              <a:buSzPts val="1250"/>
              <a:buFont typeface="DM Sans"/>
              <a:buChar char="-"/>
            </a:pPr>
            <a:r>
              <a:rPr lang="es" sz="1250">
                <a:solidFill>
                  <a:schemeClr val="dk1"/>
                </a:solidFill>
                <a:latin typeface="DM Sans"/>
                <a:ea typeface="DM Sans"/>
                <a:cs typeface="DM Sans"/>
                <a:sym typeface="DM Sans"/>
              </a:rPr>
              <a:t>Instalamos dependencias con npm install</a:t>
            </a:r>
            <a:endParaRPr sz="1250">
              <a:solidFill>
                <a:schemeClr val="dk1"/>
              </a:solidFill>
              <a:latin typeface="DM Sans"/>
              <a:ea typeface="DM Sans"/>
              <a:cs typeface="DM Sans"/>
              <a:sym typeface="DM Sans"/>
            </a:endParaRPr>
          </a:p>
          <a:p>
            <a:pPr indent="-307975" lvl="0" marL="457200" rtl="0" algn="l">
              <a:lnSpc>
                <a:spcPct val="90000"/>
              </a:lnSpc>
              <a:spcBef>
                <a:spcPts val="0"/>
              </a:spcBef>
              <a:spcAft>
                <a:spcPts val="0"/>
              </a:spcAft>
              <a:buClr>
                <a:schemeClr val="dk1"/>
              </a:buClr>
              <a:buSzPts val="1250"/>
              <a:buFont typeface="DM Sans"/>
              <a:buChar char="-"/>
            </a:pPr>
            <a:r>
              <a:rPr lang="es" sz="1250">
                <a:solidFill>
                  <a:schemeClr val="dk1"/>
                </a:solidFill>
                <a:latin typeface="DM Sans"/>
                <a:ea typeface="DM Sans"/>
                <a:cs typeface="DM Sans"/>
                <a:sym typeface="DM Sans"/>
              </a:rPr>
              <a:t>npm run dev, levantamos al servidor local</a:t>
            </a:r>
            <a:endParaRPr sz="1250">
              <a:solidFill>
                <a:schemeClr val="dk1"/>
              </a:solidFill>
              <a:latin typeface="DM Sans"/>
              <a:ea typeface="DM Sans"/>
              <a:cs typeface="DM Sans"/>
              <a:sym typeface="DM Sans"/>
            </a:endParaRPr>
          </a:p>
          <a:p>
            <a:pPr indent="0" lvl="0" marL="0" rtl="0" algn="l">
              <a:lnSpc>
                <a:spcPct val="90000"/>
              </a:lnSpc>
              <a:spcBef>
                <a:spcPts val="0"/>
              </a:spcBef>
              <a:spcAft>
                <a:spcPts val="0"/>
              </a:spcAft>
              <a:buNone/>
            </a:pPr>
            <a:r>
              <a:t/>
            </a:r>
            <a:endParaRPr sz="1350">
              <a:solidFill>
                <a:schemeClr val="dk1"/>
              </a:solidFill>
              <a:latin typeface="DM Sans"/>
              <a:ea typeface="DM Sans"/>
              <a:cs typeface="DM Sans"/>
              <a:sym typeface="DM Sans"/>
            </a:endParaRPr>
          </a:p>
        </p:txBody>
      </p:sp>
      <p:pic>
        <p:nvPicPr>
          <p:cNvPr id="390" name="Google Shape;390;p65"/>
          <p:cNvPicPr preferRelativeResize="0"/>
          <p:nvPr/>
        </p:nvPicPr>
        <p:blipFill>
          <a:blip r:embed="rId3">
            <a:alphaModFix/>
          </a:blip>
          <a:stretch>
            <a:fillRect/>
          </a:stretch>
        </p:blipFill>
        <p:spPr>
          <a:xfrm>
            <a:off x="831099" y="1409000"/>
            <a:ext cx="4447975" cy="1095375"/>
          </a:xfrm>
          <a:prstGeom prst="rect">
            <a:avLst/>
          </a:prstGeom>
          <a:noFill/>
          <a:ln>
            <a:noFill/>
          </a:ln>
        </p:spPr>
      </p:pic>
      <p:pic>
        <p:nvPicPr>
          <p:cNvPr id="391" name="Google Shape;391;p65"/>
          <p:cNvPicPr preferRelativeResize="0"/>
          <p:nvPr/>
        </p:nvPicPr>
        <p:blipFill>
          <a:blip r:embed="rId4">
            <a:alphaModFix/>
          </a:blip>
          <a:stretch>
            <a:fillRect/>
          </a:stretch>
        </p:blipFill>
        <p:spPr>
          <a:xfrm>
            <a:off x="831100" y="2942850"/>
            <a:ext cx="2533650" cy="11811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pic>
        <p:nvPicPr>
          <p:cNvPr id="396" name="Google Shape;396;p66"/>
          <p:cNvPicPr preferRelativeResize="0"/>
          <p:nvPr/>
        </p:nvPicPr>
        <p:blipFill>
          <a:blip r:embed="rId3">
            <a:alphaModFix/>
          </a:blip>
          <a:stretch>
            <a:fillRect/>
          </a:stretch>
        </p:blipFill>
        <p:spPr>
          <a:xfrm>
            <a:off x="288225" y="755900"/>
            <a:ext cx="2059225" cy="2034926"/>
          </a:xfrm>
          <a:prstGeom prst="rect">
            <a:avLst/>
          </a:prstGeom>
          <a:noFill/>
          <a:ln>
            <a:noFill/>
          </a:ln>
        </p:spPr>
      </p:pic>
      <p:sp>
        <p:nvSpPr>
          <p:cNvPr id="397" name="Google Shape;397;p66"/>
          <p:cNvSpPr txBox="1"/>
          <p:nvPr/>
        </p:nvSpPr>
        <p:spPr>
          <a:xfrm>
            <a:off x="2437994" y="862855"/>
            <a:ext cx="5994600" cy="1736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6000">
                <a:solidFill>
                  <a:schemeClr val="dk1"/>
                </a:solidFill>
                <a:latin typeface="DM Sans"/>
                <a:ea typeface="DM Sans"/>
                <a:cs typeface="DM Sans"/>
                <a:sym typeface="DM Sans"/>
              </a:rPr>
              <a:t>VITE</a:t>
            </a:r>
            <a:endParaRPr b="1" sz="6000">
              <a:solidFill>
                <a:schemeClr val="dk1"/>
              </a:solidFill>
              <a:latin typeface="DM Sans"/>
              <a:ea typeface="DM Sans"/>
              <a:cs typeface="DM Sans"/>
              <a:sym typeface="DM Sans"/>
            </a:endParaRPr>
          </a:p>
          <a:p>
            <a:pPr indent="0" lvl="0" marL="0" rtl="0" algn="l">
              <a:lnSpc>
                <a:spcPct val="90000"/>
              </a:lnSpc>
              <a:spcBef>
                <a:spcPts val="0"/>
              </a:spcBef>
              <a:spcAft>
                <a:spcPts val="0"/>
              </a:spcAft>
              <a:buNone/>
            </a:pPr>
            <a:r>
              <a:rPr b="1" lang="es" sz="2600">
                <a:solidFill>
                  <a:schemeClr val="dk1"/>
                </a:solidFill>
                <a:latin typeface="DM Sans"/>
                <a:ea typeface="DM Sans"/>
                <a:cs typeface="DM Sans"/>
                <a:sym typeface="DM Sans"/>
              </a:rPr>
              <a:t>Estos 2 videos tienen todos los comandos de Terminal que usarás.</a:t>
            </a:r>
            <a:endParaRPr b="1" sz="2600">
              <a:solidFill>
                <a:schemeClr val="dk1"/>
              </a:solidFill>
              <a:latin typeface="DM Sans"/>
              <a:ea typeface="DM Sans"/>
              <a:cs typeface="DM Sans"/>
              <a:sym typeface="DM Sans"/>
            </a:endParaRPr>
          </a:p>
        </p:txBody>
      </p:sp>
      <p:sp>
        <p:nvSpPr>
          <p:cNvPr id="398" name="Google Shape;398;p66"/>
          <p:cNvSpPr txBox="1"/>
          <p:nvPr/>
        </p:nvSpPr>
        <p:spPr>
          <a:xfrm>
            <a:off x="206825" y="3311800"/>
            <a:ext cx="8538600" cy="9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600" u="sng">
                <a:solidFill>
                  <a:schemeClr val="hlink"/>
                </a:solidFill>
                <a:latin typeface="DM Sans"/>
                <a:ea typeface="DM Sans"/>
                <a:cs typeface="DM Sans"/>
                <a:sym typeface="DM Sans"/>
                <a:hlinkClick r:id="rId4"/>
              </a:rPr>
              <a:t>https://www.youtube.com/watch?v=jcKoP-FvPsY&amp;ab_channel=JuniorPride</a:t>
            </a:r>
            <a:endParaRPr sz="160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lang="es" sz="1600" u="sng">
                <a:solidFill>
                  <a:schemeClr val="hlink"/>
                </a:solidFill>
                <a:latin typeface="DM Sans"/>
                <a:ea typeface="DM Sans"/>
                <a:cs typeface="DM Sans"/>
                <a:sym typeface="DM Sans"/>
                <a:hlinkClick r:id="rId5"/>
              </a:rPr>
              <a:t>https://www.youtube.com/shorts/yx9as2yqS8Y</a:t>
            </a:r>
            <a:endParaRPr sz="1600">
              <a:solidFill>
                <a:schemeClr val="dk1"/>
              </a:solidFill>
              <a:latin typeface="DM Sans"/>
              <a:ea typeface="DM Sans"/>
              <a:cs typeface="DM Sans"/>
              <a:sym typeface="DM Sans"/>
            </a:endParaRPr>
          </a:p>
          <a:p>
            <a:pPr indent="0" lvl="0" marL="0" rtl="0" algn="l">
              <a:spcBef>
                <a:spcPts val="0"/>
              </a:spcBef>
              <a:spcAft>
                <a:spcPts val="0"/>
              </a:spcAft>
              <a:buNone/>
            </a:pPr>
            <a:r>
              <a:t/>
            </a:r>
            <a:endParaRPr sz="1600">
              <a:solidFill>
                <a:schemeClr val="dk1"/>
              </a:solidFill>
              <a:latin typeface="DM Sans"/>
              <a:ea typeface="DM Sans"/>
              <a:cs typeface="DM Sans"/>
              <a:sym typeface="DM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7"/>
          <p:cNvSpPr txBox="1"/>
          <p:nvPr/>
        </p:nvSpPr>
        <p:spPr>
          <a:xfrm>
            <a:off x="1404863" y="1941375"/>
            <a:ext cx="6221400" cy="2401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Clr>
                <a:schemeClr val="dk1"/>
              </a:buClr>
              <a:buSzPts val="1100"/>
              <a:buFont typeface="Arial"/>
              <a:buNone/>
            </a:pPr>
            <a:r>
              <a:rPr b="1" lang="es" sz="4000">
                <a:solidFill>
                  <a:schemeClr val="lt1"/>
                </a:solidFill>
                <a:latin typeface="DM Sans"/>
                <a:ea typeface="DM Sans"/>
                <a:cs typeface="DM Sans"/>
                <a:sym typeface="DM Sans"/>
              </a:rPr>
              <a:t>Funcionamiento de</a:t>
            </a:r>
            <a:endParaRPr b="1" sz="4000">
              <a:solidFill>
                <a:schemeClr val="lt1"/>
              </a:solidFill>
              <a:latin typeface="DM Sans"/>
              <a:ea typeface="DM Sans"/>
              <a:cs typeface="DM Sans"/>
              <a:sym typeface="DM Sans"/>
            </a:endParaRPr>
          </a:p>
          <a:p>
            <a:pPr indent="0" lvl="0" marL="0" rtl="0" algn="ctr">
              <a:lnSpc>
                <a:spcPct val="90000"/>
              </a:lnSpc>
              <a:spcBef>
                <a:spcPts val="0"/>
              </a:spcBef>
              <a:spcAft>
                <a:spcPts val="0"/>
              </a:spcAft>
              <a:buClr>
                <a:schemeClr val="dk1"/>
              </a:buClr>
              <a:buSzPts val="1100"/>
              <a:buFont typeface="Arial"/>
              <a:buNone/>
            </a:pPr>
            <a:r>
              <a:rPr b="1" lang="es" sz="4000">
                <a:solidFill>
                  <a:schemeClr val="accent6"/>
                </a:solidFill>
                <a:latin typeface="DM Sans"/>
                <a:ea typeface="DM Sans"/>
                <a:cs typeface="DM Sans"/>
                <a:sym typeface="DM Sans"/>
              </a:rPr>
              <a:t>REACT JS</a:t>
            </a:r>
            <a:endParaRPr b="1" sz="4000">
              <a:solidFill>
                <a:schemeClr val="accent6"/>
              </a:solidFill>
              <a:latin typeface="DM Sans"/>
              <a:ea typeface="DM Sans"/>
              <a:cs typeface="DM Sans"/>
              <a:sym typeface="DM Sans"/>
            </a:endParaRPr>
          </a:p>
          <a:p>
            <a:pPr indent="0" lvl="0" marL="0" rtl="0" algn="ctr">
              <a:lnSpc>
                <a:spcPct val="90000"/>
              </a:lnSpc>
              <a:spcBef>
                <a:spcPts val="0"/>
              </a:spcBef>
              <a:spcAft>
                <a:spcPts val="0"/>
              </a:spcAft>
              <a:buClr>
                <a:schemeClr val="dk1"/>
              </a:buClr>
              <a:buSzPts val="1100"/>
              <a:buFont typeface="Arial"/>
              <a:buNone/>
            </a:pPr>
            <a:r>
              <a:t/>
            </a:r>
            <a:endParaRPr b="1" sz="4000">
              <a:solidFill>
                <a:schemeClr val="lt1"/>
              </a:solidFill>
              <a:latin typeface="DM Sans"/>
              <a:ea typeface="DM Sans"/>
              <a:cs typeface="DM Sans"/>
              <a:sym typeface="DM Sans"/>
            </a:endParaRPr>
          </a:p>
          <a:p>
            <a:pPr indent="0" lvl="0" marL="0" rtl="0" algn="ctr">
              <a:lnSpc>
                <a:spcPct val="90000"/>
              </a:lnSpc>
              <a:spcBef>
                <a:spcPts val="0"/>
              </a:spcBef>
              <a:spcAft>
                <a:spcPts val="0"/>
              </a:spcAft>
              <a:buNone/>
            </a:pPr>
            <a:r>
              <a:t/>
            </a:r>
            <a:endParaRPr b="1" sz="4000">
              <a:solidFill>
                <a:schemeClr val="lt1"/>
              </a:solidFill>
              <a:latin typeface="DM Sans"/>
              <a:ea typeface="DM Sans"/>
              <a:cs typeface="DM Sans"/>
              <a:sym typeface="DM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8"/>
          <p:cNvSpPr txBox="1"/>
          <p:nvPr/>
        </p:nvSpPr>
        <p:spPr>
          <a:xfrm>
            <a:off x="475500" y="941400"/>
            <a:ext cx="70854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React es reactivo</a:t>
            </a:r>
            <a:endParaRPr b="1" sz="4000">
              <a:solidFill>
                <a:schemeClr val="dk1"/>
              </a:solidFill>
              <a:latin typeface="DM Sans"/>
              <a:ea typeface="DM Sans"/>
              <a:cs typeface="DM Sans"/>
              <a:sym typeface="DM Sans"/>
            </a:endParaRPr>
          </a:p>
        </p:txBody>
      </p:sp>
      <p:sp>
        <p:nvSpPr>
          <p:cNvPr id="409" name="Google Shape;409;p68"/>
          <p:cNvSpPr txBox="1"/>
          <p:nvPr/>
        </p:nvSpPr>
        <p:spPr>
          <a:xfrm>
            <a:off x="475500" y="1993150"/>
            <a:ext cx="4730100" cy="246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 sz="1450">
                <a:latin typeface="DM Sans"/>
                <a:ea typeface="DM Sans"/>
                <a:cs typeface="DM Sans"/>
                <a:sym typeface="DM Sans"/>
              </a:rPr>
              <a:t>El enfoque de React fue revolucionario en términos de performance (rendimiento).</a:t>
            </a:r>
            <a:endParaRPr sz="14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4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450">
                <a:latin typeface="DM Sans"/>
                <a:ea typeface="DM Sans"/>
                <a:cs typeface="DM Sans"/>
                <a:sym typeface="DM Sans"/>
              </a:rPr>
              <a:t>Hablemos de 3 conceptos importantes en React:</a:t>
            </a:r>
            <a:endParaRPr sz="14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4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450">
                <a:highlight>
                  <a:schemeClr val="accent6"/>
                </a:highlight>
                <a:latin typeface="DM Sans"/>
                <a:ea typeface="DM Sans"/>
                <a:cs typeface="DM Sans"/>
                <a:sym typeface="DM Sans"/>
              </a:rPr>
              <a:t>Virtual DOM</a:t>
            </a:r>
            <a:r>
              <a:rPr lang="es" sz="1450">
                <a:latin typeface="DM Sans"/>
                <a:ea typeface="DM Sans"/>
                <a:cs typeface="DM Sans"/>
                <a:sym typeface="DM Sans"/>
              </a:rPr>
              <a:t> </a:t>
            </a:r>
            <a:endParaRPr sz="14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450">
                <a:highlight>
                  <a:schemeClr val="accent6"/>
                </a:highlight>
                <a:latin typeface="DM Sans"/>
                <a:ea typeface="DM Sans"/>
                <a:cs typeface="DM Sans"/>
                <a:sym typeface="DM Sans"/>
              </a:rPr>
              <a:t>Diff</a:t>
            </a:r>
            <a:r>
              <a:rPr lang="es" sz="1450">
                <a:latin typeface="DM Sans"/>
                <a:ea typeface="DM Sans"/>
                <a:cs typeface="DM Sans"/>
                <a:sym typeface="DM Sans"/>
              </a:rPr>
              <a:t> </a:t>
            </a:r>
            <a:endParaRPr sz="14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450">
                <a:highlight>
                  <a:schemeClr val="accent6"/>
                </a:highlight>
                <a:latin typeface="DM Sans"/>
                <a:ea typeface="DM Sans"/>
                <a:cs typeface="DM Sans"/>
                <a:sym typeface="DM Sans"/>
              </a:rPr>
              <a:t>Reconciliación</a:t>
            </a:r>
            <a:endParaRPr sz="1450">
              <a:highlight>
                <a:schemeClr val="accent6"/>
              </a:highlight>
              <a:latin typeface="DM Sans"/>
              <a:ea typeface="DM Sans"/>
              <a:cs typeface="DM Sans"/>
              <a:sym typeface="DM Sans"/>
            </a:endParaRPr>
          </a:p>
          <a:p>
            <a:pPr indent="0" lvl="0" marL="0" rtl="0" algn="l">
              <a:spcBef>
                <a:spcPts val="0"/>
              </a:spcBef>
              <a:spcAft>
                <a:spcPts val="0"/>
              </a:spcAft>
              <a:buNone/>
            </a:pPr>
            <a:r>
              <a:t/>
            </a:r>
            <a:endParaRPr sz="1450">
              <a:latin typeface="DM Sans"/>
              <a:ea typeface="DM Sans"/>
              <a:cs typeface="DM Sans"/>
              <a:sym typeface="DM Sans"/>
            </a:endParaRPr>
          </a:p>
        </p:txBody>
      </p:sp>
      <p:pic>
        <p:nvPicPr>
          <p:cNvPr id="410" name="Google Shape;410;p68"/>
          <p:cNvPicPr preferRelativeResize="0"/>
          <p:nvPr/>
        </p:nvPicPr>
        <p:blipFill>
          <a:blip r:embed="rId3">
            <a:alphaModFix/>
          </a:blip>
          <a:stretch>
            <a:fillRect/>
          </a:stretch>
        </p:blipFill>
        <p:spPr>
          <a:xfrm>
            <a:off x="5645126" y="1915300"/>
            <a:ext cx="1998375" cy="17885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9"/>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Virtual DOM</a:t>
            </a:r>
            <a:endParaRPr b="1" sz="4000">
              <a:solidFill>
                <a:schemeClr val="dk1"/>
              </a:solidFill>
              <a:latin typeface="DM Sans"/>
              <a:ea typeface="DM Sans"/>
              <a:cs typeface="DM Sans"/>
              <a:sym typeface="DM Sans"/>
            </a:endParaRPr>
          </a:p>
        </p:txBody>
      </p:sp>
      <p:sp>
        <p:nvSpPr>
          <p:cNvPr id="416" name="Google Shape;416;p69"/>
          <p:cNvSpPr txBox="1"/>
          <p:nvPr/>
        </p:nvSpPr>
        <p:spPr>
          <a:xfrm>
            <a:off x="475500" y="1752575"/>
            <a:ext cx="3834600" cy="469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El acceso indiscriminado al DOM es costoso.</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Se necesitaba encontrar una manera de realizar modificaciones en el DOM de una manera más óptima.</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El </a:t>
            </a:r>
            <a:r>
              <a:rPr b="1" lang="es" sz="1350">
                <a:latin typeface="DM Sans"/>
                <a:ea typeface="DM Sans"/>
                <a:cs typeface="DM Sans"/>
                <a:sym typeface="DM Sans"/>
              </a:rPr>
              <a:t>Virtual DOM</a:t>
            </a:r>
            <a:r>
              <a:rPr lang="es" sz="1350">
                <a:latin typeface="DM Sans"/>
                <a:ea typeface="DM Sans"/>
                <a:cs typeface="DM Sans"/>
                <a:sym typeface="DM Sans"/>
              </a:rPr>
              <a:t> </a:t>
            </a:r>
            <a:r>
              <a:rPr b="1" lang="es" sz="1350">
                <a:latin typeface="DM Sans"/>
                <a:ea typeface="DM Sans"/>
                <a:cs typeface="DM Sans"/>
                <a:sym typeface="DM Sans"/>
              </a:rPr>
              <a:t>(VDOM)</a:t>
            </a:r>
            <a:r>
              <a:rPr lang="es" sz="1350">
                <a:latin typeface="DM Sans"/>
                <a:ea typeface="DM Sans"/>
                <a:cs typeface="DM Sans"/>
                <a:sym typeface="DM Sans"/>
              </a:rPr>
              <a:t> es una copia ligera, una representación virtual del DOM guardada en memoria.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El </a:t>
            </a:r>
            <a:r>
              <a:rPr b="1" lang="es" sz="1350">
                <a:latin typeface="DM Sans"/>
                <a:ea typeface="DM Sans"/>
                <a:cs typeface="DM Sans"/>
                <a:sym typeface="DM Sans"/>
              </a:rPr>
              <a:t>VDOM</a:t>
            </a:r>
            <a:r>
              <a:rPr lang="es" sz="1350">
                <a:latin typeface="DM Sans"/>
                <a:ea typeface="DM Sans"/>
                <a:cs typeface="DM Sans"/>
                <a:sym typeface="DM Sans"/>
              </a:rPr>
              <a:t> está sincronizado con el DOM real.</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b="1" sz="1350">
              <a:latin typeface="DM Sans"/>
              <a:ea typeface="DM Sans"/>
              <a:cs typeface="DM Sans"/>
              <a:sym typeface="DM Sans"/>
            </a:endParaRPr>
          </a:p>
          <a:p>
            <a:pPr indent="0" lvl="0" marL="0" rtl="0" algn="l">
              <a:lnSpc>
                <a:spcPct val="115000"/>
              </a:lnSpc>
              <a:spcBef>
                <a:spcPts val="0"/>
              </a:spcBef>
              <a:spcAft>
                <a:spcPts val="0"/>
              </a:spcAft>
              <a:buNone/>
            </a:pPr>
            <a:r>
              <a:t/>
            </a:r>
            <a:endParaRPr sz="1350">
              <a:latin typeface="DM Sans"/>
              <a:ea typeface="DM Sans"/>
              <a:cs typeface="DM Sans"/>
              <a:sym typeface="DM Sans"/>
            </a:endParaRPr>
          </a:p>
        </p:txBody>
      </p:sp>
      <p:pic>
        <p:nvPicPr>
          <p:cNvPr id="417" name="Google Shape;417;p69"/>
          <p:cNvPicPr preferRelativeResize="0"/>
          <p:nvPr/>
        </p:nvPicPr>
        <p:blipFill>
          <a:blip r:embed="rId3">
            <a:alphaModFix/>
          </a:blip>
          <a:stretch>
            <a:fillRect/>
          </a:stretch>
        </p:blipFill>
        <p:spPr>
          <a:xfrm>
            <a:off x="7194900" y="1742025"/>
            <a:ext cx="1742050" cy="1659450"/>
          </a:xfrm>
          <a:prstGeom prst="rect">
            <a:avLst/>
          </a:prstGeom>
          <a:noFill/>
          <a:ln>
            <a:noFill/>
          </a:ln>
        </p:spPr>
      </p:pic>
      <p:pic>
        <p:nvPicPr>
          <p:cNvPr id="418" name="Google Shape;418;p69"/>
          <p:cNvPicPr preferRelativeResize="0"/>
          <p:nvPr/>
        </p:nvPicPr>
        <p:blipFill>
          <a:blip r:embed="rId3">
            <a:alphaModFix/>
          </a:blip>
          <a:stretch>
            <a:fillRect/>
          </a:stretch>
        </p:blipFill>
        <p:spPr>
          <a:xfrm>
            <a:off x="5278250" y="1734131"/>
            <a:ext cx="1742050" cy="1659450"/>
          </a:xfrm>
          <a:prstGeom prst="rect">
            <a:avLst/>
          </a:prstGeom>
          <a:noFill/>
          <a:ln>
            <a:noFill/>
          </a:ln>
        </p:spPr>
      </p:pic>
      <p:sp>
        <p:nvSpPr>
          <p:cNvPr id="419" name="Google Shape;419;p69"/>
          <p:cNvSpPr txBox="1"/>
          <p:nvPr/>
        </p:nvSpPr>
        <p:spPr>
          <a:xfrm>
            <a:off x="5529625" y="1158050"/>
            <a:ext cx="35406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1800">
                <a:solidFill>
                  <a:schemeClr val="dk1"/>
                </a:solidFill>
                <a:latin typeface="DM Sans"/>
                <a:ea typeface="DM Sans"/>
                <a:cs typeface="DM Sans"/>
                <a:sym typeface="DM Sans"/>
              </a:rPr>
              <a:t>Virtual DOM                  DOM</a:t>
            </a:r>
            <a:endParaRPr b="1" sz="1800">
              <a:solidFill>
                <a:schemeClr val="dk1"/>
              </a:solidFill>
              <a:latin typeface="DM Sans"/>
              <a:ea typeface="DM Sans"/>
              <a:cs typeface="DM Sans"/>
              <a:sym typeface="DM Sans"/>
            </a:endParaRPr>
          </a:p>
        </p:txBody>
      </p:sp>
      <p:sp>
        <p:nvSpPr>
          <p:cNvPr id="420" name="Google Shape;420;p69"/>
          <p:cNvSpPr txBox="1"/>
          <p:nvPr/>
        </p:nvSpPr>
        <p:spPr>
          <a:xfrm>
            <a:off x="5668500" y="3662700"/>
            <a:ext cx="3000000" cy="392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s" sz="1350">
                <a:solidFill>
                  <a:schemeClr val="dk1"/>
                </a:solidFill>
                <a:latin typeface="DM Sans"/>
                <a:ea typeface="DM Sans"/>
                <a:cs typeface="DM Sans"/>
                <a:sym typeface="DM Sans"/>
              </a:rPr>
              <a:t>Somos igualitos!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70"/>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HTML por defecto en React</a:t>
            </a:r>
            <a:endParaRPr b="1" sz="4000">
              <a:solidFill>
                <a:schemeClr val="dk1"/>
              </a:solidFill>
              <a:latin typeface="DM Sans"/>
              <a:ea typeface="DM Sans"/>
              <a:cs typeface="DM Sans"/>
              <a:sym typeface="DM Sans"/>
            </a:endParaRPr>
          </a:p>
        </p:txBody>
      </p:sp>
      <p:pic>
        <p:nvPicPr>
          <p:cNvPr id="426" name="Google Shape;426;p70"/>
          <p:cNvPicPr preferRelativeResize="0"/>
          <p:nvPr/>
        </p:nvPicPr>
        <p:blipFill>
          <a:blip r:embed="rId3">
            <a:alphaModFix/>
          </a:blip>
          <a:stretch>
            <a:fillRect/>
          </a:stretch>
        </p:blipFill>
        <p:spPr>
          <a:xfrm>
            <a:off x="2430488" y="1435175"/>
            <a:ext cx="4226832" cy="34802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71"/>
          <p:cNvSpPr txBox="1"/>
          <p:nvPr/>
        </p:nvSpPr>
        <p:spPr>
          <a:xfrm>
            <a:off x="473350" y="392625"/>
            <a:ext cx="81411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React en el navegador</a:t>
            </a:r>
            <a:endParaRPr b="1" sz="4000">
              <a:solidFill>
                <a:schemeClr val="dk1"/>
              </a:solidFill>
              <a:latin typeface="DM Sans"/>
              <a:ea typeface="DM Sans"/>
              <a:cs typeface="DM Sans"/>
              <a:sym typeface="DM Sans"/>
            </a:endParaRPr>
          </a:p>
        </p:txBody>
      </p:sp>
      <p:pic>
        <p:nvPicPr>
          <p:cNvPr id="432" name="Google Shape;432;p71"/>
          <p:cNvPicPr preferRelativeResize="0"/>
          <p:nvPr/>
        </p:nvPicPr>
        <p:blipFill>
          <a:blip r:embed="rId3">
            <a:alphaModFix/>
          </a:blip>
          <a:stretch>
            <a:fillRect/>
          </a:stretch>
        </p:blipFill>
        <p:spPr>
          <a:xfrm>
            <a:off x="1723048" y="1419500"/>
            <a:ext cx="5641701" cy="30353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72"/>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DIFFING       </a:t>
            </a:r>
            <a:endParaRPr b="1" sz="4000">
              <a:solidFill>
                <a:schemeClr val="dk1"/>
              </a:solidFill>
              <a:latin typeface="DM Sans"/>
              <a:ea typeface="DM Sans"/>
              <a:cs typeface="DM Sans"/>
              <a:sym typeface="DM Sans"/>
            </a:endParaRPr>
          </a:p>
        </p:txBody>
      </p:sp>
      <p:sp>
        <p:nvSpPr>
          <p:cNvPr id="438" name="Google Shape;438;p72"/>
          <p:cNvSpPr txBox="1"/>
          <p:nvPr/>
        </p:nvSpPr>
        <p:spPr>
          <a:xfrm>
            <a:off x="475500" y="1600175"/>
            <a:ext cx="3834600" cy="445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Cuando en nuestra aplicación ocurre un cambio en el </a:t>
            </a:r>
            <a:r>
              <a:rPr b="1" lang="es" sz="1350">
                <a:solidFill>
                  <a:schemeClr val="accent5"/>
                </a:solidFill>
                <a:latin typeface="DM Sans"/>
                <a:ea typeface="DM Sans"/>
                <a:cs typeface="DM Sans"/>
                <a:sym typeface="DM Sans"/>
              </a:rPr>
              <a:t>estado</a:t>
            </a:r>
            <a:r>
              <a:rPr lang="es" sz="1350">
                <a:latin typeface="DM Sans"/>
                <a:ea typeface="DM Sans"/>
                <a:cs typeface="DM Sans"/>
                <a:sym typeface="DM Sans"/>
              </a:rPr>
              <a:t> de nuestros datos.</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React crea una nueva versión del </a:t>
            </a:r>
            <a:r>
              <a:rPr b="1" lang="es" sz="1350">
                <a:latin typeface="DM Sans"/>
                <a:ea typeface="DM Sans"/>
                <a:cs typeface="DM Sans"/>
                <a:sym typeface="DM Sans"/>
              </a:rPr>
              <a:t>VDOM</a:t>
            </a:r>
            <a:r>
              <a:rPr lang="es" sz="1350">
                <a:latin typeface="DM Sans"/>
                <a:ea typeface="DM Sans"/>
                <a:cs typeface="DM Sans"/>
                <a:sym typeface="DM Sans"/>
              </a:rPr>
              <a:t> y la compara con el </a:t>
            </a:r>
            <a:r>
              <a:rPr b="1" lang="es" sz="1350">
                <a:latin typeface="DM Sans"/>
                <a:ea typeface="DM Sans"/>
                <a:cs typeface="DM Sans"/>
                <a:sym typeface="DM Sans"/>
              </a:rPr>
              <a:t>VDOM</a:t>
            </a:r>
            <a:r>
              <a:rPr lang="es" sz="1350">
                <a:latin typeface="DM Sans"/>
                <a:ea typeface="DM Sans"/>
                <a:cs typeface="DM Sans"/>
                <a:sym typeface="DM Sans"/>
              </a:rPr>
              <a:t> guardado en memoria.</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De este modo obtiene la diferencia exacta  entre ambas instantáneas (snapshots).</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Este proceso se llama </a:t>
            </a:r>
            <a:r>
              <a:rPr b="1" lang="es" sz="1350">
                <a:latin typeface="DM Sans"/>
                <a:ea typeface="DM Sans"/>
                <a:cs typeface="DM Sans"/>
                <a:sym typeface="DM Sans"/>
              </a:rPr>
              <a:t>diffing</a:t>
            </a:r>
            <a:r>
              <a:rPr lang="es" sz="1350">
                <a:latin typeface="DM Sans"/>
                <a:ea typeface="DM Sans"/>
                <a:cs typeface="DM Sans"/>
                <a:sym typeface="DM Sans"/>
              </a:rPr>
              <a:t>.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b="1" sz="1350">
              <a:latin typeface="DM Sans"/>
              <a:ea typeface="DM Sans"/>
              <a:cs typeface="DM Sans"/>
              <a:sym typeface="DM Sans"/>
            </a:endParaRPr>
          </a:p>
          <a:p>
            <a:pPr indent="0" lvl="0" marL="0" rtl="0" algn="l">
              <a:lnSpc>
                <a:spcPct val="115000"/>
              </a:lnSpc>
              <a:spcBef>
                <a:spcPts val="0"/>
              </a:spcBef>
              <a:spcAft>
                <a:spcPts val="0"/>
              </a:spcAft>
              <a:buNone/>
            </a:pPr>
            <a:r>
              <a:t/>
            </a:r>
            <a:endParaRPr sz="1350">
              <a:latin typeface="DM Sans"/>
              <a:ea typeface="DM Sans"/>
              <a:cs typeface="DM Sans"/>
              <a:sym typeface="DM Sans"/>
            </a:endParaRPr>
          </a:p>
        </p:txBody>
      </p:sp>
      <p:pic>
        <p:nvPicPr>
          <p:cNvPr id="439" name="Google Shape;439;p72"/>
          <p:cNvPicPr preferRelativeResize="0"/>
          <p:nvPr/>
        </p:nvPicPr>
        <p:blipFill>
          <a:blip r:embed="rId3">
            <a:alphaModFix/>
          </a:blip>
          <a:stretch>
            <a:fillRect/>
          </a:stretch>
        </p:blipFill>
        <p:spPr>
          <a:xfrm>
            <a:off x="5754091" y="1812700"/>
            <a:ext cx="2209800" cy="2105025"/>
          </a:xfrm>
          <a:prstGeom prst="rect">
            <a:avLst/>
          </a:prstGeom>
          <a:noFill/>
          <a:ln>
            <a:noFill/>
          </a:ln>
        </p:spPr>
      </p:pic>
      <p:sp>
        <p:nvSpPr>
          <p:cNvPr id="440" name="Google Shape;440;p72"/>
          <p:cNvSpPr txBox="1"/>
          <p:nvPr/>
        </p:nvSpPr>
        <p:spPr>
          <a:xfrm>
            <a:off x="6221721" y="1195225"/>
            <a:ext cx="19452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1800">
                <a:solidFill>
                  <a:schemeClr val="dk1"/>
                </a:solidFill>
                <a:latin typeface="DM Sans"/>
                <a:ea typeface="DM Sans"/>
                <a:cs typeface="DM Sans"/>
                <a:sym typeface="DM Sans"/>
              </a:rPr>
              <a:t>Virtual DOM         </a:t>
            </a:r>
            <a:endParaRPr b="1" sz="1800">
              <a:solidFill>
                <a:schemeClr val="dk1"/>
              </a:solidFill>
              <a:latin typeface="DM Sans"/>
              <a:ea typeface="DM Sans"/>
              <a:cs typeface="DM Sans"/>
              <a:sym typeface="DM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73"/>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Reconciliación</a:t>
            </a:r>
            <a:endParaRPr b="1" sz="4000">
              <a:solidFill>
                <a:schemeClr val="dk1"/>
              </a:solidFill>
              <a:latin typeface="DM Sans"/>
              <a:ea typeface="DM Sans"/>
              <a:cs typeface="DM Sans"/>
              <a:sym typeface="DM Sans"/>
            </a:endParaRPr>
          </a:p>
        </p:txBody>
      </p:sp>
      <p:sp>
        <p:nvSpPr>
          <p:cNvPr id="446" name="Google Shape;446;p73"/>
          <p:cNvSpPr txBox="1"/>
          <p:nvPr/>
        </p:nvSpPr>
        <p:spPr>
          <a:xfrm>
            <a:off x="473350" y="1810200"/>
            <a:ext cx="3834600" cy="442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React luego, con los datos obtenidos del </a:t>
            </a:r>
            <a:r>
              <a:rPr b="1" lang="es" sz="1350">
                <a:solidFill>
                  <a:schemeClr val="dk1"/>
                </a:solidFill>
                <a:latin typeface="DM Sans"/>
                <a:ea typeface="DM Sans"/>
                <a:cs typeface="DM Sans"/>
                <a:sym typeface="DM Sans"/>
              </a:rPr>
              <a:t>diff,</a:t>
            </a:r>
            <a:r>
              <a:rPr lang="es" sz="1350">
                <a:solidFill>
                  <a:schemeClr val="dk1"/>
                </a:solidFill>
                <a:latin typeface="DM Sans"/>
                <a:ea typeface="DM Sans"/>
                <a:cs typeface="DM Sans"/>
                <a:sym typeface="DM Sans"/>
              </a:rPr>
              <a:t> efectúa un proceso llamado de </a:t>
            </a:r>
            <a:r>
              <a:rPr b="1" lang="es" sz="1350">
                <a:solidFill>
                  <a:schemeClr val="dk1"/>
                </a:solidFill>
                <a:highlight>
                  <a:schemeClr val="accent1"/>
                </a:highlight>
                <a:latin typeface="DM Sans"/>
                <a:ea typeface="DM Sans"/>
                <a:cs typeface="DM Sans"/>
                <a:sym typeface="DM Sans"/>
              </a:rPr>
              <a:t>reconciliación</a:t>
            </a:r>
            <a:r>
              <a:rPr lang="es" sz="1350">
                <a:solidFill>
                  <a:schemeClr val="dk1"/>
                </a:solidFill>
                <a:latin typeface="DM Sans"/>
                <a:ea typeface="DM Sans"/>
                <a:cs typeface="DM Sans"/>
                <a:sym typeface="DM Sans"/>
              </a:rPr>
              <a:t> en el cuál detecta por sí mismo todos los cambios que serán necesarios en el DOM y como realizarlos de la manera más óptima.</a:t>
            </a:r>
            <a:endParaRPr sz="13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350">
              <a:solidFill>
                <a:schemeClr val="dk1"/>
              </a:solidFill>
              <a:highlight>
                <a:schemeClr val="accent6"/>
              </a:highlight>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b="1" sz="1350">
              <a:latin typeface="DM Sans"/>
              <a:ea typeface="DM Sans"/>
              <a:cs typeface="DM Sans"/>
              <a:sym typeface="DM Sans"/>
            </a:endParaRPr>
          </a:p>
          <a:p>
            <a:pPr indent="0" lvl="0" marL="0" rtl="0" algn="l">
              <a:lnSpc>
                <a:spcPct val="115000"/>
              </a:lnSpc>
              <a:spcBef>
                <a:spcPts val="0"/>
              </a:spcBef>
              <a:spcAft>
                <a:spcPts val="0"/>
              </a:spcAft>
              <a:buNone/>
            </a:pPr>
            <a:r>
              <a:t/>
            </a:r>
            <a:endParaRPr sz="1350">
              <a:latin typeface="DM Sans"/>
              <a:ea typeface="DM Sans"/>
              <a:cs typeface="DM Sans"/>
              <a:sym typeface="DM Sans"/>
            </a:endParaRPr>
          </a:p>
        </p:txBody>
      </p:sp>
      <p:pic>
        <p:nvPicPr>
          <p:cNvPr id="447" name="Google Shape;447;p73"/>
          <p:cNvPicPr preferRelativeResize="0"/>
          <p:nvPr/>
        </p:nvPicPr>
        <p:blipFill>
          <a:blip r:embed="rId3">
            <a:alphaModFix/>
          </a:blip>
          <a:stretch>
            <a:fillRect/>
          </a:stretch>
        </p:blipFill>
        <p:spPr>
          <a:xfrm>
            <a:off x="4612750" y="1207825"/>
            <a:ext cx="4531251" cy="2529948"/>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74"/>
          <p:cNvSpPr/>
          <p:nvPr/>
        </p:nvSpPr>
        <p:spPr>
          <a:xfrm>
            <a:off x="647400" y="1189150"/>
            <a:ext cx="7849200" cy="33174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74"/>
          <p:cNvSpPr txBox="1"/>
          <p:nvPr/>
        </p:nvSpPr>
        <p:spPr>
          <a:xfrm>
            <a:off x="316225" y="345975"/>
            <a:ext cx="8438400" cy="5448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2600">
                <a:solidFill>
                  <a:schemeClr val="lt1"/>
                </a:solidFill>
                <a:latin typeface="DM Sans"/>
                <a:ea typeface="DM Sans"/>
                <a:cs typeface="DM Sans"/>
                <a:sym typeface="DM Sans"/>
              </a:rPr>
              <a:t>Primera premisa: Optimicemos los movimientos</a:t>
            </a:r>
            <a:endParaRPr b="1" sz="3500">
              <a:solidFill>
                <a:schemeClr val="lt1"/>
              </a:solidFill>
              <a:latin typeface="DM Sans"/>
              <a:ea typeface="DM Sans"/>
              <a:cs typeface="DM Sans"/>
              <a:sym typeface="DM Sans"/>
            </a:endParaRPr>
          </a:p>
        </p:txBody>
      </p:sp>
      <p:pic>
        <p:nvPicPr>
          <p:cNvPr id="454" name="Google Shape;454;p74"/>
          <p:cNvPicPr preferRelativeResize="0"/>
          <p:nvPr/>
        </p:nvPicPr>
        <p:blipFill rotWithShape="1">
          <a:blip r:embed="rId3">
            <a:alphaModFix/>
          </a:blip>
          <a:srcRect b="0" l="0" r="0" t="15725"/>
          <a:stretch/>
        </p:blipFill>
        <p:spPr>
          <a:xfrm>
            <a:off x="1868975" y="2031850"/>
            <a:ext cx="5406051" cy="1632000"/>
          </a:xfrm>
          <a:prstGeom prst="rect">
            <a:avLst/>
          </a:prstGeom>
          <a:noFill/>
          <a:ln>
            <a:noFill/>
          </a:ln>
        </p:spPr>
      </p:pic>
      <p:sp>
        <p:nvSpPr>
          <p:cNvPr id="455" name="Google Shape;455;p74"/>
          <p:cNvSpPr txBox="1"/>
          <p:nvPr/>
        </p:nvSpPr>
        <p:spPr>
          <a:xfrm>
            <a:off x="7318550" y="1394750"/>
            <a:ext cx="1016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50">
                <a:latin typeface="DM Sans"/>
                <a:ea typeface="DM Sans"/>
                <a:cs typeface="DM Sans"/>
                <a:sym typeface="DM Sans"/>
              </a:rPr>
              <a:t>Zona de</a:t>
            </a:r>
            <a:endParaRPr sz="1350">
              <a:latin typeface="DM Sans"/>
              <a:ea typeface="DM Sans"/>
              <a:cs typeface="DM Sans"/>
              <a:sym typeface="DM Sans"/>
            </a:endParaRPr>
          </a:p>
          <a:p>
            <a:pPr indent="0" lvl="0" marL="0" rtl="0" algn="l">
              <a:spcBef>
                <a:spcPts val="0"/>
              </a:spcBef>
              <a:spcAft>
                <a:spcPts val="0"/>
              </a:spcAft>
              <a:buNone/>
            </a:pPr>
            <a:r>
              <a:rPr lang="es" sz="1350">
                <a:latin typeface="DM Sans"/>
                <a:ea typeface="DM Sans"/>
                <a:cs typeface="DM Sans"/>
                <a:sym typeface="DM Sans"/>
              </a:rPr>
              <a:t>evento</a:t>
            </a:r>
            <a:endParaRPr sz="1350">
              <a:latin typeface="DM Sans"/>
              <a:ea typeface="DM Sans"/>
              <a:cs typeface="DM Sans"/>
              <a:sym typeface="DM Sans"/>
            </a:endParaRPr>
          </a:p>
        </p:txBody>
      </p:sp>
      <p:cxnSp>
        <p:nvCxnSpPr>
          <p:cNvPr id="456" name="Google Shape;456;p74"/>
          <p:cNvCxnSpPr/>
          <p:nvPr/>
        </p:nvCxnSpPr>
        <p:spPr>
          <a:xfrm flipH="1">
            <a:off x="4446700" y="1691625"/>
            <a:ext cx="2823300" cy="855300"/>
          </a:xfrm>
          <a:prstGeom prst="straightConnector1">
            <a:avLst/>
          </a:prstGeom>
          <a:noFill/>
          <a:ln cap="flat" cmpd="sng" w="9525">
            <a:solidFill>
              <a:srgbClr val="595959"/>
            </a:solidFill>
            <a:prstDash val="solid"/>
            <a:round/>
            <a:headEnd len="med" w="med" type="none"/>
            <a:tailEnd len="med" w="med" type="triangle"/>
          </a:ln>
        </p:spPr>
      </p:cxnSp>
      <p:sp>
        <p:nvSpPr>
          <p:cNvPr id="457" name="Google Shape;457;p74"/>
          <p:cNvSpPr txBox="1"/>
          <p:nvPr/>
        </p:nvSpPr>
        <p:spPr>
          <a:xfrm>
            <a:off x="7630250" y="2155350"/>
            <a:ext cx="1394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50">
                <a:latin typeface="DM Sans"/>
                <a:ea typeface="DM Sans"/>
                <a:cs typeface="DM Sans"/>
                <a:sym typeface="DM Sans"/>
              </a:rPr>
              <a:t>Cambio </a:t>
            </a:r>
            <a:endParaRPr sz="1350">
              <a:latin typeface="DM Sans"/>
              <a:ea typeface="DM Sans"/>
              <a:cs typeface="DM Sans"/>
              <a:sym typeface="DM Sans"/>
            </a:endParaRPr>
          </a:p>
          <a:p>
            <a:pPr indent="0" lvl="0" marL="0" rtl="0" algn="l">
              <a:spcBef>
                <a:spcPts val="0"/>
              </a:spcBef>
              <a:spcAft>
                <a:spcPts val="0"/>
              </a:spcAft>
              <a:buNone/>
            </a:pPr>
            <a:r>
              <a:rPr lang="es" sz="1350">
                <a:latin typeface="DM Sans"/>
                <a:ea typeface="DM Sans"/>
                <a:cs typeface="DM Sans"/>
                <a:sym typeface="DM Sans"/>
              </a:rPr>
              <a:t>aislado</a:t>
            </a:r>
            <a:endParaRPr sz="1350">
              <a:latin typeface="DM Sans"/>
              <a:ea typeface="DM Sans"/>
              <a:cs typeface="DM Sans"/>
              <a:sym typeface="DM Sans"/>
            </a:endParaRPr>
          </a:p>
        </p:txBody>
      </p:sp>
      <p:cxnSp>
        <p:nvCxnSpPr>
          <p:cNvPr id="458" name="Google Shape;458;p74"/>
          <p:cNvCxnSpPr/>
          <p:nvPr/>
        </p:nvCxnSpPr>
        <p:spPr>
          <a:xfrm rot="10800000">
            <a:off x="1550975" y="2547000"/>
            <a:ext cx="557700" cy="49500"/>
          </a:xfrm>
          <a:prstGeom prst="straightConnector1">
            <a:avLst/>
          </a:prstGeom>
          <a:noFill/>
          <a:ln cap="flat" cmpd="sng" w="9525">
            <a:solidFill>
              <a:srgbClr val="595959"/>
            </a:solidFill>
            <a:prstDash val="solid"/>
            <a:round/>
            <a:headEnd len="med" w="med" type="none"/>
            <a:tailEnd len="med" w="med" type="triangle"/>
          </a:ln>
        </p:spPr>
      </p:cxnSp>
      <p:sp>
        <p:nvSpPr>
          <p:cNvPr id="459" name="Google Shape;459;p74"/>
          <p:cNvSpPr txBox="1"/>
          <p:nvPr/>
        </p:nvSpPr>
        <p:spPr>
          <a:xfrm>
            <a:off x="647400" y="2289425"/>
            <a:ext cx="10161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350">
                <a:latin typeface="DM Sans"/>
                <a:ea typeface="DM Sans"/>
                <a:cs typeface="DM Sans"/>
                <a:sym typeface="DM Sans"/>
              </a:rPr>
              <a:t>Nodos</a:t>
            </a:r>
            <a:endParaRPr sz="1350">
              <a:latin typeface="DM Sans"/>
              <a:ea typeface="DM Sans"/>
              <a:cs typeface="DM Sans"/>
              <a:sym typeface="DM Sans"/>
            </a:endParaRPr>
          </a:p>
        </p:txBody>
      </p:sp>
      <p:cxnSp>
        <p:nvCxnSpPr>
          <p:cNvPr id="460" name="Google Shape;460;p74"/>
          <p:cNvCxnSpPr/>
          <p:nvPr/>
        </p:nvCxnSpPr>
        <p:spPr>
          <a:xfrm flipH="1" rot="10800000">
            <a:off x="6398375" y="2408300"/>
            <a:ext cx="1179600" cy="471000"/>
          </a:xfrm>
          <a:prstGeom prst="straightConnector1">
            <a:avLst/>
          </a:prstGeom>
          <a:noFill/>
          <a:ln cap="flat" cmpd="sng" w="9525">
            <a:solidFill>
              <a:srgbClr val="595959"/>
            </a:solidFill>
            <a:prstDash val="solid"/>
            <a:round/>
            <a:headEnd len="med" w="med" type="none"/>
            <a:tailEnd len="med" w="med" type="triangle"/>
          </a:ln>
        </p:spPr>
      </p:cxnSp>
      <p:sp>
        <p:nvSpPr>
          <p:cNvPr id="461" name="Google Shape;461;p74"/>
          <p:cNvSpPr txBox="1"/>
          <p:nvPr/>
        </p:nvSpPr>
        <p:spPr>
          <a:xfrm>
            <a:off x="3546571" y="3746593"/>
            <a:ext cx="1586400" cy="8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50">
                <a:latin typeface="DM Sans"/>
                <a:ea typeface="DM Sans"/>
                <a:cs typeface="DM Sans"/>
                <a:sym typeface="DM Sans"/>
              </a:rPr>
              <a:t>Estado original</a:t>
            </a:r>
            <a:endParaRPr sz="1350">
              <a:latin typeface="DM Sans"/>
              <a:ea typeface="DM Sans"/>
              <a:cs typeface="DM Sans"/>
              <a:sym typeface="DM Sans"/>
            </a:endParaRPr>
          </a:p>
        </p:txBody>
      </p:sp>
      <p:cxnSp>
        <p:nvCxnSpPr>
          <p:cNvPr id="462" name="Google Shape;462;p74"/>
          <p:cNvCxnSpPr/>
          <p:nvPr/>
        </p:nvCxnSpPr>
        <p:spPr>
          <a:xfrm rot="10800000">
            <a:off x="2899525" y="3242150"/>
            <a:ext cx="595800" cy="651600"/>
          </a:xfrm>
          <a:prstGeom prst="straightConnector1">
            <a:avLst/>
          </a:prstGeom>
          <a:noFill/>
          <a:ln cap="flat" cmpd="sng" w="9525">
            <a:solidFill>
              <a:srgbClr val="595959"/>
            </a:solidFill>
            <a:prstDash val="solid"/>
            <a:round/>
            <a:headEnd len="med" w="med" type="none"/>
            <a:tailEnd len="med" w="med" type="triangle"/>
          </a:ln>
        </p:spPr>
      </p:cxnSp>
      <p:cxnSp>
        <p:nvCxnSpPr>
          <p:cNvPr id="463" name="Google Shape;463;p74"/>
          <p:cNvCxnSpPr/>
          <p:nvPr/>
        </p:nvCxnSpPr>
        <p:spPr>
          <a:xfrm flipH="1">
            <a:off x="5310475" y="2704600"/>
            <a:ext cx="384300" cy="582600"/>
          </a:xfrm>
          <a:prstGeom prst="straightConnector1">
            <a:avLst/>
          </a:prstGeom>
          <a:noFill/>
          <a:ln cap="flat" cmpd="sng" w="9525">
            <a:solidFill>
              <a:srgbClr val="595959"/>
            </a:solidFill>
            <a:prstDash val="solid"/>
            <a:round/>
            <a:headEnd len="med" w="med" type="none"/>
            <a:tailEnd len="med" w="med" type="triangle"/>
          </a:ln>
        </p:spPr>
      </p:cxnSp>
      <p:cxnSp>
        <p:nvCxnSpPr>
          <p:cNvPr id="464" name="Google Shape;464;p74"/>
          <p:cNvCxnSpPr/>
          <p:nvPr/>
        </p:nvCxnSpPr>
        <p:spPr>
          <a:xfrm>
            <a:off x="5967150" y="2879300"/>
            <a:ext cx="235500" cy="309900"/>
          </a:xfrm>
          <a:prstGeom prst="straightConnector1">
            <a:avLst/>
          </a:prstGeom>
          <a:noFill/>
          <a:ln cap="flat" cmpd="sng" w="9525">
            <a:solidFill>
              <a:srgbClr val="595959"/>
            </a:solidFill>
            <a:prstDash val="solid"/>
            <a:round/>
            <a:headEnd len="med" w="med" type="none"/>
            <a:tailEnd len="med" w="med" type="triangle"/>
          </a:ln>
        </p:spPr>
      </p:cxn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75"/>
          <p:cNvSpPr txBox="1"/>
          <p:nvPr/>
        </p:nvSpPr>
        <p:spPr>
          <a:xfrm>
            <a:off x="475500" y="941400"/>
            <a:ext cx="70854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React</a:t>
            </a:r>
            <a:endParaRPr b="1" sz="4000">
              <a:solidFill>
                <a:schemeClr val="dk1"/>
              </a:solidFill>
              <a:latin typeface="DM Sans"/>
              <a:ea typeface="DM Sans"/>
              <a:cs typeface="DM Sans"/>
              <a:sym typeface="DM Sans"/>
            </a:endParaRPr>
          </a:p>
        </p:txBody>
      </p:sp>
      <p:sp>
        <p:nvSpPr>
          <p:cNvPr id="470" name="Google Shape;470;p75"/>
          <p:cNvSpPr txBox="1"/>
          <p:nvPr/>
        </p:nvSpPr>
        <p:spPr>
          <a:xfrm>
            <a:off x="436525" y="2233250"/>
            <a:ext cx="4730100" cy="134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latin typeface="DM Sans"/>
                <a:ea typeface="DM Sans"/>
                <a:cs typeface="DM Sans"/>
                <a:sym typeface="DM Sans"/>
              </a:rPr>
              <a:t>En vez de aplicar </a:t>
            </a:r>
            <a:r>
              <a:rPr lang="es" sz="1350">
                <a:highlight>
                  <a:schemeClr val="accent6"/>
                </a:highlight>
                <a:latin typeface="DM Sans"/>
                <a:ea typeface="DM Sans"/>
                <a:cs typeface="DM Sans"/>
                <a:sym typeface="DM Sans"/>
              </a:rPr>
              <a:t>uno a uno</a:t>
            </a:r>
            <a:r>
              <a:rPr lang="es" sz="1350">
                <a:latin typeface="DM Sans"/>
                <a:ea typeface="DM Sans"/>
                <a:cs typeface="DM Sans"/>
                <a:sym typeface="DM Sans"/>
              </a:rPr>
              <a:t> los cambios en los cinco nodos, </a:t>
            </a:r>
            <a:r>
              <a:rPr lang="es" sz="1350">
                <a:highlight>
                  <a:schemeClr val="accent6"/>
                </a:highlight>
                <a:latin typeface="DM Sans"/>
                <a:ea typeface="DM Sans"/>
                <a:cs typeface="DM Sans"/>
                <a:sym typeface="DM Sans"/>
              </a:rPr>
              <a:t>React</a:t>
            </a:r>
            <a:r>
              <a:rPr lang="es" sz="1350">
                <a:latin typeface="DM Sans"/>
                <a:ea typeface="DM Sans"/>
                <a:cs typeface="DM Sans"/>
                <a:sym typeface="DM Sans"/>
              </a:rPr>
              <a:t> procesa este resultado en una memoria. Calcula el área de impacto y determina la menor cantidad de movimientos de modo </a:t>
            </a:r>
            <a:r>
              <a:rPr lang="es" sz="1350">
                <a:highlight>
                  <a:schemeClr val="accent6"/>
                </a:highlight>
                <a:latin typeface="DM Sans"/>
                <a:ea typeface="DM Sans"/>
                <a:cs typeface="DM Sans"/>
                <a:sym typeface="DM Sans"/>
              </a:rPr>
              <a:t>heurístico</a:t>
            </a:r>
            <a:r>
              <a:rPr lang="es" sz="1350">
                <a:latin typeface="DM Sans"/>
                <a:ea typeface="DM Sans"/>
                <a:cs typeface="DM Sans"/>
                <a:sym typeface="DM Sans"/>
              </a:rPr>
              <a:t>, por lo que también sabe donde</a:t>
            </a:r>
            <a:r>
              <a:rPr lang="es" sz="1350">
                <a:highlight>
                  <a:schemeClr val="accent6"/>
                </a:highlight>
                <a:latin typeface="DM Sans"/>
                <a:ea typeface="DM Sans"/>
                <a:cs typeface="DM Sans"/>
                <a:sym typeface="DM Sans"/>
              </a:rPr>
              <a:t> pueden no haber ocurrido</a:t>
            </a:r>
            <a:r>
              <a:rPr lang="es" sz="1350">
                <a:latin typeface="DM Sans"/>
                <a:ea typeface="DM Sans"/>
                <a:cs typeface="DM Sans"/>
                <a:sym typeface="DM Sans"/>
              </a:rPr>
              <a:t> cambios.</a:t>
            </a:r>
            <a:endParaRPr sz="1350">
              <a:latin typeface="DM Sans"/>
              <a:ea typeface="DM Sans"/>
              <a:cs typeface="DM Sans"/>
              <a:sym typeface="DM Sans"/>
            </a:endParaRPr>
          </a:p>
        </p:txBody>
      </p:sp>
      <p:pic>
        <p:nvPicPr>
          <p:cNvPr id="471" name="Google Shape;471;p75"/>
          <p:cNvPicPr preferRelativeResize="0"/>
          <p:nvPr/>
        </p:nvPicPr>
        <p:blipFill>
          <a:blip r:embed="rId3">
            <a:alphaModFix/>
          </a:blip>
          <a:stretch>
            <a:fillRect/>
          </a:stretch>
        </p:blipFill>
        <p:spPr>
          <a:xfrm>
            <a:off x="5645126" y="1915300"/>
            <a:ext cx="1998375" cy="17885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76"/>
          <p:cNvSpPr txBox="1"/>
          <p:nvPr/>
        </p:nvSpPr>
        <p:spPr>
          <a:xfrm>
            <a:off x="475500" y="941400"/>
            <a:ext cx="7085400" cy="2401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s" sz="4000">
                <a:solidFill>
                  <a:schemeClr val="dk1"/>
                </a:solidFill>
                <a:latin typeface="DM Sans"/>
                <a:ea typeface="DM Sans"/>
                <a:cs typeface="DM Sans"/>
                <a:sym typeface="DM Sans"/>
              </a:rPr>
              <a:t>Flujo de datos unidireccional</a:t>
            </a:r>
            <a:endParaRPr b="1" sz="4000">
              <a:solidFill>
                <a:schemeClr val="dk1"/>
              </a:solidFill>
              <a:latin typeface="DM Sans"/>
              <a:ea typeface="DM Sans"/>
              <a:cs typeface="DM Sans"/>
              <a:sym typeface="DM Sans"/>
            </a:endParaRPr>
          </a:p>
          <a:p>
            <a:pPr indent="0" lvl="0" marL="0" rtl="0" algn="l">
              <a:lnSpc>
                <a:spcPct val="90000"/>
              </a:lnSpc>
              <a:spcBef>
                <a:spcPts val="0"/>
              </a:spcBef>
              <a:spcAft>
                <a:spcPts val="0"/>
              </a:spcAft>
              <a:buClr>
                <a:schemeClr val="dk1"/>
              </a:buClr>
              <a:buSzPts val="1100"/>
              <a:buFont typeface="Arial"/>
              <a:buNone/>
            </a:pPr>
            <a:r>
              <a:t/>
            </a:r>
            <a:endParaRPr b="1" sz="4000">
              <a:solidFill>
                <a:schemeClr val="dk1"/>
              </a:solidFill>
              <a:latin typeface="DM Sans"/>
              <a:ea typeface="DM Sans"/>
              <a:cs typeface="DM Sans"/>
              <a:sym typeface="DM Sans"/>
            </a:endParaRPr>
          </a:p>
          <a:p>
            <a:pPr indent="0" lvl="0" marL="0" rtl="0" algn="l">
              <a:lnSpc>
                <a:spcPct val="90000"/>
              </a:lnSpc>
              <a:spcBef>
                <a:spcPts val="0"/>
              </a:spcBef>
              <a:spcAft>
                <a:spcPts val="0"/>
              </a:spcAft>
              <a:buNone/>
            </a:pPr>
            <a:r>
              <a:t/>
            </a:r>
            <a:endParaRPr b="1" sz="4000">
              <a:solidFill>
                <a:schemeClr val="dk1"/>
              </a:solidFill>
              <a:latin typeface="DM Sans"/>
              <a:ea typeface="DM Sans"/>
              <a:cs typeface="DM Sans"/>
              <a:sym typeface="DM Sans"/>
            </a:endParaRPr>
          </a:p>
        </p:txBody>
      </p:sp>
      <p:sp>
        <p:nvSpPr>
          <p:cNvPr id="477" name="Google Shape;477;p76"/>
          <p:cNvSpPr txBox="1"/>
          <p:nvPr/>
        </p:nvSpPr>
        <p:spPr>
          <a:xfrm>
            <a:off x="436525" y="2233250"/>
            <a:ext cx="4730100" cy="143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50">
              <a:latin typeface="DM Sans"/>
              <a:ea typeface="DM Sans"/>
              <a:cs typeface="DM Sans"/>
              <a:sym typeface="DM Sans"/>
            </a:endParaRPr>
          </a:p>
          <a:p>
            <a:pPr indent="0" lvl="0" marL="0" rtl="0" algn="l">
              <a:spcBef>
                <a:spcPts val="0"/>
              </a:spcBef>
              <a:spcAft>
                <a:spcPts val="0"/>
              </a:spcAft>
              <a:buNone/>
            </a:pPr>
            <a:r>
              <a:rPr lang="es" sz="1350">
                <a:latin typeface="DM Sans"/>
                <a:ea typeface="DM Sans"/>
                <a:cs typeface="DM Sans"/>
                <a:sym typeface="DM Sans"/>
              </a:rPr>
              <a:t>Para lograr esto React plantea una arquitectura en donde los datos fluyen de manera unidireccional.</a:t>
            </a:r>
            <a:endParaRPr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a:p>
            <a:pPr indent="0" lvl="0" marL="0" rtl="0" algn="l">
              <a:spcBef>
                <a:spcPts val="0"/>
              </a:spcBef>
              <a:spcAft>
                <a:spcPts val="0"/>
              </a:spcAft>
              <a:buNone/>
            </a:pPr>
            <a:r>
              <a:rPr lang="es" sz="1350">
                <a:highlight>
                  <a:schemeClr val="accent6"/>
                </a:highlight>
                <a:latin typeface="DM Sans"/>
                <a:ea typeface="DM Sans"/>
                <a:cs typeface="DM Sans"/>
                <a:sym typeface="DM Sans"/>
              </a:rPr>
              <a:t>De arriba hacia abajo</a:t>
            </a:r>
            <a:endParaRPr sz="1350">
              <a:highlight>
                <a:schemeClr val="accent6"/>
              </a:highlight>
              <a:latin typeface="DM Sans"/>
              <a:ea typeface="DM Sans"/>
              <a:cs typeface="DM Sans"/>
              <a:sym typeface="DM Sans"/>
            </a:endParaRPr>
          </a:p>
        </p:txBody>
      </p:sp>
      <p:pic>
        <p:nvPicPr>
          <p:cNvPr id="478" name="Google Shape;478;p76"/>
          <p:cNvPicPr preferRelativeResize="0"/>
          <p:nvPr/>
        </p:nvPicPr>
        <p:blipFill>
          <a:blip r:embed="rId3">
            <a:alphaModFix/>
          </a:blip>
          <a:stretch>
            <a:fillRect/>
          </a:stretch>
        </p:blipFill>
        <p:spPr>
          <a:xfrm>
            <a:off x="5645126" y="1915300"/>
            <a:ext cx="1998375" cy="17885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7"/>
          <p:cNvSpPr txBox="1"/>
          <p:nvPr/>
        </p:nvSpPr>
        <p:spPr>
          <a:xfrm>
            <a:off x="436525" y="518850"/>
            <a:ext cx="7085400" cy="129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ACTUALIZACIÓN DE ESTADO</a:t>
            </a:r>
            <a:endParaRPr b="1" sz="4000">
              <a:solidFill>
                <a:schemeClr val="dk1"/>
              </a:solidFill>
              <a:latin typeface="DM Sans"/>
              <a:ea typeface="DM Sans"/>
              <a:cs typeface="DM Sans"/>
              <a:sym typeface="DM Sans"/>
            </a:endParaRPr>
          </a:p>
        </p:txBody>
      </p:sp>
      <p:sp>
        <p:nvSpPr>
          <p:cNvPr id="484" name="Google Shape;484;p77"/>
          <p:cNvSpPr txBox="1"/>
          <p:nvPr/>
        </p:nvSpPr>
        <p:spPr>
          <a:xfrm>
            <a:off x="436525" y="1928450"/>
            <a:ext cx="4730100" cy="226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highlight>
                  <a:schemeClr val="accent6"/>
                </a:highlight>
                <a:latin typeface="DM Sans"/>
                <a:ea typeface="DM Sans"/>
                <a:cs typeface="DM Sans"/>
                <a:sym typeface="DM Sans"/>
              </a:rPr>
              <a:t>Resumiendo el proceso</a:t>
            </a:r>
            <a:endParaRPr sz="1350">
              <a:highlight>
                <a:schemeClr val="accent6"/>
              </a:highlight>
              <a:latin typeface="DM Sans"/>
              <a:ea typeface="DM Sans"/>
              <a:cs typeface="DM Sans"/>
              <a:sym typeface="DM Sans"/>
            </a:endParaRPr>
          </a:p>
          <a:p>
            <a:pPr indent="0" lvl="0" marL="0" rtl="0" algn="l">
              <a:spcBef>
                <a:spcPts val="0"/>
              </a:spcBef>
              <a:spcAft>
                <a:spcPts val="0"/>
              </a:spcAft>
              <a:buNone/>
            </a:pPr>
            <a:r>
              <a:t/>
            </a:r>
            <a:endParaRPr sz="1350">
              <a:highlight>
                <a:schemeClr val="accent6"/>
              </a:highlight>
              <a:latin typeface="DM Sans"/>
              <a:ea typeface="DM Sans"/>
              <a:cs typeface="DM Sans"/>
              <a:sym typeface="DM Sans"/>
            </a:endParaRPr>
          </a:p>
          <a:p>
            <a:pPr indent="-314325" lvl="0" marL="457200" rtl="0" algn="l">
              <a:spcBef>
                <a:spcPts val="0"/>
              </a:spcBef>
              <a:spcAft>
                <a:spcPts val="0"/>
              </a:spcAft>
              <a:buClr>
                <a:schemeClr val="accent4"/>
              </a:buClr>
              <a:buSzPts val="1350"/>
              <a:buFont typeface="DM Sans"/>
              <a:buChar char="✓"/>
            </a:pPr>
            <a:r>
              <a:rPr lang="es" sz="1350">
                <a:latin typeface="DM Sans"/>
                <a:ea typeface="DM Sans"/>
                <a:cs typeface="DM Sans"/>
                <a:sym typeface="DM Sans"/>
              </a:rPr>
              <a:t>En primer lugar, tras un cambio en el valor de estado, React ejecuta un algoritmo de “diffing” que identifica lo que ha cambiado.</a:t>
            </a:r>
            <a:endParaRPr sz="1350">
              <a:latin typeface="DM Sans"/>
              <a:ea typeface="DM Sans"/>
              <a:cs typeface="DM Sans"/>
              <a:sym typeface="DM Sans"/>
            </a:endParaRPr>
          </a:p>
          <a:p>
            <a:pPr indent="-314325" lvl="0" marL="457200" rtl="0" algn="l">
              <a:spcBef>
                <a:spcPts val="0"/>
              </a:spcBef>
              <a:spcAft>
                <a:spcPts val="0"/>
              </a:spcAft>
              <a:buClr>
                <a:schemeClr val="accent4"/>
              </a:buClr>
              <a:buSzPts val="1350"/>
              <a:buFont typeface="DM Sans"/>
              <a:buChar char="✓"/>
            </a:pPr>
            <a:r>
              <a:rPr lang="es" sz="1350">
                <a:latin typeface="DM Sans"/>
                <a:ea typeface="DM Sans"/>
                <a:cs typeface="DM Sans"/>
                <a:sym typeface="DM Sans"/>
              </a:rPr>
              <a:t>El segundo paso es la reconciliación, donde se actualiza el DOM con los resultados de diff.</a:t>
            </a:r>
            <a:endParaRPr sz="1350">
              <a:latin typeface="DM Sans"/>
              <a:ea typeface="DM Sans"/>
              <a:cs typeface="DM Sans"/>
              <a:sym typeface="DM Sans"/>
            </a:endParaRPr>
          </a:p>
          <a:p>
            <a:pPr indent="0" lvl="0" marL="0" rtl="0" algn="l">
              <a:spcBef>
                <a:spcPts val="0"/>
              </a:spcBef>
              <a:spcAft>
                <a:spcPts val="0"/>
              </a:spcAft>
              <a:buNone/>
            </a:pPr>
            <a:r>
              <a:t/>
            </a:r>
            <a:endParaRPr sz="1350">
              <a:highlight>
                <a:schemeClr val="accent6"/>
              </a:highlight>
              <a:latin typeface="DM Sans"/>
              <a:ea typeface="DM Sans"/>
              <a:cs typeface="DM Sans"/>
              <a:sym typeface="DM Sans"/>
            </a:endParaRPr>
          </a:p>
          <a:p>
            <a:pPr indent="0" lvl="0" marL="0" rtl="0" algn="l">
              <a:spcBef>
                <a:spcPts val="0"/>
              </a:spcBef>
              <a:spcAft>
                <a:spcPts val="0"/>
              </a:spcAft>
              <a:buNone/>
            </a:pPr>
            <a:r>
              <a:rPr lang="es" sz="1350">
                <a:highlight>
                  <a:schemeClr val="accent6"/>
                </a:highlight>
                <a:latin typeface="DM Sans"/>
                <a:ea typeface="DM Sans"/>
                <a:cs typeface="DM Sans"/>
                <a:sym typeface="DM Sans"/>
              </a:rPr>
              <a:t>React se encarga de todo esto, nosotros solo aprenderemos a ayudarlo</a:t>
            </a:r>
            <a:endParaRPr sz="1350">
              <a:highlight>
                <a:schemeClr val="accent6"/>
              </a:highlight>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