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19"/>
  </p:notesMasterIdLst>
  <p:sldIdLst>
    <p:sldId id="273" r:id="rId2"/>
    <p:sldId id="274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embeddedFontLst>
    <p:embeddedFont>
      <p:font typeface="DM Sans" panose="020B0604020202020204" charset="0"/>
      <p:regular r:id="rId20"/>
      <p:bold r:id="rId21"/>
      <p:italic r:id="rId22"/>
      <p:boldItalic r:id="rId23"/>
    </p:embeddedFont>
    <p:embeddedFont>
      <p:font typeface="Helvetica Neue Light" panose="020B060402020202020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95">
          <p15:clr>
            <a:srgbClr val="A4A3A4"/>
          </p15:clr>
        </p15:guide>
        <p15:guide id="2" pos="5460">
          <p15:clr>
            <a:srgbClr val="A4A3A4"/>
          </p15:clr>
        </p15:guide>
        <p15:guide id="3" pos="300">
          <p15:clr>
            <a:srgbClr val="9AA0A6"/>
          </p15:clr>
        </p15:guide>
        <p15:guide id="4" orient="horz" pos="2892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66"/>
      </p:cViewPr>
      <p:guideLst>
        <p:guide orient="horz" pos="295"/>
        <p:guide pos="5460"/>
        <p:guide pos="300"/>
        <p:guide orient="horz" pos="28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3365b5acdf_0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3365b5acdf_0_3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highlight>
                  <a:schemeClr val="accent4"/>
                </a:highlight>
                <a:latin typeface="DM Sans"/>
                <a:ea typeface="DM Sans"/>
                <a:cs typeface="DM Sans"/>
                <a:sym typeface="DM Sans"/>
              </a:rPr>
              <a:t>LOS VIDEOS DE ONBOARDING ESTÁN DISPONIBLES EN EL ESPACIO DE LA CLASE 1</a:t>
            </a:r>
            <a:endParaRPr>
              <a:highlight>
                <a:schemeClr val="accent4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5269936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13c9d1b815_1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13c9d1b815_1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Colocar todas las clases.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836131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432d79303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432d79303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432d79303f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432d79303f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432d79303f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432d79303f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432d79303f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432d79303f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432d79303f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432d79303f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32d79303f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432d79303f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432d79303f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432d79303f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432d79303f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432d79303f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37bc11a8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437bc11a8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437bc11a8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437bc11a89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437bc11a89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437bc11a89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437bc11a89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437bc11a89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437bc11a89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437bc11a89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37bc11a89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437bc11a89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437bc11a89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437bc11a89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co 1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Font typeface="DM Sans"/>
              <a:buNone/>
              <a:defRPr sz="4000" b="1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 Light"/>
              <a:buNone/>
              <a:defRPr sz="20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12" name="Google Shape;12;p2" title="logo CoderHouse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B">
  <p:cSld name="SECTION_HEADER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A">
  <p:cSld name="SECTION_HEADER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1">
  <p:cSld name="SECTION_HEADER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5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2">
  <p:cSld name="SECTION_HEADER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6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3">
  <p:cSld name="SECTION_HEADER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7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adro">
  <p:cSld name="SECTION_HEADER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8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 imagen">
  <p:cSld name="SECTION_HEADER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" name="Google Shape;27;p9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ndo blanco">
  <p:cSld name="SECTION_HEADER_1_1_1_1_1_1_1_1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0" title="logo coderhouse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">
  <p:cSld name="SECTION_HEADER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11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A">
  <p:cSld name="SECTION_HEADER_1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12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5">
  <p:cSld name="SECTION_HEADER_1_1_1_1_1_1_1_1_1_8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14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6;p16"/>
          <p:cNvSpPr txBox="1"/>
          <p:nvPr/>
        </p:nvSpPr>
        <p:spPr>
          <a:xfrm>
            <a:off x="723014" y="927149"/>
            <a:ext cx="6959674" cy="3453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200" b="1" u="sng" dirty="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React</a:t>
            </a:r>
            <a:endParaRPr sz="7200" b="1" u="sng" dirty="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6000" b="1" u="sng" dirty="0" smtClean="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Flex 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6000" b="1" u="sng" dirty="0" smtClean="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Clase </a:t>
            </a:r>
            <a:r>
              <a:rPr lang="es" sz="6000" b="1" u="sng" dirty="0" smtClean="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8</a:t>
            </a:r>
            <a:r>
              <a:rPr lang="es" sz="6000" b="1" u="sng" dirty="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/>
            </a:r>
            <a:br>
              <a:rPr lang="es" sz="6000" b="1" u="sng" dirty="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600" b="1" u="sng" dirty="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 b="1" u="sng" dirty="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u="sng" dirty="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u="sng" dirty="0" smtClean="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Curso dictado por Arturo Grottoli</a:t>
            </a:r>
            <a:endParaRPr sz="1600" b="1" u="sng" dirty="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968477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8"/>
          <p:cNvSpPr txBox="1"/>
          <p:nvPr/>
        </p:nvSpPr>
        <p:spPr>
          <a:xfrm>
            <a:off x="666200" y="825988"/>
            <a:ext cx="6957344" cy="4348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 b="1" dirty="0" smtClean="0">
                <a:solidFill>
                  <a:schemeClr val="accent6"/>
                </a:solidFill>
                <a:latin typeface="DM Sans"/>
                <a:ea typeface="DM Sans"/>
                <a:cs typeface="DM Sans"/>
                <a:sym typeface="DM Sans"/>
              </a:rPr>
              <a:t>¿Estamos bien para arrancar?</a:t>
            </a:r>
            <a:endParaRPr sz="3600" b="1" dirty="0">
              <a:solidFill>
                <a:schemeClr val="accent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dirty="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438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DM Sans"/>
              <a:buChar char="●"/>
            </a:pPr>
            <a:r>
              <a:rPr lang="es-MX" sz="3300" dirty="0" smtClean="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Sonido e imagen ok</a:t>
            </a:r>
            <a:endParaRPr sz="3300" dirty="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438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DM Sans"/>
              <a:buChar char="●"/>
            </a:pPr>
            <a:r>
              <a:rPr lang="es" sz="3300" dirty="0" smtClean="0">
                <a:solidFill>
                  <a:schemeClr val="accent6"/>
                </a:solidFill>
                <a:latin typeface="DM Sans"/>
                <a:ea typeface="DM Sans"/>
                <a:cs typeface="DM Sans"/>
                <a:sym typeface="DM Sans"/>
              </a:rPr>
              <a:t>Diapositivas y tamaño texto</a:t>
            </a:r>
            <a:endParaRPr sz="3300" dirty="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438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DM Sans"/>
              <a:buChar char="●"/>
            </a:pPr>
            <a:r>
              <a:rPr lang="es" sz="3300" dirty="0" smtClean="0">
                <a:solidFill>
                  <a:schemeClr val="accent6"/>
                </a:solidFill>
                <a:latin typeface="DM Sans"/>
                <a:ea typeface="DM Sans"/>
                <a:cs typeface="DM Sans"/>
                <a:sym typeface="DM Sans"/>
              </a:rPr>
              <a:t>Recordar chequear que esté grabando.</a:t>
            </a:r>
            <a:endParaRPr sz="3300" dirty="0">
              <a:solidFill>
                <a:schemeClr val="accent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1" dirty="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4262268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7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56" name="Google Shape;56;p17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7" name="Google Shape;57;p17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58" name="Google Shape;58;p17"/>
          <p:cNvSpPr txBox="1"/>
          <p:nvPr/>
        </p:nvSpPr>
        <p:spPr>
          <a:xfrm>
            <a:off x="466756" y="3909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Código optimizado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" name="Google Shape;59;p17"/>
          <p:cNvSpPr txBox="1"/>
          <p:nvPr/>
        </p:nvSpPr>
        <p:spPr>
          <a:xfrm>
            <a:off x="475200" y="971250"/>
            <a:ext cx="8367600" cy="3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333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50"/>
              <a:buFont typeface="DM Sans"/>
              <a:buChar char="✓"/>
            </a:pPr>
            <a:r>
              <a:rPr lang="es" sz="16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Ayuda a la escalabilidad y consistencia.</a:t>
            </a:r>
            <a:endParaRPr sz="16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333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50"/>
              <a:buFont typeface="DM Sans"/>
              <a:buChar char="✓"/>
            </a:pPr>
            <a:r>
              <a:rPr lang="es" sz="16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Mejora la legibilidad.</a:t>
            </a:r>
            <a:endParaRPr sz="16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333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50"/>
              <a:buFont typeface="DM Sans"/>
              <a:buChar char="✓"/>
            </a:pPr>
            <a:r>
              <a:rPr lang="es" sz="16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Genera bases de código más compactas.</a:t>
            </a:r>
            <a:endParaRPr sz="16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333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50"/>
              <a:buFont typeface="DM Sans"/>
              <a:buChar char="✓"/>
            </a:pPr>
            <a:r>
              <a:rPr lang="es" sz="16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Reduce trabajos innecesarios de cómputo.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b="1">
              <a:solidFill>
                <a:schemeClr val="dk1"/>
              </a:solidFill>
            </a:endParaRPr>
          </a:p>
        </p:txBody>
      </p:sp>
      <p:sp>
        <p:nvSpPr>
          <p:cNvPr id="60" name="Google Shape;60;p17"/>
          <p:cNvSpPr txBox="1"/>
          <p:nvPr/>
        </p:nvSpPr>
        <p:spPr>
          <a:xfrm>
            <a:off x="4527575" y="1908175"/>
            <a:ext cx="3834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8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66" name="Google Shape;66;p18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7" name="Google Shape;67;p18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68" name="Google Shape;68;p18"/>
          <p:cNvSpPr txBox="1"/>
          <p:nvPr/>
        </p:nvSpPr>
        <p:spPr>
          <a:xfrm>
            <a:off x="475206" y="390925"/>
            <a:ext cx="81411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Principio K.I.S.S.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9" name="Google Shape;69;p18"/>
          <p:cNvSpPr txBox="1"/>
          <p:nvPr/>
        </p:nvSpPr>
        <p:spPr>
          <a:xfrm>
            <a:off x="534250" y="1127900"/>
            <a:ext cx="5262000" cy="29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Keep it simple </a:t>
            </a:r>
            <a:r>
              <a:rPr lang="es" sz="16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STUPID</a:t>
            </a: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!!!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Evita la tentación de </a:t>
            </a:r>
            <a:r>
              <a:rPr lang="es" sz="1600" b="1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complejizar.</a:t>
            </a:r>
            <a:endParaRPr sz="1600" b="1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Al empezar una pieza, escribe los objetivos mínimos que tu código debe cumplir, y cada tanto valida si has comenzado a hacer </a:t>
            </a:r>
            <a:r>
              <a:rPr lang="es" sz="1600" b="1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más de lo que te planteaste originalmente,</a:t>
            </a:r>
            <a:r>
              <a:rPr lang="es" sz="160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 si tu código hace más.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9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75" name="Google Shape;75;p19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6" name="Google Shape;76;p19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77" name="Google Shape;77;p19"/>
          <p:cNvSpPr txBox="1"/>
          <p:nvPr/>
        </p:nvSpPr>
        <p:spPr>
          <a:xfrm>
            <a:off x="475206" y="390925"/>
            <a:ext cx="81411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Principio Y.A.G.N.I.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8" name="Google Shape;78;p19"/>
          <p:cNvSpPr txBox="1"/>
          <p:nvPr/>
        </p:nvSpPr>
        <p:spPr>
          <a:xfrm>
            <a:off x="534250" y="1127900"/>
            <a:ext cx="5262000" cy="28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You aren’t gonna need it!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La tentación de crear features para necesidades inexistentes.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Un foco en el usuario, y en la tarea que tiene que lograr, te puede ayudar a mantenerte en línea.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20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84" name="Google Shape;84;p20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5" name="Google Shape;85;p20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86" name="Google Shape;86;p20"/>
          <p:cNvSpPr txBox="1"/>
          <p:nvPr/>
        </p:nvSpPr>
        <p:spPr>
          <a:xfrm>
            <a:off x="475206" y="390925"/>
            <a:ext cx="81411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Principio D.R.Y.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7" name="Google Shape;87;p20"/>
          <p:cNvSpPr txBox="1"/>
          <p:nvPr/>
        </p:nvSpPr>
        <p:spPr>
          <a:xfrm>
            <a:off x="534250" y="1127900"/>
            <a:ext cx="5262000" cy="3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Don’t repeat yourself!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La dificultad de identificar patrones fomentará la existencia de estructuras de código repetido.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Si te ves copiando/pegando, y después modificando pequeñas cosas de cada copy/paste, probablemente puedas reutilizar algunos bloques de código.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 txBox="1"/>
          <p:nvPr/>
        </p:nvSpPr>
        <p:spPr>
          <a:xfrm>
            <a:off x="1461288" y="1925250"/>
            <a:ext cx="6221400" cy="12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Documentar</a:t>
            </a:r>
            <a:r>
              <a:rPr lang="es" sz="3800" b="1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3800" b="1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800" b="1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proyecto</a:t>
            </a:r>
            <a:endParaRPr sz="3800" b="1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22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98" name="Google Shape;98;p22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9" name="Google Shape;99;p22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00" name="Google Shape;100;p22"/>
          <p:cNvSpPr txBox="1"/>
          <p:nvPr/>
        </p:nvSpPr>
        <p:spPr>
          <a:xfrm>
            <a:off x="475206" y="390925"/>
            <a:ext cx="81411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4000" b="1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Markdown language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1" name="Google Shape;101;p22"/>
          <p:cNvSpPr txBox="1"/>
          <p:nvPr/>
        </p:nvSpPr>
        <p:spPr>
          <a:xfrm>
            <a:off x="534250" y="1127900"/>
            <a:ext cx="5262000" cy="36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Cuando los proyectos crecen, esto involucra tareas colaborativas, para lo cual es conveniente crear </a:t>
            </a:r>
            <a:r>
              <a:rPr lang="es" sz="1450" b="1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documentación. </a:t>
            </a:r>
            <a:endParaRPr sz="1450" b="1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5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50" b="1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Markdown</a:t>
            </a:r>
            <a:r>
              <a:rPr lang="es" sz="14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 es una sintaxis abierta, cómoda y suficiente para lograrlo. Se incluye un archivo </a:t>
            </a:r>
            <a:r>
              <a:rPr lang="es" sz="1450" b="1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README.md </a:t>
            </a:r>
            <a:r>
              <a:rPr lang="es" sz="14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en la carpeta principal del proyecto.</a:t>
            </a:r>
            <a:endParaRPr sz="145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5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Este archivo será el que veremos en GITHUB.</a:t>
            </a:r>
            <a:endParaRPr sz="145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23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07" name="Google Shape;107;p23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8" name="Google Shape;108;p23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09" name="Google Shape;109;p23"/>
          <p:cNvSpPr txBox="1"/>
          <p:nvPr/>
        </p:nvSpPr>
        <p:spPr>
          <a:xfrm>
            <a:off x="475206" y="390925"/>
            <a:ext cx="81411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Proyectos bien documentados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534250" y="1127900"/>
            <a:ext cx="5262000" cy="44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5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DM Sans"/>
              <a:buChar char="✓"/>
            </a:pPr>
            <a:r>
              <a:rPr lang="es" sz="160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Ayudan a establecer convenciones, patrones y reglas de colaboración.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DM Sans"/>
              <a:buChar char="✓"/>
            </a:pPr>
            <a:r>
              <a:rPr lang="es" sz="160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Permiten a los colaboradores entender algunos objetivos centrales de las motivaciones del proyecto.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DM Sans"/>
              <a:buChar char="✓"/>
            </a:pPr>
            <a:r>
              <a:rPr lang="es" sz="160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Proporcionan recursos mínimos suficientes para levantar el proyecto, sin necesidad de acceder a documentación extra.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DM Sans"/>
              <a:buChar char="✓"/>
            </a:pPr>
            <a:r>
              <a:rPr lang="es" sz="160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Si son bibliotecas, reportan la última versión estable o experimental.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 txBox="1"/>
          <p:nvPr/>
        </p:nvSpPr>
        <p:spPr>
          <a:xfrm>
            <a:off x="1461288" y="2216250"/>
            <a:ext cx="6221400" cy="7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Deploy</a:t>
            </a:r>
            <a:endParaRPr sz="3800" b="1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25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21" name="Google Shape;121;p25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2" name="Google Shape;122;p25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23" name="Google Shape;123;p25"/>
          <p:cNvSpPr txBox="1"/>
          <p:nvPr/>
        </p:nvSpPr>
        <p:spPr>
          <a:xfrm>
            <a:off x="475206" y="390925"/>
            <a:ext cx="81411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Deploy en Netlify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4" name="Google Shape;124;p25"/>
          <p:cNvSpPr txBox="1"/>
          <p:nvPr/>
        </p:nvSpPr>
        <p:spPr>
          <a:xfrm>
            <a:off x="534250" y="1127900"/>
            <a:ext cx="5262000" cy="10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Nos registramos e iniciamos sesión.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b="1">
              <a:solidFill>
                <a:schemeClr val="dk1"/>
              </a:solidFill>
            </a:endParaRPr>
          </a:p>
        </p:txBody>
      </p:sp>
      <p:pic>
        <p:nvPicPr>
          <p:cNvPr id="125" name="Google Shape;125;p25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088" y="2514076"/>
            <a:ext cx="7817825" cy="88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26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31" name="Google Shape;131;p26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2" name="Google Shape;132;p26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33" name="Google Shape;133;p26"/>
          <p:cNvSpPr txBox="1"/>
          <p:nvPr/>
        </p:nvSpPr>
        <p:spPr>
          <a:xfrm>
            <a:off x="475206" y="390925"/>
            <a:ext cx="81411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Deploy en Netlify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4" name="Google Shape;134;p26"/>
          <p:cNvSpPr txBox="1"/>
          <p:nvPr/>
        </p:nvSpPr>
        <p:spPr>
          <a:xfrm>
            <a:off x="534250" y="1127900"/>
            <a:ext cx="8301900" cy="27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Expandimos “Add new site” y seleccionamos “Import an existing project”.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Let’s deploy your project with… </a:t>
            </a:r>
            <a:r>
              <a:rPr lang="es" sz="16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GITHUB</a:t>
            </a:r>
            <a:endParaRPr sz="16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b="1">
              <a:solidFill>
                <a:schemeClr val="dk1"/>
              </a:solidFill>
            </a:endParaRPr>
          </a:p>
        </p:txBody>
      </p:sp>
      <p:pic>
        <p:nvPicPr>
          <p:cNvPr id="135" name="Google Shape;135;p26" title="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258" y="1700375"/>
            <a:ext cx="2686050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6" title="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250" y="3379175"/>
            <a:ext cx="41529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27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42" name="Google Shape;142;p27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3" name="Google Shape;143;p27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44" name="Google Shape;144;p27"/>
          <p:cNvSpPr txBox="1"/>
          <p:nvPr/>
        </p:nvSpPr>
        <p:spPr>
          <a:xfrm>
            <a:off x="475206" y="390925"/>
            <a:ext cx="81411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Deploy en Netlify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5" name="Google Shape;145;p27"/>
          <p:cNvSpPr txBox="1"/>
          <p:nvPr/>
        </p:nvSpPr>
        <p:spPr>
          <a:xfrm>
            <a:off x="534250" y="1127900"/>
            <a:ext cx="8301900" cy="7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Damos permisos: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b="1">
              <a:solidFill>
                <a:schemeClr val="dk1"/>
              </a:solidFill>
            </a:endParaRPr>
          </a:p>
        </p:txBody>
      </p:sp>
      <p:pic>
        <p:nvPicPr>
          <p:cNvPr id="146" name="Google Shape;146;p27" title="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6975" y="1764750"/>
            <a:ext cx="2870047" cy="293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28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52" name="Google Shape;152;p28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3" name="Google Shape;153;p28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54" name="Google Shape;154;p28"/>
          <p:cNvSpPr txBox="1"/>
          <p:nvPr/>
        </p:nvSpPr>
        <p:spPr>
          <a:xfrm>
            <a:off x="475206" y="390925"/>
            <a:ext cx="81411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Deploy en Netlify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5" name="Google Shape;155;p28"/>
          <p:cNvSpPr txBox="1"/>
          <p:nvPr/>
        </p:nvSpPr>
        <p:spPr>
          <a:xfrm>
            <a:off x="534250" y="1127900"/>
            <a:ext cx="8301900" cy="22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Damos clic en: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Luego en Configure: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b="1">
              <a:solidFill>
                <a:schemeClr val="dk1"/>
              </a:solidFill>
            </a:endParaRPr>
          </a:p>
        </p:txBody>
      </p:sp>
      <p:pic>
        <p:nvPicPr>
          <p:cNvPr id="156" name="Google Shape;156;p28" title="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1100" y="1398400"/>
            <a:ext cx="3704725" cy="36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8" title="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876" y="2716176"/>
            <a:ext cx="3810675" cy="199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29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63" name="Google Shape;163;p29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4" name="Google Shape;164;p29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65" name="Google Shape;165;p29"/>
          <p:cNvSpPr txBox="1"/>
          <p:nvPr/>
        </p:nvSpPr>
        <p:spPr>
          <a:xfrm>
            <a:off x="475206" y="390925"/>
            <a:ext cx="81411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Deploy en Netlify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6" name="Google Shape;166;p29"/>
          <p:cNvSpPr txBox="1"/>
          <p:nvPr/>
        </p:nvSpPr>
        <p:spPr>
          <a:xfrm>
            <a:off x="534250" y="1127900"/>
            <a:ext cx="8301900" cy="33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Scrolleamos hacia abajo hasta: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Expandimos en el selector y buscamos el repo: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Finalmente salvamos.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167" name="Google Shape;167;p29" title="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4650" y="1545250"/>
            <a:ext cx="4074800" cy="156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9" title="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1021" y="3385446"/>
            <a:ext cx="3324600" cy="162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oogle Shape;173;p30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74" name="Google Shape;174;p30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5" name="Google Shape;175;p30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76" name="Google Shape;176;p30"/>
          <p:cNvSpPr txBox="1"/>
          <p:nvPr/>
        </p:nvSpPr>
        <p:spPr>
          <a:xfrm>
            <a:off x="475206" y="390925"/>
            <a:ext cx="81411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Deploy en Netlify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7" name="Google Shape;177;p30"/>
          <p:cNvSpPr txBox="1"/>
          <p:nvPr/>
        </p:nvSpPr>
        <p:spPr>
          <a:xfrm>
            <a:off x="534250" y="1127900"/>
            <a:ext cx="8301900" cy="49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Netlify hacemos clic sobre el repo, le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damos un nombre: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Scrolleamos hacia abajo y 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presionamos en: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b="1">
              <a:solidFill>
                <a:schemeClr val="dk1"/>
              </a:solidFill>
            </a:endParaRPr>
          </a:p>
        </p:txBody>
      </p:sp>
      <p:pic>
        <p:nvPicPr>
          <p:cNvPr id="178" name="Google Shape;178;p30" title="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0672" y="1517575"/>
            <a:ext cx="4303800" cy="286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0" title="1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047" y="3736372"/>
            <a:ext cx="2279025" cy="61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31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85" name="Google Shape;185;p31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86" name="Google Shape;186;p31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87" name="Google Shape;187;p31"/>
          <p:cNvSpPr txBox="1"/>
          <p:nvPr/>
        </p:nvSpPr>
        <p:spPr>
          <a:xfrm>
            <a:off x="475206" y="390925"/>
            <a:ext cx="81411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Deploy en Netlify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8" name="Google Shape;188;p31"/>
          <p:cNvSpPr txBox="1"/>
          <p:nvPr/>
        </p:nvSpPr>
        <p:spPr>
          <a:xfrm>
            <a:off x="534250" y="1127900"/>
            <a:ext cx="8301900" cy="3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Listo: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b="1">
              <a:solidFill>
                <a:schemeClr val="dk1"/>
              </a:solidFill>
            </a:endParaRPr>
          </a:p>
        </p:txBody>
      </p:sp>
      <p:pic>
        <p:nvPicPr>
          <p:cNvPr id="189" name="Google Shape;189;p31" title="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450" y="1891449"/>
            <a:ext cx="6643450" cy="244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d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9DF4E2"/>
      </a:accent1>
      <a:accent2>
        <a:srgbClr val="212121"/>
      </a:accent2>
      <a:accent3>
        <a:srgbClr val="78909C"/>
      </a:accent3>
      <a:accent4>
        <a:srgbClr val="EA90FF"/>
      </a:accent4>
      <a:accent5>
        <a:srgbClr val="83AEFB"/>
      </a:accent5>
      <a:accent6>
        <a:srgbClr val="EAFF6A"/>
      </a:accent6>
      <a:hlink>
        <a:srgbClr val="83AEF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421</Words>
  <Application>Microsoft Office PowerPoint</Application>
  <PresentationFormat>Presentación en pantalla (16:9)</PresentationFormat>
  <Paragraphs>127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DM Sans</vt:lpstr>
      <vt:lpstr>Helvetica Neue Light</vt:lpstr>
      <vt:lpstr>Coder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Turi</cp:lastModifiedBy>
  <cp:revision>1</cp:revision>
  <dcterms:modified xsi:type="dcterms:W3CDTF">2025-10-25T18:59:10Z</dcterms:modified>
</cp:coreProperties>
</file>