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61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</p:sldIdLst>
  <p:sldSz cy="5143500" cx="9144000"/>
  <p:notesSz cx="6858000" cy="9144000"/>
  <p:embeddedFontLst>
    <p:embeddedFont>
      <p:font typeface="Helvetica Neue Light"/>
      <p:regular r:id="rId23"/>
      <p:bold r:id="rId24"/>
      <p:italic r:id="rId25"/>
      <p:boldItalic r:id="rId26"/>
    </p:embeddedFont>
    <p:embeddedFont>
      <p:font typeface="DM Sans"/>
      <p:regular r:id="rId27"/>
      <p:bold r:id="rId28"/>
      <p:italic r:id="rId29"/>
      <p:boldItalic r:id="rId30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95">
          <p15:clr>
            <a:srgbClr val="A4A3A4"/>
          </p15:clr>
        </p15:guide>
        <p15:guide id="2" pos="5460">
          <p15:clr>
            <a:srgbClr val="A4A3A4"/>
          </p15:clr>
        </p15:guide>
        <p15:guide id="3" pos="300">
          <p15:clr>
            <a:srgbClr val="9AA0A6"/>
          </p15:clr>
        </p15:guide>
        <p15:guide id="4" orient="horz" pos="2892">
          <p15:clr>
            <a:srgbClr val="9AA0A6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95" orient="horz"/>
        <p:guide pos="5460"/>
        <p:guide pos="300"/>
        <p:guide pos="2892" orient="horz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HelveticaNeueLight-bold.fntdata"/><Relationship Id="rId23" Type="http://schemas.openxmlformats.org/officeDocument/2006/relationships/font" Target="fonts/HelveticaNeueLight-regular.fntdata"/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font" Target="fonts/HelveticaNeueLight-boldItalic.fntdata"/><Relationship Id="rId25" Type="http://schemas.openxmlformats.org/officeDocument/2006/relationships/font" Target="fonts/HelveticaNeueLight-italic.fntdata"/><Relationship Id="rId28" Type="http://schemas.openxmlformats.org/officeDocument/2006/relationships/font" Target="fonts/DMSans-bold.fntdata"/><Relationship Id="rId27" Type="http://schemas.openxmlformats.org/officeDocument/2006/relationships/font" Target="fonts/DMSans-regular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font" Target="fonts/DMSans-italic.fntdata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0" Type="http://schemas.openxmlformats.org/officeDocument/2006/relationships/font" Target="fonts/DMSans-boldItalic.fntdata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g3432d79303f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2" name="Google Shape;42;g3432d79303f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">
                <a:solidFill>
                  <a:schemeClr val="dk1"/>
                </a:solidFill>
                <a:highlight>
                  <a:schemeClr val="accent4"/>
                </a:highlight>
                <a:latin typeface="DM Sans"/>
                <a:ea typeface="DM Sans"/>
                <a:cs typeface="DM Sans"/>
                <a:sym typeface="DM Sans"/>
              </a:rPr>
              <a:t>LOS VIDEOS DE ONBOARDING ESTÁN DISPONIBLES EN EL ESPACIO DE LA CLASE 1</a:t>
            </a:r>
            <a:endParaRPr>
              <a:highlight>
                <a:schemeClr val="accent4"/>
              </a:highlight>
              <a:latin typeface="DM Sans"/>
              <a:ea typeface="DM Sans"/>
              <a:cs typeface="DM Sans"/>
              <a:sym typeface="DM Sans"/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g3432d79303f_0_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7" name="Google Shape;47;g3432d79303f_0_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Colocar todas las clases.</a:t>
            </a:r>
            <a:endParaRPr>
              <a:latin typeface="DM Sans"/>
              <a:ea typeface="DM Sans"/>
              <a:cs typeface="DM Sans"/>
              <a:sym typeface="DM Sans"/>
            </a:endParaRP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1" name="Shape 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Google Shape;52;g3432d79303f_0_6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3" name="Google Shape;53;g3432d79303f_0_6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g3432d79303f_0_10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3" name="Google Shape;63;g3432d79303f_0_10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g3432d79303f_0_11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2" name="Google Shape;72;g3432d79303f_0_11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9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g3432d79303f_0_12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1" name="Google Shape;81;g3432d79303f_0_12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g3432d79303f_0_13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0" name="Google Shape;90;g3432d79303f_0_13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>
              <a:latin typeface="DM Sans"/>
              <a:ea typeface="DM Sans"/>
              <a:cs typeface="DM Sans"/>
              <a:sym typeface="DM Sans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3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g3432d79303f_0_14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5" name="Google Shape;95;g3432d79303f_0_14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g3432d79303f_0_14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4" name="Google Shape;104;g3432d79303f_0_14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g3432d79303f_0_15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3" name="Google Shape;113;g3432d79303f_0_15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>
              <a:latin typeface="DM Sans"/>
              <a:ea typeface="DM Sans"/>
              <a:cs typeface="DM Sans"/>
              <a:sym typeface="DM Sans"/>
            </a:endParaRP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g3437bc11a89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8" name="Google Shape;118;g3437bc11a89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6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g3437bc11a89_0_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8" name="Google Shape;128;g3437bc11a89_0_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g3437bc11a89_0_2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9" name="Google Shape;139;g3437bc11a89_0_2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g3437bc11a89_0_3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9" name="Google Shape;149;g3437bc11a89_0_3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g3437bc11a89_0_4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0" name="Google Shape;160;g3437bc11a89_0_4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g3437bc11a89_0_5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1" name="Google Shape;171;g3437bc11a89_0_5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g3437bc11a89_0_6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2" name="Google Shape;182;g3437bc11a89_0_6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4.png"/><Relationship Id="rId3" Type="http://schemas.openxmlformats.org/officeDocument/2006/relationships/image" Target="../media/image1.png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8.png"/><Relationship Id="rId3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4.png"/><Relationship Id="rId3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2.png"/><Relationship Id="rId3" Type="http://schemas.openxmlformats.org/officeDocument/2006/relationships/image" Target="../media/image2.png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5.png"/><Relationship Id="rId3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1.png"/><Relationship Id="rId3" Type="http://schemas.openxmlformats.org/officeDocument/2006/relationships/image" Target="../media/image2.png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9.png"/><Relationship Id="rId3" Type="http://schemas.openxmlformats.org/officeDocument/2006/relationships/image" Target="../media/image2.png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3.png"/><Relationship Id="rId3" Type="http://schemas.openxmlformats.org/officeDocument/2006/relationships/image" Target="../media/image2.png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0.png"/><Relationship Id="rId3" Type="http://schemas.openxmlformats.org/officeDocument/2006/relationships/image" Target="../media/image2.png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7.png"/><Relationship Id="rId3" Type="http://schemas.openxmlformats.org/officeDocument/2006/relationships/image" Target="../media/image7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co 1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000"/>
              <a:buFont typeface="DM Sans"/>
              <a:buNone/>
              <a:defRPr b="1" sz="4000">
                <a:latin typeface="DM Sans"/>
                <a:ea typeface="DM Sans"/>
                <a:cs typeface="DM Sans"/>
                <a:sym typeface="DM Sans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Helvetica Neue Light"/>
              <a:buNone/>
              <a:defRPr sz="2000">
                <a:latin typeface="Helvetica Neue Light"/>
                <a:ea typeface="Helvetica Neue Light"/>
                <a:cs typeface="Helvetica Neue Light"/>
                <a:sym typeface="Helvetica Neue Light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pic>
        <p:nvPicPr>
          <p:cNvPr id="12" name="Google Shape;12;p2" title="logo CoderHouse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811413" y="4692275"/>
            <a:ext cx="1150750" cy="2675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02-B">
  <p:cSld name="SECTION_HEADER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Google Shape;14;p3" title="logo coderhouse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874775" y="4720250"/>
            <a:ext cx="1024025" cy="2116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03-A">
  <p:cSld name="SECTION_HEADER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Google Shape;16;p4" title="logo coderhouse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811413" y="4692275"/>
            <a:ext cx="1150750" cy="2675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rátula 1">
  <p:cSld name="SECTION_HEADER_1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" name="Google Shape;18;p5" title="logo coderhouse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811413" y="4692275"/>
            <a:ext cx="1150750" cy="2675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rátula 2">
  <p:cSld name="SECTION_HEADER_1_1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9" name="Shape 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Google Shape;20;p6" title="logo coderhouse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811413" y="4692275"/>
            <a:ext cx="1150750" cy="2675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rátula 3">
  <p:cSld name="SECTION_HEADER_1_1_1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" name="Google Shape;22;p7" title="logo coderhouse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811413" y="4692275"/>
            <a:ext cx="1150750" cy="2675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uadro">
  <p:cSld name="SECTION_HEADER_1_1_1_1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3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" name="Google Shape;24;p8" title="logo coderhouse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811413" y="4692275"/>
            <a:ext cx="1150750" cy="2675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 imagen">
  <p:cSld name="SECTION_HEADER_1_1_1_1_1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9"/>
          <p:cNvSpPr/>
          <p:nvPr/>
        </p:nvSpPr>
        <p:spPr>
          <a:xfrm>
            <a:off x="6592475" y="0"/>
            <a:ext cx="2551500" cy="5143500"/>
          </a:xfrm>
          <a:prstGeom prst="rect">
            <a:avLst/>
          </a:prstGeom>
          <a:solidFill>
            <a:srgbClr val="EAFF6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27" name="Google Shape;27;p9" title="logo coderhouse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811413" y="4692275"/>
            <a:ext cx="1150750" cy="2675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Fondo blanco">
  <p:cSld name="SECTION_HEADER_1_1_1_1_1_1_1_1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" name="Google Shape;29;p10" title="logo coderhouse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811413" y="4692275"/>
            <a:ext cx="1150750" cy="2675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03-B">
  <p:cSld name="SECTION_HEADER_1_1_1_1_1_1_1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" name="Google Shape;31;p11" title="logo coderhouse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811413" y="4692275"/>
            <a:ext cx="1150750" cy="2675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02-A">
  <p:cSld name="SECTION_HEADER_1_1_1_1_1_1_1_1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3" name="Google Shape;33;p12" title="logo coderhouse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811413" y="4692275"/>
            <a:ext cx="1150750" cy="2675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1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36" name="Google Shape;36;p1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rtl="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rtl="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rtl="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37" name="Google Shape;37;p1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03-B 5">
  <p:cSld name="SECTION_HEADER_1_1_1_1_1_1_1_1_1_8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9" name="Google Shape;39;p14" title="logo coderhouse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811413" y="4692275"/>
            <a:ext cx="1150750" cy="2675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slideLayout" Target="../slideLayouts/slideLayout13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0.pn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9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8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3.png"/><Relationship Id="rId4" Type="http://schemas.openxmlformats.org/officeDocument/2006/relationships/image" Target="../media/image15.pn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11.png"/><Relationship Id="rId4" Type="http://schemas.openxmlformats.org/officeDocument/2006/relationships/image" Target="../media/image6.png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2.png"/><Relationship Id="rId4" Type="http://schemas.openxmlformats.org/officeDocument/2006/relationships/image" Target="../media/image13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15"/>
          <p:cNvSpPr txBox="1"/>
          <p:nvPr/>
        </p:nvSpPr>
        <p:spPr>
          <a:xfrm>
            <a:off x="1461288" y="1299288"/>
            <a:ext cx="6221400" cy="262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s" sz="7200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rPr>
              <a:t>React</a:t>
            </a:r>
            <a:endParaRPr b="1" sz="7200">
              <a:solidFill>
                <a:schemeClr val="lt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s" sz="6000">
                <a:solidFill>
                  <a:srgbClr val="EAFF6A"/>
                </a:solidFill>
                <a:latin typeface="DM Sans"/>
                <a:ea typeface="DM Sans"/>
                <a:cs typeface="DM Sans"/>
                <a:sym typeface="DM Sans"/>
              </a:rPr>
              <a:t>Flex VIII</a:t>
            </a:r>
            <a:br>
              <a:rPr b="1" lang="es" sz="6000">
                <a:solidFill>
                  <a:srgbClr val="EAFF6A"/>
                </a:solidFill>
                <a:latin typeface="DM Sans"/>
                <a:ea typeface="DM Sans"/>
                <a:cs typeface="DM Sans"/>
                <a:sym typeface="DM Sans"/>
              </a:rPr>
            </a:br>
            <a:endParaRPr b="1" sz="600">
              <a:solidFill>
                <a:srgbClr val="EAFF6A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600">
              <a:solidFill>
                <a:srgbClr val="EAFF6A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600">
              <a:solidFill>
                <a:schemeClr val="lt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" sz="1600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rPr>
              <a:t>con ajustes por</a:t>
            </a:r>
            <a:r>
              <a:rPr b="1" lang="es" sz="1600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rPr>
              <a:t> Julio Avantt!</a:t>
            </a:r>
            <a:endParaRPr b="1" sz="1600">
              <a:solidFill>
                <a:schemeClr val="lt1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6"/>
          <p:cNvSpPr txBox="1"/>
          <p:nvPr/>
        </p:nvSpPr>
        <p:spPr>
          <a:xfrm>
            <a:off x="351400" y="468313"/>
            <a:ext cx="6221400" cy="4013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200"/>
              <a:buFont typeface="Arial"/>
              <a:buNone/>
            </a:pPr>
            <a:r>
              <a:rPr b="1" i="0" lang="es" sz="4200" u="none" cap="none" strike="noStrike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rPr>
              <a:t>return</a:t>
            </a:r>
            <a:r>
              <a:rPr b="1" i="0" lang="es" sz="4200" u="none" cap="none" strike="noStrike">
                <a:solidFill>
                  <a:schemeClr val="accent6"/>
                </a:solidFill>
                <a:latin typeface="DM Sans"/>
                <a:ea typeface="DM Sans"/>
                <a:cs typeface="DM Sans"/>
                <a:sym typeface="DM Sans"/>
              </a:rPr>
              <a:t> true, </a:t>
            </a:r>
            <a:r>
              <a:rPr b="1" i="0" lang="es" sz="4200" u="none" cap="none" strike="noStrike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rPr>
              <a:t>if</a:t>
            </a:r>
            <a:r>
              <a:rPr b="1" i="0" lang="es" sz="4200" u="none" cap="none" strike="noStrike">
                <a:solidFill>
                  <a:schemeClr val="accent6"/>
                </a:solidFill>
                <a:latin typeface="DM Sans"/>
                <a:ea typeface="DM Sans"/>
                <a:cs typeface="DM Sans"/>
                <a:sym typeface="DM Sans"/>
              </a:rPr>
              <a:t>:</a:t>
            </a:r>
            <a:endParaRPr b="1" i="0" sz="4200" u="none" cap="none" strike="noStrike">
              <a:solidFill>
                <a:schemeClr val="accent6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t/>
            </a:r>
            <a:endParaRPr b="1" i="0" sz="3600" u="none" cap="none" strike="noStrike">
              <a:solidFill>
                <a:schemeClr val="lt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indent="-3810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DM Sans"/>
              <a:buChar char="●"/>
            </a:pPr>
            <a:r>
              <a:rPr b="0" i="0" lang="es" sz="2400" u="none" cap="none" strike="noStrike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rPr>
              <a:t>Me escuchan bien.</a:t>
            </a:r>
            <a:endParaRPr b="0" i="0" sz="2400" u="none" cap="none" strike="noStrike">
              <a:solidFill>
                <a:schemeClr val="lt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indent="-3810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400"/>
              <a:buFont typeface="DM Sans"/>
              <a:buChar char="●"/>
            </a:pPr>
            <a:r>
              <a:rPr b="0" i="0" lang="es" sz="2400" u="none" cap="none" strike="noStrike">
                <a:solidFill>
                  <a:schemeClr val="accent6"/>
                </a:solidFill>
                <a:latin typeface="DM Sans"/>
                <a:ea typeface="DM Sans"/>
                <a:cs typeface="DM Sans"/>
                <a:sym typeface="DM Sans"/>
              </a:rPr>
              <a:t>Ven las diapos en el </a:t>
            </a:r>
            <a:r>
              <a:rPr b="0" i="0" lang="es" sz="2400" u="none" cap="none" strike="noStrike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rPr>
              <a:t>chat de la comisión</a:t>
            </a:r>
            <a:r>
              <a:rPr b="0" i="0" lang="es" sz="2400" u="none" cap="none" strike="noStrike">
                <a:solidFill>
                  <a:schemeClr val="accent6"/>
                </a:solidFill>
                <a:latin typeface="DM Sans"/>
                <a:ea typeface="DM Sans"/>
                <a:cs typeface="DM Sans"/>
                <a:sym typeface="DM Sans"/>
              </a:rPr>
              <a:t>.</a:t>
            </a:r>
            <a:endParaRPr b="0" i="0" sz="2400" u="none" cap="none" strike="noStrike">
              <a:solidFill>
                <a:schemeClr val="lt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indent="-3810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400"/>
              <a:buFont typeface="DM Sans"/>
              <a:buChar char="●"/>
            </a:pPr>
            <a:r>
              <a:rPr b="0" i="0" lang="es" sz="2400" u="none" cap="none" strike="noStrike">
                <a:solidFill>
                  <a:schemeClr val="accent6"/>
                </a:solidFill>
                <a:latin typeface="DM Sans"/>
                <a:ea typeface="DM Sans"/>
                <a:cs typeface="DM Sans"/>
                <a:sym typeface="DM Sans"/>
              </a:rPr>
              <a:t>Estoy grabando.</a:t>
            </a:r>
            <a:endParaRPr b="0" i="0" sz="2400" u="none" cap="none" strike="noStrike">
              <a:solidFill>
                <a:schemeClr val="accent6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indent="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100" u="none" cap="none" strike="noStrike">
              <a:solidFill>
                <a:srgbClr val="9E9E9E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0"/>
              <a:buFont typeface="Arial"/>
              <a:buNone/>
            </a:pPr>
            <a:r>
              <a:t/>
            </a:r>
            <a:endParaRPr b="1" i="0" sz="4000" u="none" cap="none" strike="noStrike">
              <a:solidFill>
                <a:schemeClr val="lt1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pic>
        <p:nvPicPr>
          <p:cNvPr id="50" name="Google Shape;50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800600" y="764200"/>
            <a:ext cx="5051176" cy="33674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5" name="Google Shape;55;p17"/>
          <p:cNvGrpSpPr/>
          <p:nvPr/>
        </p:nvGrpSpPr>
        <p:grpSpPr>
          <a:xfrm>
            <a:off x="0" y="-7400"/>
            <a:ext cx="9143925" cy="44400"/>
            <a:chOff x="0" y="-7400"/>
            <a:chExt cx="9143925" cy="44400"/>
          </a:xfrm>
        </p:grpSpPr>
        <p:sp>
          <p:nvSpPr>
            <p:cNvPr id="56" name="Google Shape;56;p17"/>
            <p:cNvSpPr/>
            <p:nvPr/>
          </p:nvSpPr>
          <p:spPr>
            <a:xfrm>
              <a:off x="5846625" y="-7400"/>
              <a:ext cx="3297300" cy="444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endParaRPr>
            </a:p>
          </p:txBody>
        </p:sp>
        <p:sp>
          <p:nvSpPr>
            <p:cNvPr id="57" name="Google Shape;57;p17"/>
            <p:cNvSpPr/>
            <p:nvPr/>
          </p:nvSpPr>
          <p:spPr>
            <a:xfrm>
              <a:off x="0" y="-7400"/>
              <a:ext cx="5846700" cy="44400"/>
            </a:xfrm>
            <a:prstGeom prst="rect">
              <a:avLst/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latin typeface="DM Sans"/>
                <a:ea typeface="DM Sans"/>
                <a:cs typeface="DM Sans"/>
                <a:sym typeface="DM Sans"/>
              </a:endParaRPr>
            </a:p>
          </p:txBody>
        </p:sp>
      </p:grpSp>
      <p:sp>
        <p:nvSpPr>
          <p:cNvPr id="58" name="Google Shape;58;p17"/>
          <p:cNvSpPr txBox="1"/>
          <p:nvPr/>
        </p:nvSpPr>
        <p:spPr>
          <a:xfrm>
            <a:off x="466756" y="390925"/>
            <a:ext cx="8141100" cy="738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s" sz="400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Código optimizado</a:t>
            </a:r>
            <a:endParaRPr b="1" sz="400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59" name="Google Shape;59;p17"/>
          <p:cNvSpPr txBox="1"/>
          <p:nvPr/>
        </p:nvSpPr>
        <p:spPr>
          <a:xfrm>
            <a:off x="475200" y="971250"/>
            <a:ext cx="8367600" cy="338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indent="-333375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650"/>
              <a:buFont typeface="DM Sans"/>
              <a:buChar char="✓"/>
            </a:pPr>
            <a:r>
              <a:rPr lang="es" sz="165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Ayuda a la escalabilidad y consistencia.</a:t>
            </a:r>
            <a:endParaRPr sz="165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indent="-333375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650"/>
              <a:buFont typeface="DM Sans"/>
              <a:buChar char="✓"/>
            </a:pPr>
            <a:r>
              <a:rPr lang="es" sz="165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Mejora la legibilidad.</a:t>
            </a:r>
            <a:endParaRPr sz="165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indent="-333375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650"/>
              <a:buFont typeface="DM Sans"/>
              <a:buChar char="✓"/>
            </a:pPr>
            <a:r>
              <a:rPr lang="es" sz="165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Genera bases de código más compactas.</a:t>
            </a:r>
            <a:endParaRPr sz="165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indent="-333375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650"/>
              <a:buFont typeface="DM Sans"/>
              <a:buChar char="✓"/>
            </a:pPr>
            <a:r>
              <a:rPr lang="es" sz="165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Reduce trabajos innecesarios de cómputo.</a:t>
            </a:r>
            <a:endParaRPr sz="17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1000"/>
              </a:spcBef>
              <a:spcAft>
                <a:spcPts val="1000"/>
              </a:spcAft>
              <a:buNone/>
            </a:pPr>
            <a:r>
              <a:t/>
            </a:r>
            <a:endParaRPr b="1">
              <a:solidFill>
                <a:schemeClr val="dk1"/>
              </a:solidFill>
            </a:endParaRPr>
          </a:p>
        </p:txBody>
      </p:sp>
      <p:sp>
        <p:nvSpPr>
          <p:cNvPr id="60" name="Google Shape;60;p17"/>
          <p:cNvSpPr txBox="1"/>
          <p:nvPr/>
        </p:nvSpPr>
        <p:spPr>
          <a:xfrm>
            <a:off x="4527575" y="1908175"/>
            <a:ext cx="3834600" cy="3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latin typeface="DM Sans"/>
              <a:ea typeface="DM Sans"/>
              <a:cs typeface="DM Sans"/>
              <a:sym typeface="DM Sans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4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5" name="Google Shape;65;p18"/>
          <p:cNvGrpSpPr/>
          <p:nvPr/>
        </p:nvGrpSpPr>
        <p:grpSpPr>
          <a:xfrm>
            <a:off x="0" y="-7400"/>
            <a:ext cx="9143925" cy="44400"/>
            <a:chOff x="0" y="-7400"/>
            <a:chExt cx="9143925" cy="44400"/>
          </a:xfrm>
        </p:grpSpPr>
        <p:sp>
          <p:nvSpPr>
            <p:cNvPr id="66" name="Google Shape;66;p18"/>
            <p:cNvSpPr/>
            <p:nvPr/>
          </p:nvSpPr>
          <p:spPr>
            <a:xfrm>
              <a:off x="5846625" y="-7400"/>
              <a:ext cx="3297300" cy="444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endParaRPr>
            </a:p>
          </p:txBody>
        </p:sp>
        <p:sp>
          <p:nvSpPr>
            <p:cNvPr id="67" name="Google Shape;67;p18"/>
            <p:cNvSpPr/>
            <p:nvPr/>
          </p:nvSpPr>
          <p:spPr>
            <a:xfrm>
              <a:off x="0" y="-7400"/>
              <a:ext cx="5846700" cy="44400"/>
            </a:xfrm>
            <a:prstGeom prst="rect">
              <a:avLst/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latin typeface="DM Sans"/>
                <a:ea typeface="DM Sans"/>
                <a:cs typeface="DM Sans"/>
                <a:sym typeface="DM Sans"/>
              </a:endParaRPr>
            </a:p>
          </p:txBody>
        </p:sp>
      </p:grpSp>
      <p:sp>
        <p:nvSpPr>
          <p:cNvPr id="68" name="Google Shape;68;p18"/>
          <p:cNvSpPr txBox="1"/>
          <p:nvPr/>
        </p:nvSpPr>
        <p:spPr>
          <a:xfrm>
            <a:off x="475206" y="390925"/>
            <a:ext cx="8141100" cy="800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s" sz="400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Principio </a:t>
            </a:r>
            <a:r>
              <a:rPr b="1" lang="es" sz="400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K.I.S.S.</a:t>
            </a:r>
            <a:endParaRPr b="1" sz="400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69" name="Google Shape;69;p18"/>
          <p:cNvSpPr txBox="1"/>
          <p:nvPr/>
        </p:nvSpPr>
        <p:spPr>
          <a:xfrm>
            <a:off x="534250" y="1127900"/>
            <a:ext cx="5262000" cy="2916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" sz="160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Keep it simple </a:t>
            </a:r>
            <a:r>
              <a:rPr b="1" lang="es" sz="160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STUPID</a:t>
            </a:r>
            <a:r>
              <a:rPr lang="es" sz="160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!!!</a:t>
            </a:r>
            <a:endParaRPr sz="160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" sz="1600">
                <a:solidFill>
                  <a:schemeClr val="dk1"/>
                </a:solidFill>
                <a:highlight>
                  <a:schemeClr val="lt1"/>
                </a:highlight>
                <a:latin typeface="DM Sans"/>
                <a:ea typeface="DM Sans"/>
                <a:cs typeface="DM Sans"/>
                <a:sym typeface="DM Sans"/>
              </a:rPr>
              <a:t>Evita l</a:t>
            </a:r>
            <a:r>
              <a:rPr lang="es" sz="1600">
                <a:solidFill>
                  <a:schemeClr val="dk1"/>
                </a:solidFill>
                <a:highlight>
                  <a:schemeClr val="lt1"/>
                </a:highlight>
                <a:latin typeface="DM Sans"/>
                <a:ea typeface="DM Sans"/>
                <a:cs typeface="DM Sans"/>
                <a:sym typeface="DM Sans"/>
              </a:rPr>
              <a:t>a tentación de </a:t>
            </a:r>
            <a:r>
              <a:rPr b="1" lang="es" sz="1600">
                <a:solidFill>
                  <a:schemeClr val="dk1"/>
                </a:solidFill>
                <a:highlight>
                  <a:schemeClr val="lt1"/>
                </a:highlight>
                <a:latin typeface="DM Sans"/>
                <a:ea typeface="DM Sans"/>
                <a:cs typeface="DM Sans"/>
                <a:sym typeface="DM Sans"/>
              </a:rPr>
              <a:t>complejizar.</a:t>
            </a:r>
            <a:endParaRPr b="1" sz="1600">
              <a:solidFill>
                <a:schemeClr val="dk1"/>
              </a:solidFill>
              <a:highlight>
                <a:schemeClr val="lt1"/>
              </a:highlight>
              <a:latin typeface="DM Sans"/>
              <a:ea typeface="DM Sans"/>
              <a:cs typeface="DM Sans"/>
              <a:sym typeface="DM San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600">
              <a:solidFill>
                <a:schemeClr val="dk1"/>
              </a:solidFill>
              <a:highlight>
                <a:schemeClr val="lt1"/>
              </a:highlight>
              <a:latin typeface="DM Sans"/>
              <a:ea typeface="DM Sans"/>
              <a:cs typeface="DM Sans"/>
              <a:sym typeface="DM Sans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" sz="1600">
                <a:solidFill>
                  <a:schemeClr val="dk1"/>
                </a:solidFill>
                <a:highlight>
                  <a:schemeClr val="lt1"/>
                </a:highlight>
                <a:latin typeface="DM Sans"/>
                <a:ea typeface="DM Sans"/>
                <a:cs typeface="DM Sans"/>
                <a:sym typeface="DM Sans"/>
              </a:rPr>
              <a:t>Al empezar una pieza, escribe los objetivos mínimos que tu código debe cumplir, y cada tanto valida si has comenzado a hacer </a:t>
            </a:r>
            <a:r>
              <a:rPr b="1" lang="es" sz="1600">
                <a:solidFill>
                  <a:schemeClr val="dk1"/>
                </a:solidFill>
                <a:highlight>
                  <a:schemeClr val="lt1"/>
                </a:highlight>
                <a:latin typeface="DM Sans"/>
                <a:ea typeface="DM Sans"/>
                <a:cs typeface="DM Sans"/>
                <a:sym typeface="DM Sans"/>
              </a:rPr>
              <a:t>más de lo que te planteaste originalmente,</a:t>
            </a:r>
            <a:r>
              <a:rPr lang="es" sz="1600">
                <a:solidFill>
                  <a:schemeClr val="dk1"/>
                </a:solidFill>
                <a:highlight>
                  <a:schemeClr val="lt1"/>
                </a:highlight>
                <a:latin typeface="DM Sans"/>
                <a:ea typeface="DM Sans"/>
                <a:cs typeface="DM Sans"/>
                <a:sym typeface="DM Sans"/>
              </a:rPr>
              <a:t> si tu código hace más.</a:t>
            </a:r>
            <a:endParaRPr sz="160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1000"/>
              </a:spcBef>
              <a:spcAft>
                <a:spcPts val="1000"/>
              </a:spcAft>
              <a:buNone/>
            </a:pPr>
            <a:r>
              <a:t/>
            </a:r>
            <a:endParaRPr b="1"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3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4" name="Google Shape;74;p19"/>
          <p:cNvGrpSpPr/>
          <p:nvPr/>
        </p:nvGrpSpPr>
        <p:grpSpPr>
          <a:xfrm>
            <a:off x="0" y="-7400"/>
            <a:ext cx="9143925" cy="44400"/>
            <a:chOff x="0" y="-7400"/>
            <a:chExt cx="9143925" cy="44400"/>
          </a:xfrm>
        </p:grpSpPr>
        <p:sp>
          <p:nvSpPr>
            <p:cNvPr id="75" name="Google Shape;75;p19"/>
            <p:cNvSpPr/>
            <p:nvPr/>
          </p:nvSpPr>
          <p:spPr>
            <a:xfrm>
              <a:off x="5846625" y="-7400"/>
              <a:ext cx="3297300" cy="444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endParaRPr>
            </a:p>
          </p:txBody>
        </p:sp>
        <p:sp>
          <p:nvSpPr>
            <p:cNvPr id="76" name="Google Shape;76;p19"/>
            <p:cNvSpPr/>
            <p:nvPr/>
          </p:nvSpPr>
          <p:spPr>
            <a:xfrm>
              <a:off x="0" y="-7400"/>
              <a:ext cx="5846700" cy="44400"/>
            </a:xfrm>
            <a:prstGeom prst="rect">
              <a:avLst/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latin typeface="DM Sans"/>
                <a:ea typeface="DM Sans"/>
                <a:cs typeface="DM Sans"/>
                <a:sym typeface="DM Sans"/>
              </a:endParaRPr>
            </a:p>
          </p:txBody>
        </p:sp>
      </p:grpSp>
      <p:sp>
        <p:nvSpPr>
          <p:cNvPr id="77" name="Google Shape;77;p19"/>
          <p:cNvSpPr txBox="1"/>
          <p:nvPr/>
        </p:nvSpPr>
        <p:spPr>
          <a:xfrm>
            <a:off x="475206" y="390925"/>
            <a:ext cx="8141100" cy="800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s" sz="400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Principio Y.A.G.N.I.</a:t>
            </a:r>
            <a:endParaRPr b="1" sz="400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78" name="Google Shape;78;p19"/>
          <p:cNvSpPr txBox="1"/>
          <p:nvPr/>
        </p:nvSpPr>
        <p:spPr>
          <a:xfrm>
            <a:off x="534250" y="1127900"/>
            <a:ext cx="5262000" cy="2842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" sz="160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You aren’t gonna need it!</a:t>
            </a:r>
            <a:endParaRPr sz="160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" sz="1600">
                <a:solidFill>
                  <a:schemeClr val="dk1"/>
                </a:solidFill>
                <a:highlight>
                  <a:schemeClr val="lt1"/>
                </a:highlight>
                <a:latin typeface="DM Sans"/>
                <a:ea typeface="DM Sans"/>
                <a:cs typeface="DM Sans"/>
                <a:sym typeface="DM Sans"/>
              </a:rPr>
              <a:t>La tentación de crear features para necesidades inexistentes.</a:t>
            </a:r>
            <a:endParaRPr sz="1600">
              <a:solidFill>
                <a:schemeClr val="dk1"/>
              </a:solidFill>
              <a:highlight>
                <a:schemeClr val="lt1"/>
              </a:highlight>
              <a:latin typeface="DM Sans"/>
              <a:ea typeface="DM Sans"/>
              <a:cs typeface="DM Sans"/>
              <a:sym typeface="DM Sans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600">
              <a:solidFill>
                <a:schemeClr val="dk1"/>
              </a:solidFill>
              <a:highlight>
                <a:schemeClr val="lt1"/>
              </a:highlight>
              <a:latin typeface="DM Sans"/>
              <a:ea typeface="DM Sans"/>
              <a:cs typeface="DM Sans"/>
              <a:sym typeface="DM Sans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" sz="1600">
                <a:solidFill>
                  <a:schemeClr val="dk1"/>
                </a:solidFill>
                <a:highlight>
                  <a:schemeClr val="lt1"/>
                </a:highlight>
                <a:latin typeface="DM Sans"/>
                <a:ea typeface="DM Sans"/>
                <a:cs typeface="DM Sans"/>
                <a:sym typeface="DM Sans"/>
              </a:rPr>
              <a:t>Un foco en el usuario, y en la tarea que tiene que lograr, te puede ayudar a mantenerte en línea.</a:t>
            </a:r>
            <a:endParaRPr sz="1600">
              <a:solidFill>
                <a:schemeClr val="dk1"/>
              </a:solidFill>
              <a:highlight>
                <a:schemeClr val="lt1"/>
              </a:highlight>
              <a:latin typeface="DM Sans"/>
              <a:ea typeface="DM Sans"/>
              <a:cs typeface="DM Sans"/>
              <a:sym typeface="DM Sans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>
              <a:solidFill>
                <a:schemeClr val="dk1"/>
              </a:solidFill>
              <a:highlight>
                <a:schemeClr val="lt1"/>
              </a:highlight>
              <a:latin typeface="DM Sans"/>
              <a:ea typeface="DM Sans"/>
              <a:cs typeface="DM Sans"/>
              <a:sym typeface="DM Sans"/>
            </a:endParaRPr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1000"/>
              </a:spcBef>
              <a:spcAft>
                <a:spcPts val="1000"/>
              </a:spcAft>
              <a:buNone/>
            </a:pPr>
            <a:r>
              <a:t/>
            </a:r>
            <a:endParaRPr b="1"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2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3" name="Google Shape;83;p20"/>
          <p:cNvGrpSpPr/>
          <p:nvPr/>
        </p:nvGrpSpPr>
        <p:grpSpPr>
          <a:xfrm>
            <a:off x="0" y="-7400"/>
            <a:ext cx="9143925" cy="44400"/>
            <a:chOff x="0" y="-7400"/>
            <a:chExt cx="9143925" cy="44400"/>
          </a:xfrm>
        </p:grpSpPr>
        <p:sp>
          <p:nvSpPr>
            <p:cNvPr id="84" name="Google Shape;84;p20"/>
            <p:cNvSpPr/>
            <p:nvPr/>
          </p:nvSpPr>
          <p:spPr>
            <a:xfrm>
              <a:off x="5846625" y="-7400"/>
              <a:ext cx="3297300" cy="444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endParaRPr>
            </a:p>
          </p:txBody>
        </p:sp>
        <p:sp>
          <p:nvSpPr>
            <p:cNvPr id="85" name="Google Shape;85;p20"/>
            <p:cNvSpPr/>
            <p:nvPr/>
          </p:nvSpPr>
          <p:spPr>
            <a:xfrm>
              <a:off x="0" y="-7400"/>
              <a:ext cx="5846700" cy="44400"/>
            </a:xfrm>
            <a:prstGeom prst="rect">
              <a:avLst/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latin typeface="DM Sans"/>
                <a:ea typeface="DM Sans"/>
                <a:cs typeface="DM Sans"/>
                <a:sym typeface="DM Sans"/>
              </a:endParaRPr>
            </a:p>
          </p:txBody>
        </p:sp>
      </p:grpSp>
      <p:sp>
        <p:nvSpPr>
          <p:cNvPr id="86" name="Google Shape;86;p20"/>
          <p:cNvSpPr txBox="1"/>
          <p:nvPr/>
        </p:nvSpPr>
        <p:spPr>
          <a:xfrm>
            <a:off x="475206" y="390925"/>
            <a:ext cx="8141100" cy="800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s" sz="400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Principio D.R.Y.</a:t>
            </a:r>
            <a:endParaRPr b="1" sz="400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87" name="Google Shape;87;p20"/>
          <p:cNvSpPr txBox="1"/>
          <p:nvPr/>
        </p:nvSpPr>
        <p:spPr>
          <a:xfrm>
            <a:off x="534250" y="1127900"/>
            <a:ext cx="5262000" cy="33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" sz="160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Don’t repeat yourself!</a:t>
            </a:r>
            <a:endParaRPr sz="160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" sz="1600">
                <a:solidFill>
                  <a:schemeClr val="dk1"/>
                </a:solidFill>
                <a:highlight>
                  <a:schemeClr val="lt1"/>
                </a:highlight>
                <a:latin typeface="DM Sans"/>
                <a:ea typeface="DM Sans"/>
                <a:cs typeface="DM Sans"/>
                <a:sym typeface="DM Sans"/>
              </a:rPr>
              <a:t>La dificultad de identificar patrones fomentará la existencia de estructuras de código repetido.</a:t>
            </a:r>
            <a:endParaRPr sz="1600">
              <a:solidFill>
                <a:schemeClr val="dk1"/>
              </a:solidFill>
              <a:highlight>
                <a:schemeClr val="lt1"/>
              </a:highlight>
              <a:latin typeface="DM Sans"/>
              <a:ea typeface="DM Sans"/>
              <a:cs typeface="DM Sans"/>
              <a:sym typeface="DM Sans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600">
              <a:solidFill>
                <a:schemeClr val="dk1"/>
              </a:solidFill>
              <a:highlight>
                <a:schemeClr val="lt1"/>
              </a:highlight>
              <a:latin typeface="DM Sans"/>
              <a:ea typeface="DM Sans"/>
              <a:cs typeface="DM Sans"/>
              <a:sym typeface="DM Sans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" sz="1600">
                <a:solidFill>
                  <a:schemeClr val="dk1"/>
                </a:solidFill>
                <a:highlight>
                  <a:schemeClr val="lt1"/>
                </a:highlight>
                <a:latin typeface="DM Sans"/>
                <a:ea typeface="DM Sans"/>
                <a:cs typeface="DM Sans"/>
                <a:sym typeface="DM Sans"/>
              </a:rPr>
              <a:t>Si te ves copiando/pegando, y después modificando pequeñas cosas de cada copy/paste, probablemente puedas reutilizar algunos bloques de código.</a:t>
            </a:r>
            <a:endParaRPr sz="1600">
              <a:solidFill>
                <a:schemeClr val="dk1"/>
              </a:solidFill>
              <a:highlight>
                <a:schemeClr val="lt1"/>
              </a:highlight>
              <a:latin typeface="DM Sans"/>
              <a:ea typeface="DM Sans"/>
              <a:cs typeface="DM Sans"/>
              <a:sym typeface="DM Sans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>
              <a:solidFill>
                <a:schemeClr val="dk1"/>
              </a:solidFill>
              <a:highlight>
                <a:schemeClr val="lt1"/>
              </a:highlight>
              <a:latin typeface="DM Sans"/>
              <a:ea typeface="DM Sans"/>
              <a:cs typeface="DM Sans"/>
              <a:sym typeface="DM Sans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>
              <a:solidFill>
                <a:schemeClr val="dk1"/>
              </a:solidFill>
              <a:highlight>
                <a:schemeClr val="lt1"/>
              </a:highlight>
              <a:latin typeface="DM Sans"/>
              <a:ea typeface="DM Sans"/>
              <a:cs typeface="DM Sans"/>
              <a:sym typeface="DM Sans"/>
            </a:endParaRPr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1000"/>
              </a:spcBef>
              <a:spcAft>
                <a:spcPts val="1000"/>
              </a:spcAft>
              <a:buNone/>
            </a:pPr>
            <a:r>
              <a:t/>
            </a:r>
            <a:endParaRPr b="1"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21"/>
          <p:cNvSpPr txBox="1"/>
          <p:nvPr/>
        </p:nvSpPr>
        <p:spPr>
          <a:xfrm>
            <a:off x="1461288" y="1925250"/>
            <a:ext cx="6221400" cy="1237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s" sz="3800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rPr>
              <a:t>Documentar</a:t>
            </a:r>
            <a:r>
              <a:rPr b="1" lang="es" sz="3800">
                <a:solidFill>
                  <a:srgbClr val="EAFF6A"/>
                </a:solidFill>
                <a:latin typeface="DM Sans"/>
                <a:ea typeface="DM Sans"/>
                <a:cs typeface="DM Sans"/>
                <a:sym typeface="DM Sans"/>
              </a:rPr>
              <a:t> </a:t>
            </a:r>
            <a:endParaRPr b="1" sz="3800">
              <a:solidFill>
                <a:srgbClr val="EAFF6A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s" sz="3800">
                <a:solidFill>
                  <a:srgbClr val="EAFF6A"/>
                </a:solidFill>
                <a:latin typeface="DM Sans"/>
                <a:ea typeface="DM Sans"/>
                <a:cs typeface="DM Sans"/>
                <a:sym typeface="DM Sans"/>
              </a:rPr>
              <a:t>proyecto</a:t>
            </a:r>
            <a:endParaRPr b="1" sz="3800">
              <a:solidFill>
                <a:srgbClr val="EAFF6A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6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7" name="Google Shape;97;p22"/>
          <p:cNvGrpSpPr/>
          <p:nvPr/>
        </p:nvGrpSpPr>
        <p:grpSpPr>
          <a:xfrm>
            <a:off x="0" y="-7400"/>
            <a:ext cx="9143925" cy="44400"/>
            <a:chOff x="0" y="-7400"/>
            <a:chExt cx="9143925" cy="44400"/>
          </a:xfrm>
        </p:grpSpPr>
        <p:sp>
          <p:nvSpPr>
            <p:cNvPr id="98" name="Google Shape;98;p22"/>
            <p:cNvSpPr/>
            <p:nvPr/>
          </p:nvSpPr>
          <p:spPr>
            <a:xfrm>
              <a:off x="5846625" y="-7400"/>
              <a:ext cx="3297300" cy="444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endParaRPr>
            </a:p>
          </p:txBody>
        </p:sp>
        <p:sp>
          <p:nvSpPr>
            <p:cNvPr id="99" name="Google Shape;99;p22"/>
            <p:cNvSpPr/>
            <p:nvPr/>
          </p:nvSpPr>
          <p:spPr>
            <a:xfrm>
              <a:off x="0" y="-7400"/>
              <a:ext cx="5846700" cy="44400"/>
            </a:xfrm>
            <a:prstGeom prst="rect">
              <a:avLst/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latin typeface="DM Sans"/>
                <a:ea typeface="DM Sans"/>
                <a:cs typeface="DM Sans"/>
                <a:sym typeface="DM Sans"/>
              </a:endParaRPr>
            </a:p>
          </p:txBody>
        </p:sp>
      </p:grpSp>
      <p:sp>
        <p:nvSpPr>
          <p:cNvPr id="100" name="Google Shape;100;p22"/>
          <p:cNvSpPr txBox="1"/>
          <p:nvPr/>
        </p:nvSpPr>
        <p:spPr>
          <a:xfrm>
            <a:off x="475206" y="390925"/>
            <a:ext cx="8141100" cy="1416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s" sz="4000">
                <a:solidFill>
                  <a:schemeClr val="dk1"/>
                </a:solidFill>
                <a:highlight>
                  <a:schemeClr val="lt1"/>
                </a:highlight>
                <a:latin typeface="DM Sans"/>
                <a:ea typeface="DM Sans"/>
                <a:cs typeface="DM Sans"/>
                <a:sym typeface="DM Sans"/>
              </a:rPr>
              <a:t>Markdown language</a:t>
            </a:r>
            <a:endParaRPr b="1" sz="400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400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101" name="Google Shape;101;p22"/>
          <p:cNvSpPr txBox="1"/>
          <p:nvPr/>
        </p:nvSpPr>
        <p:spPr>
          <a:xfrm>
            <a:off x="534250" y="1127900"/>
            <a:ext cx="5262000" cy="3674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" sz="1450">
                <a:solidFill>
                  <a:schemeClr val="dk1"/>
                </a:solidFill>
                <a:highlight>
                  <a:schemeClr val="lt1"/>
                </a:highlight>
                <a:latin typeface="DM Sans"/>
                <a:ea typeface="DM Sans"/>
                <a:cs typeface="DM Sans"/>
                <a:sym typeface="DM Sans"/>
              </a:rPr>
              <a:t>Cuando los proyectos crecen, esto involucra tareas colaborativas, para lo cual es conveniente crear </a:t>
            </a:r>
            <a:r>
              <a:rPr b="1" lang="es" sz="1450">
                <a:solidFill>
                  <a:schemeClr val="dk1"/>
                </a:solidFill>
                <a:highlight>
                  <a:schemeClr val="lt1"/>
                </a:highlight>
                <a:latin typeface="DM Sans"/>
                <a:ea typeface="DM Sans"/>
                <a:cs typeface="DM Sans"/>
                <a:sym typeface="DM Sans"/>
              </a:rPr>
              <a:t>documentación. </a:t>
            </a:r>
            <a:endParaRPr b="1" sz="1450">
              <a:solidFill>
                <a:schemeClr val="dk1"/>
              </a:solidFill>
              <a:highlight>
                <a:schemeClr val="lt1"/>
              </a:highlight>
              <a:latin typeface="DM Sans"/>
              <a:ea typeface="DM Sans"/>
              <a:cs typeface="DM Sans"/>
              <a:sym typeface="DM San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450">
              <a:solidFill>
                <a:schemeClr val="dk1"/>
              </a:solidFill>
              <a:highlight>
                <a:schemeClr val="lt1"/>
              </a:highlight>
              <a:latin typeface="DM Sans"/>
              <a:ea typeface="DM Sans"/>
              <a:cs typeface="DM Sans"/>
              <a:sym typeface="DM San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s" sz="1450">
                <a:solidFill>
                  <a:schemeClr val="dk1"/>
                </a:solidFill>
                <a:highlight>
                  <a:schemeClr val="lt1"/>
                </a:highlight>
                <a:latin typeface="DM Sans"/>
                <a:ea typeface="DM Sans"/>
                <a:cs typeface="DM Sans"/>
                <a:sym typeface="DM Sans"/>
              </a:rPr>
              <a:t>Markdown</a:t>
            </a:r>
            <a:r>
              <a:rPr lang="es" sz="1450">
                <a:solidFill>
                  <a:schemeClr val="dk1"/>
                </a:solidFill>
                <a:highlight>
                  <a:schemeClr val="lt1"/>
                </a:highlight>
                <a:latin typeface="DM Sans"/>
                <a:ea typeface="DM Sans"/>
                <a:cs typeface="DM Sans"/>
                <a:sym typeface="DM Sans"/>
              </a:rPr>
              <a:t> es una sintaxis abierta, cómoda y suficiente para lograrlo. Se incluye un archivo </a:t>
            </a:r>
            <a:r>
              <a:rPr b="1" lang="es" sz="1450">
                <a:solidFill>
                  <a:schemeClr val="dk1"/>
                </a:solidFill>
                <a:highlight>
                  <a:schemeClr val="lt1"/>
                </a:highlight>
                <a:latin typeface="DM Sans"/>
                <a:ea typeface="DM Sans"/>
                <a:cs typeface="DM Sans"/>
                <a:sym typeface="DM Sans"/>
              </a:rPr>
              <a:t>README.md </a:t>
            </a:r>
            <a:r>
              <a:rPr lang="es" sz="1450">
                <a:solidFill>
                  <a:schemeClr val="dk1"/>
                </a:solidFill>
                <a:highlight>
                  <a:schemeClr val="lt1"/>
                </a:highlight>
                <a:latin typeface="DM Sans"/>
                <a:ea typeface="DM Sans"/>
                <a:cs typeface="DM Sans"/>
                <a:sym typeface="DM Sans"/>
              </a:rPr>
              <a:t>en la carpeta principal del proyecto.</a:t>
            </a:r>
            <a:endParaRPr sz="1450">
              <a:solidFill>
                <a:schemeClr val="dk1"/>
              </a:solidFill>
              <a:highlight>
                <a:schemeClr val="lt1"/>
              </a:highlight>
              <a:latin typeface="DM Sans"/>
              <a:ea typeface="DM Sans"/>
              <a:cs typeface="DM Sans"/>
              <a:sym typeface="DM San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50">
              <a:solidFill>
                <a:schemeClr val="dk1"/>
              </a:solidFill>
              <a:highlight>
                <a:schemeClr val="lt1"/>
              </a:highlight>
              <a:latin typeface="DM Sans"/>
              <a:ea typeface="DM Sans"/>
              <a:cs typeface="DM Sans"/>
              <a:sym typeface="DM San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" sz="1450">
                <a:solidFill>
                  <a:schemeClr val="dk1"/>
                </a:solidFill>
                <a:highlight>
                  <a:schemeClr val="lt1"/>
                </a:highlight>
                <a:latin typeface="DM Sans"/>
                <a:ea typeface="DM Sans"/>
                <a:cs typeface="DM Sans"/>
                <a:sym typeface="DM Sans"/>
              </a:rPr>
              <a:t>Este archivo será el que veremos en GITHUB.</a:t>
            </a:r>
            <a:endParaRPr sz="1450">
              <a:solidFill>
                <a:schemeClr val="dk1"/>
              </a:solidFill>
              <a:highlight>
                <a:schemeClr val="lt1"/>
              </a:highlight>
              <a:latin typeface="DM Sans"/>
              <a:ea typeface="DM Sans"/>
              <a:cs typeface="DM Sans"/>
              <a:sym typeface="DM Sans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>
              <a:solidFill>
                <a:schemeClr val="dk1"/>
              </a:solidFill>
              <a:highlight>
                <a:schemeClr val="lt1"/>
              </a:highlight>
              <a:latin typeface="DM Sans"/>
              <a:ea typeface="DM Sans"/>
              <a:cs typeface="DM Sans"/>
              <a:sym typeface="DM Sans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>
              <a:solidFill>
                <a:schemeClr val="dk1"/>
              </a:solidFill>
              <a:highlight>
                <a:schemeClr val="lt1"/>
              </a:highlight>
              <a:latin typeface="DM Sans"/>
              <a:ea typeface="DM Sans"/>
              <a:cs typeface="DM Sans"/>
              <a:sym typeface="DM Sans"/>
            </a:endParaRPr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1000"/>
              </a:spcBef>
              <a:spcAft>
                <a:spcPts val="1000"/>
              </a:spcAft>
              <a:buNone/>
            </a:pPr>
            <a:r>
              <a:t/>
            </a:r>
            <a:endParaRPr b="1"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5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6" name="Google Shape;106;p23"/>
          <p:cNvGrpSpPr/>
          <p:nvPr/>
        </p:nvGrpSpPr>
        <p:grpSpPr>
          <a:xfrm>
            <a:off x="0" y="-7400"/>
            <a:ext cx="9143925" cy="44400"/>
            <a:chOff x="0" y="-7400"/>
            <a:chExt cx="9143925" cy="44400"/>
          </a:xfrm>
        </p:grpSpPr>
        <p:sp>
          <p:nvSpPr>
            <p:cNvPr id="107" name="Google Shape;107;p23"/>
            <p:cNvSpPr/>
            <p:nvPr/>
          </p:nvSpPr>
          <p:spPr>
            <a:xfrm>
              <a:off x="5846625" y="-7400"/>
              <a:ext cx="3297300" cy="444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endParaRPr>
            </a:p>
          </p:txBody>
        </p:sp>
        <p:sp>
          <p:nvSpPr>
            <p:cNvPr id="108" name="Google Shape;108;p23"/>
            <p:cNvSpPr/>
            <p:nvPr/>
          </p:nvSpPr>
          <p:spPr>
            <a:xfrm>
              <a:off x="0" y="-7400"/>
              <a:ext cx="5846700" cy="44400"/>
            </a:xfrm>
            <a:prstGeom prst="rect">
              <a:avLst/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latin typeface="DM Sans"/>
                <a:ea typeface="DM Sans"/>
                <a:cs typeface="DM Sans"/>
                <a:sym typeface="DM Sans"/>
              </a:endParaRPr>
            </a:p>
          </p:txBody>
        </p:sp>
      </p:grpSp>
      <p:sp>
        <p:nvSpPr>
          <p:cNvPr id="109" name="Google Shape;109;p23"/>
          <p:cNvSpPr txBox="1"/>
          <p:nvPr/>
        </p:nvSpPr>
        <p:spPr>
          <a:xfrm>
            <a:off x="475206" y="390925"/>
            <a:ext cx="8141100" cy="800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s" sz="400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Proyectos bien documentados</a:t>
            </a:r>
            <a:endParaRPr b="1" sz="400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110" name="Google Shape;110;p23"/>
          <p:cNvSpPr txBox="1"/>
          <p:nvPr/>
        </p:nvSpPr>
        <p:spPr>
          <a:xfrm>
            <a:off x="534250" y="1127900"/>
            <a:ext cx="5262000" cy="4453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50">
              <a:solidFill>
                <a:schemeClr val="dk1"/>
              </a:solidFill>
              <a:highlight>
                <a:schemeClr val="lt1"/>
              </a:highlight>
              <a:latin typeface="DM Sans"/>
              <a:ea typeface="DM Sans"/>
              <a:cs typeface="DM Sans"/>
              <a:sym typeface="DM Sans"/>
            </a:endParaRPr>
          </a:p>
          <a:p>
            <a:pPr indent="-3302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600"/>
              <a:buFont typeface="DM Sans"/>
              <a:buChar char="✓"/>
            </a:pPr>
            <a:r>
              <a:rPr lang="es" sz="1600">
                <a:solidFill>
                  <a:schemeClr val="dk1"/>
                </a:solidFill>
                <a:highlight>
                  <a:schemeClr val="lt1"/>
                </a:highlight>
                <a:latin typeface="DM Sans"/>
                <a:ea typeface="DM Sans"/>
                <a:cs typeface="DM Sans"/>
                <a:sym typeface="DM Sans"/>
              </a:rPr>
              <a:t>Ayudan a establecer convenciones, patrones y reglas de colaboración.</a:t>
            </a:r>
            <a:endParaRPr sz="1600">
              <a:solidFill>
                <a:schemeClr val="dk1"/>
              </a:solidFill>
              <a:highlight>
                <a:schemeClr val="lt1"/>
              </a:highlight>
              <a:latin typeface="DM Sans"/>
              <a:ea typeface="DM Sans"/>
              <a:cs typeface="DM Sans"/>
              <a:sym typeface="DM Sans"/>
            </a:endParaRPr>
          </a:p>
          <a:p>
            <a:pPr indent="-3302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600"/>
              <a:buFont typeface="DM Sans"/>
              <a:buChar char="✓"/>
            </a:pPr>
            <a:r>
              <a:rPr lang="es" sz="1600">
                <a:solidFill>
                  <a:schemeClr val="dk1"/>
                </a:solidFill>
                <a:highlight>
                  <a:schemeClr val="lt1"/>
                </a:highlight>
                <a:latin typeface="DM Sans"/>
                <a:ea typeface="DM Sans"/>
                <a:cs typeface="DM Sans"/>
                <a:sym typeface="DM Sans"/>
              </a:rPr>
              <a:t>Permiten a los colaboradores entender algunos objetivos centrales de las motivaciones del proyecto.</a:t>
            </a:r>
            <a:endParaRPr sz="1600">
              <a:solidFill>
                <a:schemeClr val="dk1"/>
              </a:solidFill>
              <a:highlight>
                <a:schemeClr val="lt1"/>
              </a:highlight>
              <a:latin typeface="DM Sans"/>
              <a:ea typeface="DM Sans"/>
              <a:cs typeface="DM Sans"/>
              <a:sym typeface="DM Sans"/>
            </a:endParaRPr>
          </a:p>
          <a:p>
            <a:pPr indent="-3302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600"/>
              <a:buFont typeface="DM Sans"/>
              <a:buChar char="✓"/>
            </a:pPr>
            <a:r>
              <a:rPr lang="es" sz="1600">
                <a:solidFill>
                  <a:schemeClr val="dk1"/>
                </a:solidFill>
                <a:highlight>
                  <a:schemeClr val="lt1"/>
                </a:highlight>
                <a:latin typeface="DM Sans"/>
                <a:ea typeface="DM Sans"/>
                <a:cs typeface="DM Sans"/>
                <a:sym typeface="DM Sans"/>
              </a:rPr>
              <a:t>Proporcionan recursos mínimos suficientes para levantar el proyecto, sin necesidad de acceder a documentación extra.</a:t>
            </a:r>
            <a:endParaRPr sz="1600">
              <a:solidFill>
                <a:schemeClr val="dk1"/>
              </a:solidFill>
              <a:highlight>
                <a:schemeClr val="lt1"/>
              </a:highlight>
              <a:latin typeface="DM Sans"/>
              <a:ea typeface="DM Sans"/>
              <a:cs typeface="DM Sans"/>
              <a:sym typeface="DM Sans"/>
            </a:endParaRPr>
          </a:p>
          <a:p>
            <a:pPr indent="-3302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600"/>
              <a:buFont typeface="DM Sans"/>
              <a:buChar char="✓"/>
            </a:pPr>
            <a:r>
              <a:rPr lang="es" sz="1600">
                <a:solidFill>
                  <a:schemeClr val="dk1"/>
                </a:solidFill>
                <a:highlight>
                  <a:schemeClr val="lt1"/>
                </a:highlight>
                <a:latin typeface="DM Sans"/>
                <a:ea typeface="DM Sans"/>
                <a:cs typeface="DM Sans"/>
                <a:sym typeface="DM Sans"/>
              </a:rPr>
              <a:t>Si son bibliotecas, reportan la última versión estable o experimental.</a:t>
            </a:r>
            <a:endParaRPr sz="1600">
              <a:solidFill>
                <a:schemeClr val="dk1"/>
              </a:solidFill>
              <a:highlight>
                <a:schemeClr val="lt1"/>
              </a:highlight>
              <a:latin typeface="DM Sans"/>
              <a:ea typeface="DM Sans"/>
              <a:cs typeface="DM Sans"/>
              <a:sym typeface="DM Sans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>
              <a:solidFill>
                <a:schemeClr val="dk1"/>
              </a:solidFill>
              <a:highlight>
                <a:schemeClr val="lt1"/>
              </a:highlight>
              <a:latin typeface="DM Sans"/>
              <a:ea typeface="DM Sans"/>
              <a:cs typeface="DM Sans"/>
              <a:sym typeface="DM Sans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>
              <a:solidFill>
                <a:schemeClr val="dk1"/>
              </a:solidFill>
              <a:highlight>
                <a:schemeClr val="lt1"/>
              </a:highlight>
              <a:latin typeface="DM Sans"/>
              <a:ea typeface="DM Sans"/>
              <a:cs typeface="DM Sans"/>
              <a:sym typeface="DM Sans"/>
            </a:endParaRPr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1000"/>
              </a:spcBef>
              <a:spcAft>
                <a:spcPts val="1000"/>
              </a:spcAft>
              <a:buNone/>
            </a:pPr>
            <a:r>
              <a:t/>
            </a:r>
            <a:endParaRPr b="1"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4"/>
          <p:cNvSpPr txBox="1"/>
          <p:nvPr/>
        </p:nvSpPr>
        <p:spPr>
          <a:xfrm>
            <a:off x="1461288" y="2216250"/>
            <a:ext cx="6221400" cy="711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s" sz="3800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rPr>
              <a:t>Deploy</a:t>
            </a:r>
            <a:endParaRPr b="1" sz="3800">
              <a:solidFill>
                <a:srgbClr val="EAFF6A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0" name="Google Shape;120;p25"/>
          <p:cNvGrpSpPr/>
          <p:nvPr/>
        </p:nvGrpSpPr>
        <p:grpSpPr>
          <a:xfrm>
            <a:off x="0" y="-7400"/>
            <a:ext cx="9143925" cy="44400"/>
            <a:chOff x="0" y="-7400"/>
            <a:chExt cx="9143925" cy="44400"/>
          </a:xfrm>
        </p:grpSpPr>
        <p:sp>
          <p:nvSpPr>
            <p:cNvPr id="121" name="Google Shape;121;p25"/>
            <p:cNvSpPr/>
            <p:nvPr/>
          </p:nvSpPr>
          <p:spPr>
            <a:xfrm>
              <a:off x="5846625" y="-7400"/>
              <a:ext cx="3297300" cy="444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endParaRPr>
            </a:p>
          </p:txBody>
        </p:sp>
        <p:sp>
          <p:nvSpPr>
            <p:cNvPr id="122" name="Google Shape;122;p25"/>
            <p:cNvSpPr/>
            <p:nvPr/>
          </p:nvSpPr>
          <p:spPr>
            <a:xfrm>
              <a:off x="0" y="-7400"/>
              <a:ext cx="5846700" cy="44400"/>
            </a:xfrm>
            <a:prstGeom prst="rect">
              <a:avLst/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latin typeface="DM Sans"/>
                <a:ea typeface="DM Sans"/>
                <a:cs typeface="DM Sans"/>
                <a:sym typeface="DM Sans"/>
              </a:endParaRPr>
            </a:p>
          </p:txBody>
        </p:sp>
      </p:grpSp>
      <p:sp>
        <p:nvSpPr>
          <p:cNvPr id="123" name="Google Shape;123;p25"/>
          <p:cNvSpPr txBox="1"/>
          <p:nvPr/>
        </p:nvSpPr>
        <p:spPr>
          <a:xfrm>
            <a:off x="475206" y="390925"/>
            <a:ext cx="8141100" cy="800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s" sz="400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Deploy en Netlify</a:t>
            </a:r>
            <a:endParaRPr b="1" sz="400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124" name="Google Shape;124;p25"/>
          <p:cNvSpPr txBox="1"/>
          <p:nvPr/>
        </p:nvSpPr>
        <p:spPr>
          <a:xfrm>
            <a:off x="534250" y="1127900"/>
            <a:ext cx="5262000" cy="1020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" sz="160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Nos registramos e iniciamos sesión.</a:t>
            </a:r>
            <a:endParaRPr sz="160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indent="0" lvl="0" marL="0" rtl="0" algn="l">
              <a:spcBef>
                <a:spcPts val="1000"/>
              </a:spcBef>
              <a:spcAft>
                <a:spcPts val="1000"/>
              </a:spcAft>
              <a:buNone/>
            </a:pPr>
            <a:r>
              <a:t/>
            </a:r>
            <a:endParaRPr b="1">
              <a:solidFill>
                <a:schemeClr val="dk1"/>
              </a:solidFill>
            </a:endParaRPr>
          </a:p>
        </p:txBody>
      </p:sp>
      <p:pic>
        <p:nvPicPr>
          <p:cNvPr id="125" name="Google Shape;125;p25" title="1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63088" y="2514076"/>
            <a:ext cx="7817825" cy="8875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0" name="Google Shape;130;p26"/>
          <p:cNvGrpSpPr/>
          <p:nvPr/>
        </p:nvGrpSpPr>
        <p:grpSpPr>
          <a:xfrm>
            <a:off x="0" y="-7400"/>
            <a:ext cx="9143925" cy="44400"/>
            <a:chOff x="0" y="-7400"/>
            <a:chExt cx="9143925" cy="44400"/>
          </a:xfrm>
        </p:grpSpPr>
        <p:sp>
          <p:nvSpPr>
            <p:cNvPr id="131" name="Google Shape;131;p26"/>
            <p:cNvSpPr/>
            <p:nvPr/>
          </p:nvSpPr>
          <p:spPr>
            <a:xfrm>
              <a:off x="5846625" y="-7400"/>
              <a:ext cx="3297300" cy="444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endParaRPr>
            </a:p>
          </p:txBody>
        </p:sp>
        <p:sp>
          <p:nvSpPr>
            <p:cNvPr id="132" name="Google Shape;132;p26"/>
            <p:cNvSpPr/>
            <p:nvPr/>
          </p:nvSpPr>
          <p:spPr>
            <a:xfrm>
              <a:off x="0" y="-7400"/>
              <a:ext cx="5846700" cy="44400"/>
            </a:xfrm>
            <a:prstGeom prst="rect">
              <a:avLst/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latin typeface="DM Sans"/>
                <a:ea typeface="DM Sans"/>
                <a:cs typeface="DM Sans"/>
                <a:sym typeface="DM Sans"/>
              </a:endParaRPr>
            </a:p>
          </p:txBody>
        </p:sp>
      </p:grpSp>
      <p:sp>
        <p:nvSpPr>
          <p:cNvPr id="133" name="Google Shape;133;p26"/>
          <p:cNvSpPr txBox="1"/>
          <p:nvPr/>
        </p:nvSpPr>
        <p:spPr>
          <a:xfrm>
            <a:off x="475206" y="390925"/>
            <a:ext cx="8141100" cy="800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s" sz="400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Deploy en Netlify</a:t>
            </a:r>
            <a:endParaRPr b="1" sz="400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134" name="Google Shape;134;p26"/>
          <p:cNvSpPr txBox="1"/>
          <p:nvPr/>
        </p:nvSpPr>
        <p:spPr>
          <a:xfrm>
            <a:off x="534250" y="1127900"/>
            <a:ext cx="8301900" cy="2745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" sz="160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Expandimos “Add new site” y seleccionamos “Import an existing project”</a:t>
            </a:r>
            <a:r>
              <a:rPr lang="es" sz="160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.</a:t>
            </a:r>
            <a:endParaRPr sz="160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" sz="160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Let’s deploy your project with… </a:t>
            </a:r>
            <a:r>
              <a:rPr b="1" lang="es" sz="160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GITHUB</a:t>
            </a:r>
            <a:endParaRPr b="1" sz="160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indent="0" lvl="0" marL="0" rtl="0" algn="l">
              <a:spcBef>
                <a:spcPts val="1000"/>
              </a:spcBef>
              <a:spcAft>
                <a:spcPts val="1000"/>
              </a:spcAft>
              <a:buNone/>
            </a:pPr>
            <a:r>
              <a:t/>
            </a:r>
            <a:endParaRPr b="1">
              <a:solidFill>
                <a:schemeClr val="dk1"/>
              </a:solidFill>
            </a:endParaRPr>
          </a:p>
        </p:txBody>
      </p:sp>
      <p:pic>
        <p:nvPicPr>
          <p:cNvPr id="135" name="Google Shape;135;p26" title="2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24258" y="1700375"/>
            <a:ext cx="2686050" cy="8953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36" name="Google Shape;136;p26" title="3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624250" y="3379175"/>
            <a:ext cx="4152900" cy="13525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41" name="Google Shape;141;p27"/>
          <p:cNvGrpSpPr/>
          <p:nvPr/>
        </p:nvGrpSpPr>
        <p:grpSpPr>
          <a:xfrm>
            <a:off x="0" y="-7400"/>
            <a:ext cx="9143925" cy="44400"/>
            <a:chOff x="0" y="-7400"/>
            <a:chExt cx="9143925" cy="44400"/>
          </a:xfrm>
        </p:grpSpPr>
        <p:sp>
          <p:nvSpPr>
            <p:cNvPr id="142" name="Google Shape;142;p27"/>
            <p:cNvSpPr/>
            <p:nvPr/>
          </p:nvSpPr>
          <p:spPr>
            <a:xfrm>
              <a:off x="5846625" y="-7400"/>
              <a:ext cx="3297300" cy="444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endParaRPr>
            </a:p>
          </p:txBody>
        </p:sp>
        <p:sp>
          <p:nvSpPr>
            <p:cNvPr id="143" name="Google Shape;143;p27"/>
            <p:cNvSpPr/>
            <p:nvPr/>
          </p:nvSpPr>
          <p:spPr>
            <a:xfrm>
              <a:off x="0" y="-7400"/>
              <a:ext cx="5846700" cy="44400"/>
            </a:xfrm>
            <a:prstGeom prst="rect">
              <a:avLst/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latin typeface="DM Sans"/>
                <a:ea typeface="DM Sans"/>
                <a:cs typeface="DM Sans"/>
                <a:sym typeface="DM Sans"/>
              </a:endParaRPr>
            </a:p>
          </p:txBody>
        </p:sp>
      </p:grpSp>
      <p:sp>
        <p:nvSpPr>
          <p:cNvPr id="144" name="Google Shape;144;p27"/>
          <p:cNvSpPr txBox="1"/>
          <p:nvPr/>
        </p:nvSpPr>
        <p:spPr>
          <a:xfrm>
            <a:off x="475206" y="390925"/>
            <a:ext cx="8141100" cy="800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s" sz="400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Deploy en Netlify</a:t>
            </a:r>
            <a:endParaRPr b="1" sz="400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145" name="Google Shape;145;p27"/>
          <p:cNvSpPr txBox="1"/>
          <p:nvPr/>
        </p:nvSpPr>
        <p:spPr>
          <a:xfrm>
            <a:off x="534250" y="1127900"/>
            <a:ext cx="8301900" cy="774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" sz="160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Damos permisos:</a:t>
            </a:r>
            <a:endParaRPr sz="160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indent="0" lvl="0" marL="0" rtl="0" algn="l">
              <a:spcBef>
                <a:spcPts val="1000"/>
              </a:spcBef>
              <a:spcAft>
                <a:spcPts val="1000"/>
              </a:spcAft>
              <a:buNone/>
            </a:pPr>
            <a:r>
              <a:t/>
            </a:r>
            <a:endParaRPr b="1">
              <a:solidFill>
                <a:schemeClr val="dk1"/>
              </a:solidFill>
            </a:endParaRPr>
          </a:p>
        </p:txBody>
      </p:sp>
      <p:pic>
        <p:nvPicPr>
          <p:cNvPr id="146" name="Google Shape;146;p27" title="4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136975" y="1764750"/>
            <a:ext cx="2870047" cy="2936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1" name="Google Shape;151;p28"/>
          <p:cNvGrpSpPr/>
          <p:nvPr/>
        </p:nvGrpSpPr>
        <p:grpSpPr>
          <a:xfrm>
            <a:off x="0" y="-7400"/>
            <a:ext cx="9143925" cy="44400"/>
            <a:chOff x="0" y="-7400"/>
            <a:chExt cx="9143925" cy="44400"/>
          </a:xfrm>
        </p:grpSpPr>
        <p:sp>
          <p:nvSpPr>
            <p:cNvPr id="152" name="Google Shape;152;p28"/>
            <p:cNvSpPr/>
            <p:nvPr/>
          </p:nvSpPr>
          <p:spPr>
            <a:xfrm>
              <a:off x="5846625" y="-7400"/>
              <a:ext cx="3297300" cy="444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endParaRPr>
            </a:p>
          </p:txBody>
        </p:sp>
        <p:sp>
          <p:nvSpPr>
            <p:cNvPr id="153" name="Google Shape;153;p28"/>
            <p:cNvSpPr/>
            <p:nvPr/>
          </p:nvSpPr>
          <p:spPr>
            <a:xfrm>
              <a:off x="0" y="-7400"/>
              <a:ext cx="5846700" cy="44400"/>
            </a:xfrm>
            <a:prstGeom prst="rect">
              <a:avLst/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latin typeface="DM Sans"/>
                <a:ea typeface="DM Sans"/>
                <a:cs typeface="DM Sans"/>
                <a:sym typeface="DM Sans"/>
              </a:endParaRPr>
            </a:p>
          </p:txBody>
        </p:sp>
      </p:grpSp>
      <p:sp>
        <p:nvSpPr>
          <p:cNvPr id="154" name="Google Shape;154;p28"/>
          <p:cNvSpPr txBox="1"/>
          <p:nvPr/>
        </p:nvSpPr>
        <p:spPr>
          <a:xfrm>
            <a:off x="475206" y="390925"/>
            <a:ext cx="8141100" cy="800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s" sz="400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Deploy en Netlify</a:t>
            </a:r>
            <a:endParaRPr b="1" sz="400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155" name="Google Shape;155;p28"/>
          <p:cNvSpPr txBox="1"/>
          <p:nvPr/>
        </p:nvSpPr>
        <p:spPr>
          <a:xfrm>
            <a:off x="534250" y="1127900"/>
            <a:ext cx="8301900" cy="2252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" sz="160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Damos clic en:</a:t>
            </a:r>
            <a:endParaRPr sz="160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" sz="160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Luego en Configure:</a:t>
            </a:r>
            <a:endParaRPr sz="160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indent="0" lvl="0" marL="0" rtl="0" algn="l">
              <a:spcBef>
                <a:spcPts val="1000"/>
              </a:spcBef>
              <a:spcAft>
                <a:spcPts val="1000"/>
              </a:spcAft>
              <a:buNone/>
            </a:pPr>
            <a:r>
              <a:t/>
            </a:r>
            <a:endParaRPr b="1">
              <a:solidFill>
                <a:schemeClr val="dk1"/>
              </a:solidFill>
            </a:endParaRPr>
          </a:p>
        </p:txBody>
      </p:sp>
      <p:pic>
        <p:nvPicPr>
          <p:cNvPr id="156" name="Google Shape;156;p28" title="5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091100" y="1398400"/>
            <a:ext cx="3704725" cy="3651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57" name="Google Shape;157;p28" title="6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619876" y="2716176"/>
            <a:ext cx="3810675" cy="19987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1" name="Shape 1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2" name="Google Shape;162;p29"/>
          <p:cNvGrpSpPr/>
          <p:nvPr/>
        </p:nvGrpSpPr>
        <p:grpSpPr>
          <a:xfrm>
            <a:off x="0" y="-7400"/>
            <a:ext cx="9143925" cy="44400"/>
            <a:chOff x="0" y="-7400"/>
            <a:chExt cx="9143925" cy="44400"/>
          </a:xfrm>
        </p:grpSpPr>
        <p:sp>
          <p:nvSpPr>
            <p:cNvPr id="163" name="Google Shape;163;p29"/>
            <p:cNvSpPr/>
            <p:nvPr/>
          </p:nvSpPr>
          <p:spPr>
            <a:xfrm>
              <a:off x="5846625" y="-7400"/>
              <a:ext cx="3297300" cy="444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endParaRPr>
            </a:p>
          </p:txBody>
        </p:sp>
        <p:sp>
          <p:nvSpPr>
            <p:cNvPr id="164" name="Google Shape;164;p29"/>
            <p:cNvSpPr/>
            <p:nvPr/>
          </p:nvSpPr>
          <p:spPr>
            <a:xfrm>
              <a:off x="0" y="-7400"/>
              <a:ext cx="5846700" cy="44400"/>
            </a:xfrm>
            <a:prstGeom prst="rect">
              <a:avLst/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latin typeface="DM Sans"/>
                <a:ea typeface="DM Sans"/>
                <a:cs typeface="DM Sans"/>
                <a:sym typeface="DM Sans"/>
              </a:endParaRPr>
            </a:p>
          </p:txBody>
        </p:sp>
      </p:grpSp>
      <p:sp>
        <p:nvSpPr>
          <p:cNvPr id="165" name="Google Shape;165;p29"/>
          <p:cNvSpPr txBox="1"/>
          <p:nvPr/>
        </p:nvSpPr>
        <p:spPr>
          <a:xfrm>
            <a:off x="475206" y="390925"/>
            <a:ext cx="8141100" cy="800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s" sz="400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Deploy en Netlify</a:t>
            </a:r>
            <a:endParaRPr b="1" sz="400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166" name="Google Shape;166;p29"/>
          <p:cNvSpPr txBox="1"/>
          <p:nvPr/>
        </p:nvSpPr>
        <p:spPr>
          <a:xfrm>
            <a:off x="534250" y="1127900"/>
            <a:ext cx="8301900" cy="338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" sz="160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Scrolleamos hacia abajo hasta:</a:t>
            </a:r>
            <a:endParaRPr sz="160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" sz="160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Expandimos en el selector y buscamos el repo:</a:t>
            </a:r>
            <a:endParaRPr sz="160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" sz="160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Finalmente salvamos.</a:t>
            </a:r>
            <a:endParaRPr b="1">
              <a:solidFill>
                <a:schemeClr val="dk1"/>
              </a:solidFill>
            </a:endParaRPr>
          </a:p>
        </p:txBody>
      </p:sp>
      <p:pic>
        <p:nvPicPr>
          <p:cNvPr id="167" name="Google Shape;167;p29" title="7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824650" y="1545250"/>
            <a:ext cx="4074800" cy="15672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68" name="Google Shape;168;p29" title="8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671021" y="3385446"/>
            <a:ext cx="3324600" cy="1625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3" name="Google Shape;173;p30"/>
          <p:cNvGrpSpPr/>
          <p:nvPr/>
        </p:nvGrpSpPr>
        <p:grpSpPr>
          <a:xfrm>
            <a:off x="0" y="-7400"/>
            <a:ext cx="9143925" cy="44400"/>
            <a:chOff x="0" y="-7400"/>
            <a:chExt cx="9143925" cy="44400"/>
          </a:xfrm>
        </p:grpSpPr>
        <p:sp>
          <p:nvSpPr>
            <p:cNvPr id="174" name="Google Shape;174;p30"/>
            <p:cNvSpPr/>
            <p:nvPr/>
          </p:nvSpPr>
          <p:spPr>
            <a:xfrm>
              <a:off x="5846625" y="-7400"/>
              <a:ext cx="3297300" cy="444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endParaRPr>
            </a:p>
          </p:txBody>
        </p:sp>
        <p:sp>
          <p:nvSpPr>
            <p:cNvPr id="175" name="Google Shape;175;p30"/>
            <p:cNvSpPr/>
            <p:nvPr/>
          </p:nvSpPr>
          <p:spPr>
            <a:xfrm>
              <a:off x="0" y="-7400"/>
              <a:ext cx="5846700" cy="44400"/>
            </a:xfrm>
            <a:prstGeom prst="rect">
              <a:avLst/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latin typeface="DM Sans"/>
                <a:ea typeface="DM Sans"/>
                <a:cs typeface="DM Sans"/>
                <a:sym typeface="DM Sans"/>
              </a:endParaRPr>
            </a:p>
          </p:txBody>
        </p:sp>
      </p:grpSp>
      <p:sp>
        <p:nvSpPr>
          <p:cNvPr id="176" name="Google Shape;176;p30"/>
          <p:cNvSpPr txBox="1"/>
          <p:nvPr/>
        </p:nvSpPr>
        <p:spPr>
          <a:xfrm>
            <a:off x="475206" y="390925"/>
            <a:ext cx="8141100" cy="800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s" sz="400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Deploy en Netlify</a:t>
            </a:r>
            <a:endParaRPr b="1" sz="400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177" name="Google Shape;177;p30"/>
          <p:cNvSpPr txBox="1"/>
          <p:nvPr/>
        </p:nvSpPr>
        <p:spPr>
          <a:xfrm>
            <a:off x="534250" y="1127900"/>
            <a:ext cx="8301900" cy="4961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" sz="160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En Netlify hacemos clic sobre el repo, le</a:t>
            </a:r>
            <a:endParaRPr sz="160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" sz="160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damos un nombre:</a:t>
            </a:r>
            <a:endParaRPr sz="160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" sz="160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Scrolleamos hacia abajo y </a:t>
            </a:r>
            <a:endParaRPr sz="160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" sz="160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presionamos en:</a:t>
            </a:r>
            <a:endParaRPr sz="160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indent="0" lvl="0" marL="0" rtl="0" algn="l">
              <a:spcBef>
                <a:spcPts val="1000"/>
              </a:spcBef>
              <a:spcAft>
                <a:spcPts val="1000"/>
              </a:spcAft>
              <a:buNone/>
            </a:pPr>
            <a:r>
              <a:t/>
            </a:r>
            <a:endParaRPr b="1">
              <a:solidFill>
                <a:schemeClr val="dk1"/>
              </a:solidFill>
            </a:endParaRPr>
          </a:p>
        </p:txBody>
      </p:sp>
      <p:pic>
        <p:nvPicPr>
          <p:cNvPr id="178" name="Google Shape;178;p30" title="9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490672" y="1517575"/>
            <a:ext cx="4303800" cy="28675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79" name="Google Shape;179;p30" title="10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96047" y="3736372"/>
            <a:ext cx="2279025" cy="6110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84" name="Google Shape;184;p31"/>
          <p:cNvGrpSpPr/>
          <p:nvPr/>
        </p:nvGrpSpPr>
        <p:grpSpPr>
          <a:xfrm>
            <a:off x="0" y="-7400"/>
            <a:ext cx="9143925" cy="44400"/>
            <a:chOff x="0" y="-7400"/>
            <a:chExt cx="9143925" cy="44400"/>
          </a:xfrm>
        </p:grpSpPr>
        <p:sp>
          <p:nvSpPr>
            <p:cNvPr id="185" name="Google Shape;185;p31"/>
            <p:cNvSpPr/>
            <p:nvPr/>
          </p:nvSpPr>
          <p:spPr>
            <a:xfrm>
              <a:off x="5846625" y="-7400"/>
              <a:ext cx="3297300" cy="444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endParaRPr>
            </a:p>
          </p:txBody>
        </p:sp>
        <p:sp>
          <p:nvSpPr>
            <p:cNvPr id="186" name="Google Shape;186;p31"/>
            <p:cNvSpPr/>
            <p:nvPr/>
          </p:nvSpPr>
          <p:spPr>
            <a:xfrm>
              <a:off x="0" y="-7400"/>
              <a:ext cx="5846700" cy="44400"/>
            </a:xfrm>
            <a:prstGeom prst="rect">
              <a:avLst/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latin typeface="DM Sans"/>
                <a:ea typeface="DM Sans"/>
                <a:cs typeface="DM Sans"/>
                <a:sym typeface="DM Sans"/>
              </a:endParaRPr>
            </a:p>
          </p:txBody>
        </p:sp>
      </p:grpSp>
      <p:sp>
        <p:nvSpPr>
          <p:cNvPr id="187" name="Google Shape;187;p31"/>
          <p:cNvSpPr txBox="1"/>
          <p:nvPr/>
        </p:nvSpPr>
        <p:spPr>
          <a:xfrm>
            <a:off x="475206" y="390925"/>
            <a:ext cx="8141100" cy="800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s" sz="400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Deploy en Netlify</a:t>
            </a:r>
            <a:endParaRPr b="1" sz="400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188" name="Google Shape;188;p31"/>
          <p:cNvSpPr txBox="1"/>
          <p:nvPr/>
        </p:nvSpPr>
        <p:spPr>
          <a:xfrm>
            <a:off x="534250" y="1127900"/>
            <a:ext cx="8301900" cy="373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" sz="160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Listo:</a:t>
            </a:r>
            <a:endParaRPr sz="160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indent="0" lvl="0" marL="0" rtl="0" algn="l">
              <a:spcBef>
                <a:spcPts val="1000"/>
              </a:spcBef>
              <a:spcAft>
                <a:spcPts val="1000"/>
              </a:spcAft>
              <a:buNone/>
            </a:pPr>
            <a:r>
              <a:t/>
            </a:r>
            <a:endParaRPr b="1">
              <a:solidFill>
                <a:schemeClr val="dk1"/>
              </a:solidFill>
            </a:endParaRPr>
          </a:p>
        </p:txBody>
      </p:sp>
      <p:pic>
        <p:nvPicPr>
          <p:cNvPr id="189" name="Google Shape;189;p31" title="11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15450" y="1891449"/>
            <a:ext cx="6643450" cy="24409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oder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9DF4E2"/>
      </a:accent1>
      <a:accent2>
        <a:srgbClr val="212121"/>
      </a:accent2>
      <a:accent3>
        <a:srgbClr val="78909C"/>
      </a:accent3>
      <a:accent4>
        <a:srgbClr val="EA90FF"/>
      </a:accent4>
      <a:accent5>
        <a:srgbClr val="83AEFB"/>
      </a:accent5>
      <a:accent6>
        <a:srgbClr val="EAFF6A"/>
      </a:accent6>
      <a:hlink>
        <a:srgbClr val="83AEFB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