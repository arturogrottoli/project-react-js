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3" r:id="rId1"/>
  </p:sldMasterIdLst>
  <p:notesMasterIdLst>
    <p:notesMasterId r:id="rId31"/>
  </p:notesMasterIdLst>
  <p:sldIdLst>
    <p:sldId id="256" r:id="rId2"/>
    <p:sldId id="257" r:id="rId3"/>
    <p:sldId id="258" r:id="rId4"/>
    <p:sldId id="259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</p:sldIdLst>
  <p:sldSz cx="9144000" cy="5143500" type="screen16x9"/>
  <p:notesSz cx="6858000" cy="9144000"/>
  <p:embeddedFontLst>
    <p:embeddedFont>
      <p:font typeface="DM Sans" panose="020B0604020202020204" charset="0"/>
      <p:regular r:id="rId32"/>
      <p:bold r:id="rId33"/>
      <p:italic r:id="rId34"/>
      <p:boldItalic r:id="rId35"/>
    </p:embeddedFont>
    <p:embeddedFont>
      <p:font typeface="Helvetica Neue Light" panose="020B0604020202020204" charset="0"/>
      <p:regular r:id="rId36"/>
      <p:bold r:id="rId37"/>
      <p:italic r:id="rId38"/>
      <p:boldItalic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95">
          <p15:clr>
            <a:srgbClr val="A4A3A4"/>
          </p15:clr>
        </p15:guide>
        <p15:guide id="2" pos="5460">
          <p15:clr>
            <a:srgbClr val="A4A3A4"/>
          </p15:clr>
        </p15:guide>
        <p15:guide id="3" pos="300">
          <p15:clr>
            <a:srgbClr val="9AA0A6"/>
          </p15:clr>
        </p15:guide>
        <p15:guide id="4" orient="horz" pos="2892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816" y="78"/>
      </p:cViewPr>
      <p:guideLst>
        <p:guide orient="horz" pos="295"/>
        <p:guide pos="5460"/>
        <p:guide pos="300"/>
        <p:guide orient="horz" pos="2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8.fntdata"/><Relationship Id="rId21" Type="http://schemas.openxmlformats.org/officeDocument/2006/relationships/slide" Target="slides/slide20.xml"/><Relationship Id="rId34" Type="http://schemas.openxmlformats.org/officeDocument/2006/relationships/font" Target="fonts/font3.fntdata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1.fntdata"/><Relationship Id="rId37" Type="http://schemas.openxmlformats.org/officeDocument/2006/relationships/font" Target="fonts/font6.fntdata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4.fntdata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2.fntdata"/><Relationship Id="rId38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g2d89ba99df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" name="Google Shape;47;g2d89ba99df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dirty="0">
                <a:solidFill>
                  <a:schemeClr val="dk1"/>
                </a:solidFill>
                <a:highlight>
                  <a:schemeClr val="accent4"/>
                </a:highlight>
                <a:latin typeface="DM Sans"/>
                <a:ea typeface="DM Sans"/>
                <a:cs typeface="DM Sans"/>
                <a:sym typeface="DM Sans"/>
              </a:rPr>
              <a:t>LOS VIDEOS DE ONBOARDING ESTÁN DISPONIBLES EN EL ESPACIO DE LA CLASE 1</a:t>
            </a:r>
            <a:endParaRPr dirty="0">
              <a:highlight>
                <a:schemeClr val="accent4"/>
              </a:highlight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113c9d1b815_1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113c9d1b815_1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Colocar todas las clases.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fe1a610420_0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fe1a610420_0_1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1401d2a2b4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1401d2a2b4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461b144764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461b144764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los módulos más importantes de la clase, donde se introducen conceptos que se ven en varios slides. No hay que usarla para todos los módulos.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22c3999d49c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22c3999d49c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138340cde61_0_3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138340cde61_0_3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61b144764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61b144764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154e4407d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2154e4407d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1461b144764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1461b144764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154e4407d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154e4407d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e1a610420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fe1a610420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Obligatoria siempre.</a:t>
            </a: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A la hora del Break, entre 5 y 10 minutos. Considerar ubicar este espacio en un momento adecuado de la clase. Al volver, mostrar los resultados de la pregunta del anterior slide y generar un breve intercambio.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2d89ba99dff_0_1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2" name="Google Shape;142;g2d89ba99dff_0_1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 puede usar para comenzar o finalizar la clase, según sea más conveniente.. 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Recurso: Glosario</a:t>
            </a:r>
            <a:endParaRPr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Repasa y define rápidamente los conceptos centrales acumulados. Ayuda a los estudiantes a recuperar aquellos saberes que se darán por dados.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Sugerencia:</a:t>
            </a:r>
            <a:endParaRPr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"/>
              <a:buChar char="-"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Puede incorporarse links e imágenes que apoyen al concepto presentado.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d89ba99dff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0" name="Google Shape;150;g2d89ba99dff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2d89ba99dff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7" name="Google Shape;157;g2d89ba99dff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2d89ba99dff_0_2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66" name="Google Shape;166;g2d89ba99dff_0_2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2d89ba99dff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g2d89ba99dff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g2d89ba99dff_0_2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0" name="Google Shape;180;g2d89ba99dff_0_2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d89ba99dff_0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1" name="Google Shape;191;g2d89ba99dff_0_2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2d89ba99dff_0_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99" name="Google Shape;199;g2d89ba99dff_0_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2d89ba99dff_0_2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07" name="Google Shape;207;g2d89ba99dff_0_2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2d89ba99dff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2d89ba99dff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2d89ba99dff_0_2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23" name="Google Shape;223;g2d89ba99dff_0_2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d89ba99dff_0_2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0" name="Google Shape;230;g2d89ba99dff_0_2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2d89ba99dff_0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7" name="Google Shape;237;g2d89ba99dff_0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d89ba99dff_0_3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44" name="Google Shape;244;g2d89ba99dff_0_3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2d89ba99dff_0_3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1" name="Google Shape;251;g2d89ba99dff_0_3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para slides de texto e imagen. Si no alcanza, no sobrecargar, usar otra con el mismo título para indicar que continúa el mismo módulo.</a:t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2d8aad4aaa9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7" name="Google Shape;257;g2d8aad4aaa9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3365b5acdf_0_1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3365b5acdf_0_1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472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co 1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Font typeface="DM Sans"/>
              <a:buNone/>
              <a:defRPr sz="4000" b="1">
                <a:latin typeface="DM Sans"/>
                <a:ea typeface="DM Sans"/>
                <a:cs typeface="DM Sans"/>
                <a:sym typeface="DM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Helvetica Neue Light"/>
              <a:buNone/>
              <a:defRPr sz="2000"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pic>
        <p:nvPicPr>
          <p:cNvPr id="12" name="Google Shape;12;p2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B">
  <p:cSld name="SECTION_HEADER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74775" y="4720250"/>
            <a:ext cx="1024025" cy="211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A">
  <p:cSld name="SECTION_HEADER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1">
  <p:cSld name="SECTION_HEADER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5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2">
  <p:cSld name="SECTION_HEADER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6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átula 3">
  <p:cSld name="SECTION_HEADER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7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adro">
  <p:cSld name="SECTION_HEADER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8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">
  <p:cSld name="SECTION_HEADER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9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7" name="Google Shape;27;p9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ondo blanco">
  <p:cSld name="SECTION_HEADER_1_1_1_1_1_1_1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10" title="logo coderhouse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">
  <p:cSld name="SECTION_HEADER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11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2-A">
  <p:cSld name="SECTION_HEADER_1_1_1_1_1_1_1_1_1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12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rtl="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37" name="Google Shape;3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5">
  <p:cSld name="SECTION_HEADER_1_1_1_1_1_1_1_1_1_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14" title="logo coderhouse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03-B 1">
  <p:cSld name="SECTION_HEADER_1_1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15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 imagen 1">
  <p:cSld name="SECTION_HEADER_1_1_1_1_1_1_1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16"/>
          <p:cNvSpPr/>
          <p:nvPr/>
        </p:nvSpPr>
        <p:spPr>
          <a:xfrm>
            <a:off x="6592475" y="0"/>
            <a:ext cx="2551500" cy="51435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4" name="Google Shape;44;p16" title="logo coderhous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ulioavantt/teacher_components.git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3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46;p16"/>
          <p:cNvSpPr txBox="1"/>
          <p:nvPr/>
        </p:nvSpPr>
        <p:spPr>
          <a:xfrm>
            <a:off x="723014" y="927149"/>
            <a:ext cx="6959674" cy="34532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7200" b="1" u="sng" dirty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React</a:t>
            </a:r>
            <a:endParaRPr sz="72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Flex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6000" b="1" u="sng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Clase 2</a:t>
            </a:r>
            <a: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/>
            </a:r>
            <a:br>
              <a:rPr lang="es" sz="6000" b="1" u="sng" dirty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</a:b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600" b="1" u="sng" dirty="0">
              <a:solidFill>
                <a:srgbClr val="EAFF6A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600" u="sng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Curso dictado por Arturo Grottoli</a:t>
            </a:r>
            <a:endParaRPr sz="1600" b="1" u="sng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8"/>
          <p:cNvSpPr txBox="1"/>
          <p:nvPr/>
        </p:nvSpPr>
        <p:spPr>
          <a:xfrm>
            <a:off x="666200" y="825988"/>
            <a:ext cx="6957344" cy="434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3600" b="1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¿Estamos bien para arrancar?</a:t>
            </a:r>
            <a:endParaRPr sz="3600" b="1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6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DM Sans"/>
              <a:buChar char="●"/>
            </a:pPr>
            <a:r>
              <a:rPr lang="es-MX" sz="33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Sonido e imagen ok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Diapositivas y tamaño texto</a:t>
            </a:r>
            <a:endParaRPr sz="33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438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Font typeface="DM Sans"/>
              <a:buChar char="●"/>
            </a:pPr>
            <a:r>
              <a:rPr lang="es" sz="3300" dirty="0" smtClean="0">
                <a:solidFill>
                  <a:schemeClr val="accent6"/>
                </a:solidFill>
                <a:latin typeface="DM Sans"/>
                <a:ea typeface="DM Sans"/>
                <a:cs typeface="DM Sans"/>
                <a:sym typeface="DM Sans"/>
              </a:rPr>
              <a:t>Recordar chequear que esté grabando.</a:t>
            </a:r>
            <a:endParaRPr sz="3300" dirty="0">
              <a:solidFill>
                <a:schemeClr val="accent6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9"/>
          <p:cNvSpPr txBox="1"/>
          <p:nvPr/>
        </p:nvSpPr>
        <p:spPr>
          <a:xfrm>
            <a:off x="350775" y="1378528"/>
            <a:ext cx="5949600" cy="423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Provee </a:t>
            </a: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un servidor de desarrollo de alta </a:t>
            </a: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velocidad, mas rapido y sencillo que los metodos anteriores.</a:t>
            </a:r>
          </a:p>
          <a:p>
            <a:pPr marL="45720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>
                <a:latin typeface="DM Sans"/>
                <a:ea typeface="DM Sans"/>
                <a:cs typeface="DM Sans"/>
                <a:sym typeface="DM Sans"/>
              </a:rPr>
              <a:t>Es un creador práctico de aplicaciones, entre ellas, de aplicaciones </a:t>
            </a:r>
            <a:r>
              <a:rPr lang="es-MX" sz="1350" dirty="0" err="1">
                <a:latin typeface="DM Sans"/>
                <a:ea typeface="DM Sans"/>
                <a:cs typeface="DM Sans"/>
                <a:sym typeface="DM Sans"/>
              </a:rPr>
              <a:t>React</a:t>
            </a:r>
            <a:r>
              <a:rPr lang="es-MX" sz="1350" dirty="0" smtClean="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350"/>
              <a:buFont typeface="DM Sans"/>
              <a:buChar char="●"/>
            </a:pP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Funciona como empaquetador de módulos (builder) rápido y simple. </a:t>
            </a:r>
            <a:endParaRPr sz="1350" dirty="0" smtClean="0"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-MX" sz="1350" dirty="0" smtClean="0">
                <a:latin typeface="DM Sans"/>
                <a:ea typeface="DM Sans"/>
                <a:cs typeface="DM Sans"/>
              </a:rPr>
              <a:t>Proporciona </a:t>
            </a:r>
            <a:r>
              <a:rPr lang="es-MX" sz="1350" dirty="0">
                <a:latin typeface="DM Sans"/>
                <a:ea typeface="DM Sans"/>
                <a:cs typeface="DM Sans"/>
              </a:rPr>
              <a:t>un servidor de desarrollo de alta velocidad y una configuración muy sencilla</a:t>
            </a:r>
            <a:r>
              <a:rPr lang="es-MX" sz="1350" dirty="0" smtClean="0">
                <a:latin typeface="DM Sans"/>
                <a:ea typeface="DM Sans"/>
                <a:cs typeface="DM Sans"/>
              </a:rPr>
              <a:t>.</a:t>
            </a:r>
          </a:p>
          <a:p>
            <a:pPr marL="457200" lvl="0" indent="-314325">
              <a:lnSpc>
                <a:spcPct val="150000"/>
              </a:lnSpc>
              <a:buSzPts val="1350"/>
              <a:buFont typeface="DM Sans"/>
              <a:buChar char="●"/>
            </a:pP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Usa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módulos ES (ESM) nativos del navegador, lo que permite un arranque instantáneo y una recarga en caliente extremadamente rápida. 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" name="Google Shape;60;p19"/>
          <p:cNvSpPr txBox="1"/>
          <p:nvPr/>
        </p:nvSpPr>
        <p:spPr>
          <a:xfrm>
            <a:off x="350775" y="564588"/>
            <a:ext cx="4987200" cy="7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2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</a:t>
            </a:r>
            <a:endParaRPr sz="42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1" name="Google Shape;6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12863" y="1461475"/>
            <a:ext cx="2059225" cy="20349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0"/>
          <p:cNvSpPr txBox="1"/>
          <p:nvPr/>
        </p:nvSpPr>
        <p:spPr>
          <a:xfrm>
            <a:off x="372140" y="385725"/>
            <a:ext cx="824231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como Bundler (empaquetador)</a:t>
            </a:r>
            <a:endParaRPr sz="3600" b="1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7" name="Google Shape;67;p20"/>
          <p:cNvSpPr txBox="1"/>
          <p:nvPr/>
        </p:nvSpPr>
        <p:spPr>
          <a:xfrm>
            <a:off x="473349" y="1348451"/>
            <a:ext cx="4757869" cy="34255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Nuestra App de React está compuesta por una serie de archivos de distintos formatos (js, css, png, jpg, etc.).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A esto debemos sumarle node_modules que pueden ocupar varios gigas</a:t>
            </a:r>
            <a:r>
              <a:rPr lang="es" sz="1350" dirty="0" smtClean="0">
                <a:latin typeface="DM Sans"/>
                <a:ea typeface="DM Sans"/>
                <a:cs typeface="DM Sans"/>
                <a:sym typeface="DM Sans"/>
              </a:rPr>
              <a:t>. (Importante que solo esten a nivel local) </a:t>
            </a:r>
            <a:r>
              <a:rPr lang="es" sz="1350" dirty="0">
                <a:latin typeface="DM Sans"/>
                <a:ea typeface="DM Sans"/>
                <a:cs typeface="DM Sans"/>
                <a:sym typeface="DM Sans"/>
              </a:rPr>
              <a:t>Estas dependencias son usadas en nuestra App a través de importaciones.</a:t>
            </a: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Vite recoge todos estos módulos y los transforma de manera óptima en assets que puede entender el navegador y que pesan poco.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8" name="Google Shape;68;p20"/>
          <p:cNvSpPr txBox="1"/>
          <p:nvPr/>
        </p:nvSpPr>
        <p:spPr>
          <a:xfrm>
            <a:off x="4527575" y="1908175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69" name="Google Shape;6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18298" y="1879274"/>
            <a:ext cx="3625702" cy="14912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3"/>
          <p:cNvSpPr txBox="1"/>
          <p:nvPr/>
        </p:nvSpPr>
        <p:spPr>
          <a:xfrm>
            <a:off x="1488363" y="2056950"/>
            <a:ext cx="6221400" cy="84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800" b="1" dirty="0" smtClean="0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JSX en lugar de JS?</a:t>
            </a:r>
            <a:endParaRPr sz="4800" b="1" dirty="0">
              <a:solidFill>
                <a:schemeClr val="accent4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4"/>
          <p:cNvSpPr txBox="1"/>
          <p:nvPr/>
        </p:nvSpPr>
        <p:spPr>
          <a:xfrm>
            <a:off x="359050" y="360175"/>
            <a:ext cx="77805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Cómo se escribe React sin Sugar Syntax</a:t>
            </a:r>
            <a:endParaRPr sz="3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95" name="Google Shape;95;p24"/>
          <p:cNvSpPr txBox="1"/>
          <p:nvPr/>
        </p:nvSpPr>
        <p:spPr>
          <a:xfrm>
            <a:off x="3760525" y="3267850"/>
            <a:ext cx="38397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96" name="Google Shape;96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1234375"/>
            <a:ext cx="5608925" cy="354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5"/>
          <p:cNvSpPr txBox="1"/>
          <p:nvPr/>
        </p:nvSpPr>
        <p:spPr>
          <a:xfrm>
            <a:off x="457725" y="377708"/>
            <a:ext cx="63675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JSX: Javascript xml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2" name="Google Shape;102;p25"/>
          <p:cNvSpPr txBox="1"/>
          <p:nvPr/>
        </p:nvSpPr>
        <p:spPr>
          <a:xfrm>
            <a:off x="457725" y="1518275"/>
            <a:ext cx="5326800" cy="369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es una extensión de sintaxis de Javascript que se parece a XML.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XML es otro lenguaje de etiquetas parecido a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Oficialmente, es una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extensión que permite hacer llamadas a funciones y a construcción de objetos.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No es ni una cadena de caracteres, ni HTML.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Repo: https://github.com/julioavantt/teacher_react_jsx_basic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03" name="Google Shape;103;p25"/>
          <p:cNvSpPr txBox="1"/>
          <p:nvPr/>
        </p:nvSpPr>
        <p:spPr>
          <a:xfrm>
            <a:off x="6427740" y="2264828"/>
            <a:ext cx="14943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REEMPLAZAR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POR IMAGEN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04" name="Google Shape;10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13550" y="1961752"/>
            <a:ext cx="3030450" cy="1471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/>
        </p:nvSpPr>
        <p:spPr>
          <a:xfrm>
            <a:off x="313325" y="395625"/>
            <a:ext cx="7497600" cy="68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6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Styling en JSX</a:t>
            </a:r>
            <a:endParaRPr sz="36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0" name="Google Shape;110;p26"/>
          <p:cNvSpPr txBox="1"/>
          <p:nvPr/>
        </p:nvSpPr>
        <p:spPr>
          <a:xfrm>
            <a:off x="407100" y="1657425"/>
            <a:ext cx="8261400" cy="26776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posible definir y utilizar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en JSX (convertimos los estilos 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un objeto Javascript).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highlight>
                  <a:schemeClr val="accent6"/>
                </a:highlight>
                <a:latin typeface="DM Sans"/>
                <a:ea typeface="DM Sans"/>
                <a:cs typeface="DM Sans"/>
                <a:sym typeface="DM Sans"/>
              </a:rPr>
              <a:t>También podemos usar:</a:t>
            </a:r>
            <a:endParaRPr sz="1350" dirty="0">
              <a:solidFill>
                <a:schemeClr val="dk1"/>
              </a:solidFill>
              <a:highlight>
                <a:schemeClr val="accent6"/>
              </a:highlight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CSS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SCSS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Bootstrap (Viiiivo?)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Tailwind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Module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Styled Components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Stylex</a:t>
            </a:r>
            <a:endParaRPr sz="135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1" name="Google Shape;111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90800" y="1120050"/>
            <a:ext cx="5115777" cy="3367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439875" y="153927"/>
            <a:ext cx="2466699" cy="1815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 styles en JSX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473350" y="1428550"/>
            <a:ext cx="4578000" cy="20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mismos estilos se pueden configurar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inline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en JSX, solo necesitamos usar doble llave {{ }},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avisar que se agregará un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objeto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js.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segunda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llave para empezar a escribir el objeto en sí.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19" name="Google Shape;119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3553675"/>
            <a:ext cx="8195149" cy="8037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5500" y="2944925"/>
            <a:ext cx="7051202" cy="2198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8"/>
          <p:cNvSpPr txBox="1"/>
          <p:nvPr/>
        </p:nvSpPr>
        <p:spPr>
          <a:xfrm>
            <a:off x="475500" y="2401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JSX nos permite: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26" name="Google Shape;126;p28"/>
          <p:cNvSpPr txBox="1"/>
          <p:nvPr/>
        </p:nvSpPr>
        <p:spPr>
          <a:xfrm>
            <a:off x="404950" y="1018075"/>
            <a:ext cx="8087100" cy="24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etiquetado HTML. 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Usar expresiones en Javascript entre { }.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Retornar componentes React.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HTML vs React: Diferencias Clave en los Atributos de las Etiquetas:           https://www.youtube.com/watch?v=4IhPTPS9lLU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 generales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2" name="Google Shape;132;p29"/>
          <p:cNvSpPr txBox="1"/>
          <p:nvPr/>
        </p:nvSpPr>
        <p:spPr>
          <a:xfrm>
            <a:off x="473350" y="1428550"/>
            <a:ext cx="45780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elementos deben ser balanceados. Por cada apertura debe haber un cierre.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DM Sans"/>
              <a:buChar char="✓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el elemento no tiene hijos, debe idealmente ser auto-cerrado.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class es palabra reservada, en su lugar usar className.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class=”my-class” /&gt; Mal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&lt;img src=”” className=”my-class” /&gt; Ok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3" name="Google Shape;133;p29"/>
          <p:cNvSpPr txBox="1"/>
          <p:nvPr/>
        </p:nvSpPr>
        <p:spPr>
          <a:xfrm>
            <a:off x="5722450" y="1592775"/>
            <a:ext cx="30000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rgbClr val="93C47D"/>
                </a:solidFill>
                <a:latin typeface="Courier New"/>
                <a:ea typeface="Courier New"/>
                <a:cs typeface="Courier New"/>
                <a:sym typeface="Courier New"/>
              </a:rPr>
              <a:t>&lt;img src=”” /&gt;</a:t>
            </a:r>
            <a:r>
              <a:rPr lang="es" sz="2000">
                <a:solidFill>
                  <a:srgbClr val="93C47D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 </a:t>
            </a:r>
            <a:r>
              <a:rPr lang="es" sz="1350">
                <a:solidFill>
                  <a:srgbClr val="93C47D"/>
                </a:solidFill>
                <a:latin typeface="DM Sans"/>
                <a:ea typeface="DM Sans"/>
                <a:cs typeface="DM Sans"/>
                <a:sym typeface="DM Sans"/>
              </a:rPr>
              <a:t>Ideal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0"/>
          <p:cNvSpPr txBox="1"/>
          <p:nvPr/>
        </p:nvSpPr>
        <p:spPr>
          <a:xfrm>
            <a:off x="1461300" y="1598325"/>
            <a:ext cx="6221400" cy="14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5000">
                <a:solidFill>
                  <a:srgbClr val="E8E7E3"/>
                </a:solidFill>
              </a:rPr>
              <a:t>☕</a:t>
            </a:r>
            <a:endParaRPr sz="500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Break</a:t>
            </a:r>
            <a:endParaRPr sz="4000" b="1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39" name="Google Shape;139;p30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20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¡5 minutos y volvemos!</a:t>
            </a:r>
            <a:endParaRPr sz="20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/>
          <p:nvPr/>
        </p:nvSpPr>
        <p:spPr>
          <a:xfrm>
            <a:off x="443150" y="1168200"/>
            <a:ext cx="4353300" cy="369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Podemos ver fácilmente que está compuesta de una serie de elementos visuales que vemos en pantalla.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Repo:  </a:t>
            </a:r>
            <a:r>
              <a:rPr lang="es" sz="1350" u="sng">
                <a:solidFill>
                  <a:schemeClr val="hlink"/>
                </a:solidFill>
                <a:latin typeface="DM Sans"/>
                <a:ea typeface="DM Sans"/>
                <a:cs typeface="DM Sans"/>
                <a:sym typeface="DM Sans"/>
                <a:hlinkClick r:id="rId3"/>
              </a:rPr>
              <a:t>https://github.com/julioavantt/teacher_components.git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7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Botones, bloques, textos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, etcétera.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En React a esos elementos visuales que componen la UI los llamamos: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550" b="1">
                <a:solidFill>
                  <a:schemeClr val="accent5"/>
                </a:solidFill>
                <a:latin typeface="DM Sans"/>
                <a:ea typeface="DM Sans"/>
                <a:cs typeface="DM Sans"/>
                <a:sym typeface="DM Sans"/>
              </a:rPr>
              <a:t>COMPONENTES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45" name="Google Shape;145;p31"/>
          <p:cNvSpPr txBox="1"/>
          <p:nvPr/>
        </p:nvSpPr>
        <p:spPr>
          <a:xfrm>
            <a:off x="312025" y="328125"/>
            <a:ext cx="8141100" cy="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¿En React de qué está </a:t>
            </a:r>
            <a:r>
              <a:rPr lang="es" sz="32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compuesta</a:t>
            </a:r>
            <a:r>
              <a:rPr lang="es" sz="3200" b="1">
                <a:latin typeface="DM Sans"/>
                <a:ea typeface="DM Sans"/>
                <a:cs typeface="DM Sans"/>
                <a:sym typeface="DM Sans"/>
              </a:rPr>
              <a:t> la UI?</a:t>
            </a:r>
            <a:endParaRPr sz="32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46" name="Google Shape;146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2051" y="1241388"/>
            <a:ext cx="3592700" cy="318557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1"/>
          <p:cNvSpPr txBox="1"/>
          <p:nvPr/>
        </p:nvSpPr>
        <p:spPr>
          <a:xfrm>
            <a:off x="4618525" y="4597525"/>
            <a:ext cx="3834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*UI: Interfaz de usuario.</a:t>
            </a:r>
            <a:endParaRPr sz="2550" b="1">
              <a:solidFill>
                <a:schemeClr val="accent5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2"/>
          <p:cNvSpPr txBox="1"/>
          <p:nvPr/>
        </p:nvSpPr>
        <p:spPr>
          <a:xfrm>
            <a:off x="473350" y="1908175"/>
            <a:ext cx="3834600" cy="261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A nivel del código,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son funciones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que </a:t>
            </a:r>
            <a:r>
              <a:rPr lang="es" sz="16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renderizan / retornan</a:t>
            </a: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 (muestran en pantalla) fragmentos visuales.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650">
                <a:latin typeface="DM Sans"/>
                <a:ea typeface="DM Sans"/>
                <a:cs typeface="DM Sans"/>
                <a:sym typeface="DM Sans"/>
              </a:rPr>
              <a:t>Estos fragmentos visuales o componentes se anidan tal como lo hacen las etiquetas HTML, es decir, tienen jerarquía.</a:t>
            </a:r>
            <a:endParaRPr sz="16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53" name="Google Shape;153;p32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¿Qué es un componente?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4" name="Google Shape;15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126" y="1755775"/>
            <a:ext cx="4410874" cy="2388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3"/>
          <p:cNvSpPr txBox="1"/>
          <p:nvPr/>
        </p:nvSpPr>
        <p:spPr>
          <a:xfrm>
            <a:off x="473350" y="1591100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deben retornar un solo elemento o componente, pero este elemento o componente sí puede tener más de un elemento o componente hijo.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0" name="Google Shape;160;p33"/>
          <p:cNvSpPr txBox="1"/>
          <p:nvPr/>
        </p:nvSpPr>
        <p:spPr>
          <a:xfrm>
            <a:off x="4779850" y="1591100"/>
            <a:ext cx="3834600" cy="168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 caso de no necesitar que el elemento padre forme parte del árbol del DOM, se puede utilizar React.Fragment, o lo que es lo mismo utilizar un tag sin tipo &lt;&gt;&lt;/&gt;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1" name="Google Shape;161;p33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Render de un único elemento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62" name="Google Shape;162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98898" y="2882575"/>
            <a:ext cx="2783500" cy="152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546" y="2882575"/>
            <a:ext cx="2929294" cy="1529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4"/>
          <p:cNvSpPr txBox="1"/>
          <p:nvPr/>
        </p:nvSpPr>
        <p:spPr>
          <a:xfrm>
            <a:off x="457725" y="526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Diseño modular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34"/>
          <p:cNvSpPr txBox="1"/>
          <p:nvPr/>
        </p:nvSpPr>
        <p:spPr>
          <a:xfrm>
            <a:off x="457725" y="1557700"/>
            <a:ext cx="4822800" cy="292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fragmentar la interfaz de usuario en piezas independientes, reutilizables y pensar en cada pieza de forma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aislada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Cada instancia de un mismo componente es totalmente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independiente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 de otra.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componentes permiten resolver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pequeños problemas, que son fáciles de visualizar y comprender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Luego, unos componentes se apoyarán en otros para solucionar problemas mayores y al final la aplicación será un conjunto de componentes trabajando entre sí.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70" name="Google Shape;170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52300" y="1265063"/>
            <a:ext cx="3108275" cy="3108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5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Ventajas del enfoque</a:t>
            </a:r>
            <a:endParaRPr sz="4000" b="1" i="0" u="none" strike="noStrike" cap="none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6" name="Google Shape;176;p35"/>
          <p:cNvSpPr txBox="1"/>
          <p:nvPr/>
        </p:nvSpPr>
        <p:spPr>
          <a:xfrm>
            <a:off x="473350" y="1908175"/>
            <a:ext cx="3834600" cy="148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Favorece la separación de responsabilidades: cada componente debe tener una única tarea.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La aplicación es más fácil de entender.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7" name="Google Shape;177;p35"/>
          <p:cNvSpPr txBox="1"/>
          <p:nvPr/>
        </p:nvSpPr>
        <p:spPr>
          <a:xfrm>
            <a:off x="4527575" y="1908175"/>
            <a:ext cx="3834600" cy="127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1432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Mejora el rendimiento de la aplicación.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-314325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1350"/>
              <a:buFont typeface="DM Sans"/>
              <a:buChar char="✓"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Se simplifica la tarea de hacer pruebas unitarias.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36"/>
          <p:cNvSpPr txBox="1"/>
          <p:nvPr/>
        </p:nvSpPr>
        <p:spPr>
          <a:xfrm>
            <a:off x="473350" y="4301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Elementos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36"/>
          <p:cNvSpPr txBox="1"/>
          <p:nvPr/>
        </p:nvSpPr>
        <p:spPr>
          <a:xfrm>
            <a:off x="473350" y="1169000"/>
            <a:ext cx="7999500" cy="1237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Si bien los componentes funcionan de manera independiente, estos se implementan dentro de un árbol de componentes. Por lo que podemos interpretar que un componente padre podrá invocar a un componente hija/o desde su declaración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return a través de un elemento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84" name="Google Shape;184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0925" y="1986425"/>
            <a:ext cx="4104350" cy="2870175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36"/>
          <p:cNvSpPr/>
          <p:nvPr/>
        </p:nvSpPr>
        <p:spPr>
          <a:xfrm rot="8467711">
            <a:off x="4009058" y="2588673"/>
            <a:ext cx="431183" cy="160423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36"/>
          <p:cNvSpPr txBox="1"/>
          <p:nvPr/>
        </p:nvSpPr>
        <p:spPr>
          <a:xfrm>
            <a:off x="5263804" y="412175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Elemento o etiqueta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7" name="Google Shape;187;p36"/>
          <p:cNvSpPr txBox="1"/>
          <p:nvPr/>
        </p:nvSpPr>
        <p:spPr>
          <a:xfrm>
            <a:off x="4442904" y="2330300"/>
            <a:ext cx="2020500" cy="2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100" b="1">
                <a:solidFill>
                  <a:srgbClr val="EA90FF"/>
                </a:solidFill>
              </a:rPr>
              <a:t>Definición del componente</a:t>
            </a:r>
            <a:endParaRPr sz="1100" b="1">
              <a:solidFill>
                <a:srgbClr val="EA90FF"/>
              </a:solidFill>
            </a:endParaRPr>
          </a:p>
        </p:txBody>
      </p:sp>
      <p:sp>
        <p:nvSpPr>
          <p:cNvPr id="188" name="Google Shape;188;p36"/>
          <p:cNvSpPr/>
          <p:nvPr/>
        </p:nvSpPr>
        <p:spPr>
          <a:xfrm rot="-9201816">
            <a:off x="4890520" y="4133694"/>
            <a:ext cx="430935" cy="160326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/>
        </p:nvSpPr>
        <p:spPr>
          <a:xfrm>
            <a:off x="365419" y="201500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94" name="Google Shape;194;p37"/>
          <p:cNvSpPr txBox="1"/>
          <p:nvPr/>
        </p:nvSpPr>
        <p:spPr>
          <a:xfrm>
            <a:off x="365419" y="940400"/>
            <a:ext cx="8538900" cy="2578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componentes son funciones por lo cual pueden usarse parámetros y argumentos para transmitir datos de padres a hijas/os.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variable interna de la función “props”, es un </a:t>
            </a:r>
            <a:r>
              <a:rPr lang="es" sz="13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objeto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que contiene todos los valores de los argumentos pasados en la invocación del componente hija/o.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Esto permite la reutilización de componentes en diferentes partes de la aplicación con diferentes datos o comportamientos.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7444" y="2743200"/>
            <a:ext cx="3342880" cy="2400300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857725" y="2881675"/>
            <a:ext cx="4838400" cy="120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20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{ title: "Otro título" }        props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/>
        </p:nvSpPr>
        <p:spPr>
          <a:xfrm>
            <a:off x="4779850" y="1358425"/>
            <a:ext cx="3834600" cy="135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alguna prop es una función (callback), el componente hijo puede llamarla para provocar efectos secundarios en el componente padre.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02" name="Google Shape;202;p38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Props en React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350" y="1621225"/>
            <a:ext cx="4079670" cy="285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814000" y="2571742"/>
            <a:ext cx="3766300" cy="189960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9"/>
          <p:cNvSpPr txBox="1"/>
          <p:nvPr/>
        </p:nvSpPr>
        <p:spPr>
          <a:xfrm>
            <a:off x="473350" y="1548915"/>
            <a:ext cx="38346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Los </a:t>
            </a:r>
            <a:r>
              <a:rPr lang="es" sz="1350" b="1">
                <a:solidFill>
                  <a:schemeClr val="accent4"/>
                </a:solidFill>
                <a:latin typeface="DM Sans"/>
                <a:ea typeface="DM Sans"/>
                <a:cs typeface="DM Sans"/>
                <a:sym typeface="DM Sans"/>
              </a:rPr>
              <a:t>estados </a:t>
            </a:r>
            <a:r>
              <a:rPr lang="es" sz="1350">
                <a:latin typeface="DM Sans"/>
                <a:ea typeface="DM Sans"/>
                <a:cs typeface="DM Sans"/>
                <a:sym typeface="DM Sans"/>
              </a:rPr>
              <a:t>de un componente en React se utilizan para representar la información que puede cambiar durante la vida útil del componente y afectar su representación en la interfaz de usuario.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0" name="Google Shape;210;p39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11" name="Google Shape;211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04075" y="1592263"/>
            <a:ext cx="4154099" cy="1958986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39"/>
          <p:cNvSpPr txBox="1"/>
          <p:nvPr/>
        </p:nvSpPr>
        <p:spPr>
          <a:xfrm>
            <a:off x="473350" y="3716883"/>
            <a:ext cx="3834600" cy="87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 b="1">
                <a:solidFill>
                  <a:srgbClr val="EA90FF"/>
                </a:solidFill>
                <a:highlight>
                  <a:schemeClr val="lt1"/>
                </a:highlight>
                <a:latin typeface="DM Sans"/>
                <a:ea typeface="DM Sans"/>
                <a:cs typeface="DM Sans"/>
                <a:sym typeface="DM Sans"/>
              </a:rPr>
              <a:t>Síntesis: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Si cambia el estado, cambiará lo que un componente renderiza. Por lo que cambiará la UI.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3" name="Google Shape;213;p39"/>
          <p:cNvSpPr txBox="1"/>
          <p:nvPr/>
        </p:nvSpPr>
        <p:spPr>
          <a:xfrm>
            <a:off x="5555050" y="694650"/>
            <a:ext cx="3059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800">
                <a:solidFill>
                  <a:schemeClr val="dk2"/>
                </a:solidFill>
              </a:rPr>
              <a:t>V = f(E)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0"/>
          <p:cNvSpPr txBox="1"/>
          <p:nvPr/>
        </p:nvSpPr>
        <p:spPr>
          <a:xfrm>
            <a:off x="555000" y="1587025"/>
            <a:ext cx="3834600" cy="32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Todo cambio de estado va inicializar el proceso de render a partir del nodo donde se produjo el cambio de estado y así se generará el nuevo Virtual DOM que luego será reconciliado.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estados son un concepto de React. Para implementarlo vamos a necesitar de los </a:t>
            </a:r>
            <a:r>
              <a:rPr lang="es" sz="1350" b="1">
                <a:solidFill>
                  <a:schemeClr val="accent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de React.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0"/>
          <p:cNvSpPr txBox="1"/>
          <p:nvPr/>
        </p:nvSpPr>
        <p:spPr>
          <a:xfrm>
            <a:off x="473350" y="619525"/>
            <a:ext cx="8141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4000" b="1">
                <a:latin typeface="DM Sans"/>
                <a:ea typeface="DM Sans"/>
                <a:cs typeface="DM Sans"/>
                <a:sym typeface="DM Sans"/>
              </a:rPr>
              <a:t>Estados</a:t>
            </a:r>
            <a:endParaRPr sz="4000" b="1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0" name="Google Shape;2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450" y="1587025"/>
            <a:ext cx="4080551" cy="279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1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26" name="Google Shape;226;p41"/>
          <p:cNvSpPr txBox="1"/>
          <p:nvPr/>
        </p:nvSpPr>
        <p:spPr>
          <a:xfrm>
            <a:off x="457725" y="1602025"/>
            <a:ext cx="4114200" cy="17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fueron introducidos en React 16.8 y permiten utilizar las características de React en los componentes funcionales.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Los hooks son funciones que se pueden usar dentro de los componentes funcionales para agregar funcionalidad adicional de React. 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27" name="Google Shape;227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0525" y="1749150"/>
            <a:ext cx="3558676" cy="20017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2"/>
          <p:cNvSpPr txBox="1"/>
          <p:nvPr/>
        </p:nvSpPr>
        <p:spPr>
          <a:xfrm>
            <a:off x="559700" y="474825"/>
            <a:ext cx="47301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Reglas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 los Hooks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33" name="Google Shape;233;p42"/>
          <p:cNvSpPr txBox="1"/>
          <p:nvPr/>
        </p:nvSpPr>
        <p:spPr>
          <a:xfrm>
            <a:off x="363000" y="2141200"/>
            <a:ext cx="5769300" cy="24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4325" algn="l" rtl="0">
              <a:spcBef>
                <a:spcPts val="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Comienzan con el prefijo “use” para que React pueda identificarlos y realizar validaciones.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Solamente pueden utilizarse dentro de componentes funcionales y custom hooks.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siempre, es decir, en cada renderizado y el orden de ejecución debe ser siempre el mismo. No puede estar dentro de if, for, etc.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100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Deben ejecutarse siempre en el cuerpo de la función del componente, por lo que normalmente se los ejecuta al inicio.</a:t>
            </a:r>
            <a:endParaRPr sz="1350"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34" name="Google Shape;234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50200" y="1605450"/>
            <a:ext cx="2223501" cy="19326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43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0" name="Google Shape;240;p43"/>
          <p:cNvSpPr txBox="1"/>
          <p:nvPr/>
        </p:nvSpPr>
        <p:spPr>
          <a:xfrm>
            <a:off x="457725" y="1525825"/>
            <a:ext cx="4545900" cy="31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 es un hook de React que permite a los componentes funcionales tener estado.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ejecución de la función Hook useState retorna un array con dos elementos:</a:t>
            </a:r>
            <a:endParaRPr sz="13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primer elemento es el valor actual del estado.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457200" lvl="0" indent="-314325" algn="l" rtl="0">
              <a:spcBef>
                <a:spcPts val="1000"/>
              </a:spcBef>
              <a:spcAft>
                <a:spcPts val="0"/>
              </a:spcAft>
              <a:buClr>
                <a:srgbClr val="EAFF6A"/>
              </a:buClr>
              <a:buSzPts val="1350"/>
              <a:buFont typeface="DM Sans"/>
              <a:buChar char="●"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segundo es una función que se utiliza para actualizar el estado (setter), al llamar esta función con un nuevo valor pasado como argumento.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 </a:t>
            </a:r>
            <a:r>
              <a:rPr lang="es" sz="13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importante </a:t>
            </a: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destacar que esta función no actualiza el valor del estado de manera síncrona, lo que hace es causar un nuevo render.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1" name="Google Shape;24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182925" y="2040900"/>
            <a:ext cx="3863150" cy="1502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4"/>
          <p:cNvSpPr txBox="1"/>
          <p:nvPr/>
        </p:nvSpPr>
        <p:spPr>
          <a:xfrm>
            <a:off x="457725" y="766250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7" name="Google Shape;247;p44"/>
          <p:cNvSpPr txBox="1"/>
          <p:nvPr/>
        </p:nvSpPr>
        <p:spPr>
          <a:xfrm>
            <a:off x="457725" y="1525825"/>
            <a:ext cx="3739500" cy="28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Para inicializar el estado, se debe proporcionar un valor inicial como argumento a useState.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Como esta función retorna un array de dos elementos podemos desestructurarlo para darle un nombre más apropiado a nuestro estado y a su función de actualización. 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s" sz="135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El nombre debe ser representativo del contenido y la función debe ser el mismo nombre con el prefijo “set”.</a:t>
            </a: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endParaRPr sz="135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48" name="Google Shape;248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675" y="1505150"/>
            <a:ext cx="4641975" cy="24312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 txBox="1"/>
          <p:nvPr/>
        </p:nvSpPr>
        <p:spPr>
          <a:xfrm>
            <a:off x="457725" y="692175"/>
            <a:ext cx="47301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useState</a:t>
            </a:r>
            <a:endParaRPr sz="4000" b="1">
              <a:solidFill>
                <a:srgbClr val="EA90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54" name="Google Shape;254;p45"/>
          <p:cNvSpPr txBox="1"/>
          <p:nvPr/>
        </p:nvSpPr>
        <p:spPr>
          <a:xfrm>
            <a:off x="457725" y="1525825"/>
            <a:ext cx="8360700" cy="24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La </a:t>
            </a:r>
            <a:r>
              <a:rPr lang="es" sz="3750" b="1">
                <a:solidFill>
                  <a:srgbClr val="EA90FF"/>
                </a:solidFill>
                <a:latin typeface="DM Sans"/>
                <a:ea typeface="DM Sans"/>
                <a:cs typeface="DM Sans"/>
                <a:sym typeface="DM Sans"/>
              </a:rPr>
              <a:t>única</a:t>
            </a:r>
            <a:r>
              <a:rPr lang="es" sz="3750" b="1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 forma de que cambie lo que vemos en la interfaz de usuario es, ante un cambio del valor en una pieza de estado.</a:t>
            </a:r>
            <a:endParaRPr sz="3750" b="1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9" name="Google Shape;259;p46"/>
          <p:cNvGrpSpPr/>
          <p:nvPr/>
        </p:nvGrpSpPr>
        <p:grpSpPr>
          <a:xfrm>
            <a:off x="457359" y="1493981"/>
            <a:ext cx="431074" cy="431074"/>
            <a:chOff x="7208351" y="2467173"/>
            <a:chExt cx="738900" cy="738900"/>
          </a:xfrm>
        </p:grpSpPr>
        <p:sp>
          <p:nvSpPr>
            <p:cNvPr id="260" name="Google Shape;260;p46"/>
            <p:cNvSpPr/>
            <p:nvPr/>
          </p:nvSpPr>
          <p:spPr>
            <a:xfrm>
              <a:off x="7208351" y="2467173"/>
              <a:ext cx="738900" cy="738900"/>
            </a:xfrm>
            <a:prstGeom prst="ellipse">
              <a:avLst/>
            </a:prstGeom>
            <a:solidFill>
              <a:srgbClr val="EAFF6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pic>
          <p:nvPicPr>
            <p:cNvPr id="261" name="Google Shape;261;p46" title="ícono de entrega final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7352500" y="2611301"/>
              <a:ext cx="450600" cy="450622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62" name="Google Shape;262;p46"/>
          <p:cNvSpPr txBox="1"/>
          <p:nvPr/>
        </p:nvSpPr>
        <p:spPr>
          <a:xfrm>
            <a:off x="457350" y="2142968"/>
            <a:ext cx="7310100" cy="17773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Primera </a:t>
            </a:r>
            <a:r>
              <a:rPr lang="es" sz="4000" b="1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pre- </a:t>
            </a:r>
            <a:r>
              <a:rPr lang="es" sz="4000" b="1" i="0" u="none" strike="noStrike" cap="none" dirty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</a:t>
            </a:r>
            <a:endParaRPr sz="4000" b="1" i="0" u="none" strike="noStrike" cap="none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E-commerce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dirty="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Revisar en Desafios-&gt; Primera entrega</a:t>
            </a:r>
          </a:p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es" sz="2500" smtClean="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Utilizar Repositorio de Github para entregar!</a:t>
            </a:r>
            <a:endParaRPr sz="2500" dirty="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263" name="Google Shape;263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811413" y="4692275"/>
            <a:ext cx="1150750" cy="267575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46"/>
          <p:cNvSpPr txBox="1"/>
          <p:nvPr/>
        </p:nvSpPr>
        <p:spPr>
          <a:xfrm>
            <a:off x="930550" y="1576918"/>
            <a:ext cx="31992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es" sz="16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ENTREGA DEL PROYECTO FINAL</a:t>
            </a:r>
            <a:endParaRPr sz="1400" b="0" i="0" u="none" strike="noStrike" cap="none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5" name="Google Shape;265;p46"/>
          <p:cNvSpPr txBox="1"/>
          <p:nvPr/>
        </p:nvSpPr>
        <p:spPr>
          <a:xfrm>
            <a:off x="4538208" y="2933858"/>
            <a:ext cx="3834600" cy="39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  <a:buClr>
                <a:srgbClr val="000000"/>
              </a:buClr>
              <a:buSzPts val="1350"/>
              <a:buFont typeface="Arial"/>
              <a:buNone/>
            </a:pPr>
            <a:endParaRPr sz="1350" b="0" i="0" u="none" strike="noStrike" cap="none">
              <a:solidFill>
                <a:srgbClr val="999999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66" name="Google Shape;266;p46"/>
          <p:cNvSpPr/>
          <p:nvPr/>
        </p:nvSpPr>
        <p:spPr>
          <a:xfrm>
            <a:off x="636450" y="1947318"/>
            <a:ext cx="8036700" cy="60600"/>
          </a:xfrm>
          <a:prstGeom prst="rect">
            <a:avLst/>
          </a:prstGeom>
          <a:solidFill>
            <a:srgbClr val="EAFF6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4"/>
          <p:cNvSpPr txBox="1"/>
          <p:nvPr/>
        </p:nvSpPr>
        <p:spPr>
          <a:xfrm>
            <a:off x="1556994" y="790250"/>
            <a:ext cx="6221400" cy="1985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0" dirty="0">
              <a:solidFill>
                <a:srgbClr val="E8E7E3"/>
              </a:solidFill>
            </a:endParaRP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4000" b="1" dirty="0" smtClean="0">
                <a:solidFill>
                  <a:srgbClr val="EAFF6A"/>
                </a:solidFill>
                <a:latin typeface="DM Sans"/>
                <a:ea typeface="DM Sans"/>
                <a:cs typeface="DM Sans"/>
                <a:sym typeface="DM Sans"/>
              </a:rPr>
              <a:t>Llegamos al final de la clase!!!!</a:t>
            </a:r>
            <a:endParaRPr sz="4000" b="1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19" name="Google Shape;219;p44"/>
          <p:cNvSpPr txBox="1"/>
          <p:nvPr/>
        </p:nvSpPr>
        <p:spPr>
          <a:xfrm>
            <a:off x="2998200" y="2971950"/>
            <a:ext cx="31476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sz="2000" dirty="0" smtClean="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Dudas? Consultas?</a:t>
            </a:r>
            <a:endParaRPr sz="2000" dirty="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  <p:extLst>
      <p:ext uri="{BB962C8B-B14F-4D97-AF65-F5344CB8AC3E}">
        <p14:creationId xmlns:p14="http://schemas.microsoft.com/office/powerpoint/2010/main" val="288856304"/>
      </p:ext>
    </p:extLst>
  </p:cSld>
  <p:clrMapOvr>
    <a:masterClrMapping/>
  </p:clrMapOvr>
</p:sld>
</file>

<file path=ppt/theme/theme1.xml><?xml version="1.0" encoding="utf-8"?>
<a:theme xmlns:a="http://schemas.openxmlformats.org/drawingml/2006/main" name="Cod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9DF4E2"/>
      </a:accent1>
      <a:accent2>
        <a:srgbClr val="212121"/>
      </a:accent2>
      <a:accent3>
        <a:srgbClr val="78909C"/>
      </a:accent3>
      <a:accent4>
        <a:srgbClr val="EA90FF"/>
      </a:accent4>
      <a:accent5>
        <a:srgbClr val="83AEFB"/>
      </a:accent5>
      <a:accent6>
        <a:srgbClr val="EAFF6A"/>
      </a:accent6>
      <a:hlink>
        <a:srgbClr val="83AEF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1714</Words>
  <Application>Microsoft Office PowerPoint</Application>
  <PresentationFormat>Presentación en pantalla (16:9)</PresentationFormat>
  <Paragraphs>172</Paragraphs>
  <Slides>29</Slides>
  <Notes>29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4" baseType="lpstr">
      <vt:lpstr>Arial</vt:lpstr>
      <vt:lpstr>DM Sans</vt:lpstr>
      <vt:lpstr>Helvetica Neue Light</vt:lpstr>
      <vt:lpstr>Courier New</vt:lpstr>
      <vt:lpstr>Coder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cp:lastModifiedBy>Turi</cp:lastModifiedBy>
  <cp:revision>7</cp:revision>
  <dcterms:modified xsi:type="dcterms:W3CDTF">2025-10-14T21:36:24Z</dcterms:modified>
</cp:coreProperties>
</file>