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embeddedFontLst>
    <p:embeddedFont>
      <p:font typeface="DM Sans" panose="020B0604020202020204" charset="0"/>
      <p:regular r:id="rId34"/>
      <p:bold r:id="rId35"/>
      <p:italic r:id="rId36"/>
      <p:boldItalic r:id="rId37"/>
    </p:embeddedFont>
    <p:embeddedFont>
      <p:font typeface="Helvetica Neue Light" panose="020B060402020202020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289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66"/>
      </p:cViewPr>
      <p:guideLst>
        <p:guide orient="horz" pos="295"/>
        <p:guide pos="5460"/>
        <p:guide pos="300"/>
        <p:guide orient="horz" pos="2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d89ba99df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2d89ba99df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dirty="0">
                <a:solidFill>
                  <a:schemeClr val="dk1"/>
                </a:solidFill>
                <a:highlight>
                  <a:schemeClr val="accent4"/>
                </a:highlight>
                <a:latin typeface="DM Sans"/>
                <a:ea typeface="DM Sans"/>
                <a:cs typeface="DM Sans"/>
                <a:sym typeface="DM Sans"/>
              </a:rPr>
              <a:t>LOS VIDEOS DE ONBOARDING ESTÁN DISPONIBLES EN EL ESPACIO DE LA CLASE 1</a:t>
            </a:r>
            <a:endParaRPr dirty="0">
              <a:highlight>
                <a:schemeClr val="accent4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13c9d1b815_1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13c9d1b815_1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fe1a610420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fe1a610420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401d2a2b4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401d2a2b4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2c3999d49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2c3999d49c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Ver: https://babeljs.io/repl#?browsers=defaults%2C%20not%20ie%2011%2C%20not%20ie_mob%2011&amp;build=&amp;builtIns=false&amp;corejs=3.21&amp;spec=false&amp;loose=false&amp;code_lz=MYGwhgzhAEAqCmEAu0DeAoa0DEAzAlgE7IByYAtvNALzQDkSiSAtAHYXx0Dc6AvuumAB7VsmiMxtVvADucJgAoAlDwlIAdAWJIylIA&amp;debug=false&amp;forceAllTransforms=false&amp;modules=false&amp;shippedProposals=false&amp;circleciRepo=&amp;evaluate=false&amp;fileSize=false&amp;timeTravel=false&amp;sourceType=module&amp;lineWrap=true&amp;presets=env%2Creact%2Cstage-2&amp;prettier=false&amp;targets=&amp;version=7.21.4&amp;externalPlugins=&amp;assumptions=%7B%7D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d89ba99dff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d89ba99dff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Ver: https://babeljs.io/repl#?browsers=defaults%2C%20not%20ie%2011%2C%20not%20ie_mob%2011&amp;build=&amp;builtIns=false&amp;corejs=3.21&amp;spec=false&amp;loose=false&amp;code_lz=MYGwhgzhAEAqCmEAu0DeAoa0DEAzAlgE7IByYAtvNALzQDkSiSAtAHYXx0Dc6AvuumAB7VsmiMxtVvADucJgAoAlDwlIAdAWJIylIA&amp;debug=false&amp;forceAllTransforms=false&amp;modules=false&amp;shippedProposals=false&amp;circleciRepo=&amp;evaluate=false&amp;fileSize=false&amp;timeTravel=false&amp;sourceType=module&amp;lineWrap=true&amp;presets=env%2Creact%2Cstage-2&amp;prettier=false&amp;targets=&amp;version=7.21.4&amp;externalPlugins=&amp;assumptions=%7B%7D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461b14476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461b14476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2c3999d49c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2c3999d49c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38340cde61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38340cde61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61b144764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61b144764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154e4407d6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154e4407d6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61b144764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461b144764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154e4407d6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154e4407d6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e1a610420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fe1a610420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 la hora del Break, entre 5 y 10 minutos. Considerar ubicar este espacio en un momento adecuado de la clase. Al volver, mostrar los resultados de la pregunta del anterior slide y generar un breve intercambio.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89ba99d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2d89ba99d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puede usar para comenzar o finalizar la clase, según sea más conveniente..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Recurso: Glosario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Repasa y define rápidamente los conceptos centrales acumulados. Ayuda a los estudiantes a recuperar aquellos saberes que se darán por dados.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Sugerencia: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Puede incorporarse links e imágenes que apoyen al concepto presentado.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89ba99df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d89ba99df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89ba99dff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2d89ba99dff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d89ba99dff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2d89ba99dff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d89ba99dff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2d89ba99dff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89ba99dff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2d89ba99dff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d89ba99dff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2d89ba99dff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d89ba99dff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2d89ba99dff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d89ba99dff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2d89ba99dff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89ba99dff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2d89ba99dff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89ba99dff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2d89ba99dff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d89ba99dff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2d89ba99dff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d89ba99dff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2d89ba99dff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d89ba99dff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2d89ba99dff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89ba99dff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d89ba99dff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8aad4aaa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2d8aad4aaa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3365b5acd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3365b5acd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472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o 1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sz="4000" b="1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2" name="Google Shape;12;p2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7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8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" name="Google Shape;27;p9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0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1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2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1">
  <p:cSld name="SECTION_HEADER_1_1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1">
  <p:cSld name="SECTION_HEADER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1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lioavantt/teacher_components.gi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6;p16"/>
          <p:cNvSpPr txBox="1"/>
          <p:nvPr/>
        </p:nvSpPr>
        <p:spPr>
          <a:xfrm>
            <a:off x="723014" y="927149"/>
            <a:ext cx="6959674" cy="3453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200" b="1" u="sng" dirty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React</a:t>
            </a:r>
            <a:endParaRPr sz="7200" b="1" u="sng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 b="1" u="sng" dirty="0" smtClean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Flex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 b="1" u="sng" dirty="0" smtClean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Clase 2</a:t>
            </a:r>
            <a:r>
              <a:rPr lang="es" sz="6000" b="1" u="sng" dirty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  <a:br>
              <a:rPr lang="es" sz="6000" b="1" u="sng" dirty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600" b="1" u="sng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b="1" u="sng" dirty="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u="sng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u="sng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Curso dictado por Arturo Grottoli</a:t>
            </a:r>
            <a:endParaRPr sz="1600" b="1" u="sng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/>
        </p:nvSpPr>
        <p:spPr>
          <a:xfrm>
            <a:off x="666200" y="825988"/>
            <a:ext cx="6957344" cy="434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b="1" dirty="0" smtClean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¿Estamos bien para arrancar?</a:t>
            </a:r>
            <a:endParaRPr sz="3600" b="1" dirty="0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DM Sans"/>
              <a:buChar char="●"/>
            </a:pPr>
            <a:r>
              <a:rPr lang="es-MX" sz="3300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Sonido e imagen ok</a:t>
            </a:r>
            <a:endParaRPr sz="33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DM Sans"/>
              <a:buChar char="●"/>
            </a:pPr>
            <a:r>
              <a:rPr lang="es" sz="3300" dirty="0" smtClean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Diapositivas y tamaño texto</a:t>
            </a:r>
            <a:endParaRPr sz="33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438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DM Sans"/>
              <a:buChar char="●"/>
            </a:pPr>
            <a:r>
              <a:rPr lang="es" sz="3300" dirty="0" smtClean="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Recordar chequear que esté grabando.</a:t>
            </a:r>
            <a:endParaRPr sz="3300" dirty="0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/>
        </p:nvSpPr>
        <p:spPr>
          <a:xfrm>
            <a:off x="400600" y="1489350"/>
            <a:ext cx="5949600" cy="3924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Char char="●"/>
            </a:pPr>
            <a:r>
              <a:rPr lang="es" sz="1350" dirty="0" smtClean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Provee </a:t>
            </a:r>
            <a:r>
              <a:rPr lang="es" sz="135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 servidor de desarrollo de alta </a:t>
            </a:r>
            <a:r>
              <a:rPr lang="es" sz="1350" dirty="0" smtClean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velocidad, mas rapido y sencillo que los metodos anteriores.</a:t>
            </a:r>
          </a:p>
          <a:p>
            <a:pPr marL="457200" indent="-314325">
              <a:lnSpc>
                <a:spcPct val="150000"/>
              </a:lnSpc>
              <a:buSzPts val="1350"/>
              <a:buFont typeface="DM Sans"/>
              <a:buChar char="●"/>
            </a:pPr>
            <a:r>
              <a:rPr lang="es-MX" sz="1350" dirty="0">
                <a:latin typeface="DM Sans"/>
                <a:ea typeface="DM Sans"/>
                <a:cs typeface="DM Sans"/>
                <a:sym typeface="DM Sans"/>
              </a:rPr>
              <a:t>Es un creador práctico de aplicaciones, entre ellas, de aplicaciones </a:t>
            </a:r>
            <a:r>
              <a:rPr lang="es-MX" sz="1350" dirty="0" err="1">
                <a:latin typeface="DM Sans"/>
                <a:ea typeface="DM Sans"/>
                <a:cs typeface="DM Sans"/>
                <a:sym typeface="DM Sans"/>
              </a:rPr>
              <a:t>React</a:t>
            </a:r>
            <a:r>
              <a:rPr lang="es-MX" sz="1350" dirty="0" smtClean="0"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Char char="●"/>
            </a:pPr>
            <a:r>
              <a:rPr lang="es" sz="1350" smtClean="0">
                <a:latin typeface="DM Sans"/>
                <a:ea typeface="DM Sans"/>
                <a:cs typeface="DM Sans"/>
                <a:sym typeface="DM Sans"/>
              </a:rPr>
              <a:t>Funciona como </a:t>
            </a:r>
            <a:r>
              <a:rPr lang="es" sz="1350" dirty="0" smtClean="0">
                <a:latin typeface="DM Sans"/>
                <a:ea typeface="DM Sans"/>
                <a:cs typeface="DM Sans"/>
                <a:sym typeface="DM Sans"/>
              </a:rPr>
              <a:t>empaquetador de módulos (builder) rápido y simple. </a:t>
            </a:r>
            <a:endParaRPr sz="1350" dirty="0" smtClean="0"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Char char="●"/>
            </a:pPr>
            <a:r>
              <a:rPr lang="es" sz="1350" dirty="0" smtClean="0">
                <a:latin typeface="DM Sans"/>
                <a:ea typeface="DM Sans"/>
                <a:cs typeface="DM Sans"/>
                <a:sym typeface="DM Sans"/>
              </a:rPr>
              <a:t>Tiene una configuración sencilla.</a:t>
            </a:r>
            <a:endParaRPr sz="1350" dirty="0" smtClean="0"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Char char="●"/>
            </a:pPr>
            <a:r>
              <a:rPr lang="es" sz="1350" dirty="0" smtClean="0">
                <a:latin typeface="DM Sans"/>
                <a:ea typeface="DM Sans"/>
                <a:cs typeface="DM Sans"/>
                <a:sym typeface="DM Sans"/>
              </a:rPr>
              <a:t>Usa </a:t>
            </a:r>
            <a:r>
              <a:rPr lang="es" sz="1350" dirty="0">
                <a:latin typeface="DM Sans"/>
                <a:ea typeface="DM Sans"/>
                <a:cs typeface="DM Sans"/>
                <a:sym typeface="DM Sans"/>
              </a:rPr>
              <a:t>módulos ES (ESM) nativos del navegador, lo que permite un arranque instantáneo y una recarga en caliente extremadamente rápida. </a:t>
            </a:r>
            <a:endParaRPr sz="135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" name="Google Shape;60;p19"/>
          <p:cNvSpPr txBox="1"/>
          <p:nvPr/>
        </p:nvSpPr>
        <p:spPr>
          <a:xfrm>
            <a:off x="350775" y="564588"/>
            <a:ext cx="4987200" cy="7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VITE</a:t>
            </a:r>
            <a:endParaRPr sz="42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1" name="Google Shape;6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2863" y="1461475"/>
            <a:ext cx="2059225" cy="203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/>
        </p:nvSpPr>
        <p:spPr>
          <a:xfrm>
            <a:off x="473350" y="385725"/>
            <a:ext cx="81411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Vite como Bundler (empaquetador)</a:t>
            </a:r>
            <a:endParaRPr sz="36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" name="Google Shape;67;p20"/>
          <p:cNvSpPr txBox="1"/>
          <p:nvPr/>
        </p:nvSpPr>
        <p:spPr>
          <a:xfrm>
            <a:off x="473350" y="1135800"/>
            <a:ext cx="3733800" cy="38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 dirty="0">
                <a:latin typeface="DM Sans"/>
                <a:ea typeface="DM Sans"/>
                <a:cs typeface="DM Sans"/>
                <a:sym typeface="DM Sans"/>
              </a:rPr>
              <a:t>Nuestra App de React está compuesta por una serie de archivos de distintos formatos (js, css, png, jpg, etc.).</a:t>
            </a:r>
            <a:endParaRPr sz="135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 dirty="0">
                <a:latin typeface="DM Sans"/>
                <a:ea typeface="DM Sans"/>
                <a:cs typeface="DM Sans"/>
                <a:sym typeface="DM Sans"/>
              </a:rPr>
              <a:t>A esto debemos sumarle node_modules que pueden ocupar varios gigas. Estas dependencias son usadas en nuestra App a través de importaciones.</a:t>
            </a:r>
            <a:endParaRPr sz="135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Vite recoge todos estos módulos y los transforma de manera óptima en assets que puede entender el navegador y que pesan poco.</a:t>
            </a:r>
            <a:endParaRPr sz="135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" name="Google Shape;68;p20"/>
          <p:cNvSpPr txBox="1"/>
          <p:nvPr/>
        </p:nvSpPr>
        <p:spPr>
          <a:xfrm>
            <a:off x="4527575" y="1908175"/>
            <a:ext cx="3834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9" name="Google Shape;6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9100" y="1879273"/>
            <a:ext cx="4544900" cy="18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25" y="1235525"/>
            <a:ext cx="8421150" cy="274207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1"/>
          <p:cNvSpPr txBox="1"/>
          <p:nvPr/>
        </p:nvSpPr>
        <p:spPr>
          <a:xfrm>
            <a:off x="3066650" y="2663350"/>
            <a:ext cx="3849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6900"/>
              <a:t>🍬</a:t>
            </a:r>
            <a:endParaRPr sz="6900"/>
          </a:p>
        </p:txBody>
      </p:sp>
      <p:pic>
        <p:nvPicPr>
          <p:cNvPr id="76" name="Google Shape;7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453" y="268769"/>
            <a:ext cx="1863552" cy="84622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 txBox="1"/>
          <p:nvPr/>
        </p:nvSpPr>
        <p:spPr>
          <a:xfrm>
            <a:off x="2059000" y="2262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Transpiling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/>
        </p:nvSpPr>
        <p:spPr>
          <a:xfrm>
            <a:off x="357375" y="323538"/>
            <a:ext cx="49872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Transpiling con Babel</a:t>
            </a:r>
            <a:endParaRPr sz="35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" name="Google Shape;83;p22"/>
          <p:cNvSpPr txBox="1"/>
          <p:nvPr/>
        </p:nvSpPr>
        <p:spPr>
          <a:xfrm>
            <a:off x="357375" y="1165325"/>
            <a:ext cx="7938300" cy="20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Transpiling es el proceso de </a:t>
            </a:r>
            <a:r>
              <a:rPr lang="es" sz="1350" b="1">
                <a:latin typeface="DM Sans"/>
                <a:ea typeface="DM Sans"/>
                <a:cs typeface="DM Sans"/>
                <a:sym typeface="DM Sans"/>
              </a:rPr>
              <a:t>convertir código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escrito en un lenguaje,</a:t>
            </a:r>
            <a:r>
              <a:rPr lang="es" sz="1350" b="1">
                <a:latin typeface="DM Sans"/>
                <a:ea typeface="DM Sans"/>
                <a:cs typeface="DM Sans"/>
                <a:sym typeface="DM Sans"/>
              </a:rPr>
              <a:t> a su representación en otro lenguaje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. Usualmente extiende o simplifica la escritura del lenguaje, o representación original.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En nuestro caso específico, se trata de la conversión de código JavaScript moderno (ES6+) a versiones antiguas del lenguaje que sean compatibles con navegadores viejos.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Babel es la herramienta más utilizada para el proceso de transpiling en proyectos modernos.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4" name="Google Shape;84;p22"/>
          <p:cNvSpPr txBox="1"/>
          <p:nvPr/>
        </p:nvSpPr>
        <p:spPr>
          <a:xfrm>
            <a:off x="338650" y="3564803"/>
            <a:ext cx="4987200" cy="9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 b="1">
                <a:highlight>
                  <a:schemeClr val="accent4"/>
                </a:highlight>
                <a:latin typeface="DM Sans"/>
                <a:ea typeface="DM Sans"/>
                <a:cs typeface="DM Sans"/>
                <a:sym typeface="DM Sans"/>
              </a:rPr>
              <a:t>Lo importante: permite que puedas escribir React con síntaxis moderna y ande bien en cualquier navegador.</a:t>
            </a:r>
            <a:endParaRPr sz="1450" b="1">
              <a:highlight>
                <a:schemeClr val="accent4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1488363" y="2056950"/>
            <a:ext cx="62214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JSX</a:t>
            </a:r>
            <a:endParaRPr sz="4800" b="1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/>
        </p:nvSpPr>
        <p:spPr>
          <a:xfrm>
            <a:off x="359050" y="360175"/>
            <a:ext cx="7780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Cómo se escribe React sin Sugar Syntax</a:t>
            </a:r>
            <a:endParaRPr sz="3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5" name="Google Shape;95;p24"/>
          <p:cNvSpPr txBox="1"/>
          <p:nvPr/>
        </p:nvSpPr>
        <p:spPr>
          <a:xfrm>
            <a:off x="3760525" y="3267850"/>
            <a:ext cx="38397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6" name="Google Shape;9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00" y="1234375"/>
            <a:ext cx="5608925" cy="35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/>
        </p:nvSpPr>
        <p:spPr>
          <a:xfrm>
            <a:off x="457725" y="377708"/>
            <a:ext cx="6367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JSX: Javascript xml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457725" y="1518275"/>
            <a:ext cx="5326800" cy="3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JSX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una extensión de sintaxis de Javascript que se parece a XML.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XML es otro lenguaje de etiquetas parecido a HTML.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Oficialmente, es una</a:t>
            </a:r>
            <a:r>
              <a:rPr lang="es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extensión que permite hacer llamadas a funciones y a construcción de objetos.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No es ni una cadena de caracteres, ni HTML.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Repo: https://github.com/julioavantt/teacher_react_jsx_basic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6427740" y="2264828"/>
            <a:ext cx="1494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REEMPLAZAR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POR IMAGEN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4" name="Google Shape;10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3550" y="1961752"/>
            <a:ext cx="3030450" cy="14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/>
        </p:nvSpPr>
        <p:spPr>
          <a:xfrm>
            <a:off x="313325" y="395625"/>
            <a:ext cx="74976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Styling en JSX</a:t>
            </a:r>
            <a:endParaRPr sz="36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407100" y="1657425"/>
            <a:ext cx="8261400" cy="24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 posible definir y utilizar estilos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inline en JSX (convertimos los estilos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un objeto Javascript).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highlight>
                  <a:schemeClr val="accent6"/>
                </a:highlight>
                <a:latin typeface="DM Sans"/>
                <a:ea typeface="DM Sans"/>
                <a:cs typeface="DM Sans"/>
                <a:sym typeface="DM Sans"/>
              </a:rPr>
              <a:t>También podemos usar:</a:t>
            </a:r>
            <a:endParaRPr sz="1350">
              <a:solidFill>
                <a:schemeClr val="dk1"/>
              </a:solidFill>
              <a:highlight>
                <a:schemeClr val="accent6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CSS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SCSS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Tailwind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Module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Styled Components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Stylex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1" name="Google Shape;1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800" y="1120050"/>
            <a:ext cx="5115777" cy="336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9875" y="153927"/>
            <a:ext cx="2466699" cy="181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Inline styles en JSX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27"/>
          <p:cNvSpPr txBox="1"/>
          <p:nvPr/>
        </p:nvSpPr>
        <p:spPr>
          <a:xfrm>
            <a:off x="473350" y="1428550"/>
            <a:ext cx="45780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mismos estilos se pueden configurar </a:t>
            </a:r>
            <a:r>
              <a:rPr lang="es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inline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en JSX, solo necesitamos usar doble llave {{ }},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lang="es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primera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llave para avisar que se agregará un </a:t>
            </a:r>
            <a:r>
              <a:rPr lang="es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objeto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s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js.</a:t>
            </a:r>
            <a:endParaRPr sz="135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lang="es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segunda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llave para empezar a escribir el objeto en sí.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9" name="Google Shape;11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50" y="3553675"/>
            <a:ext cx="8195149" cy="803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00" y="2944925"/>
            <a:ext cx="7051202" cy="219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8"/>
          <p:cNvSpPr txBox="1"/>
          <p:nvPr/>
        </p:nvSpPr>
        <p:spPr>
          <a:xfrm>
            <a:off x="475500" y="2401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JSX nos permite: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28"/>
          <p:cNvSpPr txBox="1"/>
          <p:nvPr/>
        </p:nvSpPr>
        <p:spPr>
          <a:xfrm>
            <a:off x="404950" y="1018075"/>
            <a:ext cx="8087100" cy="24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etiquetado HTML. </a:t>
            </a:r>
            <a:endParaRPr sz="135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expresiones en Javascript entre { }.</a:t>
            </a:r>
            <a:endParaRPr sz="135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Retornar componentes React.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HTML vs React: Diferencias Clave en los Atributos de las Etiquetas:           https://www.youtube.com/watch?v=4IhPTPS9lLU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9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Reglas generales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29"/>
          <p:cNvSpPr txBox="1"/>
          <p:nvPr/>
        </p:nvSpPr>
        <p:spPr>
          <a:xfrm>
            <a:off x="473350" y="1428550"/>
            <a:ext cx="45780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elementos deben ser balanceados. Por cada apertura debe haber un cierre.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el elemento no tiene hijos, debe idealmente ser auto-cerrado.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class es palabra reservada, en su lugar usar className.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&lt;img src=”” class=”my-class” /&gt; Mal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&lt;img src=”” className=”my-class” /&gt; Ok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29"/>
          <p:cNvSpPr txBox="1"/>
          <p:nvPr/>
        </p:nvSpPr>
        <p:spPr>
          <a:xfrm>
            <a:off x="5722450" y="15927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3C47D"/>
                </a:solidFill>
                <a:latin typeface="Courier New"/>
                <a:ea typeface="Courier New"/>
                <a:cs typeface="Courier New"/>
                <a:sym typeface="Courier New"/>
              </a:rPr>
              <a:t>&lt;img src=”” /&gt;</a:t>
            </a:r>
            <a:r>
              <a:rPr lang="es" sz="2000">
                <a:solidFill>
                  <a:srgbClr val="93C47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lang="es" sz="1350">
                <a:solidFill>
                  <a:srgbClr val="93C47D"/>
                </a:solidFill>
                <a:latin typeface="DM Sans"/>
                <a:ea typeface="DM Sans"/>
                <a:cs typeface="DM Sans"/>
                <a:sym typeface="DM Sans"/>
              </a:rPr>
              <a:t>Ideal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rgbClr val="E8E7E3"/>
                </a:solidFill>
              </a:rPr>
              <a:t>☕</a:t>
            </a:r>
            <a:endParaRPr sz="5000">
              <a:solidFill>
                <a:srgbClr val="E8E7E3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Break</a:t>
            </a:r>
            <a:endParaRPr sz="4000" b="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9" name="Google Shape;139;p30"/>
          <p:cNvSpPr txBox="1"/>
          <p:nvPr/>
        </p:nvSpPr>
        <p:spPr>
          <a:xfrm>
            <a:off x="2998200" y="2971950"/>
            <a:ext cx="3147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¡5 minutos y volvemos!</a:t>
            </a:r>
            <a:endParaRPr sz="2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443150" y="1168200"/>
            <a:ext cx="4353300" cy="36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Podemos ver fácilmente que está compuesta de una serie de elementos visuales que vemos en pantalla.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Repo:  </a:t>
            </a:r>
            <a:r>
              <a:rPr lang="es" sz="13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https://github.com/julioavantt/teacher_components.git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5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 b="1">
                <a:solidFill>
                  <a:srgbClr val="EA90FF"/>
                </a:solidFill>
                <a:latin typeface="DM Sans"/>
                <a:ea typeface="DM Sans"/>
                <a:cs typeface="DM Sans"/>
                <a:sym typeface="DM Sans"/>
              </a:rPr>
              <a:t>Botones, bloques, textos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, etcétera.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5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En React a esos elementos visuales que componen la UI los llamamos: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550" b="1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rPr>
              <a:t>COMPONENTES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31"/>
          <p:cNvSpPr txBox="1"/>
          <p:nvPr/>
        </p:nvSpPr>
        <p:spPr>
          <a:xfrm>
            <a:off x="312025" y="328125"/>
            <a:ext cx="81411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>
                <a:latin typeface="DM Sans"/>
                <a:ea typeface="DM Sans"/>
                <a:cs typeface="DM Sans"/>
                <a:sym typeface="DM Sans"/>
              </a:rPr>
              <a:t>¿En React de qué está </a:t>
            </a:r>
            <a:r>
              <a:rPr lang="es" sz="3200" b="1">
                <a:solidFill>
                  <a:srgbClr val="EA90FF"/>
                </a:solidFill>
                <a:latin typeface="DM Sans"/>
                <a:ea typeface="DM Sans"/>
                <a:cs typeface="DM Sans"/>
                <a:sym typeface="DM Sans"/>
              </a:rPr>
              <a:t>compuesta</a:t>
            </a:r>
            <a:r>
              <a:rPr lang="es" sz="3200" b="1">
                <a:latin typeface="DM Sans"/>
                <a:ea typeface="DM Sans"/>
                <a:cs typeface="DM Sans"/>
                <a:sym typeface="DM Sans"/>
              </a:rPr>
              <a:t> la UI?</a:t>
            </a:r>
            <a:endParaRPr sz="3200" b="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6" name="Google Shape;14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2051" y="1241388"/>
            <a:ext cx="3592700" cy="318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1"/>
          <p:cNvSpPr txBox="1"/>
          <p:nvPr/>
        </p:nvSpPr>
        <p:spPr>
          <a:xfrm>
            <a:off x="4618525" y="4597525"/>
            <a:ext cx="3834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*UI: Interfaz de usuario.</a:t>
            </a:r>
            <a:endParaRPr sz="2550" b="1">
              <a:solidFill>
                <a:schemeClr val="accent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/>
        </p:nvSpPr>
        <p:spPr>
          <a:xfrm>
            <a:off x="473350" y="1908175"/>
            <a:ext cx="3834600" cy="26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>
                <a:latin typeface="DM Sans"/>
                <a:ea typeface="DM Sans"/>
                <a:cs typeface="DM Sans"/>
                <a:sym typeface="DM Sans"/>
              </a:rPr>
              <a:t>A nivel del código, </a:t>
            </a:r>
            <a:r>
              <a:rPr lang="es" sz="1650" b="1">
                <a:solidFill>
                  <a:srgbClr val="EA90FF"/>
                </a:solidFill>
                <a:latin typeface="DM Sans"/>
                <a:ea typeface="DM Sans"/>
                <a:cs typeface="DM Sans"/>
                <a:sym typeface="DM Sans"/>
              </a:rPr>
              <a:t>son funciones</a:t>
            </a:r>
            <a:r>
              <a:rPr lang="es" sz="1650">
                <a:latin typeface="DM Sans"/>
                <a:ea typeface="DM Sans"/>
                <a:cs typeface="DM Sans"/>
                <a:sym typeface="DM Sans"/>
              </a:rPr>
              <a:t> que </a:t>
            </a:r>
            <a:r>
              <a:rPr lang="es" sz="1650" b="1">
                <a:solidFill>
                  <a:srgbClr val="EA90FF"/>
                </a:solidFill>
                <a:latin typeface="DM Sans"/>
                <a:ea typeface="DM Sans"/>
                <a:cs typeface="DM Sans"/>
                <a:sym typeface="DM Sans"/>
              </a:rPr>
              <a:t>renderizan / retornan</a:t>
            </a:r>
            <a:r>
              <a:rPr lang="es" sz="1650">
                <a:latin typeface="DM Sans"/>
                <a:ea typeface="DM Sans"/>
                <a:cs typeface="DM Sans"/>
                <a:sym typeface="DM Sans"/>
              </a:rPr>
              <a:t> (muestran en pantalla) fragmentos visuales.</a:t>
            </a:r>
            <a:endParaRPr sz="165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50">
                <a:latin typeface="DM Sans"/>
                <a:ea typeface="DM Sans"/>
                <a:cs typeface="DM Sans"/>
                <a:sym typeface="DM Sans"/>
              </a:rPr>
              <a:t>Estos fragmentos visuales o componentes se anidan tal como lo hacen las etiquetas HTML, es decir, tienen jerarquía.</a:t>
            </a:r>
            <a:endParaRPr sz="16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" name="Google Shape;153;p32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latin typeface="DM Sans"/>
                <a:ea typeface="DM Sans"/>
                <a:cs typeface="DM Sans"/>
                <a:sym typeface="DM Sans"/>
              </a:rPr>
              <a:t>¿Qué es un componente?</a:t>
            </a:r>
            <a:endParaRPr sz="4000" b="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4" name="Google Shape;15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126" y="1755775"/>
            <a:ext cx="4410874" cy="238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3"/>
          <p:cNvSpPr txBox="1"/>
          <p:nvPr/>
        </p:nvSpPr>
        <p:spPr>
          <a:xfrm>
            <a:off x="473350" y="1591100"/>
            <a:ext cx="3834600" cy="13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Los componentes deben retornar un solo elemento o componente, pero este elemento o componente sí puede tener más de un elemento o componente hijo.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4779850" y="1591100"/>
            <a:ext cx="3834600" cy="16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caso de no necesitar que el elemento padre forme parte del árbol del DOM, se puede utilizar React.Fragment, o lo que es lo mismo utilizar un tag sin tipo &lt;&gt;&lt;/&gt;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1" name="Google Shape;161;p33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latin typeface="DM Sans"/>
                <a:ea typeface="DM Sans"/>
                <a:cs typeface="DM Sans"/>
                <a:sym typeface="DM Sans"/>
              </a:rPr>
              <a:t>Render de un único elemento</a:t>
            </a:r>
            <a:endParaRPr sz="4000" b="1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2" name="Google Shape;16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898" y="2882575"/>
            <a:ext cx="2783500" cy="15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7546" y="2882575"/>
            <a:ext cx="2929294" cy="15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4"/>
          <p:cNvSpPr txBox="1"/>
          <p:nvPr/>
        </p:nvSpPr>
        <p:spPr>
          <a:xfrm>
            <a:off x="457725" y="526175"/>
            <a:ext cx="473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Diseño modular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34"/>
          <p:cNvSpPr txBox="1"/>
          <p:nvPr/>
        </p:nvSpPr>
        <p:spPr>
          <a:xfrm>
            <a:off x="457725" y="1557700"/>
            <a:ext cx="4822800" cy="29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Los componentes permiten fragmentar la interfaz de usuario en piezas independientes, reutilizables y pensar en cada pieza de forma </a:t>
            </a:r>
            <a:r>
              <a:rPr lang="es" sz="1350" b="1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aislada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Cada instancia de un mismo componente es totalmente </a:t>
            </a:r>
            <a:r>
              <a:rPr lang="es" sz="1350" b="1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independiente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de otra.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Los componentes permiten resolver </a:t>
            </a:r>
            <a:r>
              <a:rPr lang="es" sz="1350" b="1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pequeños problemas, que son fáciles de visualizar y comprender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Luego, unos componentes se apoyarán en otros para solucionar problemas mayores y al final la aplicación será un conjunto de componentes trabajando entre sí.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0" name="Google Shape;17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2300" y="1265063"/>
            <a:ext cx="3108275" cy="31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5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Ventajas del enfoque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35"/>
          <p:cNvSpPr txBox="1"/>
          <p:nvPr/>
        </p:nvSpPr>
        <p:spPr>
          <a:xfrm>
            <a:off x="473350" y="1908175"/>
            <a:ext cx="3834600" cy="14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Favorece la separación de responsabilidades: cada componente debe tener una única tarea.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La aplicación es más fácil de entender.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35"/>
          <p:cNvSpPr txBox="1"/>
          <p:nvPr/>
        </p:nvSpPr>
        <p:spPr>
          <a:xfrm>
            <a:off x="4527575" y="1908175"/>
            <a:ext cx="38346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Mejora el rendimiento de la aplicación.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350"/>
              <a:buFont typeface="DM Sans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Se simplifica la tarea de hacer pruebas unitarias.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/>
        </p:nvSpPr>
        <p:spPr>
          <a:xfrm>
            <a:off x="473350" y="430100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latin typeface="DM Sans"/>
                <a:ea typeface="DM Sans"/>
                <a:cs typeface="DM Sans"/>
                <a:sym typeface="DM Sans"/>
              </a:rPr>
              <a:t>Elementos</a:t>
            </a:r>
            <a:endParaRPr sz="4000" b="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36"/>
          <p:cNvSpPr txBox="1"/>
          <p:nvPr/>
        </p:nvSpPr>
        <p:spPr>
          <a:xfrm>
            <a:off x="473350" y="1169000"/>
            <a:ext cx="7999500" cy="12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Si bien los componentes funcionan de manera independiente, estos se implementan dentro de un árbol de componentes. Por lo que podemos interpretar que un componente padre podrá invocar a un componente hija/o desde su declaración </a:t>
            </a:r>
            <a:r>
              <a:rPr lang="es" sz="1350" b="1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return a través de un elemento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4" name="Google Shape;1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0925" y="1986425"/>
            <a:ext cx="4104350" cy="28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6"/>
          <p:cNvSpPr/>
          <p:nvPr/>
        </p:nvSpPr>
        <p:spPr>
          <a:xfrm rot="8467711">
            <a:off x="4009058" y="2588673"/>
            <a:ext cx="431183" cy="1604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6"/>
          <p:cNvSpPr txBox="1"/>
          <p:nvPr/>
        </p:nvSpPr>
        <p:spPr>
          <a:xfrm>
            <a:off x="5263804" y="4121750"/>
            <a:ext cx="20205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rgbClr val="EA90FF"/>
                </a:solidFill>
              </a:rPr>
              <a:t>Elemento o etiqueta</a:t>
            </a:r>
            <a:endParaRPr sz="1100" b="1">
              <a:solidFill>
                <a:srgbClr val="EA90FF"/>
              </a:solidFill>
            </a:endParaRPr>
          </a:p>
        </p:txBody>
      </p:sp>
      <p:sp>
        <p:nvSpPr>
          <p:cNvPr id="187" name="Google Shape;187;p36"/>
          <p:cNvSpPr txBox="1"/>
          <p:nvPr/>
        </p:nvSpPr>
        <p:spPr>
          <a:xfrm>
            <a:off x="4442904" y="2330300"/>
            <a:ext cx="20205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rgbClr val="EA90FF"/>
                </a:solidFill>
              </a:rPr>
              <a:t>Definición del componente</a:t>
            </a:r>
            <a:endParaRPr sz="1100" b="1">
              <a:solidFill>
                <a:srgbClr val="EA90FF"/>
              </a:solidFill>
            </a:endParaRPr>
          </a:p>
        </p:txBody>
      </p:sp>
      <p:sp>
        <p:nvSpPr>
          <p:cNvPr id="188" name="Google Shape;188;p36"/>
          <p:cNvSpPr/>
          <p:nvPr/>
        </p:nvSpPr>
        <p:spPr>
          <a:xfrm rot="-9201816">
            <a:off x="4890520" y="4133694"/>
            <a:ext cx="430935" cy="16032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/>
        </p:nvSpPr>
        <p:spPr>
          <a:xfrm>
            <a:off x="365419" y="201500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latin typeface="DM Sans"/>
                <a:ea typeface="DM Sans"/>
                <a:cs typeface="DM Sans"/>
                <a:sym typeface="DM Sans"/>
              </a:rPr>
              <a:t>Props en React</a:t>
            </a:r>
            <a:endParaRPr sz="4000" b="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4" name="Google Shape;194;p37"/>
          <p:cNvSpPr txBox="1"/>
          <p:nvPr/>
        </p:nvSpPr>
        <p:spPr>
          <a:xfrm>
            <a:off x="365419" y="940400"/>
            <a:ext cx="8538900" cy="25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componentes son funciones por lo cual pueden usarse parámetros y argumentos para transmitir datos de padres a hijas/os.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variable interna de la función “props”, es un </a:t>
            </a:r>
            <a:r>
              <a:rPr lang="es" sz="1350" b="1">
                <a:solidFill>
                  <a:srgbClr val="EA90FF"/>
                </a:solidFill>
                <a:latin typeface="DM Sans"/>
                <a:ea typeface="DM Sans"/>
                <a:cs typeface="DM Sans"/>
                <a:sym typeface="DM Sans"/>
              </a:rPr>
              <a:t>objeto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que contiene todos los valores de los argumentos pasados en la invocación del componente hija/o.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Esto permite la reutilización de componentes en diferentes partes de la aplicación con diferentes datos o comportamientos.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5" name="Google Shape;19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44" y="2743200"/>
            <a:ext cx="334288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7"/>
          <p:cNvSpPr txBox="1"/>
          <p:nvPr/>
        </p:nvSpPr>
        <p:spPr>
          <a:xfrm>
            <a:off x="3857725" y="2881675"/>
            <a:ext cx="48384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50" b="1">
                <a:solidFill>
                  <a:srgbClr val="EA90FF"/>
                </a:solidFill>
                <a:latin typeface="DM Sans"/>
                <a:ea typeface="DM Sans"/>
                <a:cs typeface="DM Sans"/>
                <a:sym typeface="DM Sans"/>
              </a:rPr>
              <a:t>{ title: "Otro título" }        props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8"/>
          <p:cNvSpPr txBox="1"/>
          <p:nvPr/>
        </p:nvSpPr>
        <p:spPr>
          <a:xfrm>
            <a:off x="4779850" y="1358425"/>
            <a:ext cx="3834600" cy="13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alguna prop es una función (callback), el componente hijo puede llamarla para provocar efectos secundarios en el componente padre.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2" name="Google Shape;202;p38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latin typeface="DM Sans"/>
                <a:ea typeface="DM Sans"/>
                <a:cs typeface="DM Sans"/>
                <a:sym typeface="DM Sans"/>
              </a:rPr>
              <a:t>Props en React</a:t>
            </a:r>
            <a:endParaRPr sz="4000" b="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3" name="Google Shape;20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50" y="1621225"/>
            <a:ext cx="4079670" cy="28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4000" y="2571742"/>
            <a:ext cx="3766300" cy="1899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/>
        </p:nvSpPr>
        <p:spPr>
          <a:xfrm>
            <a:off x="473350" y="1548915"/>
            <a:ext cx="3834600" cy="17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Los </a:t>
            </a:r>
            <a:r>
              <a:rPr lang="es" sz="1350"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estados 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de un componente en React se utilizan para representar la información que puede cambiar durante la vida útil del componente y afectar su representación en la interfaz de usuario.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0" name="Google Shape;210;p39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latin typeface="DM Sans"/>
                <a:ea typeface="DM Sans"/>
                <a:cs typeface="DM Sans"/>
                <a:sym typeface="DM Sans"/>
              </a:rPr>
              <a:t>Estados</a:t>
            </a:r>
            <a:endParaRPr sz="4000" b="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11" name="Google Shape;21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075" y="1592263"/>
            <a:ext cx="4154099" cy="195898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9"/>
          <p:cNvSpPr txBox="1"/>
          <p:nvPr/>
        </p:nvSpPr>
        <p:spPr>
          <a:xfrm>
            <a:off x="473350" y="3716883"/>
            <a:ext cx="3834600" cy="8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 b="1">
                <a:solidFill>
                  <a:srgbClr val="EA90FF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Síntesis: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cambia el estado, cambiará lo que un componente renderiza. Por lo que cambiará la UI.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39"/>
          <p:cNvSpPr txBox="1"/>
          <p:nvPr/>
        </p:nvSpPr>
        <p:spPr>
          <a:xfrm>
            <a:off x="5555050" y="694650"/>
            <a:ext cx="3059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V = f(E)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/>
          <p:nvPr/>
        </p:nvSpPr>
        <p:spPr>
          <a:xfrm>
            <a:off x="555000" y="1587025"/>
            <a:ext cx="3834600" cy="3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Todo cambio de estado va inicializar el proceso de render a partir del nodo donde se produjo el cambio de estado y así se generará el nuevo Virtual DOM que luego será reconciliado.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estados son un concepto de React. Para implementarlo vamos a necesitar de los </a:t>
            </a:r>
            <a:r>
              <a:rPr lang="es" sz="1350" b="1">
                <a:solidFill>
                  <a:schemeClr val="accent1"/>
                </a:solidFill>
                <a:latin typeface="DM Sans"/>
                <a:ea typeface="DM Sans"/>
                <a:cs typeface="DM Sans"/>
                <a:sym typeface="DM Sans"/>
              </a:rPr>
              <a:t>Hooks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React.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40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latin typeface="DM Sans"/>
                <a:ea typeface="DM Sans"/>
                <a:cs typeface="DM Sans"/>
                <a:sym typeface="DM Sans"/>
              </a:rPr>
              <a:t>Estados</a:t>
            </a:r>
            <a:endParaRPr sz="4000" b="1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0" name="Google Shape;22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450" y="1587025"/>
            <a:ext cx="4080551" cy="279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/>
          <p:nvPr/>
        </p:nvSpPr>
        <p:spPr>
          <a:xfrm>
            <a:off x="457725" y="766250"/>
            <a:ext cx="473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Hooks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6" name="Google Shape;226;p41"/>
          <p:cNvSpPr txBox="1"/>
          <p:nvPr/>
        </p:nvSpPr>
        <p:spPr>
          <a:xfrm>
            <a:off x="457725" y="1602025"/>
            <a:ext cx="4114200" cy="17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hooks fueron introducidos en React 16.8 y permiten utilizar las características de React en los componentes funcionales.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hooks son funciones que se pueden usar dentro de los componentes funcionales para agregar funcionalidad adicional de React.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7" name="Google Shape;2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0525" y="1749150"/>
            <a:ext cx="3558676" cy="2001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2"/>
          <p:cNvSpPr txBox="1"/>
          <p:nvPr/>
        </p:nvSpPr>
        <p:spPr>
          <a:xfrm>
            <a:off x="559700" y="474825"/>
            <a:ext cx="4730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Reglas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los Hooks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3" name="Google Shape;233;p42"/>
          <p:cNvSpPr txBox="1"/>
          <p:nvPr/>
        </p:nvSpPr>
        <p:spPr>
          <a:xfrm>
            <a:off x="363000" y="2141200"/>
            <a:ext cx="5769300" cy="24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●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Comienzan con el prefijo “use” para que React pueda identificarlos y realizar validaciones.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●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Solamente pueden utilizarse dentro de componentes funcionales y custom hooks.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●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Deben ejecutarse siempre, es decir, en cada renderizado y el orden de ejecución debe ser siempre el mismo. No puede estar dentro de if, for, etc.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spcBef>
                <a:spcPts val="1000"/>
              </a:spcBef>
              <a:spcAft>
                <a:spcPts val="1000"/>
              </a:spcAft>
              <a:buClr>
                <a:srgbClr val="EAFF6A"/>
              </a:buClr>
              <a:buSzPts val="1350"/>
              <a:buFont typeface="DM Sans"/>
              <a:buChar char="●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Deben ejecutarse siempre en el cuerpo de la función del componente, por lo que normalmente se los ejecuta al inicio.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4" name="Google Shape;2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0200" y="1605450"/>
            <a:ext cx="2223501" cy="193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/>
        </p:nvSpPr>
        <p:spPr>
          <a:xfrm>
            <a:off x="457725" y="766250"/>
            <a:ext cx="473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useState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43"/>
          <p:cNvSpPr txBox="1"/>
          <p:nvPr/>
        </p:nvSpPr>
        <p:spPr>
          <a:xfrm>
            <a:off x="457725" y="1525825"/>
            <a:ext cx="4545900" cy="3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useState es un hook de React que permite a los componentes funcionales tener estado.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ejecución de la función Hook useState retorna un array con dos elementos:</a:t>
            </a:r>
            <a:endParaRPr sz="135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●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primer elemento es el valor actual del estado.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●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segundo es una función que se utiliza para actualizar el estado (setter), al llamar esta función con un nuevo valor pasado como argumento.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 </a:t>
            </a:r>
            <a:r>
              <a:rPr lang="es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importante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destacar que esta función no actualiza el valor del estado de manera síncrona, lo que hace es causar un nuevo render.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41" name="Google Shape;24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2925" y="2040900"/>
            <a:ext cx="3863150" cy="150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"/>
          <p:cNvSpPr txBox="1"/>
          <p:nvPr/>
        </p:nvSpPr>
        <p:spPr>
          <a:xfrm>
            <a:off x="457725" y="766250"/>
            <a:ext cx="473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useState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7" name="Google Shape;247;p44"/>
          <p:cNvSpPr txBox="1"/>
          <p:nvPr/>
        </p:nvSpPr>
        <p:spPr>
          <a:xfrm>
            <a:off x="457725" y="1525825"/>
            <a:ext cx="3739500" cy="28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inicializar el estado, se debe proporcionar un valor inicial como argumento a useState.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esta función retorna un array de dos elementos podemos desestructurarlo para darle un nombre más apropiado a nuestro estado y a su función de actualización.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nombre debe ser representativo del contenido y la función debe ser el mismo nombre con el prefijo “set”.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48" name="Google Shape;24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675" y="1505150"/>
            <a:ext cx="4641975" cy="2431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5"/>
          <p:cNvSpPr txBox="1"/>
          <p:nvPr/>
        </p:nvSpPr>
        <p:spPr>
          <a:xfrm>
            <a:off x="457725" y="692175"/>
            <a:ext cx="473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>
                <a:solidFill>
                  <a:srgbClr val="EA90FF"/>
                </a:solidFill>
                <a:latin typeface="DM Sans"/>
                <a:ea typeface="DM Sans"/>
                <a:cs typeface="DM Sans"/>
                <a:sym typeface="DM Sans"/>
              </a:rPr>
              <a:t>useState</a:t>
            </a:r>
            <a:endParaRPr sz="4000" b="1">
              <a:solidFill>
                <a:srgbClr val="EA90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4" name="Google Shape;254;p45"/>
          <p:cNvSpPr txBox="1"/>
          <p:nvPr/>
        </p:nvSpPr>
        <p:spPr>
          <a:xfrm>
            <a:off x="457725" y="1525825"/>
            <a:ext cx="83607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s" sz="37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lang="es" sz="3750" b="1">
                <a:solidFill>
                  <a:srgbClr val="EA90FF"/>
                </a:solidFill>
                <a:latin typeface="DM Sans"/>
                <a:ea typeface="DM Sans"/>
                <a:cs typeface="DM Sans"/>
                <a:sym typeface="DM Sans"/>
              </a:rPr>
              <a:t>única</a:t>
            </a:r>
            <a:r>
              <a:rPr lang="es" sz="37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forma de que cambie lo que vemos en la interfaz de usuario es, ante un cambio del valor en una pieza de estado.</a:t>
            </a:r>
            <a:endParaRPr sz="375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46"/>
          <p:cNvGrpSpPr/>
          <p:nvPr/>
        </p:nvGrpSpPr>
        <p:grpSpPr>
          <a:xfrm>
            <a:off x="457359" y="1493981"/>
            <a:ext cx="431074" cy="431074"/>
            <a:chOff x="7208351" y="2467173"/>
            <a:chExt cx="738900" cy="738900"/>
          </a:xfrm>
        </p:grpSpPr>
        <p:sp>
          <p:nvSpPr>
            <p:cNvPr id="260" name="Google Shape;260;p46"/>
            <p:cNvSpPr/>
            <p:nvPr/>
          </p:nvSpPr>
          <p:spPr>
            <a:xfrm>
              <a:off x="7208351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1" name="Google Shape;261;p46" title="ícono de entrega final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352500" y="2611301"/>
              <a:ext cx="450600" cy="4506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2" name="Google Shape;262;p46"/>
          <p:cNvSpPr txBox="1"/>
          <p:nvPr/>
        </p:nvSpPr>
        <p:spPr>
          <a:xfrm>
            <a:off x="457350" y="2142968"/>
            <a:ext cx="7310100" cy="10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Primera </a:t>
            </a: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pre- </a:t>
            </a: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entrega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E-commerce</a:t>
            </a:r>
            <a:endParaRPr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63" name="Google Shape;263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6"/>
          <p:cNvSpPr txBox="1"/>
          <p:nvPr/>
        </p:nvSpPr>
        <p:spPr>
          <a:xfrm>
            <a:off x="930550" y="1576918"/>
            <a:ext cx="3199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ENTREGA DEL PROYECTO FINAL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5" name="Google Shape;265;p46"/>
          <p:cNvSpPr txBox="1"/>
          <p:nvPr/>
        </p:nvSpPr>
        <p:spPr>
          <a:xfrm>
            <a:off x="4527575" y="2933858"/>
            <a:ext cx="3834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6" name="Google Shape;266;p46"/>
          <p:cNvSpPr/>
          <p:nvPr/>
        </p:nvSpPr>
        <p:spPr>
          <a:xfrm>
            <a:off x="636450" y="1947318"/>
            <a:ext cx="8036700" cy="606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4"/>
          <p:cNvSpPr txBox="1"/>
          <p:nvPr/>
        </p:nvSpPr>
        <p:spPr>
          <a:xfrm>
            <a:off x="1556994" y="790250"/>
            <a:ext cx="6221400" cy="198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0" dirty="0">
              <a:solidFill>
                <a:srgbClr val="E8E7E3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b="1" dirty="0" smtClean="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Llegamos al final de la clase!!!!</a:t>
            </a:r>
            <a:endParaRPr sz="4000" b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44"/>
          <p:cNvSpPr txBox="1"/>
          <p:nvPr/>
        </p:nvSpPr>
        <p:spPr>
          <a:xfrm>
            <a:off x="2998200" y="2971950"/>
            <a:ext cx="3147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dirty="0" smtClean="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Dudas? Consultas?</a:t>
            </a:r>
            <a:endParaRPr sz="2000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88856304"/>
      </p:ext>
    </p:extLst>
  </p:cSld>
  <p:clrMapOvr>
    <a:masterClrMapping/>
  </p:clrMapOvr>
</p:sld>
</file>

<file path=ppt/theme/theme1.xml><?xml version="1.0" encoding="utf-8"?>
<a:theme xmlns:a="http://schemas.openxmlformats.org/drawingml/2006/main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1807</Words>
  <Application>Microsoft Office PowerPoint</Application>
  <PresentationFormat>Presentación en pantalla (16:9)</PresentationFormat>
  <Paragraphs>180</Paragraphs>
  <Slides>31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6" baseType="lpstr">
      <vt:lpstr>Arial</vt:lpstr>
      <vt:lpstr>Courier New</vt:lpstr>
      <vt:lpstr>DM Sans</vt:lpstr>
      <vt:lpstr>Helvetica Neue Light</vt:lpstr>
      <vt:lpstr>Coder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Turi</cp:lastModifiedBy>
  <cp:revision>4</cp:revision>
  <dcterms:modified xsi:type="dcterms:W3CDTF">2025-10-13T23:19:08Z</dcterms:modified>
</cp:coreProperties>
</file>