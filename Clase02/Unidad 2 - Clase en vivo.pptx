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2" r:id="rId6"/>
    <p:sldId id="287" r:id="rId7"/>
    <p:sldId id="264" r:id="rId8"/>
    <p:sldId id="263" r:id="rId9"/>
    <p:sldId id="265" r:id="rId10"/>
    <p:sldId id="266" r:id="rId11"/>
    <p:sldId id="267" r:id="rId12"/>
    <p:sldId id="268" r:id="rId13"/>
    <p:sldId id="269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</p:sldIdLst>
  <p:sldSz cx="9144000" cy="5143500" type="screen16x9"/>
  <p:notesSz cx="6858000" cy="9144000"/>
  <p:embeddedFontLst>
    <p:embeddedFont>
      <p:font typeface="Helvetica Neue Light" panose="020B0604020202020204" charset="0"/>
      <p:regular r:id="rId32"/>
      <p:bold r:id="rId33"/>
      <p:italic r:id="rId34"/>
      <p:boldItalic r:id="rId35"/>
    </p:embeddedFont>
    <p:embeddedFont>
      <p:font typeface="DM Sans" panose="020B0604020202020204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78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d89ba99d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2d89ba99d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 dirty="0"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fe1a610420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fe1a610420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401d2a2b4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401d2a2b4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461b144764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461b144764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los módulos más importantes de la clase, donde se introducen conceptos que se ven en varios slides. No hay que usarla para todos los módulos.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184290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138340cde61_0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138340cde61_0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61b144764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61b144764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154e4407d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154e4407d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1461b144764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1461b144764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154e4407d6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154e4407d6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fe1a61042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fe1a61042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Obligatoria siempre.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A la hora del Break, entre 5 y 10 minutos. Considerar ubicar este espacio en un momento adecuado de la clase. Al volver, mostrar los resultados de la pregunta del anterior slide y generar un breve intercambio.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d89ba99dff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g2d89ba99dff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d89ba99df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2d89ba99dff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89ba99dff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g2d89ba99dff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d89ba99dff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2d89ba99dff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d89ba99dff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2d89ba99dff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89ba99dff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g2d89ba99dff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d89ba99dff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2d89ba99dff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d89ba99dff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2d89ba99dff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d89ba99dff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d89ba99dff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d89ba99dff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g2d89ba99dff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d89ba99dff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d89ba99dff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d89ba99dff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g2d89ba99dff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d89ba99dff_0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g2d89ba99dff_0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89ba99dff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" name="Google Shape;251;g2d89ba99dff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8aad4aaa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2d8aad4aaa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3365b5acdf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3365b5acdf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472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2" name="Google Shape;12;p2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5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7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8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9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0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1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2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1">
  <p:cSld name="SECTION_HEADER_1_1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1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 1">
  <p:cSld name="SECTION_HEADER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6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46;p16"/>
          <p:cNvSpPr txBox="1"/>
          <p:nvPr/>
        </p:nvSpPr>
        <p:spPr>
          <a:xfrm>
            <a:off x="723014" y="927149"/>
            <a:ext cx="6959674" cy="345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Clase 2</a:t>
            </a: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/>
        </p:nvSpPr>
        <p:spPr>
          <a:xfrm>
            <a:off x="350775" y="1378528"/>
            <a:ext cx="5949600" cy="298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</a:rPr>
              <a:t>Permite crear proyectos y probarlos muy rápido.</a:t>
            </a: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</a:rPr>
              <a:t>Es una forma fácil de empezar apps como las de </a:t>
            </a:r>
            <a:r>
              <a:rPr lang="es-MX" sz="1350" dirty="0" err="1">
                <a:latin typeface="DM Sans"/>
                <a:ea typeface="DM Sans"/>
                <a:cs typeface="DM Sans"/>
              </a:rPr>
              <a:t>React</a:t>
            </a:r>
            <a:r>
              <a:rPr lang="es-MX" sz="1350" dirty="0">
                <a:latin typeface="DM Sans"/>
                <a:ea typeface="DM Sans"/>
                <a:cs typeface="DM Sans"/>
              </a:rPr>
              <a:t>.</a:t>
            </a: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</a:rPr>
              <a:t>Empaqueta el código para que el navegador lo entienda.</a:t>
            </a: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</a:rPr>
              <a:t>Tiene un servidor que se inicia al instante y se actualiza solo cuando </a:t>
            </a:r>
            <a:r>
              <a:rPr lang="es-MX" sz="1350" dirty="0" smtClean="0">
                <a:latin typeface="DM Sans"/>
                <a:ea typeface="DM Sans"/>
                <a:cs typeface="DM Sans"/>
              </a:rPr>
              <a:t>cambias </a:t>
            </a:r>
            <a:r>
              <a:rPr lang="es-MX" sz="1350" dirty="0">
                <a:latin typeface="DM Sans"/>
                <a:ea typeface="DM Sans"/>
                <a:cs typeface="DM Sans"/>
              </a:rPr>
              <a:t>algo.</a:t>
            </a:r>
          </a:p>
          <a:p>
            <a:pPr marL="45720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</a:rPr>
              <a:t>Usa una tecnología moderna del navegador que hace que todo cargue más rápido.</a:t>
            </a:r>
          </a:p>
          <a:p>
            <a:pPr marL="45720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  <a:sym typeface="DM Sans"/>
              </a:rPr>
              <a:t>Lo vamos a usar en lugar de </a:t>
            </a:r>
            <a:r>
              <a:rPr lang="es-MX" sz="1350" dirty="0" err="1">
                <a:latin typeface="DM Sans"/>
                <a:ea typeface="DM Sans"/>
                <a:cs typeface="DM Sans"/>
                <a:sym typeface="DM Sans"/>
              </a:rPr>
              <a:t>React</a:t>
            </a:r>
            <a:r>
              <a:rPr lang="es-MX" sz="1350" dirty="0">
                <a:latin typeface="DM Sans"/>
                <a:ea typeface="DM Sans"/>
                <a:cs typeface="DM Sans"/>
                <a:sym typeface="DM Sans"/>
              </a:rPr>
              <a:t> app viejo (</a:t>
            </a:r>
            <a:r>
              <a:rPr lang="es-MX" sz="1350" dirty="0" err="1">
                <a:latin typeface="DM Sans"/>
                <a:ea typeface="DM Sans"/>
                <a:cs typeface="DM Sans"/>
                <a:sym typeface="DM Sans"/>
              </a:rPr>
              <a:t>npm</a:t>
            </a:r>
            <a:r>
              <a:rPr lang="es-MX" sz="1350" dirty="0"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s-MX" sz="1350" dirty="0" err="1">
                <a:latin typeface="DM Sans"/>
                <a:ea typeface="DM Sans"/>
                <a:cs typeface="DM Sans"/>
                <a:sym typeface="DM Sans"/>
              </a:rPr>
              <a:t>start</a:t>
            </a:r>
            <a:r>
              <a:rPr lang="es-MX" sz="1350" dirty="0">
                <a:latin typeface="DM Sans"/>
                <a:ea typeface="DM Sans"/>
                <a:cs typeface="DM Sans"/>
                <a:sym typeface="DM Sans"/>
              </a:rPr>
              <a:t>)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0" name="Google Shape;60;p19"/>
          <p:cNvSpPr txBox="1"/>
          <p:nvPr/>
        </p:nvSpPr>
        <p:spPr>
          <a:xfrm>
            <a:off x="350775" y="564588"/>
            <a:ext cx="49872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1" name="Google Shape;6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12863" y="1461475"/>
            <a:ext cx="2059225" cy="2034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/>
        </p:nvSpPr>
        <p:spPr>
          <a:xfrm>
            <a:off x="372140" y="385725"/>
            <a:ext cx="824231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como Bundler (empaquetador)</a:t>
            </a:r>
            <a:endParaRPr sz="36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7" name="Google Shape;67;p20"/>
          <p:cNvSpPr txBox="1"/>
          <p:nvPr/>
        </p:nvSpPr>
        <p:spPr>
          <a:xfrm>
            <a:off x="473349" y="1348451"/>
            <a:ext cx="4757869" cy="342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Nuestra App de React está compuesta por una serie de archivos de distintos formatos (js, css, png, jpg, etc.).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A esto debemos sumarle node_modules que pueden ocupar varios gigas</a:t>
            </a: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. (Importante que solo esten a nivel local, NO EN GITHUB!) </a:t>
            </a: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Estas dependencias son usadas en nuestra App a través de importaciones.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recoge todos estos módulos y los transforma de manera óptima en assets que puede entender el navegador y que pesan poco.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8" name="Google Shape;68;p20"/>
          <p:cNvSpPr txBox="1"/>
          <p:nvPr/>
        </p:nvSpPr>
        <p:spPr>
          <a:xfrm>
            <a:off x="4527575" y="1908175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9" name="Google Shape;6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18298" y="1879274"/>
            <a:ext cx="3625702" cy="1491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/>
        </p:nvSpPr>
        <p:spPr>
          <a:xfrm>
            <a:off x="1488363" y="2056950"/>
            <a:ext cx="62214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 dirty="0" smtClean="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JSX en lugar de JS?</a:t>
            </a:r>
            <a:endParaRPr sz="4800" b="1" dirty="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Porque dice JSX cada archivo?</a:t>
            </a:r>
            <a:endParaRPr sz="3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" name="Google Shape;67;p20"/>
          <p:cNvSpPr txBox="1"/>
          <p:nvPr/>
        </p:nvSpPr>
        <p:spPr>
          <a:xfrm>
            <a:off x="473349" y="1348451"/>
            <a:ext cx="8075228" cy="14865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s-MX" sz="1200" dirty="0"/>
              <a:t>JS: escribís solo JavaScript, por ejemplo funciones o variables</a:t>
            </a:r>
            <a:r>
              <a:rPr lang="es-MX" sz="1200" dirty="0" smtClean="0"/>
              <a:t>.</a:t>
            </a:r>
          </a:p>
          <a:p>
            <a:endParaRPr lang="es-MX" sz="1200" dirty="0"/>
          </a:p>
          <a:p>
            <a:r>
              <a:rPr lang="es-MX" sz="1200" dirty="0"/>
              <a:t>JSX: escribís HTML dentro de JavaScript para crear la interfaz en </a:t>
            </a:r>
            <a:r>
              <a:rPr lang="es-MX" sz="1200" dirty="0" err="1"/>
              <a:t>React</a:t>
            </a:r>
            <a:r>
              <a:rPr lang="es-MX" sz="1200" dirty="0"/>
              <a:t>.</a:t>
            </a: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MX" sz="1350" dirty="0" smtClean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210" y="2475073"/>
            <a:ext cx="7238455" cy="162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156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5"/>
          <p:cNvSpPr txBox="1"/>
          <p:nvPr/>
        </p:nvSpPr>
        <p:spPr>
          <a:xfrm>
            <a:off x="457725" y="377708"/>
            <a:ext cx="63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JSX: Javascript xml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457725" y="1518275"/>
            <a:ext cx="5326800" cy="3311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es una extensión de sintaxis de Javascript que se parece a XML.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XML es otro lenguaje de etiquetas parecido a HTML.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Oficialmente, es una</a:t>
            </a:r>
            <a:r>
              <a:rPr lang="es" sz="135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extensión que permite hacer llamadas a funciones y a construcción de objetos.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No es ni una cadena de caracteres, ni HTML.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6427740" y="2264828"/>
            <a:ext cx="14943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REEMPLAZAR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 IMAGEN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4" name="Google Shape;10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13550" y="1961752"/>
            <a:ext cx="3030450" cy="147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Cómo se escribe React sin Sugar Syntax</a:t>
            </a:r>
            <a:endParaRPr sz="3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96" name="Google Shape;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1234375"/>
            <a:ext cx="5608925" cy="354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/>
        </p:nvSpPr>
        <p:spPr>
          <a:xfrm>
            <a:off x="313325" y="395625"/>
            <a:ext cx="74976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Styling en JSX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0" name="Google Shape;110;p26"/>
          <p:cNvSpPr txBox="1"/>
          <p:nvPr/>
        </p:nvSpPr>
        <p:spPr>
          <a:xfrm>
            <a:off x="407100" y="1657425"/>
            <a:ext cx="8261400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posible definir y utilizar estilos 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en JSX (convertimos los estilos 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un objeto Javascript).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highlight>
                  <a:schemeClr val="accent6"/>
                </a:highlight>
                <a:latin typeface="DM Sans"/>
                <a:ea typeface="DM Sans"/>
                <a:cs typeface="DM Sans"/>
                <a:sym typeface="DM Sans"/>
              </a:rPr>
              <a:t>También podemos usar:</a:t>
            </a:r>
            <a:endParaRPr sz="1350" dirty="0">
              <a:solidFill>
                <a:schemeClr val="dk1"/>
              </a:solidFill>
              <a:highlight>
                <a:schemeClr val="accent6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CSS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SCSS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Bootstrap (Viiiivo?)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Tailwind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Module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Styled Components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Stylex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1" name="Google Shape;11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800" y="1120050"/>
            <a:ext cx="5115777" cy="3367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48957" y="3113747"/>
            <a:ext cx="1938581" cy="13735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styles en </a:t>
            </a:r>
            <a:r>
              <a:rPr lang="es" sz="4000" b="1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 </a:t>
            </a:r>
            <a:endParaRPr sz="4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8" name="Google Shape;118;p27"/>
          <p:cNvSpPr txBox="1"/>
          <p:nvPr/>
        </p:nvSpPr>
        <p:spPr>
          <a:xfrm>
            <a:off x="473350" y="1428550"/>
            <a:ext cx="4578000" cy="2262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mismos estilos se pueden configurar </a:t>
            </a:r>
            <a:r>
              <a:rPr lang="es" sz="135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en JSX, solo necesitamos usar doble llave {{ }},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avisar que se agregará un </a:t>
            </a:r>
            <a:r>
              <a:rPr lang="es" sz="135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objeto 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</a:t>
            </a:r>
            <a:r>
              <a:rPr lang="es" sz="135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js.</a:t>
            </a:r>
            <a:endParaRPr sz="135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segunda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empezar a escribir el objeto en sí</a:t>
            </a: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Les parece que está bien?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9" name="Google Shape;11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3553675"/>
            <a:ext cx="8195149" cy="803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4989" y="2370767"/>
            <a:ext cx="7051202" cy="21985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8"/>
          <p:cNvSpPr txBox="1"/>
          <p:nvPr/>
        </p:nvSpPr>
        <p:spPr>
          <a:xfrm>
            <a:off x="475500" y="2401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 nos permite: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6" name="Google Shape;126;p28"/>
          <p:cNvSpPr txBox="1"/>
          <p:nvPr/>
        </p:nvSpPr>
        <p:spPr>
          <a:xfrm>
            <a:off x="404950" y="1018075"/>
            <a:ext cx="8087100" cy="1846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etiquetado HTML. </a:t>
            </a:r>
            <a:endParaRPr sz="135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expresiones en Javascript entre { }.</a:t>
            </a:r>
            <a:endParaRPr sz="135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Retornar componentes React.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 generales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2" name="Google Shape;132;p29"/>
          <p:cNvSpPr txBox="1"/>
          <p:nvPr/>
        </p:nvSpPr>
        <p:spPr>
          <a:xfrm>
            <a:off x="473350" y="1428550"/>
            <a:ext cx="4578000" cy="288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elementos deben ser balanceados. Por cada apertura debe haber un cierre.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DM Sans"/>
              <a:buChar char="✓"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el elemento no tiene hijos, debe idealmente ser auto-cerrado.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class es palabra </a:t>
            </a: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reservada (sirve para crear clases de codigo en JS(, 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su lugar usar className.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class=”my-class” /&gt; Mal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className=”my-class” /&gt; Ok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5722450" y="159277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rgbClr val="93C47D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src=”” /&gt;</a:t>
            </a:r>
            <a:r>
              <a:rPr lang="es" sz="2000">
                <a:solidFill>
                  <a:srgbClr val="93C47D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 </a:t>
            </a:r>
            <a:r>
              <a:rPr lang="es" sz="1350">
                <a:solidFill>
                  <a:srgbClr val="93C47D"/>
                </a:solidFill>
                <a:latin typeface="DM Sans"/>
                <a:ea typeface="DM Sans"/>
                <a:cs typeface="DM Sans"/>
                <a:sym typeface="DM Sans"/>
              </a:rPr>
              <a:t>Ideal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450" y="2269050"/>
            <a:ext cx="2872399" cy="20448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30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¡5 minutos y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2"/>
          <p:cNvSpPr txBox="1"/>
          <p:nvPr/>
        </p:nvSpPr>
        <p:spPr>
          <a:xfrm>
            <a:off x="473350" y="1908175"/>
            <a:ext cx="4259776" cy="2777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 dirty="0">
                <a:latin typeface="DM Sans"/>
                <a:ea typeface="DM Sans"/>
                <a:cs typeface="DM Sans"/>
                <a:sym typeface="DM Sans"/>
              </a:rPr>
              <a:t>A nivel del código, </a:t>
            </a:r>
            <a:r>
              <a:rPr lang="es" sz="1650" b="1" dirty="0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son funciones</a:t>
            </a:r>
            <a:r>
              <a:rPr lang="es" sz="1650" dirty="0">
                <a:latin typeface="DM Sans"/>
                <a:ea typeface="DM Sans"/>
                <a:cs typeface="DM Sans"/>
                <a:sym typeface="DM Sans"/>
              </a:rPr>
              <a:t> que </a:t>
            </a:r>
            <a:r>
              <a:rPr lang="es" sz="1650" b="1" dirty="0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renderizan / retornan</a:t>
            </a:r>
            <a:r>
              <a:rPr lang="es" sz="1650" dirty="0">
                <a:latin typeface="DM Sans"/>
                <a:ea typeface="DM Sans"/>
                <a:cs typeface="DM Sans"/>
                <a:sym typeface="DM Sans"/>
              </a:rPr>
              <a:t> (muestran en pantalla) fragmentos visuales.</a:t>
            </a:r>
            <a:endParaRPr sz="165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 dirty="0">
                <a:latin typeface="DM Sans"/>
                <a:ea typeface="DM Sans"/>
                <a:cs typeface="DM Sans"/>
                <a:sym typeface="DM Sans"/>
              </a:rPr>
              <a:t>Estos fragmentos visuales o componentes se anidan tal como lo hacen las etiquetas HTML, es decir, tienen jerarquía</a:t>
            </a:r>
            <a:r>
              <a:rPr lang="es" sz="1650" dirty="0" smtClean="0">
                <a:latin typeface="DM Sans"/>
                <a:ea typeface="DM Sans"/>
                <a:cs typeface="DM Sans"/>
                <a:sym typeface="DM Sans"/>
              </a:rPr>
              <a:t>.</a:t>
            </a:r>
            <a:br>
              <a:rPr lang="es" sz="1650" dirty="0" smtClean="0">
                <a:latin typeface="DM Sans"/>
                <a:ea typeface="DM Sans"/>
                <a:cs typeface="DM Sans"/>
                <a:sym typeface="DM Sans"/>
              </a:rPr>
            </a:br>
            <a:r>
              <a:rPr lang="es" sz="1650" dirty="0" smtClean="0">
                <a:latin typeface="DM Sans"/>
                <a:ea typeface="DM Sans"/>
                <a:cs typeface="DM Sans"/>
                <a:sym typeface="DM Sans"/>
              </a:rPr>
              <a:t>Programacion modular a full!!!</a:t>
            </a:r>
            <a:endParaRPr sz="1650" dirty="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32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¿Qué es un componente?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4" name="Google Shape;15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126" y="1755775"/>
            <a:ext cx="4410874" cy="238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3"/>
          <p:cNvSpPr txBox="1"/>
          <p:nvPr/>
        </p:nvSpPr>
        <p:spPr>
          <a:xfrm>
            <a:off x="473350" y="1591100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deben retornar un solo elemento o componente, pero este elemento o componente sí puede tener más de un elemento o componente hijo.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4779850" y="1591100"/>
            <a:ext cx="3834600" cy="16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caso de no necesitar que el elemento padre forme parte del árbol del DOM, se puede utilizar React.Fragment, o lo que es lo mismo utilizar un tag sin tipo &lt;&gt;&lt;/&gt;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33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Render de un único elemento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2" name="Google Shape;16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898" y="2882575"/>
            <a:ext cx="2783500" cy="152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7546" y="2882575"/>
            <a:ext cx="2929294" cy="152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4"/>
          <p:cNvSpPr txBox="1"/>
          <p:nvPr/>
        </p:nvSpPr>
        <p:spPr>
          <a:xfrm>
            <a:off x="457725" y="526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Diseño modular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9" name="Google Shape;169;p34"/>
          <p:cNvSpPr txBox="1"/>
          <p:nvPr/>
        </p:nvSpPr>
        <p:spPr>
          <a:xfrm>
            <a:off x="457725" y="1557700"/>
            <a:ext cx="4822800" cy="29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fragmentar la interfaz de usuario en piezas independientes, reutilizables y pensar en cada pieza de forma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aislada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Cada instancia de un mismo componente es totalmente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independiente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de otra.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resolver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pequeños problemas, que son fáciles de visualizar y comprender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Luego, unos componentes se apoyarán en otros para solucionar problemas mayores y al final la aplicación será un conjunto de componentes trabajando entre sí.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0" name="Google Shape;17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2300" y="1265063"/>
            <a:ext cx="3108275" cy="31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5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Ventajas del enfoque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35"/>
          <p:cNvSpPr txBox="1"/>
          <p:nvPr/>
        </p:nvSpPr>
        <p:spPr>
          <a:xfrm>
            <a:off x="473350" y="1908175"/>
            <a:ext cx="3834600" cy="14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Favorece la separación de responsabilidades: cada componente debe tener una única tarea.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La aplicación es más fácil de entender.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7" name="Google Shape;177;p35"/>
          <p:cNvSpPr txBox="1"/>
          <p:nvPr/>
        </p:nvSpPr>
        <p:spPr>
          <a:xfrm>
            <a:off x="4527575" y="1908175"/>
            <a:ext cx="3834600" cy="12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Mejora el rendimiento de la aplicación.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Se simplifica la tarea de hacer pruebas unitarias.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6"/>
          <p:cNvSpPr txBox="1"/>
          <p:nvPr/>
        </p:nvSpPr>
        <p:spPr>
          <a:xfrm>
            <a:off x="473350" y="4301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Elementos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3" name="Google Shape;183;p36"/>
          <p:cNvSpPr txBox="1"/>
          <p:nvPr/>
        </p:nvSpPr>
        <p:spPr>
          <a:xfrm>
            <a:off x="473350" y="1169000"/>
            <a:ext cx="7999500" cy="12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Si bien los componentes funcionan de manera independiente, estos se implementan dentro de un árbol de componentes. Por lo que podemos interpretar que un componente padre podrá invocar a un componente hija/o desde su declaración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return a través de un elemento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84" name="Google Shape;18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0925" y="1986425"/>
            <a:ext cx="4104350" cy="28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6"/>
          <p:cNvSpPr/>
          <p:nvPr/>
        </p:nvSpPr>
        <p:spPr>
          <a:xfrm rot="8467711">
            <a:off x="4009058" y="2588673"/>
            <a:ext cx="431183" cy="16042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36"/>
          <p:cNvSpPr txBox="1"/>
          <p:nvPr/>
        </p:nvSpPr>
        <p:spPr>
          <a:xfrm>
            <a:off x="5263804" y="412175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Elemento o etiqueta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7" name="Google Shape;187;p36"/>
          <p:cNvSpPr txBox="1"/>
          <p:nvPr/>
        </p:nvSpPr>
        <p:spPr>
          <a:xfrm>
            <a:off x="4442904" y="233030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Definición del componente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8" name="Google Shape;188;p36"/>
          <p:cNvSpPr/>
          <p:nvPr/>
        </p:nvSpPr>
        <p:spPr>
          <a:xfrm rot="-9201816">
            <a:off x="4890520" y="4133694"/>
            <a:ext cx="430935" cy="16032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7"/>
          <p:cNvSpPr txBox="1"/>
          <p:nvPr/>
        </p:nvSpPr>
        <p:spPr>
          <a:xfrm>
            <a:off x="365419" y="2015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4" name="Google Shape;194;p37"/>
          <p:cNvSpPr txBox="1"/>
          <p:nvPr/>
        </p:nvSpPr>
        <p:spPr>
          <a:xfrm>
            <a:off x="365419" y="940400"/>
            <a:ext cx="8538900" cy="25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componentes son funciones por lo cual pueden usarse parámetros y argumentos para transmitir datos de padres a hijas/os.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variable interna de la función “props”, es un </a:t>
            </a: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objeto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que contiene todos los valores de los argumentos pasados en la invocación del componente hija/o.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Esto permite la reutilización de componentes en diferentes partes de la aplicación con diferentes datos o comportamientos.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95" name="Google Shape;1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444" y="2743200"/>
            <a:ext cx="334288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7"/>
          <p:cNvSpPr txBox="1"/>
          <p:nvPr/>
        </p:nvSpPr>
        <p:spPr>
          <a:xfrm>
            <a:off x="3857725" y="2881675"/>
            <a:ext cx="48384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0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{ title: "Otro título" }        props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/>
          <p:nvPr/>
        </p:nvSpPr>
        <p:spPr>
          <a:xfrm>
            <a:off x="4779850" y="1358425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alguna prop es una función (callback), el componente hijo puede llamarla para provocar efectos secundarios en el componente padre.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2" name="Google Shape;202;p38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03" name="Google Shape;2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1621225"/>
            <a:ext cx="4079670" cy="28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14000" y="2571742"/>
            <a:ext cx="3766300" cy="1899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9"/>
          <p:cNvSpPr txBox="1"/>
          <p:nvPr/>
        </p:nvSpPr>
        <p:spPr>
          <a:xfrm>
            <a:off x="473350" y="1548915"/>
            <a:ext cx="38346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</a:t>
            </a:r>
            <a:r>
              <a:rPr lang="es" sz="135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estados 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 un componente en React se utilizan para representar la información que puede cambiar durante la vida útil del componente y afectar su representación en la interfaz de usuario.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0" name="Google Shape;210;p3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1" name="Google Shape;21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4075" y="1592263"/>
            <a:ext cx="4154099" cy="1958986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39"/>
          <p:cNvSpPr txBox="1"/>
          <p:nvPr/>
        </p:nvSpPr>
        <p:spPr>
          <a:xfrm>
            <a:off x="473350" y="3716883"/>
            <a:ext cx="3834600" cy="8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Síntesis: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cambia el estado, cambiará lo que un componente renderiza. Por lo que cambiará la UI.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3" name="Google Shape;213;p39"/>
          <p:cNvSpPr txBox="1"/>
          <p:nvPr/>
        </p:nvSpPr>
        <p:spPr>
          <a:xfrm>
            <a:off x="5555050" y="694650"/>
            <a:ext cx="30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V = f(E)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/>
          <p:nvPr/>
        </p:nvSpPr>
        <p:spPr>
          <a:xfrm>
            <a:off x="555000" y="1587025"/>
            <a:ext cx="3834600" cy="3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Todo cambio de estado va inicializar el proceso de render a partir del nodo donde se produjo el cambio de estado y así se generará el nuevo Virtual DOM que luego será reconciliado.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estados son un concepto de React. Para implementarlo vamos a necesitar de los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React.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0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0" name="Google Shape;22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450" y="1587025"/>
            <a:ext cx="4080551" cy="2793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1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6" name="Google Shape;226;p41"/>
          <p:cNvSpPr txBox="1"/>
          <p:nvPr/>
        </p:nvSpPr>
        <p:spPr>
          <a:xfrm>
            <a:off x="457725" y="1602025"/>
            <a:ext cx="41142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fueron introducidos en React 16.8 y permiten utilizar las características de React en los componentes funcionales.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son funciones que se pueden usar dentro de los componentes funcionales para agregar funcionalidad adicional de React.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7" name="Google Shape;22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0525" y="1749150"/>
            <a:ext cx="3558676" cy="2001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2"/>
          <p:cNvSpPr txBox="1"/>
          <p:nvPr/>
        </p:nvSpPr>
        <p:spPr>
          <a:xfrm>
            <a:off x="559700" y="474825"/>
            <a:ext cx="47301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 los 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3" name="Google Shape;233;p42"/>
          <p:cNvSpPr txBox="1"/>
          <p:nvPr/>
        </p:nvSpPr>
        <p:spPr>
          <a:xfrm>
            <a:off x="363000" y="2141200"/>
            <a:ext cx="5769300" cy="24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Comienzan con el prefijo “use” para que React pueda identificarlos y realizar validaciones.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Solamente pueden utilizarse dentro de componentes funcionales y custom hooks.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siempre, es decir, en cada renderizado y el orden de ejecución debe ser siempre el mismo. No puede estar dentro de if, for, etc.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100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 en el cuerpo de la función del componente, por lo que normalmente se los ejecuta al inicio.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34" name="Google Shape;23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50200" y="1605450"/>
            <a:ext cx="2223501" cy="1932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3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0" name="Google Shape;240;p43"/>
          <p:cNvSpPr txBox="1"/>
          <p:nvPr/>
        </p:nvSpPr>
        <p:spPr>
          <a:xfrm>
            <a:off x="457725" y="1525825"/>
            <a:ext cx="4545900" cy="31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 es un hook de React que permite a los componentes funcionales tener estado.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ejecución de la función Hook useState retorna un array con dos elementos: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primer elemento es el valor actual del estado.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segundo es una función que se utiliza para actualizar el estado (setter), al llamar esta función con un nuevo valor pasado como argumento.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importante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destacar que esta función no actualiza el valor del estado de manera síncrona, lo que hace es causar un nuevo render.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1" name="Google Shape;24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2925" y="2040900"/>
            <a:ext cx="3863150" cy="150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4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7" name="Google Shape;247;p44"/>
          <p:cNvSpPr txBox="1"/>
          <p:nvPr/>
        </p:nvSpPr>
        <p:spPr>
          <a:xfrm>
            <a:off x="457725" y="1525825"/>
            <a:ext cx="3739500" cy="28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inicializar el estado, se debe proporcionar un valor inicial como argumento a useState.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Como esta función retorna un array de dos elementos podemos desestructurarlo para darle un nombre más apropiado a nuestro estado y a su función de actualización.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nombre debe ser representativo del contenido y la función debe ser el mismo nombre con el prefijo “set”.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8" name="Google Shape;24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675" y="1505150"/>
            <a:ext cx="4641975" cy="24312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/>
        </p:nvSpPr>
        <p:spPr>
          <a:xfrm>
            <a:off x="457725" y="692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rgbClr val="EA90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4" name="Google Shape;254;p45"/>
          <p:cNvSpPr txBox="1"/>
          <p:nvPr/>
        </p:nvSpPr>
        <p:spPr>
          <a:xfrm>
            <a:off x="457725" y="1525825"/>
            <a:ext cx="8360700" cy="24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37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única</a:t>
            </a: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forma de que cambie lo que vemos en la interfaz de usuario es, ante un cambio del valor en una pieza de estado.</a:t>
            </a:r>
            <a:endParaRPr sz="37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46"/>
          <p:cNvGrpSpPr/>
          <p:nvPr/>
        </p:nvGrpSpPr>
        <p:grpSpPr>
          <a:xfrm>
            <a:off x="457359" y="1493981"/>
            <a:ext cx="431074" cy="431074"/>
            <a:chOff x="7208351" y="2467173"/>
            <a:chExt cx="738900" cy="738900"/>
          </a:xfrm>
        </p:grpSpPr>
        <p:sp>
          <p:nvSpPr>
            <p:cNvPr id="260" name="Google Shape;260;p46"/>
            <p:cNvSpPr/>
            <p:nvPr/>
          </p:nvSpPr>
          <p:spPr>
            <a:xfrm>
              <a:off x="7208351" y="2467173"/>
              <a:ext cx="738900" cy="738900"/>
            </a:xfrm>
            <a:prstGeom prst="ellipse">
              <a:avLst/>
            </a:prstGeom>
            <a:solidFill>
              <a:srgbClr val="EAF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61" name="Google Shape;261;p46" title="ícono de entrega final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352500" y="2611301"/>
              <a:ext cx="450600" cy="45062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2" name="Google Shape;262;p46"/>
          <p:cNvSpPr txBox="1"/>
          <p:nvPr/>
        </p:nvSpPr>
        <p:spPr>
          <a:xfrm>
            <a:off x="457350" y="2142968"/>
            <a:ext cx="7310100" cy="1777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 </a:t>
            </a:r>
            <a:r>
              <a:rPr lang="es" sz="4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pre- </a:t>
            </a:r>
            <a:r>
              <a:rPr lang="es" sz="4000" b="1" i="0" u="none" strike="noStrike" cap="none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</a:t>
            </a:r>
            <a:endParaRPr sz="4000" b="1" i="0" u="none" strike="noStrike" cap="none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E-commerce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Revisar en Desafios-&gt; Primera entrega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Utilizar Repositorio de Github para entregar!</a:t>
            </a:r>
            <a:endParaRPr sz="250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3" name="Google Shape;263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6"/>
          <p:cNvSpPr txBox="1"/>
          <p:nvPr/>
        </p:nvSpPr>
        <p:spPr>
          <a:xfrm>
            <a:off x="930550" y="1576918"/>
            <a:ext cx="3199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" sz="16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 DEL PROYECTO FINAL</a:t>
            </a:r>
            <a:endParaRPr sz="1400" b="0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5" name="Google Shape;265;p46"/>
          <p:cNvSpPr txBox="1"/>
          <p:nvPr/>
        </p:nvSpPr>
        <p:spPr>
          <a:xfrm>
            <a:off x="4538208" y="2933858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rgbClr val="99999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6" name="Google Shape;266;p46"/>
          <p:cNvSpPr/>
          <p:nvPr/>
        </p:nvSpPr>
        <p:spPr>
          <a:xfrm>
            <a:off x="636450" y="1947318"/>
            <a:ext cx="8036700" cy="606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4"/>
          <p:cNvSpPr txBox="1"/>
          <p:nvPr/>
        </p:nvSpPr>
        <p:spPr>
          <a:xfrm>
            <a:off x="1556994" y="790250"/>
            <a:ext cx="6221400" cy="198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0" dirty="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4000" b="1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Llegamos al final de la clase!!!!</a:t>
            </a: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4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Dudas? Consultas?</a:t>
            </a:r>
            <a:endParaRPr sz="20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88856304"/>
      </p:ext>
    </p:extLst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1627</Words>
  <Application>Microsoft Office PowerPoint</Application>
  <PresentationFormat>Presentación en pantalla (16:9)</PresentationFormat>
  <Paragraphs>159</Paragraphs>
  <Slides>29</Slides>
  <Notes>29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4" baseType="lpstr">
      <vt:lpstr>Helvetica Neue Light</vt:lpstr>
      <vt:lpstr>DM Sans</vt:lpstr>
      <vt:lpstr>Arial</vt:lpstr>
      <vt:lpstr>Courier New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13</cp:revision>
  <dcterms:modified xsi:type="dcterms:W3CDTF">2025-11-12T20:56:03Z</dcterms:modified>
</cp:coreProperties>
</file>