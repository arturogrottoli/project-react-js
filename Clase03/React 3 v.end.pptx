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Helvetica Neue"/>
      <p:regular r:id="rId25"/>
      <p:bold r:id="rId26"/>
      <p:italic r:id="rId27"/>
      <p:boldItalic r:id="rId28"/>
    </p:embeddedFont>
    <p:embeddedFont>
      <p:font typeface="Helvetica Neue Light"/>
      <p:regular r:id="rId29"/>
      <p:bold r:id="rId30"/>
      <p:italic r:id="rId31"/>
      <p:boldItalic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Light-italic.fntdata"/><Relationship Id="rId30" Type="http://schemas.openxmlformats.org/officeDocument/2006/relationships/font" Target="fonts/HelveticaNeueLight-bold.fntdata"/><Relationship Id="rId11" Type="http://schemas.openxmlformats.org/officeDocument/2006/relationships/slide" Target="slides/slide5.xml"/><Relationship Id="rId33" Type="http://schemas.openxmlformats.org/officeDocument/2006/relationships/font" Target="fonts/DMSans-regular.fntdata"/><Relationship Id="rId10" Type="http://schemas.openxmlformats.org/officeDocument/2006/relationships/slide" Target="slides/slide4.xml"/><Relationship Id="rId32" Type="http://schemas.openxmlformats.org/officeDocument/2006/relationships/font" Target="fonts/HelveticaNeueLight-boldItalic.fntdata"/><Relationship Id="rId13" Type="http://schemas.openxmlformats.org/officeDocument/2006/relationships/slide" Target="slides/slide7.xml"/><Relationship Id="rId35" Type="http://schemas.openxmlformats.org/officeDocument/2006/relationships/font" Target="fonts/DMSans-italic.fntdata"/><Relationship Id="rId12" Type="http://schemas.openxmlformats.org/officeDocument/2006/relationships/slide" Target="slides/slide6.xml"/><Relationship Id="rId34" Type="http://schemas.openxmlformats.org/officeDocument/2006/relationships/font" Target="fonts/DM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DM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365b5acdf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365b5acdf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365b5acdf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365b5acdf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365b5acdf_0_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3365b5acdf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Font typeface="DM Sans"/>
              <a:buChar char="-"/>
            </a:pPr>
            <a:r>
              <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dda17c05ea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dda17c05ea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da17c05ea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da17c05ea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16954f0fd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16954f0fd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de1bc54ec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de1bc54ec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de1bc54ec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de1bc54e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de1bc54ec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de1bc54ec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138e512b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5138e512bf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dda17c05ea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dda17c05ea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e1bc54ec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de1bc54ec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e1bc54ec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e1bc54ec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dda17c05ea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1dda17c05ea_0_6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de1bc54ec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de1bc54ec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365b5acdf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3365b5acd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3e92dba2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33e92dba2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33e92dba2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33e92dba2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54" name="Shape 54"/>
        <p:cNvGrpSpPr/>
        <p:nvPr/>
      </p:nvGrpSpPr>
      <p:grpSpPr>
        <a:xfrm>
          <a:off x="0" y="0"/>
          <a:ext cx="0" cy="0"/>
          <a:chOff x="0" y="0"/>
          <a:chExt cx="0" cy="0"/>
        </a:xfrm>
      </p:grpSpPr>
      <p:pic>
        <p:nvPicPr>
          <p:cNvPr id="55" name="Google Shape;55;p14"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56" name="Shape 56"/>
        <p:cNvGrpSpPr/>
        <p:nvPr/>
      </p:nvGrpSpPr>
      <p:grpSpPr>
        <a:xfrm>
          <a:off x="0" y="0"/>
          <a:ext cx="0" cy="0"/>
          <a:chOff x="0" y="0"/>
          <a:chExt cx="0" cy="0"/>
        </a:xfrm>
      </p:grpSpPr>
      <p:pic>
        <p:nvPicPr>
          <p:cNvPr id="57" name="Google Shape;57;p15" title="logo coderhouse"/>
          <p:cNvPicPr preferRelativeResize="0"/>
          <p:nvPr/>
        </p:nvPicPr>
        <p:blipFill rotWithShape="1">
          <a:blip r:embed="rId3">
            <a:alphaModFix/>
          </a:blip>
          <a:srcRect b="0" l="0" r="0" t="0"/>
          <a:stretch/>
        </p:blipFill>
        <p:spPr>
          <a:xfrm>
            <a:off x="7874775" y="4720250"/>
            <a:ext cx="1024025" cy="2116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58" name="Shape 58"/>
        <p:cNvGrpSpPr/>
        <p:nvPr/>
      </p:nvGrpSpPr>
      <p:grpSpPr>
        <a:xfrm>
          <a:off x="0" y="0"/>
          <a:ext cx="0" cy="0"/>
          <a:chOff x="0" y="0"/>
          <a:chExt cx="0" cy="0"/>
        </a:xfrm>
      </p:grpSpPr>
      <p:pic>
        <p:nvPicPr>
          <p:cNvPr id="59" name="Google Shape;59;p16"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60" name="Shape 60"/>
        <p:cNvGrpSpPr/>
        <p:nvPr/>
      </p:nvGrpSpPr>
      <p:grpSpPr>
        <a:xfrm>
          <a:off x="0" y="0"/>
          <a:ext cx="0" cy="0"/>
          <a:chOff x="0" y="0"/>
          <a:chExt cx="0" cy="0"/>
        </a:xfrm>
      </p:grpSpPr>
      <p:pic>
        <p:nvPicPr>
          <p:cNvPr id="61" name="Google Shape;61;p17"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1">
  <p:cSld name="SECTION_HEADER_1_1_1">
    <p:bg>
      <p:bgPr>
        <a:blipFill>
          <a:blip r:embed="rId2">
            <a:alphaModFix/>
          </a:blip>
          <a:stretch>
            <a:fillRect/>
          </a:stretch>
        </a:blipFill>
      </p:bgPr>
    </p:bg>
    <p:spTree>
      <p:nvGrpSpPr>
        <p:cNvPr id="62" name="Shape 62"/>
        <p:cNvGrpSpPr/>
        <p:nvPr/>
      </p:nvGrpSpPr>
      <p:grpSpPr>
        <a:xfrm>
          <a:off x="0" y="0"/>
          <a:ext cx="0" cy="0"/>
          <a:chOff x="0" y="0"/>
          <a:chExt cx="0" cy="0"/>
        </a:xfrm>
      </p:grpSpPr>
      <p:pic>
        <p:nvPicPr>
          <p:cNvPr id="63" name="Google Shape;63;p18"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64" name="Shape 64"/>
        <p:cNvGrpSpPr/>
        <p:nvPr/>
      </p:nvGrpSpPr>
      <p:grpSpPr>
        <a:xfrm>
          <a:off x="0" y="0"/>
          <a:ext cx="0" cy="0"/>
          <a:chOff x="0" y="0"/>
          <a:chExt cx="0" cy="0"/>
        </a:xfrm>
      </p:grpSpPr>
      <p:pic>
        <p:nvPicPr>
          <p:cNvPr id="65" name="Google Shape;65;p19"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20"/>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 name="Google Shape;68;p20"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69" name="Shape 69"/>
        <p:cNvGrpSpPr/>
        <p:nvPr/>
      </p:nvGrpSpPr>
      <p:grpSpPr>
        <a:xfrm>
          <a:off x="0" y="0"/>
          <a:ext cx="0" cy="0"/>
          <a:chOff x="0" y="0"/>
          <a:chExt cx="0" cy="0"/>
        </a:xfrm>
      </p:grpSpPr>
      <p:sp>
        <p:nvSpPr>
          <p:cNvPr id="70" name="Google Shape;70;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000"/>
              <a:buFont typeface="DM Sans"/>
              <a:buNone/>
              <a:defRPr b="1" sz="4000">
                <a:latin typeface="DM Sans"/>
                <a:ea typeface="DM Sans"/>
                <a:cs typeface="DM Sans"/>
                <a:sym typeface="DM Sans"/>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1" name="Google Shape;71;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72" name="Google Shape;72;p21"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2">
  <p:cSld name="SECTION_HEADER_1_1_1_1">
    <p:bg>
      <p:bgPr>
        <a:blipFill>
          <a:blip r:embed="rId2">
            <a:alphaModFix/>
          </a:blip>
          <a:stretch>
            <a:fillRect/>
          </a:stretch>
        </a:blipFill>
      </p:bgPr>
    </p:bg>
    <p:spTree>
      <p:nvGrpSpPr>
        <p:cNvPr id="73" name="Shape 73"/>
        <p:cNvGrpSpPr/>
        <p:nvPr/>
      </p:nvGrpSpPr>
      <p:grpSpPr>
        <a:xfrm>
          <a:off x="0" y="0"/>
          <a:ext cx="0" cy="0"/>
          <a:chOff x="0" y="0"/>
          <a:chExt cx="0" cy="0"/>
        </a:xfrm>
      </p:grpSpPr>
      <p:pic>
        <p:nvPicPr>
          <p:cNvPr id="74" name="Google Shape;74;p22"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3">
  <p:cSld name="SECTION_HEADER_1_1_1_1_1">
    <p:bg>
      <p:bgPr>
        <a:blipFill>
          <a:blip r:embed="rId2">
            <a:alphaModFix/>
          </a:blip>
          <a:stretch>
            <a:fillRect/>
          </a:stretch>
        </a:blipFill>
      </p:bgPr>
    </p:bg>
    <p:spTree>
      <p:nvGrpSpPr>
        <p:cNvPr id="75" name="Shape 75"/>
        <p:cNvGrpSpPr/>
        <p:nvPr/>
      </p:nvGrpSpPr>
      <p:grpSpPr>
        <a:xfrm>
          <a:off x="0" y="0"/>
          <a:ext cx="0" cy="0"/>
          <a:chOff x="0" y="0"/>
          <a:chExt cx="0" cy="0"/>
        </a:xfrm>
      </p:grpSpPr>
      <p:pic>
        <p:nvPicPr>
          <p:cNvPr id="76" name="Google Shape;76;p2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77" name="Shape 77"/>
        <p:cNvGrpSpPr/>
        <p:nvPr/>
      </p:nvGrpSpPr>
      <p:grpSpPr>
        <a:xfrm>
          <a:off x="0" y="0"/>
          <a:ext cx="0" cy="0"/>
          <a:chOff x="0" y="0"/>
          <a:chExt cx="0" cy="0"/>
        </a:xfrm>
      </p:grpSpPr>
      <p:pic>
        <p:nvPicPr>
          <p:cNvPr id="78" name="Google Shape;78;p24"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79" name="Shape 79"/>
        <p:cNvGrpSpPr/>
        <p:nvPr/>
      </p:nvGrpSpPr>
      <p:grpSpPr>
        <a:xfrm>
          <a:off x="0" y="0"/>
          <a:ext cx="0" cy="0"/>
          <a:chOff x="0" y="0"/>
          <a:chExt cx="0" cy="0"/>
        </a:xfrm>
      </p:grpSpPr>
      <p:pic>
        <p:nvPicPr>
          <p:cNvPr id="80" name="Google Shape;80;p25"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1" name="Shape 81"/>
        <p:cNvGrpSpPr/>
        <p:nvPr/>
      </p:nvGrpSpPr>
      <p:grpSpPr>
        <a:xfrm>
          <a:off x="0" y="0"/>
          <a:ext cx="0" cy="0"/>
          <a:chOff x="0" y="0"/>
          <a:chExt cx="0" cy="0"/>
        </a:xfrm>
      </p:grpSpPr>
      <p:sp>
        <p:nvSpPr>
          <p:cNvPr id="82" name="Google Shape;8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3" name="Google Shape;83;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4" name="Google Shape;8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1">
  <p:cSld name="SECTION_HEADER_1_1_1_1_1_1_1_2">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28"/>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28"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hyperlink" Target="https://github.com/julioavantt/teacher_js_map" TargetMode="External"/><Relationship Id="rId5" Type="http://schemas.openxmlformats.org/officeDocument/2006/relationships/hyperlink" Target="https://github.com/julioavantt/teacher_react_ma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9"/>
          <p:cNvSpPr txBox="1"/>
          <p:nvPr/>
        </p:nvSpPr>
        <p:spPr>
          <a:xfrm>
            <a:off x="1461288" y="1299288"/>
            <a:ext cx="6221400" cy="2622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419" sz="7200">
                <a:solidFill>
                  <a:schemeClr val="lt1"/>
                </a:solidFill>
                <a:latin typeface="DM Sans"/>
                <a:ea typeface="DM Sans"/>
                <a:cs typeface="DM Sans"/>
                <a:sym typeface="DM Sans"/>
              </a:rPr>
              <a:t>React</a:t>
            </a:r>
            <a:endParaRPr b="1" sz="72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419" sz="6000">
                <a:solidFill>
                  <a:srgbClr val="EAFF6A"/>
                </a:solidFill>
                <a:latin typeface="DM Sans"/>
                <a:ea typeface="DM Sans"/>
                <a:cs typeface="DM Sans"/>
                <a:sym typeface="DM Sans"/>
              </a:rPr>
              <a:t>Flex III</a:t>
            </a:r>
            <a:br>
              <a:rPr b="1" lang="es-419" sz="6000">
                <a:solidFill>
                  <a:srgbClr val="EAFF6A"/>
                </a:solidFill>
                <a:latin typeface="DM Sans"/>
                <a:ea typeface="DM Sans"/>
                <a:cs typeface="DM Sans"/>
                <a:sym typeface="DM Sans"/>
              </a:rPr>
            </a:br>
            <a:endParaRPr b="1" sz="600">
              <a:solidFill>
                <a:srgbClr val="EAFF6A"/>
              </a:solidFill>
              <a:latin typeface="DM Sans"/>
              <a:ea typeface="DM Sans"/>
              <a:cs typeface="DM Sans"/>
              <a:sym typeface="DM Sans"/>
            </a:endParaRPr>
          </a:p>
          <a:p>
            <a:pPr indent="0" lvl="0" marL="0" rtl="0" algn="ctr">
              <a:lnSpc>
                <a:spcPct val="90000"/>
              </a:lnSpc>
              <a:spcBef>
                <a:spcPts val="0"/>
              </a:spcBef>
              <a:spcAft>
                <a:spcPts val="0"/>
              </a:spcAft>
              <a:buNone/>
            </a:pPr>
            <a:r>
              <a:t/>
            </a:r>
            <a:endParaRPr b="1" sz="600">
              <a:solidFill>
                <a:srgbClr val="EAFF6A"/>
              </a:solidFill>
              <a:latin typeface="DM Sans"/>
              <a:ea typeface="DM Sans"/>
              <a:cs typeface="DM Sans"/>
              <a:sym typeface="DM Sans"/>
            </a:endParaRPr>
          </a:p>
          <a:p>
            <a:pPr indent="0" lvl="0" marL="0" rtl="0" algn="ctr">
              <a:lnSpc>
                <a:spcPct val="90000"/>
              </a:lnSpc>
              <a:spcBef>
                <a:spcPts val="0"/>
              </a:spcBef>
              <a:spcAft>
                <a:spcPts val="0"/>
              </a:spcAft>
              <a:buNone/>
            </a:pPr>
            <a:r>
              <a:t/>
            </a:r>
            <a:endParaRPr b="1" sz="16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lang="es-419" sz="1600">
                <a:solidFill>
                  <a:schemeClr val="lt1"/>
                </a:solidFill>
                <a:latin typeface="DM Sans"/>
                <a:ea typeface="DM Sans"/>
                <a:cs typeface="DM Sans"/>
                <a:sym typeface="DM Sans"/>
              </a:rPr>
              <a:t>con ajustes por</a:t>
            </a:r>
            <a:r>
              <a:rPr b="1" lang="es-419" sz="1600">
                <a:solidFill>
                  <a:schemeClr val="lt1"/>
                </a:solidFill>
                <a:latin typeface="DM Sans"/>
                <a:ea typeface="DM Sans"/>
                <a:cs typeface="DM Sans"/>
                <a:sym typeface="DM Sans"/>
              </a:rPr>
              <a:t> Julio Avantt!</a:t>
            </a:r>
            <a:endParaRPr b="1" sz="1600">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0"/>
          <p:cNvSpPr txBox="1"/>
          <p:nvPr/>
        </p:nvSpPr>
        <p:spPr>
          <a:xfrm>
            <a:off x="652350" y="549238"/>
            <a:ext cx="6221400" cy="36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419" sz="3600">
                <a:solidFill>
                  <a:schemeClr val="accent6"/>
                </a:solidFill>
                <a:latin typeface="DM Sans"/>
                <a:ea typeface="DM Sans"/>
                <a:cs typeface="DM Sans"/>
                <a:sym typeface="DM Sans"/>
              </a:rPr>
              <a:t>Denme el ok si:</a:t>
            </a:r>
            <a:endParaRPr b="1" sz="3600">
              <a:solidFill>
                <a:schemeClr val="accent6"/>
              </a:solidFill>
              <a:latin typeface="DM Sans"/>
              <a:ea typeface="DM Sans"/>
              <a:cs typeface="DM Sans"/>
              <a:sym typeface="DM Sans"/>
            </a:endParaRPr>
          </a:p>
          <a:p>
            <a:pPr indent="0" lvl="0" marL="0" rtl="0" algn="l">
              <a:lnSpc>
                <a:spcPct val="115000"/>
              </a:lnSpc>
              <a:spcBef>
                <a:spcPts val="0"/>
              </a:spcBef>
              <a:spcAft>
                <a:spcPts val="0"/>
              </a:spcAft>
              <a:buNone/>
            </a:pPr>
            <a:r>
              <a:t/>
            </a:r>
            <a:endParaRPr b="1" sz="3600">
              <a:solidFill>
                <a:schemeClr val="lt1"/>
              </a:solidFill>
              <a:latin typeface="DM Sans"/>
              <a:ea typeface="DM Sans"/>
              <a:cs typeface="DM Sans"/>
              <a:sym typeface="DM Sans"/>
            </a:endParaRPr>
          </a:p>
          <a:p>
            <a:pPr indent="-419100" lvl="0" marL="457200" rtl="0" algn="l">
              <a:lnSpc>
                <a:spcPct val="115000"/>
              </a:lnSpc>
              <a:spcBef>
                <a:spcPts val="0"/>
              </a:spcBef>
              <a:spcAft>
                <a:spcPts val="0"/>
              </a:spcAft>
              <a:buClr>
                <a:schemeClr val="lt1"/>
              </a:buClr>
              <a:buSzPts val="3000"/>
              <a:buFont typeface="DM Sans"/>
              <a:buChar char="●"/>
            </a:pPr>
            <a:r>
              <a:rPr lang="es-419" sz="3000">
                <a:solidFill>
                  <a:schemeClr val="lt1"/>
                </a:solidFill>
                <a:latin typeface="DM Sans"/>
                <a:ea typeface="DM Sans"/>
                <a:cs typeface="DM Sans"/>
                <a:sym typeface="DM Sans"/>
              </a:rPr>
              <a:t>Me escuchan bien.</a:t>
            </a:r>
            <a:endParaRPr sz="3000">
              <a:solidFill>
                <a:schemeClr val="lt1"/>
              </a:solidFill>
              <a:latin typeface="DM Sans"/>
              <a:ea typeface="DM Sans"/>
              <a:cs typeface="DM Sans"/>
              <a:sym typeface="DM Sans"/>
            </a:endParaRPr>
          </a:p>
          <a:p>
            <a:pPr indent="-419100" lvl="0" marL="457200" rtl="0" algn="l">
              <a:lnSpc>
                <a:spcPct val="115000"/>
              </a:lnSpc>
              <a:spcBef>
                <a:spcPts val="0"/>
              </a:spcBef>
              <a:spcAft>
                <a:spcPts val="0"/>
              </a:spcAft>
              <a:buClr>
                <a:schemeClr val="accent6"/>
              </a:buClr>
              <a:buSzPts val="3000"/>
              <a:buFont typeface="DM Sans"/>
              <a:buChar char="●"/>
            </a:pPr>
            <a:r>
              <a:rPr lang="es-419" sz="3000">
                <a:solidFill>
                  <a:schemeClr val="accent6"/>
                </a:solidFill>
                <a:latin typeface="DM Sans"/>
                <a:ea typeface="DM Sans"/>
                <a:cs typeface="DM Sans"/>
                <a:sym typeface="DM Sans"/>
              </a:rPr>
              <a:t>Ven las diapos en el </a:t>
            </a:r>
            <a:r>
              <a:rPr lang="es-419" sz="3000">
                <a:solidFill>
                  <a:schemeClr val="lt1"/>
                </a:solidFill>
                <a:latin typeface="DM Sans"/>
                <a:ea typeface="DM Sans"/>
                <a:cs typeface="DM Sans"/>
                <a:sym typeface="DM Sans"/>
              </a:rPr>
              <a:t>chat</a:t>
            </a:r>
            <a:r>
              <a:rPr lang="es-419" sz="3000">
                <a:solidFill>
                  <a:schemeClr val="accent6"/>
                </a:solidFill>
                <a:latin typeface="DM Sans"/>
                <a:ea typeface="DM Sans"/>
                <a:cs typeface="DM Sans"/>
                <a:sym typeface="DM Sans"/>
              </a:rPr>
              <a:t>.</a:t>
            </a:r>
            <a:endParaRPr sz="3000">
              <a:solidFill>
                <a:schemeClr val="lt1"/>
              </a:solidFill>
              <a:latin typeface="DM Sans"/>
              <a:ea typeface="DM Sans"/>
              <a:cs typeface="DM Sans"/>
              <a:sym typeface="DM Sans"/>
            </a:endParaRPr>
          </a:p>
          <a:p>
            <a:pPr indent="-419100" lvl="0" marL="457200" rtl="0" algn="l">
              <a:lnSpc>
                <a:spcPct val="115000"/>
              </a:lnSpc>
              <a:spcBef>
                <a:spcPts val="0"/>
              </a:spcBef>
              <a:spcAft>
                <a:spcPts val="0"/>
              </a:spcAft>
              <a:buClr>
                <a:schemeClr val="accent6"/>
              </a:buClr>
              <a:buSzPts val="3000"/>
              <a:buFont typeface="DM Sans"/>
              <a:buChar char="●"/>
            </a:pPr>
            <a:r>
              <a:rPr lang="es-419" sz="3000">
                <a:solidFill>
                  <a:schemeClr val="accent6"/>
                </a:solidFill>
                <a:latin typeface="DM Sans"/>
                <a:ea typeface="DM Sans"/>
                <a:cs typeface="DM Sans"/>
                <a:sym typeface="DM Sans"/>
              </a:rPr>
              <a:t>Estoy grabando.</a:t>
            </a:r>
            <a:endParaRPr sz="3000">
              <a:solidFill>
                <a:schemeClr val="accent6"/>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lt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1"/>
          <p:cNvSpPr txBox="1"/>
          <p:nvPr/>
        </p:nvSpPr>
        <p:spPr>
          <a:xfrm>
            <a:off x="457725" y="385250"/>
            <a:ext cx="8224200" cy="69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419" sz="3700">
                <a:solidFill>
                  <a:schemeClr val="dk1"/>
                </a:solidFill>
                <a:latin typeface="DM Sans"/>
                <a:ea typeface="DM Sans"/>
                <a:cs typeface="DM Sans"/>
                <a:sym typeface="DM Sans"/>
              </a:rPr>
              <a:t>Ciclos de vida de un componente</a:t>
            </a:r>
            <a:endParaRPr b="1" sz="3700">
              <a:solidFill>
                <a:schemeClr val="dk1"/>
              </a:solidFill>
              <a:latin typeface="DM Sans"/>
              <a:ea typeface="DM Sans"/>
              <a:cs typeface="DM Sans"/>
              <a:sym typeface="DM Sans"/>
            </a:endParaRPr>
          </a:p>
        </p:txBody>
      </p:sp>
      <p:sp>
        <p:nvSpPr>
          <p:cNvPr id="105" name="Google Shape;105;p31"/>
          <p:cNvSpPr txBox="1"/>
          <p:nvPr/>
        </p:nvSpPr>
        <p:spPr>
          <a:xfrm>
            <a:off x="457725" y="1068625"/>
            <a:ext cx="7716900" cy="103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450">
                <a:solidFill>
                  <a:schemeClr val="dk1"/>
                </a:solidFill>
                <a:latin typeface="DM Sans"/>
                <a:ea typeface="DM Sans"/>
                <a:cs typeface="DM Sans"/>
                <a:sym typeface="DM Sans"/>
              </a:rPr>
              <a:t>El ciclo de vida no es más que una serie de estados por los cuales pasa un componente a lo largo de su existencia.</a:t>
            </a:r>
            <a:endParaRPr sz="1450">
              <a:latin typeface="DM Sans"/>
              <a:ea typeface="DM Sans"/>
              <a:cs typeface="DM Sans"/>
              <a:sym typeface="DM Sans"/>
            </a:endParaRPr>
          </a:p>
          <a:p>
            <a:pPr indent="0" lvl="0" marL="0" rtl="0" algn="l">
              <a:spcBef>
                <a:spcPts val="1000"/>
              </a:spcBef>
              <a:spcAft>
                <a:spcPts val="1000"/>
              </a:spcAft>
              <a:buNone/>
            </a:pPr>
            <a:r>
              <a:t/>
            </a:r>
            <a:endParaRPr sz="1350">
              <a:latin typeface="DM Sans"/>
              <a:ea typeface="DM Sans"/>
              <a:cs typeface="DM Sans"/>
              <a:sym typeface="DM Sans"/>
            </a:endParaRPr>
          </a:p>
        </p:txBody>
      </p:sp>
      <p:sp>
        <p:nvSpPr>
          <p:cNvPr id="106" name="Google Shape;106;p31"/>
          <p:cNvSpPr/>
          <p:nvPr/>
        </p:nvSpPr>
        <p:spPr>
          <a:xfrm>
            <a:off x="4365894" y="1980637"/>
            <a:ext cx="450600" cy="3768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1"/>
          <p:cNvSpPr txBox="1"/>
          <p:nvPr/>
        </p:nvSpPr>
        <p:spPr>
          <a:xfrm>
            <a:off x="1538050" y="2421353"/>
            <a:ext cx="1503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s-419" sz="1200" u="none" cap="none" strike="noStrike">
                <a:solidFill>
                  <a:schemeClr val="dk1"/>
                </a:solidFill>
                <a:latin typeface="DM Sans"/>
                <a:ea typeface="DM Sans"/>
                <a:cs typeface="DM Sans"/>
                <a:sym typeface="DM Sans"/>
              </a:rPr>
              <a:t>El montaje</a:t>
            </a:r>
            <a:endParaRPr b="1" i="0" sz="1200" u="none" cap="none" strike="noStrike">
              <a:solidFill>
                <a:srgbClr val="000000"/>
              </a:solidFill>
              <a:latin typeface="DM Sans"/>
              <a:ea typeface="DM Sans"/>
              <a:cs typeface="DM Sans"/>
              <a:sym typeface="DM Sans"/>
            </a:endParaRPr>
          </a:p>
        </p:txBody>
      </p:sp>
      <p:sp>
        <p:nvSpPr>
          <p:cNvPr id="108" name="Google Shape;108;p31"/>
          <p:cNvSpPr txBox="1"/>
          <p:nvPr/>
        </p:nvSpPr>
        <p:spPr>
          <a:xfrm>
            <a:off x="3842677" y="2421353"/>
            <a:ext cx="1503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s-419" sz="1200" u="none" cap="none" strike="noStrike">
                <a:solidFill>
                  <a:schemeClr val="dk1"/>
                </a:solidFill>
                <a:latin typeface="DM Sans"/>
                <a:ea typeface="DM Sans"/>
                <a:cs typeface="DM Sans"/>
                <a:sym typeface="DM Sans"/>
              </a:rPr>
              <a:t>La actualización </a:t>
            </a:r>
            <a:endParaRPr b="1" i="0" sz="1200" u="none" cap="none" strike="noStrike">
              <a:solidFill>
                <a:srgbClr val="000000"/>
              </a:solidFill>
              <a:latin typeface="DM Sans"/>
              <a:ea typeface="DM Sans"/>
              <a:cs typeface="DM Sans"/>
              <a:sym typeface="DM Sans"/>
            </a:endParaRPr>
          </a:p>
        </p:txBody>
      </p:sp>
      <p:sp>
        <p:nvSpPr>
          <p:cNvPr id="109" name="Google Shape;109;p31"/>
          <p:cNvSpPr/>
          <p:nvPr/>
        </p:nvSpPr>
        <p:spPr>
          <a:xfrm>
            <a:off x="6853878" y="1980654"/>
            <a:ext cx="450600" cy="3768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0" name="Google Shape;110;p31"/>
          <p:cNvCxnSpPr>
            <a:stCxn id="111" idx="6"/>
            <a:endCxn id="106" idx="2"/>
          </p:cNvCxnSpPr>
          <p:nvPr/>
        </p:nvCxnSpPr>
        <p:spPr>
          <a:xfrm flipH="1" rot="10800000">
            <a:off x="2480798" y="2169004"/>
            <a:ext cx="1885200" cy="2100"/>
          </a:xfrm>
          <a:prstGeom prst="straightConnector1">
            <a:avLst/>
          </a:prstGeom>
          <a:noFill/>
          <a:ln cap="flat" cmpd="sng" w="9525">
            <a:solidFill>
              <a:srgbClr val="EAFF6A"/>
            </a:solidFill>
            <a:prstDash val="solid"/>
            <a:round/>
            <a:headEnd len="sm" w="sm" type="none"/>
            <a:tailEnd len="sm" w="sm" type="none"/>
          </a:ln>
        </p:spPr>
      </p:cxnSp>
      <p:cxnSp>
        <p:nvCxnSpPr>
          <p:cNvPr id="112" name="Google Shape;112;p31"/>
          <p:cNvCxnSpPr>
            <a:stCxn id="106" idx="6"/>
            <a:endCxn id="109" idx="2"/>
          </p:cNvCxnSpPr>
          <p:nvPr/>
        </p:nvCxnSpPr>
        <p:spPr>
          <a:xfrm>
            <a:off x="4816494" y="2169037"/>
            <a:ext cx="2037300" cy="0"/>
          </a:xfrm>
          <a:prstGeom prst="straightConnector1">
            <a:avLst/>
          </a:prstGeom>
          <a:noFill/>
          <a:ln cap="flat" cmpd="sng" w="9525">
            <a:solidFill>
              <a:srgbClr val="EAFF6A"/>
            </a:solidFill>
            <a:prstDash val="solid"/>
            <a:round/>
            <a:headEnd len="sm" w="sm" type="none"/>
            <a:tailEnd len="sm" w="sm" type="none"/>
          </a:ln>
        </p:spPr>
      </p:cxnSp>
      <p:sp>
        <p:nvSpPr>
          <p:cNvPr id="113" name="Google Shape;113;p31"/>
          <p:cNvSpPr txBox="1"/>
          <p:nvPr/>
        </p:nvSpPr>
        <p:spPr>
          <a:xfrm>
            <a:off x="6254452" y="2421353"/>
            <a:ext cx="1503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s-419" sz="1200" u="none" cap="none" strike="noStrike">
                <a:solidFill>
                  <a:schemeClr val="dk1"/>
                </a:solidFill>
                <a:latin typeface="DM Sans"/>
                <a:ea typeface="DM Sans"/>
                <a:cs typeface="DM Sans"/>
                <a:sym typeface="DM Sans"/>
              </a:rPr>
              <a:t>El desmontaje</a:t>
            </a:r>
            <a:endParaRPr b="1" i="0" sz="1200" u="none" cap="none" strike="noStrike">
              <a:solidFill>
                <a:srgbClr val="000000"/>
              </a:solidFill>
              <a:latin typeface="DM Sans"/>
              <a:ea typeface="DM Sans"/>
              <a:cs typeface="DM Sans"/>
              <a:sym typeface="DM Sans"/>
            </a:endParaRPr>
          </a:p>
        </p:txBody>
      </p:sp>
      <p:sp>
        <p:nvSpPr>
          <p:cNvPr id="114" name="Google Shape;114;p31"/>
          <p:cNvSpPr txBox="1"/>
          <p:nvPr/>
        </p:nvSpPr>
        <p:spPr>
          <a:xfrm>
            <a:off x="1071375" y="2695025"/>
            <a:ext cx="2466300" cy="794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0" i="0" lang="es-419" sz="1200" u="none" cap="none" strike="noStrike">
                <a:solidFill>
                  <a:schemeClr val="dk1"/>
                </a:solidFill>
                <a:latin typeface="DM Sans"/>
                <a:ea typeface="DM Sans"/>
                <a:cs typeface="DM Sans"/>
                <a:sym typeface="DM Sans"/>
              </a:rPr>
              <a:t>Se produce la primera vez que un componente va a generarse, incluyéndose en el DOM.</a:t>
            </a:r>
            <a:endParaRPr b="0" i="0" sz="1200" u="none" cap="none" strike="noStrike">
              <a:solidFill>
                <a:schemeClr val="dk1"/>
              </a:solidFill>
              <a:latin typeface="DM Sans"/>
              <a:ea typeface="DM Sans"/>
              <a:cs typeface="DM Sans"/>
              <a:sym typeface="DM Sans"/>
            </a:endParaRPr>
          </a:p>
        </p:txBody>
      </p:sp>
      <p:sp>
        <p:nvSpPr>
          <p:cNvPr id="115" name="Google Shape;115;p31"/>
          <p:cNvSpPr txBox="1"/>
          <p:nvPr/>
        </p:nvSpPr>
        <p:spPr>
          <a:xfrm>
            <a:off x="3614075" y="2695025"/>
            <a:ext cx="20937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50"/>
              <a:buFont typeface="Arial"/>
              <a:buNone/>
            </a:pPr>
            <a:r>
              <a:rPr b="0" i="0" lang="es-419" sz="1200" u="none" cap="none" strike="noStrike">
                <a:solidFill>
                  <a:schemeClr val="dk1"/>
                </a:solidFill>
                <a:latin typeface="DM Sans"/>
                <a:ea typeface="DM Sans"/>
                <a:cs typeface="DM Sans"/>
                <a:sym typeface="DM Sans"/>
              </a:rPr>
              <a:t>Se produce cuando el componente ya generado se está actualizando por un cambio de estado.</a:t>
            </a:r>
            <a:endParaRPr b="0" i="0" sz="1200" u="none" cap="none" strike="noStrike">
              <a:solidFill>
                <a:schemeClr val="dk1"/>
              </a:solidFill>
              <a:latin typeface="DM Sans"/>
              <a:ea typeface="DM Sans"/>
              <a:cs typeface="DM Sans"/>
              <a:sym typeface="DM Sans"/>
            </a:endParaRPr>
          </a:p>
        </p:txBody>
      </p:sp>
      <p:sp>
        <p:nvSpPr>
          <p:cNvPr id="116" name="Google Shape;116;p31"/>
          <p:cNvSpPr txBox="1"/>
          <p:nvPr/>
        </p:nvSpPr>
        <p:spPr>
          <a:xfrm>
            <a:off x="6025849" y="2695025"/>
            <a:ext cx="2037300" cy="1029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50"/>
              <a:buFont typeface="Arial"/>
              <a:buNone/>
            </a:pPr>
            <a:r>
              <a:rPr b="0" i="0" lang="es-419" sz="1200" u="none" cap="none" strike="noStrike">
                <a:solidFill>
                  <a:schemeClr val="dk1"/>
                </a:solidFill>
                <a:latin typeface="DM Sans"/>
                <a:ea typeface="DM Sans"/>
                <a:cs typeface="DM Sans"/>
                <a:sym typeface="DM Sans"/>
              </a:rPr>
              <a:t>Se produce cuando el componente se elimina del DOM.</a:t>
            </a:r>
            <a:endParaRPr b="0" i="0" sz="1200" u="none" cap="none" strike="noStrike">
              <a:solidFill>
                <a:schemeClr val="dk1"/>
              </a:solidFill>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chemeClr val="dk1"/>
              </a:buClr>
              <a:buSzPts val="1100"/>
              <a:buFont typeface="Arial"/>
              <a:buNone/>
            </a:pPr>
            <a:r>
              <a:t/>
            </a:r>
            <a:endParaRPr b="0" i="0" sz="1350" u="none" cap="none" strike="noStrike">
              <a:solidFill>
                <a:schemeClr val="dk1"/>
              </a:solidFill>
              <a:latin typeface="DM Sans"/>
              <a:ea typeface="DM Sans"/>
              <a:cs typeface="DM Sans"/>
              <a:sym typeface="DM Sans"/>
            </a:endParaRPr>
          </a:p>
        </p:txBody>
      </p:sp>
      <p:sp>
        <p:nvSpPr>
          <p:cNvPr id="117" name="Google Shape;117;p31"/>
          <p:cNvSpPr txBox="1"/>
          <p:nvPr/>
        </p:nvSpPr>
        <p:spPr>
          <a:xfrm>
            <a:off x="4432226" y="1976400"/>
            <a:ext cx="318000" cy="378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000"/>
              <a:buFont typeface="Arial"/>
              <a:buNone/>
            </a:pPr>
            <a:r>
              <a:rPr b="1" i="0" lang="es-419" u="none" cap="none" strike="noStrike">
                <a:solidFill>
                  <a:schemeClr val="dk1"/>
                </a:solidFill>
                <a:latin typeface="DM Sans"/>
                <a:ea typeface="DM Sans"/>
                <a:cs typeface="DM Sans"/>
                <a:sym typeface="DM Sans"/>
              </a:rPr>
              <a:t>2</a:t>
            </a:r>
            <a:endParaRPr b="1" i="0" u="none" cap="none" strike="noStrike">
              <a:solidFill>
                <a:schemeClr val="dk1"/>
              </a:solidFill>
              <a:latin typeface="DM Sans"/>
              <a:ea typeface="DM Sans"/>
              <a:cs typeface="DM Sans"/>
              <a:sym typeface="DM Sans"/>
            </a:endParaRPr>
          </a:p>
        </p:txBody>
      </p:sp>
      <p:sp>
        <p:nvSpPr>
          <p:cNvPr id="118" name="Google Shape;118;p31"/>
          <p:cNvSpPr txBox="1"/>
          <p:nvPr/>
        </p:nvSpPr>
        <p:spPr>
          <a:xfrm>
            <a:off x="6920182" y="1976400"/>
            <a:ext cx="318000" cy="3786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000"/>
              <a:buFont typeface="Arial"/>
              <a:buNone/>
            </a:pPr>
            <a:r>
              <a:rPr b="1" i="0" lang="es-419" u="none" cap="none" strike="noStrike">
                <a:solidFill>
                  <a:schemeClr val="dk1"/>
                </a:solidFill>
                <a:latin typeface="DM Sans"/>
                <a:ea typeface="DM Sans"/>
                <a:cs typeface="DM Sans"/>
                <a:sym typeface="DM Sans"/>
              </a:rPr>
              <a:t>3</a:t>
            </a:r>
            <a:endParaRPr b="1" i="0" u="none" cap="none" strike="noStrike">
              <a:solidFill>
                <a:schemeClr val="dk1"/>
              </a:solidFill>
              <a:latin typeface="DM Sans"/>
              <a:ea typeface="DM Sans"/>
              <a:cs typeface="DM Sans"/>
              <a:sym typeface="DM Sans"/>
            </a:endParaRPr>
          </a:p>
        </p:txBody>
      </p:sp>
      <p:grpSp>
        <p:nvGrpSpPr>
          <p:cNvPr id="119" name="Google Shape;119;p31"/>
          <p:cNvGrpSpPr/>
          <p:nvPr/>
        </p:nvGrpSpPr>
        <p:grpSpPr>
          <a:xfrm>
            <a:off x="2030199" y="1980611"/>
            <a:ext cx="450599" cy="378666"/>
            <a:chOff x="1731113" y="1953850"/>
            <a:chExt cx="587100" cy="596700"/>
          </a:xfrm>
        </p:grpSpPr>
        <p:sp>
          <p:nvSpPr>
            <p:cNvPr id="111" name="Google Shape;111;p31"/>
            <p:cNvSpPr/>
            <p:nvPr/>
          </p:nvSpPr>
          <p:spPr>
            <a:xfrm>
              <a:off x="1731113" y="1960479"/>
              <a:ext cx="587100" cy="587100"/>
            </a:xfrm>
            <a:prstGeom prst="ellipse">
              <a:avLst/>
            </a:prstGeom>
            <a:solidFill>
              <a:srgbClr val="EAFF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1"/>
            <p:cNvSpPr txBox="1"/>
            <p:nvPr/>
          </p:nvSpPr>
          <p:spPr>
            <a:xfrm>
              <a:off x="1817525" y="1953850"/>
              <a:ext cx="414300" cy="5967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000"/>
                <a:buFont typeface="Arial"/>
                <a:buNone/>
              </a:pPr>
              <a:r>
                <a:rPr b="1" i="0" lang="es-419" u="none" cap="none" strike="noStrike">
                  <a:solidFill>
                    <a:schemeClr val="dk1"/>
                  </a:solidFill>
                  <a:latin typeface="DM Sans"/>
                  <a:ea typeface="DM Sans"/>
                  <a:cs typeface="DM Sans"/>
                  <a:sym typeface="DM Sans"/>
                </a:rPr>
                <a:t>1</a:t>
              </a:r>
              <a:endParaRPr b="1" i="0" u="none" cap="none" strike="noStrike">
                <a:solidFill>
                  <a:schemeClr val="dk1"/>
                </a:solidFill>
                <a:latin typeface="DM Sans"/>
                <a:ea typeface="DM Sans"/>
                <a:cs typeface="DM Sans"/>
                <a:sym typeface="DM Sans"/>
              </a:endParaRPr>
            </a:p>
          </p:txBody>
        </p:sp>
      </p:grpSp>
      <p:sp>
        <p:nvSpPr>
          <p:cNvPr id="121" name="Google Shape;121;p31"/>
          <p:cNvSpPr txBox="1"/>
          <p:nvPr/>
        </p:nvSpPr>
        <p:spPr>
          <a:xfrm>
            <a:off x="457725" y="3969325"/>
            <a:ext cx="6176100" cy="81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rPr lang="es-419" sz="1250">
                <a:solidFill>
                  <a:schemeClr val="dk1"/>
                </a:solidFill>
                <a:latin typeface="DM Sans"/>
                <a:ea typeface="DM Sans"/>
                <a:cs typeface="DM Sans"/>
                <a:sym typeface="DM Sans"/>
              </a:rPr>
              <a:t>El componente contenedor puede montar o desmontar a su hija/o.</a:t>
            </a:r>
            <a:endParaRPr sz="1250">
              <a:solidFill>
                <a:schemeClr val="dk1"/>
              </a:solidFill>
              <a:latin typeface="DM Sans"/>
              <a:ea typeface="DM Sans"/>
              <a:cs typeface="DM Sans"/>
              <a:sym typeface="DM Sans"/>
            </a:endParaRPr>
          </a:p>
          <a:p>
            <a:pPr indent="0" lvl="0" marL="0" marR="0" rtl="0" algn="l">
              <a:lnSpc>
                <a:spcPct val="115000"/>
              </a:lnSpc>
              <a:spcBef>
                <a:spcPts val="0"/>
              </a:spcBef>
              <a:spcAft>
                <a:spcPts val="0"/>
              </a:spcAft>
              <a:buClr>
                <a:srgbClr val="000000"/>
              </a:buClr>
              <a:buSzPts val="1350"/>
              <a:buFont typeface="Arial"/>
              <a:buNone/>
            </a:pPr>
            <a:r>
              <a:rPr lang="es-419" sz="1250">
                <a:solidFill>
                  <a:schemeClr val="dk1"/>
                </a:solidFill>
                <a:latin typeface="DM Sans"/>
                <a:ea typeface="DM Sans"/>
                <a:cs typeface="DM Sans"/>
                <a:sym typeface="DM Sans"/>
              </a:rPr>
              <a:t>El componente específico</a:t>
            </a:r>
            <a:r>
              <a:rPr b="0" i="0" lang="es-419" sz="1250" u="none" cap="none" strike="noStrike">
                <a:solidFill>
                  <a:schemeClr val="dk1"/>
                </a:solidFill>
                <a:latin typeface="DM Sans"/>
                <a:ea typeface="DM Sans"/>
                <a:cs typeface="DM Sans"/>
                <a:sym typeface="DM Sans"/>
              </a:rPr>
              <a:t> tendrá la posibilidad de cambiar todas las veces que quiera hasta que el componente que lo generó lo destruya.</a:t>
            </a:r>
            <a:endParaRPr b="0" i="0" sz="1250" u="none" cap="none" strike="noStrik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2"/>
          <p:cNvSpPr txBox="1"/>
          <p:nvPr/>
        </p:nvSpPr>
        <p:spPr>
          <a:xfrm>
            <a:off x="457725" y="918650"/>
            <a:ext cx="5824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419" sz="4000">
                <a:solidFill>
                  <a:schemeClr val="dk1"/>
                </a:solidFill>
                <a:latin typeface="DM Sans"/>
                <a:ea typeface="DM Sans"/>
                <a:cs typeface="DM Sans"/>
                <a:sym typeface="DM Sans"/>
              </a:rPr>
              <a:t>Props Children</a:t>
            </a:r>
            <a:endParaRPr b="1" sz="4000">
              <a:solidFill>
                <a:schemeClr val="dk1"/>
              </a:solidFill>
              <a:latin typeface="DM Sans"/>
              <a:ea typeface="DM Sans"/>
              <a:cs typeface="DM Sans"/>
              <a:sym typeface="DM Sans"/>
            </a:endParaRPr>
          </a:p>
        </p:txBody>
      </p:sp>
      <p:sp>
        <p:nvSpPr>
          <p:cNvPr id="127" name="Google Shape;127;p32"/>
          <p:cNvSpPr txBox="1"/>
          <p:nvPr/>
        </p:nvSpPr>
        <p:spPr>
          <a:xfrm>
            <a:off x="457725" y="1754425"/>
            <a:ext cx="5824200" cy="22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350">
                <a:solidFill>
                  <a:schemeClr val="dk1"/>
                </a:solidFill>
                <a:latin typeface="DM Sans"/>
                <a:ea typeface="DM Sans"/>
                <a:cs typeface="DM Sans"/>
                <a:sym typeface="DM Sans"/>
              </a:rPr>
              <a:t>Children es </a:t>
            </a:r>
            <a:r>
              <a:rPr lang="es-419" sz="1350">
                <a:solidFill>
                  <a:schemeClr val="dk1"/>
                </a:solidFill>
                <a:latin typeface="DM Sans"/>
                <a:ea typeface="DM Sans"/>
                <a:cs typeface="DM Sans"/>
                <a:sym typeface="DM Sans"/>
              </a:rPr>
              <a:t>una </a:t>
            </a:r>
            <a:r>
              <a:rPr lang="es-419" sz="1350">
                <a:solidFill>
                  <a:schemeClr val="dk1"/>
                </a:solidFill>
                <a:latin typeface="DM Sans"/>
                <a:ea typeface="DM Sans"/>
                <a:cs typeface="DM Sans"/>
                <a:sym typeface="DM Sans"/>
              </a:rPr>
              <a:t>prop especial que tiene React para permitirnos componer elementos (React o HTML) dentro de otros componentes.</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0"/>
              </a:spcAft>
              <a:buNone/>
            </a:pPr>
            <a:r>
              <a:rPr lang="es-419" sz="1350">
                <a:solidFill>
                  <a:schemeClr val="dk1"/>
                </a:solidFill>
                <a:latin typeface="DM Sans"/>
                <a:ea typeface="DM Sans"/>
                <a:cs typeface="DM Sans"/>
                <a:sym typeface="DM Sans"/>
              </a:rPr>
              <a:t>Es ideal cuando:</a:t>
            </a:r>
            <a:endParaRPr b="1" sz="1350">
              <a:solidFill>
                <a:schemeClr val="dk1"/>
              </a:solidFill>
              <a:latin typeface="DM Sans"/>
              <a:ea typeface="DM Sans"/>
              <a:cs typeface="DM Sans"/>
              <a:sym typeface="DM Sans"/>
            </a:endParaRPr>
          </a:p>
          <a:p>
            <a:pPr indent="-314325" lvl="0" marL="457200" rtl="0" algn="l">
              <a:lnSpc>
                <a:spcPct val="115000"/>
              </a:lnSpc>
              <a:spcBef>
                <a:spcPts val="1000"/>
              </a:spcBef>
              <a:spcAft>
                <a:spcPts val="0"/>
              </a:spcAft>
              <a:buClr>
                <a:srgbClr val="EA90FF"/>
              </a:buClr>
              <a:buSzPts val="1350"/>
              <a:buFont typeface="DM Sans"/>
              <a:buChar char="✓"/>
            </a:pPr>
            <a:r>
              <a:rPr lang="es-419" sz="1350">
                <a:solidFill>
                  <a:schemeClr val="dk1"/>
                </a:solidFill>
                <a:latin typeface="DM Sans"/>
                <a:ea typeface="DM Sans"/>
                <a:cs typeface="DM Sans"/>
                <a:sym typeface="DM Sans"/>
              </a:rPr>
              <a:t>Necesitamos que un elemento quede dentro de otro, sin que sepan el uno del otro.</a:t>
            </a:r>
            <a:endParaRPr sz="1350">
              <a:solidFill>
                <a:schemeClr val="dk1"/>
              </a:solidFill>
              <a:latin typeface="DM Sans"/>
              <a:ea typeface="DM Sans"/>
              <a:cs typeface="DM Sans"/>
              <a:sym typeface="DM Sans"/>
            </a:endParaRPr>
          </a:p>
          <a:p>
            <a:pPr indent="-314325" lvl="0" marL="457200" rtl="0" algn="l">
              <a:lnSpc>
                <a:spcPct val="115000"/>
              </a:lnSpc>
              <a:spcBef>
                <a:spcPts val="1000"/>
              </a:spcBef>
              <a:spcAft>
                <a:spcPts val="0"/>
              </a:spcAft>
              <a:buClr>
                <a:srgbClr val="EA90FF"/>
              </a:buClr>
              <a:buSzPts val="1350"/>
              <a:buFont typeface="DM Sans"/>
              <a:buChar char="✓"/>
            </a:pPr>
            <a:r>
              <a:rPr lang="es-419" sz="1350">
                <a:solidFill>
                  <a:schemeClr val="dk1"/>
                </a:solidFill>
                <a:latin typeface="DM Sans"/>
                <a:ea typeface="DM Sans"/>
                <a:cs typeface="DM Sans"/>
                <a:sym typeface="DM Sans"/>
              </a:rPr>
              <a:t>Necesitamos implementar patrones más complejos.</a:t>
            </a:r>
            <a:endParaRPr sz="1350">
              <a:solidFill>
                <a:schemeClr val="dk1"/>
              </a:solidFill>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pic>
        <p:nvPicPr>
          <p:cNvPr id="128" name="Google Shape;128;p32"/>
          <p:cNvPicPr preferRelativeResize="0"/>
          <p:nvPr/>
        </p:nvPicPr>
        <p:blipFill>
          <a:blip r:embed="rId3">
            <a:alphaModFix/>
          </a:blip>
          <a:stretch>
            <a:fillRect/>
          </a:stretch>
        </p:blipFill>
        <p:spPr>
          <a:xfrm>
            <a:off x="6841150" y="1401175"/>
            <a:ext cx="2107100" cy="2107100"/>
          </a:xfrm>
          <a:prstGeom prst="rect">
            <a:avLst/>
          </a:prstGeom>
          <a:noFill/>
          <a:ln>
            <a:noFill/>
          </a:ln>
        </p:spPr>
      </p:pic>
      <p:sp>
        <p:nvSpPr>
          <p:cNvPr id="129" name="Google Shape;129;p32"/>
          <p:cNvSpPr txBox="1"/>
          <p:nvPr/>
        </p:nvSpPr>
        <p:spPr>
          <a:xfrm>
            <a:off x="457725" y="4366500"/>
            <a:ext cx="54876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https://github.com/julioavantt/teacher_coder_children.git</a:t>
            </a:r>
            <a:endParaRPr sz="1350">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3"/>
          <p:cNvSpPr txBox="1"/>
          <p:nvPr/>
        </p:nvSpPr>
        <p:spPr>
          <a:xfrm>
            <a:off x="457725" y="461450"/>
            <a:ext cx="5824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419" sz="4000">
                <a:solidFill>
                  <a:schemeClr val="dk1"/>
                </a:solidFill>
                <a:latin typeface="DM Sans"/>
                <a:ea typeface="DM Sans"/>
                <a:cs typeface="DM Sans"/>
                <a:sym typeface="DM Sans"/>
              </a:rPr>
              <a:t>Children</a:t>
            </a:r>
            <a:endParaRPr b="1" sz="4000">
              <a:solidFill>
                <a:schemeClr val="dk1"/>
              </a:solidFill>
              <a:latin typeface="DM Sans"/>
              <a:ea typeface="DM Sans"/>
              <a:cs typeface="DM Sans"/>
              <a:sym typeface="DM Sans"/>
            </a:endParaRPr>
          </a:p>
        </p:txBody>
      </p:sp>
      <p:pic>
        <p:nvPicPr>
          <p:cNvPr id="135" name="Google Shape;135;p33"/>
          <p:cNvPicPr preferRelativeResize="0"/>
          <p:nvPr/>
        </p:nvPicPr>
        <p:blipFill>
          <a:blip r:embed="rId3">
            <a:alphaModFix/>
          </a:blip>
          <a:stretch>
            <a:fillRect/>
          </a:stretch>
        </p:blipFill>
        <p:spPr>
          <a:xfrm>
            <a:off x="307354" y="1148475"/>
            <a:ext cx="4832175" cy="2846550"/>
          </a:xfrm>
          <a:prstGeom prst="rect">
            <a:avLst/>
          </a:prstGeom>
          <a:noFill/>
          <a:ln>
            <a:noFill/>
          </a:ln>
        </p:spPr>
      </p:pic>
      <p:pic>
        <p:nvPicPr>
          <p:cNvPr id="136" name="Google Shape;136;p33"/>
          <p:cNvPicPr preferRelativeResize="0"/>
          <p:nvPr/>
        </p:nvPicPr>
        <p:blipFill>
          <a:blip r:embed="rId4">
            <a:alphaModFix/>
          </a:blip>
          <a:stretch>
            <a:fillRect/>
          </a:stretch>
        </p:blipFill>
        <p:spPr>
          <a:xfrm>
            <a:off x="276427" y="3767297"/>
            <a:ext cx="6290200" cy="1200850"/>
          </a:xfrm>
          <a:prstGeom prst="rect">
            <a:avLst/>
          </a:prstGeom>
          <a:noFill/>
          <a:ln>
            <a:noFill/>
          </a:ln>
        </p:spPr>
      </p:pic>
      <p:sp>
        <p:nvSpPr>
          <p:cNvPr id="137" name="Google Shape;137;p33"/>
          <p:cNvSpPr txBox="1"/>
          <p:nvPr/>
        </p:nvSpPr>
        <p:spPr>
          <a:xfrm>
            <a:off x="6805025" y="751300"/>
            <a:ext cx="2181600" cy="353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350">
                <a:solidFill>
                  <a:schemeClr val="dk1"/>
                </a:solidFill>
                <a:latin typeface="DM Sans"/>
                <a:ea typeface="DM Sans"/>
                <a:cs typeface="DM Sans"/>
                <a:sym typeface="DM Sans"/>
              </a:rPr>
              <a:t>React inyecta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automáticamente </a:t>
            </a:r>
            <a:br>
              <a:rPr lang="es-419" sz="1350">
                <a:solidFill>
                  <a:schemeClr val="dk1"/>
                </a:solidFill>
                <a:latin typeface="DM Sans"/>
                <a:ea typeface="DM Sans"/>
                <a:cs typeface="DM Sans"/>
                <a:sym typeface="DM Sans"/>
              </a:rPr>
            </a:br>
            <a:r>
              <a:rPr b="1" lang="es-419" sz="1350">
                <a:solidFill>
                  <a:schemeClr val="dk1"/>
                </a:solidFill>
                <a:latin typeface="DM Sans"/>
                <a:ea typeface="DM Sans"/>
                <a:cs typeface="DM Sans"/>
                <a:sym typeface="DM Sans"/>
              </a:rPr>
              <a:t>children</a:t>
            </a:r>
            <a:r>
              <a:rPr lang="es-419" sz="1350">
                <a:solidFill>
                  <a:schemeClr val="dk1"/>
                </a:solidFill>
                <a:latin typeface="DM Sans"/>
                <a:ea typeface="DM Sans"/>
                <a:cs typeface="DM Sans"/>
                <a:sym typeface="DM Sans"/>
              </a:rPr>
              <a:t> en las props,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sólo si encuentra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alguno.</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0"/>
              </a:spcAft>
              <a:buNone/>
            </a:pPr>
            <a:r>
              <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0"/>
              </a:spcAft>
              <a:buNone/>
            </a:pPr>
            <a:r>
              <a:rPr lang="es-419" sz="1350">
                <a:solidFill>
                  <a:schemeClr val="dk1"/>
                </a:solidFill>
                <a:latin typeface="DM Sans"/>
                <a:ea typeface="DM Sans"/>
                <a:cs typeface="DM Sans"/>
                <a:sym typeface="DM Sans"/>
              </a:rPr>
              <a:t>Si hay un sólo elemento como children, lo inyecta como objeto. Si son más lo hace como array..</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0"/>
              </a:spcAft>
              <a:buNone/>
            </a:pPr>
            <a:r>
              <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1000"/>
              </a:spcAft>
              <a:buNone/>
            </a:pPr>
            <a:r>
              <a:t/>
            </a:r>
            <a:endParaRPr sz="135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4"/>
          <p:cNvSpPr txBox="1"/>
          <p:nvPr/>
        </p:nvSpPr>
        <p:spPr>
          <a:xfrm>
            <a:off x="473350" y="4671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useRef</a:t>
            </a:r>
            <a:endParaRPr b="1" i="0" sz="4000" u="none" cap="none" strike="noStrike">
              <a:solidFill>
                <a:schemeClr val="dk1"/>
              </a:solidFill>
              <a:latin typeface="DM Sans"/>
              <a:ea typeface="DM Sans"/>
              <a:cs typeface="DM Sans"/>
              <a:sym typeface="DM Sans"/>
            </a:endParaRPr>
          </a:p>
        </p:txBody>
      </p:sp>
      <p:sp>
        <p:nvSpPr>
          <p:cNvPr id="143" name="Google Shape;143;p34"/>
          <p:cNvSpPr txBox="1"/>
          <p:nvPr/>
        </p:nvSpPr>
        <p:spPr>
          <a:xfrm>
            <a:off x="473350" y="1183475"/>
            <a:ext cx="4050000" cy="168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50">
                <a:solidFill>
                  <a:schemeClr val="dk1"/>
                </a:solidFill>
                <a:latin typeface="DM Sans"/>
                <a:ea typeface="DM Sans"/>
                <a:cs typeface="DM Sans"/>
                <a:sym typeface="DM Sans"/>
              </a:rPr>
              <a:t>El hook useRef se utiliza para crear una referencia mutable.</a:t>
            </a:r>
            <a:endParaRPr sz="1350">
              <a:solidFill>
                <a:schemeClr val="dk1"/>
              </a:solidFill>
              <a:latin typeface="DM Sans"/>
              <a:ea typeface="DM Sans"/>
              <a:cs typeface="DM Sans"/>
              <a:sym typeface="DM Sans"/>
            </a:endParaRPr>
          </a:p>
          <a:p>
            <a:pPr indent="0" lvl="0" marL="0" rtl="0" algn="l">
              <a:spcBef>
                <a:spcPts val="1000"/>
              </a:spcBef>
              <a:spcAft>
                <a:spcPts val="0"/>
              </a:spcAft>
              <a:buNone/>
            </a:pPr>
            <a:r>
              <a:rPr lang="es-419" sz="1350">
                <a:solidFill>
                  <a:schemeClr val="dk1"/>
                </a:solidFill>
                <a:latin typeface="DM Sans"/>
                <a:ea typeface="DM Sans"/>
                <a:cs typeface="DM Sans"/>
                <a:sym typeface="DM Sans"/>
              </a:rPr>
              <a:t>Este hook retorna un objeto con una propiedad current la cual </a:t>
            </a:r>
            <a:r>
              <a:rPr lang="es-419" sz="1350">
                <a:solidFill>
                  <a:schemeClr val="dk1"/>
                </a:solidFill>
                <a:latin typeface="DM Sans"/>
                <a:ea typeface="DM Sans"/>
                <a:cs typeface="DM Sans"/>
                <a:sym typeface="DM Sans"/>
              </a:rPr>
              <a:t>apuntará</a:t>
            </a:r>
            <a:r>
              <a:rPr lang="es-419" sz="1350">
                <a:solidFill>
                  <a:schemeClr val="dk1"/>
                </a:solidFill>
                <a:latin typeface="DM Sans"/>
                <a:ea typeface="DM Sans"/>
                <a:cs typeface="DM Sans"/>
                <a:sym typeface="DM Sans"/>
              </a:rPr>
              <a:t> a un valor y podremos mutar.</a:t>
            </a:r>
            <a:endParaRPr sz="1350">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None/>
            </a:pPr>
            <a:r>
              <a:t/>
            </a:r>
            <a:endParaRPr sz="1350">
              <a:solidFill>
                <a:schemeClr val="dk1"/>
              </a:solidFill>
              <a:latin typeface="DM Sans"/>
              <a:ea typeface="DM Sans"/>
              <a:cs typeface="DM Sans"/>
              <a:sym typeface="DM Sans"/>
            </a:endParaRPr>
          </a:p>
        </p:txBody>
      </p:sp>
      <p:pic>
        <p:nvPicPr>
          <p:cNvPr id="144" name="Google Shape;144;p34"/>
          <p:cNvPicPr preferRelativeResize="0"/>
          <p:nvPr/>
        </p:nvPicPr>
        <p:blipFill>
          <a:blip r:embed="rId3">
            <a:alphaModFix/>
          </a:blip>
          <a:stretch>
            <a:fillRect/>
          </a:stretch>
        </p:blipFill>
        <p:spPr>
          <a:xfrm>
            <a:off x="4885775" y="1314725"/>
            <a:ext cx="4049999" cy="2460010"/>
          </a:xfrm>
          <a:prstGeom prst="rect">
            <a:avLst/>
          </a:prstGeom>
          <a:noFill/>
          <a:ln>
            <a:noFill/>
          </a:ln>
        </p:spPr>
      </p:pic>
      <p:sp>
        <p:nvSpPr>
          <p:cNvPr id="145" name="Google Shape;145;p34"/>
          <p:cNvSpPr txBox="1"/>
          <p:nvPr/>
        </p:nvSpPr>
        <p:spPr>
          <a:xfrm>
            <a:off x="473350" y="4532400"/>
            <a:ext cx="54876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https://github.com/julioavantt/teacher_coder_useref</a:t>
            </a:r>
            <a:endParaRPr sz="1350">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5"/>
          <p:cNvSpPr txBox="1"/>
          <p:nvPr/>
        </p:nvSpPr>
        <p:spPr>
          <a:xfrm>
            <a:off x="473350" y="924325"/>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419" sz="4000">
                <a:solidFill>
                  <a:schemeClr val="dk1"/>
                </a:solidFill>
                <a:latin typeface="DM Sans"/>
                <a:ea typeface="DM Sans"/>
                <a:cs typeface="DM Sans"/>
                <a:sym typeface="DM Sans"/>
              </a:rPr>
              <a:t>useRef</a:t>
            </a:r>
            <a:endParaRPr b="1" i="0" sz="4000" u="none" cap="none" strike="noStrike">
              <a:solidFill>
                <a:schemeClr val="dk1"/>
              </a:solidFill>
              <a:latin typeface="DM Sans"/>
              <a:ea typeface="DM Sans"/>
              <a:cs typeface="DM Sans"/>
              <a:sym typeface="DM Sans"/>
            </a:endParaRPr>
          </a:p>
        </p:txBody>
      </p:sp>
      <p:sp>
        <p:nvSpPr>
          <p:cNvPr id="151" name="Google Shape;151;p35"/>
          <p:cNvSpPr txBox="1"/>
          <p:nvPr/>
        </p:nvSpPr>
        <p:spPr>
          <a:xfrm>
            <a:off x="473350" y="1829238"/>
            <a:ext cx="3834600" cy="12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419" sz="1350">
                <a:solidFill>
                  <a:schemeClr val="dk1"/>
                </a:solidFill>
                <a:latin typeface="DM Sans"/>
                <a:ea typeface="DM Sans"/>
                <a:cs typeface="DM Sans"/>
                <a:sym typeface="DM Sans"/>
              </a:rPr>
              <a:t>useRef puede ser utilizado para mantener valores persistentes en el componente, lo que puede ser útil para realizar cálculos o para almacenar datos temporales que no deben ser expuestos al estado del componente.</a:t>
            </a:r>
            <a:endParaRPr sz="1350">
              <a:solidFill>
                <a:schemeClr val="dk1"/>
              </a:solidFill>
              <a:latin typeface="DM Sans"/>
              <a:ea typeface="DM Sans"/>
              <a:cs typeface="DM Sans"/>
              <a:sym typeface="DM Sans"/>
            </a:endParaRPr>
          </a:p>
        </p:txBody>
      </p:sp>
      <p:pic>
        <p:nvPicPr>
          <p:cNvPr id="152" name="Google Shape;152;p35"/>
          <p:cNvPicPr preferRelativeResize="0"/>
          <p:nvPr/>
        </p:nvPicPr>
        <p:blipFill>
          <a:blip r:embed="rId3">
            <a:alphaModFix/>
          </a:blip>
          <a:stretch>
            <a:fillRect/>
          </a:stretch>
        </p:blipFill>
        <p:spPr>
          <a:xfrm>
            <a:off x="4681600" y="1358425"/>
            <a:ext cx="4120025" cy="1881375"/>
          </a:xfrm>
          <a:prstGeom prst="rect">
            <a:avLst/>
          </a:prstGeom>
          <a:noFill/>
          <a:ln>
            <a:noFill/>
          </a:ln>
        </p:spPr>
      </p:pic>
      <p:pic>
        <p:nvPicPr>
          <p:cNvPr id="153" name="Google Shape;153;p35"/>
          <p:cNvPicPr preferRelativeResize="0"/>
          <p:nvPr/>
        </p:nvPicPr>
        <p:blipFill>
          <a:blip r:embed="rId4">
            <a:alphaModFix/>
          </a:blip>
          <a:stretch>
            <a:fillRect/>
          </a:stretch>
        </p:blipFill>
        <p:spPr>
          <a:xfrm>
            <a:off x="4681600" y="3239800"/>
            <a:ext cx="4120024" cy="1307775"/>
          </a:xfrm>
          <a:prstGeom prst="rect">
            <a:avLst/>
          </a:prstGeom>
          <a:noFill/>
          <a:ln>
            <a:noFill/>
          </a:ln>
        </p:spPr>
      </p:pic>
      <p:sp>
        <p:nvSpPr>
          <p:cNvPr id="154" name="Google Shape;154;p35"/>
          <p:cNvSpPr txBox="1"/>
          <p:nvPr/>
        </p:nvSpPr>
        <p:spPr>
          <a:xfrm>
            <a:off x="8733600" y="121800"/>
            <a:ext cx="410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t>55</a:t>
            </a:r>
            <a:endParaRPr sz="1000"/>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6"/>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419" sz="4000">
                <a:solidFill>
                  <a:schemeClr val="dk1"/>
                </a:solidFill>
                <a:latin typeface="DM Sans"/>
                <a:ea typeface="DM Sans"/>
                <a:cs typeface="DM Sans"/>
                <a:sym typeface="DM Sans"/>
              </a:rPr>
              <a:t>Render y efectos</a:t>
            </a:r>
            <a:endParaRPr b="1" i="0" sz="4000" u="none" cap="none" strike="noStrike">
              <a:solidFill>
                <a:schemeClr val="dk1"/>
              </a:solidFill>
              <a:latin typeface="DM Sans"/>
              <a:ea typeface="DM Sans"/>
              <a:cs typeface="DM Sans"/>
              <a:sym typeface="DM Sans"/>
            </a:endParaRPr>
          </a:p>
        </p:txBody>
      </p:sp>
      <p:sp>
        <p:nvSpPr>
          <p:cNvPr id="160" name="Google Shape;160;p36"/>
          <p:cNvSpPr txBox="1"/>
          <p:nvPr/>
        </p:nvSpPr>
        <p:spPr>
          <a:xfrm>
            <a:off x="473350" y="1450975"/>
            <a:ext cx="3834600" cy="293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419" sz="1350">
                <a:solidFill>
                  <a:schemeClr val="dk1"/>
                </a:solidFill>
                <a:latin typeface="DM Sans"/>
                <a:ea typeface="DM Sans"/>
                <a:cs typeface="DM Sans"/>
                <a:sym typeface="DM Sans"/>
              </a:rPr>
              <a:t>El funcionamiento de React está estrechamente ligado al cambio de estados en componentes.</a:t>
            </a:r>
            <a:endParaRPr sz="1350">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None/>
            </a:pPr>
            <a:r>
              <a:rPr lang="es-419" sz="1350">
                <a:solidFill>
                  <a:schemeClr val="dk1"/>
                </a:solidFill>
                <a:latin typeface="DM Sans"/>
                <a:ea typeface="DM Sans"/>
                <a:cs typeface="DM Sans"/>
                <a:sym typeface="DM Sans"/>
              </a:rPr>
              <a:t>Cuando se produce un cambio de estado local, React ejecuta un nuevo proceso de renderizado para ese componente y, de manera recursiva, para todos sus componentes hijos.</a:t>
            </a:r>
            <a:endParaRPr sz="1350">
              <a:solidFill>
                <a:schemeClr val="dk1"/>
              </a:solidFill>
              <a:latin typeface="DM Sans"/>
              <a:ea typeface="DM Sans"/>
              <a:cs typeface="DM Sans"/>
              <a:sym typeface="DM Sans"/>
            </a:endParaRPr>
          </a:p>
          <a:p>
            <a:pPr indent="0" lvl="0" marL="0" marR="0" rtl="0" algn="l">
              <a:lnSpc>
                <a:spcPct val="100000"/>
              </a:lnSpc>
              <a:spcBef>
                <a:spcPts val="1000"/>
              </a:spcBef>
              <a:spcAft>
                <a:spcPts val="1000"/>
              </a:spcAft>
              <a:buNone/>
            </a:pPr>
            <a:r>
              <a:rPr lang="es-419" sz="1350">
                <a:solidFill>
                  <a:schemeClr val="dk1"/>
                </a:solidFill>
                <a:latin typeface="DM Sans"/>
                <a:ea typeface="DM Sans"/>
                <a:cs typeface="DM Sans"/>
                <a:sym typeface="DM Sans"/>
              </a:rPr>
              <a:t>Durante este proceso React ejecuta de nuevo las funciones de los componentes para generar el nuevo árbol de elementos de la interfaz de usuario.</a:t>
            </a:r>
            <a:endParaRPr sz="1350">
              <a:solidFill>
                <a:schemeClr val="dk1"/>
              </a:solidFill>
              <a:latin typeface="DM Sans"/>
              <a:ea typeface="DM Sans"/>
              <a:cs typeface="DM Sans"/>
              <a:sym typeface="DM Sans"/>
            </a:endParaRPr>
          </a:p>
        </p:txBody>
      </p:sp>
      <p:pic>
        <p:nvPicPr>
          <p:cNvPr id="161" name="Google Shape;161;p36"/>
          <p:cNvPicPr preferRelativeResize="0"/>
          <p:nvPr/>
        </p:nvPicPr>
        <p:blipFill>
          <a:blip r:embed="rId3">
            <a:alphaModFix/>
          </a:blip>
          <a:stretch>
            <a:fillRect/>
          </a:stretch>
        </p:blipFill>
        <p:spPr>
          <a:xfrm>
            <a:off x="4665750" y="1864025"/>
            <a:ext cx="4097750" cy="2094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7"/>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419" sz="4000">
                <a:solidFill>
                  <a:schemeClr val="dk1"/>
                </a:solidFill>
                <a:latin typeface="DM Sans"/>
                <a:ea typeface="DM Sans"/>
                <a:cs typeface="DM Sans"/>
                <a:sym typeface="DM Sans"/>
              </a:rPr>
              <a:t>Render y efectos</a:t>
            </a:r>
            <a:endParaRPr b="1" i="0" sz="4000" u="none" cap="none" strike="noStrike">
              <a:solidFill>
                <a:schemeClr val="dk1"/>
              </a:solidFill>
              <a:latin typeface="DM Sans"/>
              <a:ea typeface="DM Sans"/>
              <a:cs typeface="DM Sans"/>
              <a:sym typeface="DM Sans"/>
            </a:endParaRPr>
          </a:p>
        </p:txBody>
      </p:sp>
      <p:sp>
        <p:nvSpPr>
          <p:cNvPr id="167" name="Google Shape;167;p37"/>
          <p:cNvSpPr txBox="1"/>
          <p:nvPr/>
        </p:nvSpPr>
        <p:spPr>
          <a:xfrm>
            <a:off x="502273" y="1468300"/>
            <a:ext cx="4134900" cy="231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s-419" sz="1350">
                <a:solidFill>
                  <a:schemeClr val="dk1"/>
                </a:solidFill>
                <a:latin typeface="DM Sans"/>
                <a:ea typeface="DM Sans"/>
                <a:cs typeface="DM Sans"/>
                <a:sym typeface="DM Sans"/>
              </a:rPr>
              <a:t>Dentro de los componentes</a:t>
            </a:r>
            <a:r>
              <a:rPr lang="es-419" sz="1350">
                <a:solidFill>
                  <a:schemeClr val="dk1"/>
                </a:solidFill>
                <a:latin typeface="DM Sans"/>
                <a:ea typeface="DM Sans"/>
                <a:cs typeface="DM Sans"/>
                <a:sym typeface="DM Sans"/>
              </a:rPr>
              <a:t> podemos tener funciones para realizar </a:t>
            </a:r>
            <a:r>
              <a:rPr b="1" lang="es-419" sz="1350">
                <a:solidFill>
                  <a:schemeClr val="dk1"/>
                </a:solidFill>
                <a:latin typeface="DM Sans"/>
                <a:ea typeface="DM Sans"/>
                <a:cs typeface="DM Sans"/>
                <a:sym typeface="DM Sans"/>
              </a:rPr>
              <a:t>diferentes tareas</a:t>
            </a:r>
            <a:r>
              <a:rPr lang="es-419" sz="1350">
                <a:solidFill>
                  <a:schemeClr val="dk1"/>
                </a:solidFill>
                <a:latin typeface="DM Sans"/>
                <a:ea typeface="DM Sans"/>
                <a:cs typeface="DM Sans"/>
                <a:sym typeface="DM Sans"/>
              </a:rPr>
              <a:t>, como, por ejemplo, una llamada a una api para obtener datos.</a:t>
            </a:r>
            <a:endParaRPr sz="1350">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None/>
            </a:pPr>
            <a:r>
              <a:rPr lang="es-419" sz="1350">
                <a:solidFill>
                  <a:schemeClr val="dk1"/>
                </a:solidFill>
                <a:latin typeface="DM Sans"/>
                <a:ea typeface="DM Sans"/>
                <a:cs typeface="DM Sans"/>
                <a:sym typeface="DM Sans"/>
              </a:rPr>
              <a:t>Si en cada render se ejecuta esta llamada a la API, quiere decir que </a:t>
            </a:r>
            <a:r>
              <a:rPr b="1" lang="es-419" sz="1350">
                <a:solidFill>
                  <a:schemeClr val="dk1"/>
                </a:solidFill>
                <a:latin typeface="DM Sans"/>
                <a:ea typeface="DM Sans"/>
                <a:cs typeface="DM Sans"/>
                <a:sym typeface="DM Sans"/>
              </a:rPr>
              <a:t>un cambio de estado está provocando efectos secundarios</a:t>
            </a:r>
            <a:r>
              <a:rPr lang="es-419" sz="1350">
                <a:solidFill>
                  <a:schemeClr val="dk1"/>
                </a:solidFill>
                <a:latin typeface="DM Sans"/>
                <a:ea typeface="DM Sans"/>
                <a:cs typeface="DM Sans"/>
                <a:sym typeface="DM Sans"/>
              </a:rPr>
              <a:t> y no controlarlos puede traernos problemas.</a:t>
            </a:r>
            <a:endParaRPr sz="1350">
              <a:solidFill>
                <a:schemeClr val="dk1"/>
              </a:solidFill>
              <a:latin typeface="DM Sans"/>
              <a:ea typeface="DM Sans"/>
              <a:cs typeface="DM Sans"/>
              <a:sym typeface="DM Sans"/>
            </a:endParaRPr>
          </a:p>
          <a:p>
            <a:pPr indent="0" lvl="0" marL="0" marR="0" rtl="0" algn="l">
              <a:lnSpc>
                <a:spcPct val="100000"/>
              </a:lnSpc>
              <a:spcBef>
                <a:spcPts val="1000"/>
              </a:spcBef>
              <a:spcAft>
                <a:spcPts val="1000"/>
              </a:spcAft>
              <a:buNone/>
            </a:pPr>
            <a:r>
              <a:rPr lang="es-419" sz="1350">
                <a:solidFill>
                  <a:schemeClr val="dk1"/>
                </a:solidFill>
                <a:latin typeface="DM Sans"/>
                <a:ea typeface="DM Sans"/>
                <a:cs typeface="DM Sans"/>
                <a:sym typeface="DM Sans"/>
              </a:rPr>
              <a:t>Entonces, ¿cómo los controlamos?</a:t>
            </a:r>
            <a:endParaRPr b="1" sz="1350">
              <a:solidFill>
                <a:schemeClr val="dk1"/>
              </a:solidFill>
              <a:latin typeface="DM Sans"/>
              <a:ea typeface="DM Sans"/>
              <a:cs typeface="DM Sans"/>
              <a:sym typeface="DM Sans"/>
            </a:endParaRPr>
          </a:p>
        </p:txBody>
      </p:sp>
      <p:pic>
        <p:nvPicPr>
          <p:cNvPr id="168" name="Google Shape;168;p37"/>
          <p:cNvPicPr preferRelativeResize="0"/>
          <p:nvPr/>
        </p:nvPicPr>
        <p:blipFill>
          <a:blip r:embed="rId3">
            <a:alphaModFix/>
          </a:blip>
          <a:stretch>
            <a:fillRect/>
          </a:stretch>
        </p:blipFill>
        <p:spPr>
          <a:xfrm>
            <a:off x="5271475" y="1392600"/>
            <a:ext cx="3328526" cy="2205150"/>
          </a:xfrm>
          <a:prstGeom prst="rect">
            <a:avLst/>
          </a:prstGeom>
          <a:noFill/>
          <a:ln>
            <a:noFill/>
          </a:ln>
        </p:spPr>
      </p:pic>
      <p:sp>
        <p:nvSpPr>
          <p:cNvPr id="169" name="Google Shape;169;p37"/>
          <p:cNvSpPr txBox="1"/>
          <p:nvPr/>
        </p:nvSpPr>
        <p:spPr>
          <a:xfrm>
            <a:off x="4572000" y="3611875"/>
            <a:ext cx="4238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latin typeface="DM Sans"/>
                <a:ea typeface="DM Sans"/>
                <a:cs typeface="DM Sans"/>
                <a:sym typeface="DM Sans"/>
              </a:rPr>
              <a:t>*Trabajaremos con promesas y APIs en las próximas clases</a:t>
            </a:r>
            <a:endParaRPr b="1" sz="1100">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8"/>
          <p:cNvSpPr txBox="1"/>
          <p:nvPr/>
        </p:nvSpPr>
        <p:spPr>
          <a:xfrm>
            <a:off x="494226" y="308881"/>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Efectos secundarios</a:t>
            </a:r>
            <a:endParaRPr b="1" i="0" sz="4000" u="none" cap="none" strike="noStrike">
              <a:solidFill>
                <a:schemeClr val="dk1"/>
              </a:solidFill>
              <a:latin typeface="DM Sans"/>
              <a:ea typeface="DM Sans"/>
              <a:cs typeface="DM Sans"/>
              <a:sym typeface="DM Sans"/>
            </a:endParaRPr>
          </a:p>
        </p:txBody>
      </p:sp>
      <p:pic>
        <p:nvPicPr>
          <p:cNvPr id="175" name="Google Shape;175;p38"/>
          <p:cNvPicPr preferRelativeResize="0"/>
          <p:nvPr/>
        </p:nvPicPr>
        <p:blipFill>
          <a:blip r:embed="rId3">
            <a:alphaModFix/>
          </a:blip>
          <a:stretch>
            <a:fillRect/>
          </a:stretch>
        </p:blipFill>
        <p:spPr>
          <a:xfrm>
            <a:off x="600275" y="1195225"/>
            <a:ext cx="5573751" cy="3095601"/>
          </a:xfrm>
          <a:prstGeom prst="rect">
            <a:avLst/>
          </a:prstGeom>
          <a:noFill/>
          <a:ln>
            <a:noFill/>
          </a:ln>
        </p:spPr>
      </p:pic>
      <p:sp>
        <p:nvSpPr>
          <p:cNvPr id="176" name="Google Shape;176;p38"/>
          <p:cNvSpPr txBox="1"/>
          <p:nvPr/>
        </p:nvSpPr>
        <p:spPr>
          <a:xfrm>
            <a:off x="494225" y="4572950"/>
            <a:ext cx="54876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https://github.com/julioavantt/teacher_side_effects</a:t>
            </a:r>
            <a:endParaRPr sz="135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useEffect</a:t>
            </a:r>
            <a:endParaRPr b="1" i="0" sz="4000" u="none" cap="none" strike="noStrike">
              <a:solidFill>
                <a:schemeClr val="dk1"/>
              </a:solidFill>
              <a:latin typeface="DM Sans"/>
              <a:ea typeface="DM Sans"/>
              <a:cs typeface="DM Sans"/>
              <a:sym typeface="DM Sans"/>
            </a:endParaRPr>
          </a:p>
        </p:txBody>
      </p:sp>
      <p:sp>
        <p:nvSpPr>
          <p:cNvPr id="182" name="Google Shape;182;p39"/>
          <p:cNvSpPr txBox="1"/>
          <p:nvPr/>
        </p:nvSpPr>
        <p:spPr>
          <a:xfrm>
            <a:off x="473350" y="1269675"/>
            <a:ext cx="4412700" cy="340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419" sz="1250">
                <a:solidFill>
                  <a:schemeClr val="dk1"/>
                </a:solidFill>
                <a:latin typeface="DM Sans"/>
                <a:ea typeface="DM Sans"/>
                <a:cs typeface="DM Sans"/>
                <a:sym typeface="DM Sans"/>
              </a:rPr>
              <a:t>useEffect nos permite controlar efectos secundarios provocados por cambios de estados. Es utilizado normalmente para sincronizar un componente con un sistema externo.</a:t>
            </a:r>
            <a:endParaRPr sz="1250">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None/>
            </a:pPr>
            <a:r>
              <a:rPr lang="es-419" sz="1250">
                <a:solidFill>
                  <a:schemeClr val="dk1"/>
                </a:solidFill>
                <a:latin typeface="DM Sans"/>
                <a:ea typeface="DM Sans"/>
                <a:cs typeface="DM Sans"/>
                <a:sym typeface="DM Sans"/>
              </a:rPr>
              <a:t>Este hook recibe dos argumentos: </a:t>
            </a:r>
            <a:endParaRPr sz="1250">
              <a:solidFill>
                <a:schemeClr val="dk1"/>
              </a:solidFill>
              <a:latin typeface="DM Sans"/>
              <a:ea typeface="DM Sans"/>
              <a:cs typeface="DM Sans"/>
              <a:sym typeface="DM Sans"/>
            </a:endParaRPr>
          </a:p>
          <a:p>
            <a:pPr indent="-307975" lvl="0" marL="457200" rtl="0" algn="l">
              <a:spcBef>
                <a:spcPts val="1000"/>
              </a:spcBef>
              <a:spcAft>
                <a:spcPts val="0"/>
              </a:spcAft>
              <a:buClr>
                <a:srgbClr val="EAFF6A"/>
              </a:buClr>
              <a:buSzPts val="1250"/>
              <a:buFont typeface="DM Sans"/>
              <a:buChar char="●"/>
            </a:pPr>
            <a:r>
              <a:rPr lang="es-419" sz="1250">
                <a:solidFill>
                  <a:schemeClr val="dk1"/>
                </a:solidFill>
                <a:latin typeface="DM Sans"/>
                <a:ea typeface="DM Sans"/>
                <a:cs typeface="DM Sans"/>
                <a:sym typeface="DM Sans"/>
              </a:rPr>
              <a:t>El primero es una </a:t>
            </a:r>
            <a:r>
              <a:rPr b="1" lang="es-419" sz="1250">
                <a:solidFill>
                  <a:schemeClr val="dk1"/>
                </a:solidFill>
                <a:latin typeface="DM Sans"/>
                <a:ea typeface="DM Sans"/>
                <a:cs typeface="DM Sans"/>
                <a:sym typeface="DM Sans"/>
              </a:rPr>
              <a:t>función de callback</a:t>
            </a:r>
            <a:r>
              <a:rPr lang="es-419" sz="1250">
                <a:solidFill>
                  <a:schemeClr val="dk1"/>
                </a:solidFill>
                <a:latin typeface="DM Sans"/>
                <a:ea typeface="DM Sans"/>
                <a:cs typeface="DM Sans"/>
                <a:sym typeface="DM Sans"/>
              </a:rPr>
              <a:t> con acciones a ejecutar (aquí se ejecuta el efecto secundario).</a:t>
            </a:r>
            <a:endParaRPr sz="1250">
              <a:solidFill>
                <a:schemeClr val="dk1"/>
              </a:solidFill>
              <a:latin typeface="DM Sans"/>
              <a:ea typeface="DM Sans"/>
              <a:cs typeface="DM Sans"/>
              <a:sym typeface="DM Sans"/>
            </a:endParaRPr>
          </a:p>
          <a:p>
            <a:pPr indent="-307975" lvl="0" marL="457200" rtl="0" algn="l">
              <a:spcBef>
                <a:spcPts val="1000"/>
              </a:spcBef>
              <a:spcAft>
                <a:spcPts val="0"/>
              </a:spcAft>
              <a:buClr>
                <a:srgbClr val="EAFF6A"/>
              </a:buClr>
              <a:buSzPts val="1250"/>
              <a:buFont typeface="DM Sans"/>
              <a:buChar char="●"/>
            </a:pPr>
            <a:r>
              <a:rPr lang="es-419" sz="1250">
                <a:solidFill>
                  <a:schemeClr val="dk1"/>
                </a:solidFill>
                <a:latin typeface="DM Sans"/>
                <a:ea typeface="DM Sans"/>
                <a:cs typeface="DM Sans"/>
                <a:sym typeface="DM Sans"/>
              </a:rPr>
              <a:t>El segundo es un </a:t>
            </a:r>
            <a:r>
              <a:rPr b="1" lang="es-419" sz="1250">
                <a:solidFill>
                  <a:schemeClr val="dk1"/>
                </a:solidFill>
                <a:latin typeface="DM Sans"/>
                <a:ea typeface="DM Sans"/>
                <a:cs typeface="DM Sans"/>
                <a:sym typeface="DM Sans"/>
              </a:rPr>
              <a:t>array de dependencias</a:t>
            </a:r>
            <a:r>
              <a:rPr lang="es-419" sz="1250">
                <a:solidFill>
                  <a:schemeClr val="dk1"/>
                </a:solidFill>
                <a:latin typeface="DM Sans"/>
                <a:ea typeface="DM Sans"/>
                <a:cs typeface="DM Sans"/>
                <a:sym typeface="DM Sans"/>
              </a:rPr>
              <a:t>, donde se indicará qué estados (pueden venir por props) deben cambiar para que se vuelva a ejecutar la función del primer argumento. Este argumento es opcional.</a:t>
            </a:r>
            <a:endParaRPr sz="1250">
              <a:solidFill>
                <a:schemeClr val="dk1"/>
              </a:solidFill>
              <a:latin typeface="DM Sans"/>
              <a:ea typeface="DM Sans"/>
              <a:cs typeface="DM Sans"/>
              <a:sym typeface="DM Sans"/>
            </a:endParaRPr>
          </a:p>
          <a:p>
            <a:pPr indent="0" lvl="0" marL="0" marR="0" rtl="0" algn="l">
              <a:lnSpc>
                <a:spcPct val="100000"/>
              </a:lnSpc>
              <a:spcBef>
                <a:spcPts val="1000"/>
              </a:spcBef>
              <a:spcAft>
                <a:spcPts val="0"/>
              </a:spcAft>
              <a:buNone/>
            </a:pPr>
            <a:r>
              <a:t/>
            </a:r>
            <a:endParaRPr sz="1350">
              <a:solidFill>
                <a:schemeClr val="dk1"/>
              </a:solidFill>
              <a:latin typeface="DM Sans"/>
              <a:ea typeface="DM Sans"/>
              <a:cs typeface="DM Sans"/>
              <a:sym typeface="DM Sans"/>
            </a:endParaRPr>
          </a:p>
        </p:txBody>
      </p:sp>
      <p:pic>
        <p:nvPicPr>
          <p:cNvPr id="183" name="Google Shape;183;p39"/>
          <p:cNvPicPr preferRelativeResize="0"/>
          <p:nvPr/>
        </p:nvPicPr>
        <p:blipFill>
          <a:blip r:embed="rId3">
            <a:alphaModFix/>
          </a:blip>
          <a:stretch>
            <a:fillRect/>
          </a:stretch>
        </p:blipFill>
        <p:spPr>
          <a:xfrm>
            <a:off x="5266675" y="1587900"/>
            <a:ext cx="3401348" cy="1785724"/>
          </a:xfrm>
          <a:prstGeom prst="rect">
            <a:avLst/>
          </a:prstGeom>
          <a:noFill/>
          <a:ln>
            <a:noFill/>
          </a:ln>
        </p:spPr>
      </p:pic>
      <p:sp>
        <p:nvSpPr>
          <p:cNvPr id="184" name="Google Shape;184;p39"/>
          <p:cNvSpPr txBox="1"/>
          <p:nvPr/>
        </p:nvSpPr>
        <p:spPr>
          <a:xfrm>
            <a:off x="457725" y="4576375"/>
            <a:ext cx="54876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https://github.com/julioavantt/teacher_coder_useeffect.git</a:t>
            </a:r>
            <a:endParaRPr sz="135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0"/>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useEffect: Sincronización</a:t>
            </a:r>
            <a:endParaRPr b="1" i="0" sz="4000" u="none" cap="none" strike="noStrike">
              <a:solidFill>
                <a:schemeClr val="dk1"/>
              </a:solidFill>
              <a:latin typeface="DM Sans"/>
              <a:ea typeface="DM Sans"/>
              <a:cs typeface="DM Sans"/>
              <a:sym typeface="DM Sans"/>
            </a:endParaRPr>
          </a:p>
        </p:txBody>
      </p:sp>
      <p:sp>
        <p:nvSpPr>
          <p:cNvPr id="190" name="Google Shape;190;p40"/>
          <p:cNvSpPr txBox="1"/>
          <p:nvPr/>
        </p:nvSpPr>
        <p:spPr>
          <a:xfrm>
            <a:off x="473350" y="1450975"/>
            <a:ext cx="45381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419" sz="1350">
                <a:solidFill>
                  <a:schemeClr val="dk1"/>
                </a:solidFill>
                <a:highlight>
                  <a:srgbClr val="FFFFFF"/>
                </a:highlight>
                <a:latin typeface="DM Sans"/>
                <a:ea typeface="DM Sans"/>
                <a:cs typeface="DM Sans"/>
                <a:sym typeface="DM Sans"/>
              </a:rPr>
              <a:t>Para completar este array de dependencias la pregunta que debo hacerme es:</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br>
              <a:rPr lang="es-419" sz="1350">
                <a:solidFill>
                  <a:schemeClr val="dk1"/>
                </a:solidFill>
                <a:highlight>
                  <a:srgbClr val="FFFFFF"/>
                </a:highlight>
                <a:latin typeface="DM Sans"/>
                <a:ea typeface="DM Sans"/>
                <a:cs typeface="DM Sans"/>
                <a:sym typeface="DM Sans"/>
              </a:rPr>
            </a:br>
            <a:r>
              <a:rPr b="1" lang="es-419" sz="1350">
                <a:solidFill>
                  <a:schemeClr val="dk1"/>
                </a:solidFill>
                <a:highlight>
                  <a:srgbClr val="EAFF6A"/>
                </a:highlight>
                <a:latin typeface="DM Sans"/>
                <a:ea typeface="DM Sans"/>
                <a:cs typeface="DM Sans"/>
                <a:sym typeface="DM Sans"/>
              </a:rPr>
              <a:t>¿Con que estados debo sincronizar este efecto?</a:t>
            </a:r>
            <a:endParaRPr b="1" sz="1350">
              <a:solidFill>
                <a:schemeClr val="dk1"/>
              </a:solidFill>
              <a:highlight>
                <a:srgbClr val="EAFF6A"/>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419" sz="1350">
                <a:solidFill>
                  <a:schemeClr val="dk1"/>
                </a:solidFill>
                <a:highlight>
                  <a:srgbClr val="FFFFFF"/>
                </a:highlight>
                <a:latin typeface="DM Sans"/>
                <a:ea typeface="DM Sans"/>
                <a:cs typeface="DM Sans"/>
                <a:sym typeface="DM Sans"/>
              </a:rPr>
              <a:t>useEffect(fn) // Con todos los estados</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419" sz="1350">
                <a:solidFill>
                  <a:schemeClr val="dk1"/>
                </a:solidFill>
                <a:highlight>
                  <a:srgbClr val="FFFFFF"/>
                </a:highlight>
                <a:latin typeface="DM Sans"/>
                <a:ea typeface="DM Sans"/>
                <a:cs typeface="DM Sans"/>
                <a:sym typeface="DM Sans"/>
              </a:rPr>
              <a:t>useEffect(fn, []) // Con ningún estado</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419" sz="1350">
                <a:solidFill>
                  <a:schemeClr val="dk1"/>
                </a:solidFill>
                <a:highlight>
                  <a:srgbClr val="FFFFFF"/>
                </a:highlight>
                <a:latin typeface="DM Sans"/>
                <a:ea typeface="DM Sans"/>
                <a:cs typeface="DM Sans"/>
                <a:sym typeface="DM Sans"/>
              </a:rPr>
              <a:t>useEffect(fn, [estadoA])</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419" sz="1350">
                <a:solidFill>
                  <a:schemeClr val="dk1"/>
                </a:solidFill>
                <a:highlight>
                  <a:schemeClr val="lt1"/>
                </a:highlight>
                <a:latin typeface="DM Sans"/>
                <a:ea typeface="DM Sans"/>
                <a:cs typeface="DM Sans"/>
                <a:sym typeface="DM Sans"/>
              </a:rPr>
              <a:t>Hay que tener en cuenta que useEffect se ejecuta siempre después del renderizado y por lo menos una vez al montar el componente.</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solidFill>
                <a:schemeClr val="dk1"/>
              </a:solidFill>
              <a:highlight>
                <a:srgbClr val="FFFFFF"/>
              </a:highlight>
              <a:latin typeface="DM Sans"/>
              <a:ea typeface="DM Sans"/>
              <a:cs typeface="DM Sans"/>
              <a:sym typeface="DM Sans"/>
            </a:endParaRPr>
          </a:p>
          <a:p>
            <a:pPr indent="0" lvl="0" marL="0" marR="0" rtl="0" algn="l">
              <a:lnSpc>
                <a:spcPct val="100000"/>
              </a:lnSpc>
              <a:spcBef>
                <a:spcPts val="0"/>
              </a:spcBef>
              <a:spcAft>
                <a:spcPts val="0"/>
              </a:spcAft>
              <a:buNone/>
            </a:pPr>
            <a:r>
              <a:t/>
            </a:r>
            <a:endParaRPr sz="1350">
              <a:solidFill>
                <a:schemeClr val="dk1"/>
              </a:solidFill>
              <a:latin typeface="DM Sans"/>
              <a:ea typeface="DM Sans"/>
              <a:cs typeface="DM Sans"/>
              <a:sym typeface="DM Sans"/>
            </a:endParaRPr>
          </a:p>
        </p:txBody>
      </p:sp>
      <p:pic>
        <p:nvPicPr>
          <p:cNvPr id="191" name="Google Shape;191;p40"/>
          <p:cNvPicPr preferRelativeResize="0"/>
          <p:nvPr/>
        </p:nvPicPr>
        <p:blipFill>
          <a:blip r:embed="rId3">
            <a:alphaModFix/>
          </a:blip>
          <a:stretch>
            <a:fillRect/>
          </a:stretch>
        </p:blipFill>
        <p:spPr>
          <a:xfrm>
            <a:off x="5043475" y="1573775"/>
            <a:ext cx="3766801" cy="27304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1"/>
          <p:cNvSpPr txBox="1"/>
          <p:nvPr/>
        </p:nvSpPr>
        <p:spPr>
          <a:xfrm>
            <a:off x="487002" y="5039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useEffect: clean up</a:t>
            </a:r>
            <a:endParaRPr b="1" i="0" sz="4000" u="none" cap="none" strike="noStrike">
              <a:solidFill>
                <a:schemeClr val="dk1"/>
              </a:solidFill>
              <a:latin typeface="DM Sans"/>
              <a:ea typeface="DM Sans"/>
              <a:cs typeface="DM Sans"/>
              <a:sym typeface="DM Sans"/>
            </a:endParaRPr>
          </a:p>
        </p:txBody>
      </p:sp>
      <p:sp>
        <p:nvSpPr>
          <p:cNvPr id="197" name="Google Shape;197;p41"/>
          <p:cNvSpPr txBox="1"/>
          <p:nvPr/>
        </p:nvSpPr>
        <p:spPr>
          <a:xfrm>
            <a:off x="473350" y="1450975"/>
            <a:ext cx="38346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50">
                <a:solidFill>
                  <a:schemeClr val="dk1"/>
                </a:solidFill>
                <a:highlight>
                  <a:srgbClr val="FFFFFF"/>
                </a:highlight>
                <a:latin typeface="DM Sans"/>
                <a:ea typeface="DM Sans"/>
                <a:cs typeface="DM Sans"/>
                <a:sym typeface="DM Sans"/>
              </a:rPr>
              <a:t>En la </a:t>
            </a:r>
            <a:r>
              <a:rPr lang="es-419" sz="1350">
                <a:solidFill>
                  <a:schemeClr val="dk1"/>
                </a:solidFill>
                <a:highlight>
                  <a:srgbClr val="FFFFFF"/>
                </a:highlight>
                <a:latin typeface="DM Sans"/>
                <a:ea typeface="DM Sans"/>
                <a:cs typeface="DM Sans"/>
                <a:sym typeface="DM Sans"/>
              </a:rPr>
              <a:t>función</a:t>
            </a:r>
            <a:r>
              <a:rPr lang="es-419" sz="1350">
                <a:solidFill>
                  <a:schemeClr val="dk1"/>
                </a:solidFill>
                <a:highlight>
                  <a:srgbClr val="FFFFFF"/>
                </a:highlight>
                <a:latin typeface="DM Sans"/>
                <a:ea typeface="DM Sans"/>
                <a:cs typeface="DM Sans"/>
                <a:sym typeface="DM Sans"/>
              </a:rPr>
              <a:t> de callback escribiremos el bloque de código que deseamos sincronizar en el cuerpo y retornaremos una función, llamada función de limpieza, que se ejecutará tantas veces como se haya ejecutado la función que la retorna. </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None/>
            </a:pPr>
            <a:r>
              <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None/>
            </a:pPr>
            <a:r>
              <a:rPr lang="es-419" sz="1350">
                <a:solidFill>
                  <a:schemeClr val="dk1"/>
                </a:solidFill>
                <a:highlight>
                  <a:srgbClr val="FFFFFF"/>
                </a:highlight>
                <a:latin typeface="DM Sans"/>
                <a:ea typeface="DM Sans"/>
                <a:cs typeface="DM Sans"/>
                <a:sym typeface="DM Sans"/>
              </a:rPr>
              <a:t>La función de limpieza suele usarse cuando interactuamos con eventos directos del DOM o funciones del objeto window como setInterval.</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None/>
            </a:pPr>
            <a:r>
              <a:t/>
            </a:r>
            <a:endParaRPr sz="1350">
              <a:solidFill>
                <a:schemeClr val="dk1"/>
              </a:solidFill>
              <a:highlight>
                <a:srgbClr val="FFFFFF"/>
              </a:highlight>
              <a:latin typeface="DM Sans"/>
              <a:ea typeface="DM Sans"/>
              <a:cs typeface="DM Sans"/>
              <a:sym typeface="DM Sans"/>
            </a:endParaRPr>
          </a:p>
          <a:p>
            <a:pPr indent="0" lvl="0" marL="0" rtl="0" algn="l">
              <a:spcBef>
                <a:spcPts val="0"/>
              </a:spcBef>
              <a:spcAft>
                <a:spcPts val="0"/>
              </a:spcAft>
              <a:buNone/>
            </a:pPr>
            <a:r>
              <a:rPr lang="es-419" sz="1350">
                <a:solidFill>
                  <a:schemeClr val="dk1"/>
                </a:solidFill>
                <a:highlight>
                  <a:srgbClr val="FFFFFF"/>
                </a:highlight>
                <a:latin typeface="DM Sans"/>
                <a:ea typeface="DM Sans"/>
                <a:cs typeface="DM Sans"/>
                <a:sym typeface="DM Sans"/>
              </a:rPr>
              <a:t>Es decir, que </a:t>
            </a:r>
            <a:r>
              <a:rPr b="1" lang="es-419" sz="1350">
                <a:solidFill>
                  <a:schemeClr val="dk1"/>
                </a:solidFill>
                <a:highlight>
                  <a:srgbClr val="FFFFFF"/>
                </a:highlight>
                <a:latin typeface="DM Sans"/>
                <a:ea typeface="DM Sans"/>
                <a:cs typeface="DM Sans"/>
                <a:sym typeface="DM Sans"/>
              </a:rPr>
              <a:t>el proceso es simétrico.</a:t>
            </a:r>
            <a:endParaRPr b="1" sz="1350">
              <a:solidFill>
                <a:schemeClr val="dk1"/>
              </a:solidFill>
              <a:highlight>
                <a:srgbClr val="FFFFFF"/>
              </a:highlight>
              <a:latin typeface="DM Sans"/>
              <a:ea typeface="DM Sans"/>
              <a:cs typeface="DM Sans"/>
              <a:sym typeface="DM Sans"/>
            </a:endParaRPr>
          </a:p>
          <a:p>
            <a:pPr indent="0" lvl="0" marL="0" marR="0" rtl="0" algn="l">
              <a:lnSpc>
                <a:spcPct val="100000"/>
              </a:lnSpc>
              <a:spcBef>
                <a:spcPts val="0"/>
              </a:spcBef>
              <a:spcAft>
                <a:spcPts val="0"/>
              </a:spcAft>
              <a:buNone/>
            </a:pPr>
            <a:r>
              <a:t/>
            </a:r>
            <a:endParaRPr sz="1350">
              <a:solidFill>
                <a:schemeClr val="dk1"/>
              </a:solidFill>
              <a:latin typeface="DM Sans"/>
              <a:ea typeface="DM Sans"/>
              <a:cs typeface="DM Sans"/>
              <a:sym typeface="DM Sans"/>
            </a:endParaRPr>
          </a:p>
        </p:txBody>
      </p:sp>
      <p:pic>
        <p:nvPicPr>
          <p:cNvPr id="198" name="Google Shape;198;p41"/>
          <p:cNvPicPr preferRelativeResize="0"/>
          <p:nvPr/>
        </p:nvPicPr>
        <p:blipFill>
          <a:blip r:embed="rId3">
            <a:alphaModFix/>
          </a:blip>
          <a:stretch>
            <a:fillRect/>
          </a:stretch>
        </p:blipFill>
        <p:spPr>
          <a:xfrm>
            <a:off x="4738950" y="1514700"/>
            <a:ext cx="4064276" cy="29511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2"/>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useEffect</a:t>
            </a:r>
            <a:endParaRPr b="1" i="0" sz="4000" u="none" cap="none" strike="noStrike">
              <a:solidFill>
                <a:schemeClr val="dk1"/>
              </a:solidFill>
              <a:latin typeface="DM Sans"/>
              <a:ea typeface="DM Sans"/>
              <a:cs typeface="DM Sans"/>
              <a:sym typeface="DM Sans"/>
            </a:endParaRPr>
          </a:p>
        </p:txBody>
      </p:sp>
      <p:sp>
        <p:nvSpPr>
          <p:cNvPr id="204" name="Google Shape;204;p42"/>
          <p:cNvSpPr txBox="1"/>
          <p:nvPr/>
        </p:nvSpPr>
        <p:spPr>
          <a:xfrm>
            <a:off x="473350" y="1450975"/>
            <a:ext cx="3949200" cy="19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50">
                <a:solidFill>
                  <a:schemeClr val="dk1"/>
                </a:solidFill>
                <a:highlight>
                  <a:schemeClr val="lt1"/>
                </a:highlight>
                <a:latin typeface="DM Sans"/>
                <a:ea typeface="DM Sans"/>
                <a:cs typeface="DM Sans"/>
                <a:sym typeface="DM Sans"/>
              </a:rPr>
              <a:t>Dado que la función se ejecutará por lo menos una vez al montar el componente, la función que se retorna se ejecutará una vez al desmontar el componente. </a:t>
            </a:r>
            <a:endParaRPr sz="1350">
              <a:solidFill>
                <a:schemeClr val="dk1"/>
              </a:solidFill>
              <a:highlight>
                <a:schemeClr val="lt1"/>
              </a:highlight>
              <a:latin typeface="DM Sans"/>
              <a:ea typeface="DM Sans"/>
              <a:cs typeface="DM Sans"/>
              <a:sym typeface="DM Sans"/>
            </a:endParaRPr>
          </a:p>
          <a:p>
            <a:pPr indent="0" lvl="0" marL="0" rtl="0" algn="l">
              <a:spcBef>
                <a:spcPts val="1000"/>
              </a:spcBef>
              <a:spcAft>
                <a:spcPts val="1000"/>
              </a:spcAft>
              <a:buNone/>
            </a:pPr>
            <a:r>
              <a:rPr lang="es-419" sz="1350">
                <a:solidFill>
                  <a:schemeClr val="dk1"/>
                </a:solidFill>
                <a:highlight>
                  <a:schemeClr val="lt1"/>
                </a:highlight>
                <a:latin typeface="DM Sans"/>
                <a:ea typeface="DM Sans"/>
                <a:cs typeface="DM Sans"/>
                <a:sym typeface="DM Sans"/>
              </a:rPr>
              <a:t>En caso de tener dependencias de estados, la limpieza se ejecutará antes de volver a ejecutar el efecto frente a un cambio en una de sus dependencias. </a:t>
            </a:r>
            <a:endParaRPr sz="1350">
              <a:solidFill>
                <a:schemeClr val="dk1"/>
              </a:solidFill>
              <a:latin typeface="DM Sans"/>
              <a:ea typeface="DM Sans"/>
              <a:cs typeface="DM Sans"/>
              <a:sym typeface="DM Sans"/>
            </a:endParaRPr>
          </a:p>
        </p:txBody>
      </p:sp>
      <p:sp>
        <p:nvSpPr>
          <p:cNvPr id="205" name="Google Shape;205;p42"/>
          <p:cNvSpPr txBox="1"/>
          <p:nvPr/>
        </p:nvSpPr>
        <p:spPr>
          <a:xfrm>
            <a:off x="4571475" y="2110975"/>
            <a:ext cx="4189200" cy="42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419" sz="1550">
                <a:solidFill>
                  <a:schemeClr val="dk1"/>
                </a:solidFill>
                <a:highlight>
                  <a:srgbClr val="E0FF00"/>
                </a:highlight>
                <a:latin typeface="DM Sans"/>
                <a:ea typeface="DM Sans"/>
                <a:cs typeface="DM Sans"/>
                <a:sym typeface="DM Sans"/>
              </a:rPr>
              <a:t>Acción =&gt; Limpieza =&gt; Acción =&gt; Limpieza</a:t>
            </a:r>
            <a:endParaRPr/>
          </a:p>
        </p:txBody>
      </p:sp>
      <p:sp>
        <p:nvSpPr>
          <p:cNvPr id="206" name="Google Shape;206;p42"/>
          <p:cNvSpPr txBox="1"/>
          <p:nvPr/>
        </p:nvSpPr>
        <p:spPr>
          <a:xfrm>
            <a:off x="499875" y="3821100"/>
            <a:ext cx="6666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s-419" sz="1150">
                <a:solidFill>
                  <a:schemeClr val="dk1"/>
                </a:solidFill>
                <a:highlight>
                  <a:schemeClr val="lt1"/>
                </a:highlight>
                <a:latin typeface="DM Sans"/>
                <a:ea typeface="DM Sans"/>
                <a:cs typeface="DM Sans"/>
                <a:sym typeface="DM Sans"/>
              </a:rPr>
              <a:t>*</a:t>
            </a:r>
            <a:r>
              <a:rPr lang="es-419" sz="1150">
                <a:solidFill>
                  <a:schemeClr val="dk1"/>
                </a:solidFill>
                <a:highlight>
                  <a:schemeClr val="lt1"/>
                </a:highlight>
                <a:latin typeface="DM Sans"/>
                <a:ea typeface="DM Sans"/>
                <a:cs typeface="DM Sans"/>
                <a:sym typeface="DM Sans"/>
              </a:rPr>
              <a:t>Actualmente el modo estricto de React ejecuta dos veces la función del primer argumento. Por eso puede ser que veas dos veces un mismo console.log que se ejecutó dentro de esta función.</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3"/>
          <p:cNvSpPr txBox="1"/>
          <p:nvPr/>
        </p:nvSpPr>
        <p:spPr>
          <a:xfrm>
            <a:off x="473350" y="8481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419" sz="4000">
                <a:solidFill>
                  <a:schemeClr val="dk1"/>
                </a:solidFill>
                <a:latin typeface="DM Sans"/>
                <a:ea typeface="DM Sans"/>
                <a:cs typeface="DM Sans"/>
                <a:sym typeface="DM Sans"/>
              </a:rPr>
              <a:t>useEffect</a:t>
            </a:r>
            <a:endParaRPr b="1" i="0" sz="4000" u="none" cap="none" strike="noStrike">
              <a:solidFill>
                <a:schemeClr val="dk1"/>
              </a:solidFill>
              <a:latin typeface="DM Sans"/>
              <a:ea typeface="DM Sans"/>
              <a:cs typeface="DM Sans"/>
              <a:sym typeface="DM Sans"/>
            </a:endParaRPr>
          </a:p>
        </p:txBody>
      </p:sp>
      <p:sp>
        <p:nvSpPr>
          <p:cNvPr id="212" name="Google Shape;212;p43"/>
          <p:cNvSpPr txBox="1"/>
          <p:nvPr/>
        </p:nvSpPr>
        <p:spPr>
          <a:xfrm>
            <a:off x="495200" y="1604525"/>
            <a:ext cx="4251600" cy="168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50">
                <a:solidFill>
                  <a:schemeClr val="dk1"/>
                </a:solidFill>
                <a:highlight>
                  <a:srgbClr val="FFFFFF"/>
                </a:highlight>
                <a:latin typeface="DM Sans"/>
                <a:ea typeface="DM Sans"/>
                <a:cs typeface="DM Sans"/>
                <a:sym typeface="DM Sans"/>
              </a:rPr>
              <a:t>Como podemos utilizar todos los useEffect que deseemos, es conveniente separar responsabilidades. </a:t>
            </a:r>
            <a:endParaRPr sz="1350">
              <a:solidFill>
                <a:schemeClr val="dk1"/>
              </a:solidFill>
              <a:highlight>
                <a:srgbClr val="FFFFFF"/>
              </a:highlight>
              <a:latin typeface="DM Sans"/>
              <a:ea typeface="DM Sans"/>
              <a:cs typeface="DM Sans"/>
              <a:sym typeface="DM Sans"/>
            </a:endParaRPr>
          </a:p>
          <a:p>
            <a:pPr indent="0" lvl="0" marL="0" rtl="0" algn="l">
              <a:spcBef>
                <a:spcPts val="1000"/>
              </a:spcBef>
              <a:spcAft>
                <a:spcPts val="0"/>
              </a:spcAft>
              <a:buNone/>
            </a:pPr>
            <a:r>
              <a:rPr lang="es-419" sz="1350">
                <a:solidFill>
                  <a:schemeClr val="dk1"/>
                </a:solidFill>
                <a:highlight>
                  <a:srgbClr val="FFFFFF"/>
                </a:highlight>
                <a:latin typeface="DM Sans"/>
                <a:ea typeface="DM Sans"/>
                <a:cs typeface="DM Sans"/>
                <a:sym typeface="DM Sans"/>
              </a:rPr>
              <a:t>Cada useEffect encargándose de un solo efecto y limpieza.</a:t>
            </a:r>
            <a:endParaRPr sz="1350">
              <a:solidFill>
                <a:schemeClr val="dk1"/>
              </a:solidFill>
              <a:highlight>
                <a:srgbClr val="FFFFFF"/>
              </a:highlight>
              <a:latin typeface="DM Sans"/>
              <a:ea typeface="DM Sans"/>
              <a:cs typeface="DM Sans"/>
              <a:sym typeface="DM Sans"/>
            </a:endParaRPr>
          </a:p>
          <a:p>
            <a:pPr indent="0" lvl="0" marL="0" rtl="0" algn="l">
              <a:spcBef>
                <a:spcPts val="1000"/>
              </a:spcBef>
              <a:spcAft>
                <a:spcPts val="0"/>
              </a:spcAft>
              <a:buNone/>
            </a:pPr>
            <a:r>
              <a:t/>
            </a:r>
            <a:endParaRPr sz="1350">
              <a:solidFill>
                <a:schemeClr val="dk1"/>
              </a:solidFill>
              <a:highlight>
                <a:srgbClr val="FFFFFF"/>
              </a:highlight>
              <a:latin typeface="DM Sans"/>
              <a:ea typeface="DM Sans"/>
              <a:cs typeface="DM Sans"/>
              <a:sym typeface="DM Sans"/>
            </a:endParaRPr>
          </a:p>
        </p:txBody>
      </p:sp>
      <p:pic>
        <p:nvPicPr>
          <p:cNvPr id="213" name="Google Shape;213;p43"/>
          <p:cNvPicPr preferRelativeResize="0"/>
          <p:nvPr/>
        </p:nvPicPr>
        <p:blipFill>
          <a:blip r:embed="rId3">
            <a:alphaModFix/>
          </a:blip>
          <a:stretch>
            <a:fillRect/>
          </a:stretch>
        </p:blipFill>
        <p:spPr>
          <a:xfrm>
            <a:off x="5268400" y="907813"/>
            <a:ext cx="3428401" cy="3480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4"/>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419"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419"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2000">
                <a:solidFill>
                  <a:schemeClr val="lt1"/>
                </a:solidFill>
                <a:latin typeface="DM Sans"/>
                <a:ea typeface="DM Sans"/>
                <a:cs typeface="DM Sans"/>
                <a:sym typeface="DM Sans"/>
              </a:rPr>
              <a:t>¡5 minutos y volvemos!</a:t>
            </a:r>
            <a:endParaRPr sz="2000">
              <a:solidFill>
                <a:schemeClr val="lt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5"/>
          <p:cNvSpPr txBox="1"/>
          <p:nvPr/>
        </p:nvSpPr>
        <p:spPr>
          <a:xfrm>
            <a:off x="457725" y="732025"/>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419" sz="4000">
                <a:solidFill>
                  <a:schemeClr val="dk1"/>
                </a:solidFill>
                <a:latin typeface="DM Sans"/>
                <a:ea typeface="DM Sans"/>
                <a:cs typeface="DM Sans"/>
                <a:sym typeface="DM Sans"/>
              </a:rPr>
              <a:t>.map()</a:t>
            </a:r>
            <a:endParaRPr b="1" sz="4000">
              <a:solidFill>
                <a:schemeClr val="dk1"/>
              </a:solidFill>
              <a:latin typeface="DM Sans"/>
              <a:ea typeface="DM Sans"/>
              <a:cs typeface="DM Sans"/>
              <a:sym typeface="DM Sans"/>
            </a:endParaRPr>
          </a:p>
        </p:txBody>
      </p:sp>
      <p:sp>
        <p:nvSpPr>
          <p:cNvPr id="225" name="Google Shape;225;p45"/>
          <p:cNvSpPr txBox="1"/>
          <p:nvPr/>
        </p:nvSpPr>
        <p:spPr>
          <a:xfrm>
            <a:off x="457725" y="1773075"/>
            <a:ext cx="4730100" cy="25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350">
                <a:solidFill>
                  <a:schemeClr val="dk1"/>
                </a:solidFill>
                <a:highlight>
                  <a:schemeClr val="lt1"/>
                </a:highlight>
                <a:latin typeface="DM Sans"/>
                <a:ea typeface="DM Sans"/>
                <a:cs typeface="DM Sans"/>
                <a:sym typeface="DM Sans"/>
              </a:rPr>
              <a:t>El </a:t>
            </a:r>
            <a:r>
              <a:rPr b="1" lang="es-419" sz="1350">
                <a:solidFill>
                  <a:schemeClr val="dk1"/>
                </a:solidFill>
                <a:highlight>
                  <a:schemeClr val="lt1"/>
                </a:highlight>
                <a:latin typeface="DM Sans"/>
                <a:ea typeface="DM Sans"/>
                <a:cs typeface="DM Sans"/>
                <a:sym typeface="DM Sans"/>
              </a:rPr>
              <a:t>método de Arrays map()</a:t>
            </a:r>
            <a:r>
              <a:rPr lang="es-419" sz="1350">
                <a:solidFill>
                  <a:schemeClr val="dk1"/>
                </a:solidFill>
                <a:highlight>
                  <a:schemeClr val="lt1"/>
                </a:highlight>
                <a:latin typeface="DM Sans"/>
                <a:ea typeface="DM Sans"/>
                <a:cs typeface="DM Sans"/>
                <a:sym typeface="DM Sans"/>
              </a:rPr>
              <a:t> nos permite generar un </a:t>
            </a:r>
            <a:r>
              <a:rPr b="1" lang="es-419" sz="1350">
                <a:solidFill>
                  <a:schemeClr val="dk1"/>
                </a:solidFill>
                <a:highlight>
                  <a:schemeClr val="lt1"/>
                </a:highlight>
                <a:latin typeface="DM Sans"/>
                <a:ea typeface="DM Sans"/>
                <a:cs typeface="DM Sans"/>
                <a:sym typeface="DM Sans"/>
              </a:rPr>
              <a:t>nuevo array con modificaciones aplicadas a cada índice </a:t>
            </a:r>
            <a:r>
              <a:rPr lang="es-419" sz="1350">
                <a:solidFill>
                  <a:schemeClr val="dk1"/>
                </a:solidFill>
                <a:highlight>
                  <a:schemeClr val="lt1"/>
                </a:highlight>
                <a:latin typeface="DM Sans"/>
                <a:ea typeface="DM Sans"/>
                <a:cs typeface="DM Sans"/>
                <a:sym typeface="DM Sans"/>
              </a:rPr>
              <a:t>(tomando de base un </a:t>
            </a:r>
            <a:r>
              <a:rPr b="1" lang="es-419" sz="1350">
                <a:solidFill>
                  <a:schemeClr val="dk1"/>
                </a:solidFill>
                <a:highlight>
                  <a:schemeClr val="lt1"/>
                </a:highlight>
                <a:latin typeface="DM Sans"/>
                <a:ea typeface="DM Sans"/>
                <a:cs typeface="DM Sans"/>
                <a:sym typeface="DM Sans"/>
              </a:rPr>
              <a:t>array inicial</a:t>
            </a:r>
            <a:r>
              <a:rPr lang="es-419" sz="1350">
                <a:solidFill>
                  <a:schemeClr val="dk1"/>
                </a:solidFill>
                <a:highlight>
                  <a:schemeClr val="lt1"/>
                </a:highlight>
                <a:latin typeface="DM Sans"/>
                <a:ea typeface="DM Sans"/>
                <a:cs typeface="DM Sans"/>
                <a:sym typeface="DM Sans"/>
              </a:rPr>
              <a:t>) y utilizando una función callback.</a:t>
            </a:r>
            <a:endParaRPr sz="1350">
              <a:solidFill>
                <a:schemeClr val="dk1"/>
              </a:solidFill>
              <a:highlight>
                <a:schemeClr val="lt1"/>
              </a:highlight>
              <a:latin typeface="DM Sans"/>
              <a:ea typeface="DM Sans"/>
              <a:cs typeface="DM Sans"/>
              <a:sym typeface="DM Sans"/>
            </a:endParaRPr>
          </a:p>
          <a:p>
            <a:pPr indent="0" lvl="0" marL="0" rtl="0" algn="l">
              <a:lnSpc>
                <a:spcPct val="115000"/>
              </a:lnSpc>
              <a:spcBef>
                <a:spcPts val="0"/>
              </a:spcBef>
              <a:spcAft>
                <a:spcPts val="0"/>
              </a:spcAft>
              <a:buNone/>
            </a:pPr>
            <a:r>
              <a:t/>
            </a:r>
            <a:endParaRPr sz="1350">
              <a:solidFill>
                <a:schemeClr val="dk1"/>
              </a:solidFill>
              <a:highlight>
                <a:schemeClr val="lt1"/>
              </a:highlight>
              <a:latin typeface="DM Sans"/>
              <a:ea typeface="DM Sans"/>
              <a:cs typeface="DM Sans"/>
              <a:sym typeface="DM Sans"/>
            </a:endParaRPr>
          </a:p>
          <a:p>
            <a:pPr indent="0" lvl="0" marL="0" rtl="0" algn="l">
              <a:lnSpc>
                <a:spcPct val="115000"/>
              </a:lnSpc>
              <a:spcBef>
                <a:spcPts val="0"/>
              </a:spcBef>
              <a:spcAft>
                <a:spcPts val="0"/>
              </a:spcAft>
              <a:buNone/>
            </a:pPr>
            <a:r>
              <a:rPr b="1" lang="es-419" sz="1350">
                <a:solidFill>
                  <a:schemeClr val="accent4"/>
                </a:solidFill>
                <a:highlight>
                  <a:schemeClr val="lt1"/>
                </a:highlight>
                <a:latin typeface="DM Sans"/>
                <a:ea typeface="DM Sans"/>
                <a:cs typeface="DM Sans"/>
                <a:sym typeface="DM Sans"/>
              </a:rPr>
              <a:t>!important;</a:t>
            </a:r>
            <a:endParaRPr b="1" sz="1350">
              <a:solidFill>
                <a:schemeClr val="accent4"/>
              </a:solidFill>
              <a:highlight>
                <a:schemeClr val="lt1"/>
              </a:highlight>
              <a:latin typeface="DM Sans"/>
              <a:ea typeface="DM Sans"/>
              <a:cs typeface="DM Sans"/>
              <a:sym typeface="DM Sans"/>
            </a:endParaRPr>
          </a:p>
          <a:p>
            <a:pPr indent="0" lvl="0" marL="0" rtl="0" algn="l">
              <a:lnSpc>
                <a:spcPct val="115000"/>
              </a:lnSpc>
              <a:spcBef>
                <a:spcPts val="0"/>
              </a:spcBef>
              <a:spcAft>
                <a:spcPts val="0"/>
              </a:spcAft>
              <a:buNone/>
            </a:pPr>
            <a:r>
              <a:t/>
            </a:r>
            <a:endParaRPr b="1" sz="1350">
              <a:solidFill>
                <a:schemeClr val="accent4"/>
              </a:solidFill>
              <a:highlight>
                <a:schemeClr val="lt1"/>
              </a:highlight>
              <a:latin typeface="DM Sans"/>
              <a:ea typeface="DM Sans"/>
              <a:cs typeface="DM Sans"/>
              <a:sym typeface="DM Sans"/>
            </a:endParaRPr>
          </a:p>
          <a:p>
            <a:pPr indent="0" lvl="0" marL="0" rtl="0" algn="l">
              <a:lnSpc>
                <a:spcPct val="115000"/>
              </a:lnSpc>
              <a:spcBef>
                <a:spcPts val="0"/>
              </a:spcBef>
              <a:spcAft>
                <a:spcPts val="0"/>
              </a:spcAft>
              <a:buNone/>
            </a:pPr>
            <a:r>
              <a:rPr lang="es-419" sz="1350">
                <a:solidFill>
                  <a:schemeClr val="dk1"/>
                </a:solidFill>
                <a:highlight>
                  <a:schemeClr val="lt1"/>
                </a:highlight>
                <a:latin typeface="DM Sans"/>
                <a:ea typeface="DM Sans"/>
                <a:cs typeface="DM Sans"/>
                <a:sym typeface="DM Sans"/>
              </a:rPr>
              <a:t>Si el array inicial tiene 5 elementos, map creará un nuevo array de 5 elementos, sin afectar al array original.</a:t>
            </a:r>
            <a:endParaRPr sz="1350">
              <a:solidFill>
                <a:schemeClr val="dk1"/>
              </a:solidFill>
              <a:highlight>
                <a:schemeClr val="lt1"/>
              </a:highlight>
              <a:latin typeface="DM Sans"/>
              <a:ea typeface="DM Sans"/>
              <a:cs typeface="DM Sans"/>
              <a:sym typeface="DM Sans"/>
            </a:endParaRPr>
          </a:p>
          <a:p>
            <a:pPr indent="0" lvl="0" marL="0" rtl="0" algn="l">
              <a:lnSpc>
                <a:spcPct val="115000"/>
              </a:lnSpc>
              <a:spcBef>
                <a:spcPts val="0"/>
              </a:spcBef>
              <a:spcAft>
                <a:spcPts val="0"/>
              </a:spcAft>
              <a:buNone/>
            </a:pPr>
            <a:r>
              <a:t/>
            </a:r>
            <a:endParaRPr b="1" sz="1350">
              <a:solidFill>
                <a:schemeClr val="dk1"/>
              </a:solidFill>
              <a:highlight>
                <a:schemeClr val="lt1"/>
              </a:highlight>
              <a:latin typeface="DM Sans"/>
              <a:ea typeface="DM Sans"/>
              <a:cs typeface="DM Sans"/>
              <a:sym typeface="DM Sans"/>
            </a:endParaRPr>
          </a:p>
        </p:txBody>
      </p:sp>
      <p:sp>
        <p:nvSpPr>
          <p:cNvPr id="226" name="Google Shape;226;p45"/>
          <p:cNvSpPr txBox="1"/>
          <p:nvPr/>
        </p:nvSpPr>
        <p:spPr>
          <a:xfrm>
            <a:off x="6427740" y="2264828"/>
            <a:ext cx="14943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350">
                <a:solidFill>
                  <a:schemeClr val="dk1"/>
                </a:solidFill>
                <a:latin typeface="DM Sans"/>
                <a:ea typeface="DM Sans"/>
                <a:cs typeface="DM Sans"/>
                <a:sym typeface="DM Sans"/>
              </a:rPr>
              <a:t>REEMPLAZAR </a:t>
            </a:r>
            <a:endParaRPr sz="1350">
              <a:solidFill>
                <a:schemeClr val="dk1"/>
              </a:solidFill>
              <a:latin typeface="DM Sans"/>
              <a:ea typeface="DM Sans"/>
              <a:cs typeface="DM Sans"/>
              <a:sym typeface="DM Sans"/>
            </a:endParaRPr>
          </a:p>
          <a:p>
            <a:pPr indent="0" lvl="0" marL="0" rtl="0" algn="ctr">
              <a:spcBef>
                <a:spcPts val="0"/>
              </a:spcBef>
              <a:spcAft>
                <a:spcPts val="0"/>
              </a:spcAft>
              <a:buNone/>
            </a:pPr>
            <a:r>
              <a:rPr lang="es-419" sz="1350">
                <a:solidFill>
                  <a:schemeClr val="dk1"/>
                </a:solidFill>
                <a:latin typeface="DM Sans"/>
                <a:ea typeface="DM Sans"/>
                <a:cs typeface="DM Sans"/>
                <a:sym typeface="DM Sans"/>
              </a:rPr>
              <a:t>POR IMAGEN</a:t>
            </a:r>
            <a:endParaRPr sz="1350">
              <a:latin typeface="DM Sans"/>
              <a:ea typeface="DM Sans"/>
              <a:cs typeface="DM Sans"/>
              <a:sym typeface="DM Sans"/>
            </a:endParaRPr>
          </a:p>
        </p:txBody>
      </p:sp>
      <p:grpSp>
        <p:nvGrpSpPr>
          <p:cNvPr id="227" name="Google Shape;227;p45"/>
          <p:cNvGrpSpPr/>
          <p:nvPr/>
        </p:nvGrpSpPr>
        <p:grpSpPr>
          <a:xfrm>
            <a:off x="5971238" y="1550675"/>
            <a:ext cx="2028604" cy="2028603"/>
            <a:chOff x="5760425" y="1557450"/>
            <a:chExt cx="2028604" cy="2028603"/>
          </a:xfrm>
        </p:grpSpPr>
        <p:pic>
          <p:nvPicPr>
            <p:cNvPr id="228" name="Google Shape;228;p45"/>
            <p:cNvPicPr preferRelativeResize="0"/>
            <p:nvPr/>
          </p:nvPicPr>
          <p:blipFill>
            <a:blip r:embed="rId3">
              <a:alphaModFix/>
            </a:blip>
            <a:stretch>
              <a:fillRect/>
            </a:stretch>
          </p:blipFill>
          <p:spPr>
            <a:xfrm>
              <a:off x="5760426" y="1557450"/>
              <a:ext cx="2028603" cy="2028603"/>
            </a:xfrm>
            <a:prstGeom prst="rect">
              <a:avLst/>
            </a:prstGeom>
            <a:noFill/>
            <a:ln>
              <a:noFill/>
            </a:ln>
          </p:spPr>
        </p:pic>
        <p:sp>
          <p:nvSpPr>
            <p:cNvPr id="229" name="Google Shape;229;p45"/>
            <p:cNvSpPr txBox="1"/>
            <p:nvPr/>
          </p:nvSpPr>
          <p:spPr>
            <a:xfrm>
              <a:off x="5760425" y="1557450"/>
              <a:ext cx="979500" cy="799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2000">
                  <a:solidFill>
                    <a:schemeClr val="dk1"/>
                  </a:solidFill>
                  <a:latin typeface="Helvetica Neue"/>
                  <a:ea typeface="Helvetica Neue"/>
                  <a:cs typeface="Helvetica Neue"/>
                  <a:sym typeface="Helvetica Neue"/>
                </a:rPr>
                <a:t>map()</a:t>
              </a:r>
              <a:endParaRPr/>
            </a:p>
          </p:txBody>
        </p:sp>
      </p:grpSp>
      <p:sp>
        <p:nvSpPr>
          <p:cNvPr id="230" name="Google Shape;230;p45"/>
          <p:cNvSpPr txBox="1"/>
          <p:nvPr/>
        </p:nvSpPr>
        <p:spPr>
          <a:xfrm>
            <a:off x="457725" y="4158575"/>
            <a:ext cx="60903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Repos:</a:t>
            </a:r>
            <a:br>
              <a:rPr lang="es-419"/>
            </a:br>
            <a:r>
              <a:rPr lang="es-419" sz="1350">
                <a:solidFill>
                  <a:schemeClr val="dk1"/>
                </a:solidFill>
                <a:uFill>
                  <a:noFill/>
                </a:uFill>
                <a:latin typeface="DM Sans"/>
                <a:ea typeface="DM Sans"/>
                <a:cs typeface="DM Sans"/>
                <a:sym typeface="DM Sans"/>
                <a:hlinkClick r:id="rId4">
                  <a:extLst>
                    <a:ext uri="{A12FA001-AC4F-418D-AE19-62706E023703}">
                      <ahyp:hlinkClr val="tx"/>
                    </a:ext>
                  </a:extLst>
                </a:hlinkClick>
              </a:rPr>
              <a:t>https://github.com/julioavantt/teacher_js_map</a:t>
            </a:r>
            <a:br>
              <a:rPr lang="es-419">
                <a:solidFill>
                  <a:schemeClr val="dk1"/>
                </a:solidFill>
              </a:rPr>
            </a:br>
            <a:r>
              <a:rPr lang="es-419" sz="1350">
                <a:solidFill>
                  <a:schemeClr val="dk1"/>
                </a:solidFill>
                <a:uFill>
                  <a:noFill/>
                </a:uFill>
                <a:latin typeface="DM Sans"/>
                <a:ea typeface="DM Sans"/>
                <a:cs typeface="DM Sans"/>
                <a:sym typeface="DM Sans"/>
                <a:hlinkClick r:id="rId5">
                  <a:extLst>
                    <a:ext uri="{A12FA001-AC4F-418D-AE19-62706E023703}">
                      <ahyp:hlinkClr val="tx"/>
                    </a:ext>
                  </a:extLst>
                </a:hlinkClick>
              </a:rPr>
              <a:t>https://github.com/julioavantt/teacher_react_map</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6"/>
          <p:cNvSpPr/>
          <p:nvPr/>
        </p:nvSpPr>
        <p:spPr>
          <a:xfrm>
            <a:off x="647400" y="1564725"/>
            <a:ext cx="7849200" cy="29418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6"/>
          <p:cNvSpPr txBox="1"/>
          <p:nvPr/>
        </p:nvSpPr>
        <p:spPr>
          <a:xfrm>
            <a:off x="1461300" y="204500"/>
            <a:ext cx="6221400" cy="113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419" sz="2900">
                <a:solidFill>
                  <a:schemeClr val="lt1"/>
                </a:solidFill>
                <a:latin typeface="DM Sans"/>
                <a:ea typeface="DM Sans"/>
                <a:cs typeface="DM Sans"/>
                <a:sym typeface="DM Sans"/>
              </a:rPr>
              <a:t>Método MAP para renderizar</a:t>
            </a:r>
            <a:r>
              <a:rPr b="1" lang="es-419" sz="3300">
                <a:solidFill>
                  <a:schemeClr val="lt1"/>
                </a:solidFill>
                <a:latin typeface="DM Sans"/>
                <a:ea typeface="DM Sans"/>
                <a:cs typeface="DM Sans"/>
                <a:sym typeface="DM Sans"/>
              </a:rPr>
              <a:t> </a:t>
            </a:r>
            <a:r>
              <a:rPr b="1" lang="es-419" sz="2350">
                <a:solidFill>
                  <a:schemeClr val="lt1"/>
                </a:solidFill>
                <a:latin typeface="DM Sans"/>
                <a:ea typeface="DM Sans"/>
                <a:cs typeface="DM Sans"/>
                <a:sym typeface="DM Sans"/>
              </a:rPr>
              <a:t>elementos de un array</a:t>
            </a:r>
            <a:endParaRPr b="1" sz="4300">
              <a:solidFill>
                <a:schemeClr val="lt1"/>
              </a:solidFill>
              <a:latin typeface="DM Sans"/>
              <a:ea typeface="DM Sans"/>
              <a:cs typeface="DM Sans"/>
              <a:sym typeface="DM Sans"/>
            </a:endParaRPr>
          </a:p>
        </p:txBody>
      </p:sp>
      <p:sp>
        <p:nvSpPr>
          <p:cNvPr id="237" name="Google Shape;237;p46"/>
          <p:cNvSpPr txBox="1"/>
          <p:nvPr/>
        </p:nvSpPr>
        <p:spPr>
          <a:xfrm>
            <a:off x="917700" y="1471400"/>
            <a:ext cx="216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latin typeface="DM Sans"/>
              <a:ea typeface="DM Sans"/>
              <a:cs typeface="DM Sans"/>
              <a:sym typeface="DM Sans"/>
            </a:endParaRPr>
          </a:p>
        </p:txBody>
      </p:sp>
      <p:pic>
        <p:nvPicPr>
          <p:cNvPr id="238" name="Google Shape;238;p46"/>
          <p:cNvPicPr preferRelativeResize="0"/>
          <p:nvPr/>
        </p:nvPicPr>
        <p:blipFill>
          <a:blip r:embed="rId3">
            <a:alphaModFix/>
          </a:blip>
          <a:stretch>
            <a:fillRect/>
          </a:stretch>
        </p:blipFill>
        <p:spPr>
          <a:xfrm>
            <a:off x="920938" y="1860976"/>
            <a:ext cx="7302124" cy="2349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