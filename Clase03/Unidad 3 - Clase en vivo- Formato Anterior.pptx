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 id="2147483675" r:id="rId2"/>
  </p:sldMasterIdLst>
  <p:notesMasterIdLst>
    <p:notesMasterId r:id="rId23"/>
  </p:notesMasterIdLst>
  <p:sldIdLst>
    <p:sldId id="256" r:id="rId3"/>
    <p:sldId id="274" r:id="rId4"/>
    <p:sldId id="258" r:id="rId5"/>
    <p:sldId id="259" r:id="rId6"/>
    <p:sldId id="260" r:id="rId7"/>
    <p:sldId id="261" r:id="rId8"/>
    <p:sldId id="276"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5" r:id="rId22"/>
  </p:sldIdLst>
  <p:sldSz cx="9144000" cy="5143500" type="screen16x9"/>
  <p:notesSz cx="6858000" cy="9144000"/>
  <p:embeddedFontLst>
    <p:embeddedFont>
      <p:font typeface="Helvetica Neue" panose="020B0604020202020204" charset="0"/>
      <p:regular r:id="rId24"/>
      <p:bold r:id="rId25"/>
      <p:italic r:id="rId26"/>
      <p:boldItalic r:id="rId27"/>
    </p:embeddedFont>
    <p:embeddedFont>
      <p:font typeface="Helvetica Neue Light" panose="020B0604020202020204" charset="0"/>
      <p:regular r:id="rId28"/>
      <p:bold r:id="rId29"/>
      <p:italic r:id="rId30"/>
      <p:boldItalic r:id="rId31"/>
    </p:embeddedFont>
    <p:embeddedFont>
      <p:font typeface="DM Sans" panose="020B0604020202020204"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7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font" Target="fonts/font11.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3" Type="http://schemas.openxmlformats.org/officeDocument/2006/relationships/font" Target="fonts/font10.fntdata"/><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2" Type="http://schemas.openxmlformats.org/officeDocument/2006/relationships/font" Target="fonts/font9.fntdata"/><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8.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3365b5acdf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3365b5acdf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13c9d1b815_1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13c9d1b815_1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Colocar todas las clases.</a:t>
            </a:r>
            <a:endParaRPr>
              <a:latin typeface="DM Sans"/>
              <a:ea typeface="DM Sans"/>
              <a:cs typeface="DM Sans"/>
              <a:sym typeface="DM Sans"/>
            </a:endParaRPr>
          </a:p>
        </p:txBody>
      </p:sp>
    </p:spTree>
    <p:extLst>
      <p:ext uri="{BB962C8B-B14F-4D97-AF65-F5344CB8AC3E}">
        <p14:creationId xmlns:p14="http://schemas.microsoft.com/office/powerpoint/2010/main" val="32788682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3365b5acdf_0_3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2" name="Google Shape;102;g33365b5acdf_0_37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Clr>
                <a:schemeClr val="dk1"/>
              </a:buClr>
              <a:buSzPts val="1100"/>
              <a:buFont typeface="DM Sans"/>
              <a:buChar char="-"/>
            </a:pPr>
            <a:endParaRPr>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1dda17c05ea_0_4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1dda17c05ea_0_4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1dda17c05ea_0_4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1dda17c05ea_0_4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216954f0fd8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216954f0fd8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de1bc54ecb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de1bc54ecb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extLst>
      <p:ext uri="{BB962C8B-B14F-4D97-AF65-F5344CB8AC3E}">
        <p14:creationId xmlns:p14="http://schemas.microsoft.com/office/powerpoint/2010/main" val="37242371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1de1bc54ecb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1de1bc54ecb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g1de1bc54ecb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7" name="Google Shape;157;g1de1bc54ecb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g1de1bc54ecb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 name="Google Shape;164;g1de1bc54ecb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5138e512bf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g25138e512bf_0_8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1dda17c05ea_0_6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1dda17c05ea_0_6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1de1bc54ecb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1de1bc54ecb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1de1bc54ecb_0_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1de1bc54ecb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1dda17c05ea_0_6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1" name="Google Shape;201;g1dda17c05ea_0_69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1de1bc54ecb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1de1bc54ecb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3365b5acd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3365b5acd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333e92dba2d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333e92dba2d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33e92dba2d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33e92dba2d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3365b5acd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3365b5acd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extLst>
      <p:ext uri="{BB962C8B-B14F-4D97-AF65-F5344CB8AC3E}">
        <p14:creationId xmlns:p14="http://schemas.microsoft.com/office/powerpoint/2010/main" val="20499201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02-A">
  <p:cSld name="SECTION_HEADER_1_1_1_1_1_1_1_1_1_1">
    <p:bg>
      <p:bgPr>
        <a:blipFill>
          <a:blip r:embed="rId2">
            <a:alphaModFix/>
          </a:blip>
          <a:stretch>
            <a:fillRect/>
          </a:stretch>
        </a:blipFill>
        <a:effectLst/>
      </p:bgPr>
    </p:bg>
    <p:spTree>
      <p:nvGrpSpPr>
        <p:cNvPr id="1" name="Shape 54"/>
        <p:cNvGrpSpPr/>
        <p:nvPr/>
      </p:nvGrpSpPr>
      <p:grpSpPr>
        <a:xfrm>
          <a:off x="0" y="0"/>
          <a:ext cx="0" cy="0"/>
          <a:chOff x="0" y="0"/>
          <a:chExt cx="0" cy="0"/>
        </a:xfrm>
      </p:grpSpPr>
      <p:pic>
        <p:nvPicPr>
          <p:cNvPr id="55" name="Google Shape;55;p14"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02-B">
  <p:cSld name="SECTION_HEADER_1">
    <p:bg>
      <p:bgPr>
        <a:blipFill>
          <a:blip r:embed="rId2">
            <a:alphaModFix/>
          </a:blip>
          <a:stretch>
            <a:fillRect/>
          </a:stretch>
        </a:blipFill>
        <a:effectLst/>
      </p:bgPr>
    </p:bg>
    <p:spTree>
      <p:nvGrpSpPr>
        <p:cNvPr id="1" name="Shape 56"/>
        <p:cNvGrpSpPr/>
        <p:nvPr/>
      </p:nvGrpSpPr>
      <p:grpSpPr>
        <a:xfrm>
          <a:off x="0" y="0"/>
          <a:ext cx="0" cy="0"/>
          <a:chOff x="0" y="0"/>
          <a:chExt cx="0" cy="0"/>
        </a:xfrm>
      </p:grpSpPr>
      <p:pic>
        <p:nvPicPr>
          <p:cNvPr id="57" name="Google Shape;57;p15" title="logo coderhouse"/>
          <p:cNvPicPr preferRelativeResize="0"/>
          <p:nvPr/>
        </p:nvPicPr>
        <p:blipFill rotWithShape="1">
          <a:blip r:embed="rId3">
            <a:alphaModFix/>
          </a:blip>
          <a:srcRect/>
          <a:stretch/>
        </p:blipFill>
        <p:spPr>
          <a:xfrm>
            <a:off x="7874775" y="4720250"/>
            <a:ext cx="1024025" cy="2116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03-B">
  <p:cSld name="SECTION_HEADER_1_1_1_1_1_1_1_1_1">
    <p:bg>
      <p:bgPr>
        <a:blipFill>
          <a:blip r:embed="rId2">
            <a:alphaModFix/>
          </a:blip>
          <a:stretch>
            <a:fillRect/>
          </a:stretch>
        </a:blipFill>
        <a:effectLst/>
      </p:bgPr>
    </p:bg>
    <p:spTree>
      <p:nvGrpSpPr>
        <p:cNvPr id="1" name="Shape 58"/>
        <p:cNvGrpSpPr/>
        <p:nvPr/>
      </p:nvGrpSpPr>
      <p:grpSpPr>
        <a:xfrm>
          <a:off x="0" y="0"/>
          <a:ext cx="0" cy="0"/>
          <a:chOff x="0" y="0"/>
          <a:chExt cx="0" cy="0"/>
        </a:xfrm>
      </p:grpSpPr>
      <p:pic>
        <p:nvPicPr>
          <p:cNvPr id="59" name="Google Shape;59;p16"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ndo blanco">
  <p:cSld name="SECTION_HEADER_1_1_1_1_1_1_1_1">
    <p:spTree>
      <p:nvGrpSpPr>
        <p:cNvPr id="1" name="Shape 60"/>
        <p:cNvGrpSpPr/>
        <p:nvPr/>
      </p:nvGrpSpPr>
      <p:grpSpPr>
        <a:xfrm>
          <a:off x="0" y="0"/>
          <a:ext cx="0" cy="0"/>
          <a:chOff x="0" y="0"/>
          <a:chExt cx="0" cy="0"/>
        </a:xfrm>
      </p:grpSpPr>
      <p:pic>
        <p:nvPicPr>
          <p:cNvPr id="61" name="Google Shape;61;p17"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Carátula 1">
  <p:cSld name="SECTION_HEADER_1_1_1">
    <p:bg>
      <p:bgPr>
        <a:blipFill>
          <a:blip r:embed="rId2">
            <a:alphaModFix/>
          </a:blip>
          <a:stretch>
            <a:fillRect/>
          </a:stretch>
        </a:blipFill>
        <a:effectLst/>
      </p:bgPr>
    </p:bg>
    <p:spTree>
      <p:nvGrpSpPr>
        <p:cNvPr id="1" name="Shape 62"/>
        <p:cNvGrpSpPr/>
        <p:nvPr/>
      </p:nvGrpSpPr>
      <p:grpSpPr>
        <a:xfrm>
          <a:off x="0" y="0"/>
          <a:ext cx="0" cy="0"/>
          <a:chOff x="0" y="0"/>
          <a:chExt cx="0" cy="0"/>
        </a:xfrm>
      </p:grpSpPr>
      <p:pic>
        <p:nvPicPr>
          <p:cNvPr id="63" name="Google Shape;63;p18"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uadro">
  <p:cSld name="SECTION_HEADER_1_1_1_1_1_1">
    <p:bg>
      <p:bgPr>
        <a:blipFill>
          <a:blip r:embed="rId2">
            <a:alphaModFix/>
          </a:blip>
          <a:stretch>
            <a:fillRect/>
          </a:stretch>
        </a:blipFill>
        <a:effectLst/>
      </p:bgPr>
    </p:bg>
    <p:spTree>
      <p:nvGrpSpPr>
        <p:cNvPr id="1" name="Shape 64"/>
        <p:cNvGrpSpPr/>
        <p:nvPr/>
      </p:nvGrpSpPr>
      <p:grpSpPr>
        <a:xfrm>
          <a:off x="0" y="0"/>
          <a:ext cx="0" cy="0"/>
          <a:chOff x="0" y="0"/>
          <a:chExt cx="0" cy="0"/>
        </a:xfrm>
      </p:grpSpPr>
      <p:pic>
        <p:nvPicPr>
          <p:cNvPr id="65" name="Google Shape;65;p19"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n imagen">
  <p:cSld name="SECTION_HEADER_1_1_1_1_1_1_1">
    <p:bg>
      <p:bgPr>
        <a:blipFill>
          <a:blip r:embed="rId2">
            <a:alphaModFix/>
          </a:blip>
          <a:stretch>
            <a:fillRect/>
          </a:stretch>
        </a:blipFill>
        <a:effectLst/>
      </p:bgPr>
    </p:bg>
    <p:spTree>
      <p:nvGrpSpPr>
        <p:cNvPr id="1" name="Shape 66"/>
        <p:cNvGrpSpPr/>
        <p:nvPr/>
      </p:nvGrpSpPr>
      <p:grpSpPr>
        <a:xfrm>
          <a:off x="0" y="0"/>
          <a:ext cx="0" cy="0"/>
          <a:chOff x="0" y="0"/>
          <a:chExt cx="0" cy="0"/>
        </a:xfrm>
      </p:grpSpPr>
      <p:sp>
        <p:nvSpPr>
          <p:cNvPr id="67" name="Google Shape;67;p20"/>
          <p:cNvSpPr/>
          <p:nvPr/>
        </p:nvSpPr>
        <p:spPr>
          <a:xfrm>
            <a:off x="6592475" y="0"/>
            <a:ext cx="2551500" cy="51435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68" name="Google Shape;68;p20"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co 1" type="title">
  <p:cSld name="TITLE">
    <p:spTree>
      <p:nvGrpSpPr>
        <p:cNvPr id="1" name="Shape 69"/>
        <p:cNvGrpSpPr/>
        <p:nvPr/>
      </p:nvGrpSpPr>
      <p:grpSpPr>
        <a:xfrm>
          <a:off x="0" y="0"/>
          <a:ext cx="0" cy="0"/>
          <a:chOff x="0" y="0"/>
          <a:chExt cx="0" cy="0"/>
        </a:xfrm>
      </p:grpSpPr>
      <p:sp>
        <p:nvSpPr>
          <p:cNvPr id="70" name="Google Shape;70;p21"/>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rtl="0">
              <a:lnSpc>
                <a:spcPct val="100000"/>
              </a:lnSpc>
              <a:spcBef>
                <a:spcPts val="0"/>
              </a:spcBef>
              <a:spcAft>
                <a:spcPts val="0"/>
              </a:spcAft>
              <a:buSzPts val="4000"/>
              <a:buFont typeface="DM Sans"/>
              <a:buNone/>
              <a:defRPr sz="4000" b="1">
                <a:latin typeface="DM Sans"/>
                <a:ea typeface="DM Sans"/>
                <a:cs typeface="DM Sans"/>
                <a:sym typeface="DM Sans"/>
              </a:defRPr>
            </a:lvl1pPr>
            <a:lvl2pPr lvl="1" algn="ctr" rtl="0">
              <a:lnSpc>
                <a:spcPct val="100000"/>
              </a:lnSpc>
              <a:spcBef>
                <a:spcPts val="0"/>
              </a:spcBef>
              <a:spcAft>
                <a:spcPts val="0"/>
              </a:spcAft>
              <a:buSzPts val="5200"/>
              <a:buNone/>
              <a:defRPr sz="5200"/>
            </a:lvl2pPr>
            <a:lvl3pPr lvl="2" algn="ctr" rtl="0">
              <a:lnSpc>
                <a:spcPct val="100000"/>
              </a:lnSpc>
              <a:spcBef>
                <a:spcPts val="0"/>
              </a:spcBef>
              <a:spcAft>
                <a:spcPts val="0"/>
              </a:spcAft>
              <a:buSzPts val="5200"/>
              <a:buNone/>
              <a:defRPr sz="5200"/>
            </a:lvl3pPr>
            <a:lvl4pPr lvl="3" algn="ctr" rtl="0">
              <a:lnSpc>
                <a:spcPct val="100000"/>
              </a:lnSpc>
              <a:spcBef>
                <a:spcPts val="0"/>
              </a:spcBef>
              <a:spcAft>
                <a:spcPts val="0"/>
              </a:spcAft>
              <a:buSzPts val="5200"/>
              <a:buNone/>
              <a:defRPr sz="5200"/>
            </a:lvl4pPr>
            <a:lvl5pPr lvl="4" algn="ctr" rtl="0">
              <a:lnSpc>
                <a:spcPct val="100000"/>
              </a:lnSpc>
              <a:spcBef>
                <a:spcPts val="0"/>
              </a:spcBef>
              <a:spcAft>
                <a:spcPts val="0"/>
              </a:spcAft>
              <a:buSzPts val="5200"/>
              <a:buNone/>
              <a:defRPr sz="5200"/>
            </a:lvl5pPr>
            <a:lvl6pPr lvl="5" algn="ctr" rtl="0">
              <a:lnSpc>
                <a:spcPct val="100000"/>
              </a:lnSpc>
              <a:spcBef>
                <a:spcPts val="0"/>
              </a:spcBef>
              <a:spcAft>
                <a:spcPts val="0"/>
              </a:spcAft>
              <a:buSzPts val="5200"/>
              <a:buNone/>
              <a:defRPr sz="5200"/>
            </a:lvl6pPr>
            <a:lvl7pPr lvl="6" algn="ctr" rtl="0">
              <a:lnSpc>
                <a:spcPct val="100000"/>
              </a:lnSpc>
              <a:spcBef>
                <a:spcPts val="0"/>
              </a:spcBef>
              <a:spcAft>
                <a:spcPts val="0"/>
              </a:spcAft>
              <a:buSzPts val="5200"/>
              <a:buNone/>
              <a:defRPr sz="5200"/>
            </a:lvl7pPr>
            <a:lvl8pPr lvl="7" algn="ctr" rtl="0">
              <a:lnSpc>
                <a:spcPct val="100000"/>
              </a:lnSpc>
              <a:spcBef>
                <a:spcPts val="0"/>
              </a:spcBef>
              <a:spcAft>
                <a:spcPts val="0"/>
              </a:spcAft>
              <a:buSzPts val="5200"/>
              <a:buNone/>
              <a:defRPr sz="5200"/>
            </a:lvl8pPr>
            <a:lvl9pPr lvl="8" algn="ctr" rtl="0">
              <a:lnSpc>
                <a:spcPct val="100000"/>
              </a:lnSpc>
              <a:spcBef>
                <a:spcPts val="0"/>
              </a:spcBef>
              <a:spcAft>
                <a:spcPts val="0"/>
              </a:spcAft>
              <a:buSzPts val="5200"/>
              <a:buNone/>
              <a:defRPr sz="5200"/>
            </a:lvl9pPr>
          </a:lstStyle>
          <a:p>
            <a:endParaRPr/>
          </a:p>
        </p:txBody>
      </p:sp>
      <p:sp>
        <p:nvSpPr>
          <p:cNvPr id="71" name="Google Shape;71;p21"/>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rtl="0">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pic>
        <p:nvPicPr>
          <p:cNvPr id="72" name="Google Shape;72;p21" title="logo CoderHouse"/>
          <p:cNvPicPr preferRelativeResize="0"/>
          <p:nvPr/>
        </p:nvPicPr>
        <p:blipFill rotWithShape="1">
          <a:blip r:embed="rId2">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rátula 2">
  <p:cSld name="SECTION_HEADER_1_1_1_1">
    <p:bg>
      <p:bgPr>
        <a:blipFill>
          <a:blip r:embed="rId2">
            <a:alphaModFix/>
          </a:blip>
          <a:stretch>
            <a:fillRect/>
          </a:stretch>
        </a:blipFill>
        <a:effectLst/>
      </p:bgPr>
    </p:bg>
    <p:spTree>
      <p:nvGrpSpPr>
        <p:cNvPr id="1" name="Shape 73"/>
        <p:cNvGrpSpPr/>
        <p:nvPr/>
      </p:nvGrpSpPr>
      <p:grpSpPr>
        <a:xfrm>
          <a:off x="0" y="0"/>
          <a:ext cx="0" cy="0"/>
          <a:chOff x="0" y="0"/>
          <a:chExt cx="0" cy="0"/>
        </a:xfrm>
      </p:grpSpPr>
      <p:pic>
        <p:nvPicPr>
          <p:cNvPr id="74" name="Google Shape;74;p22"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arátula 3">
  <p:cSld name="SECTION_HEADER_1_1_1_1_1">
    <p:bg>
      <p:bgPr>
        <a:blipFill>
          <a:blip r:embed="rId2">
            <a:alphaModFix/>
          </a:blip>
          <a:stretch>
            <a:fillRect/>
          </a:stretch>
        </a:blipFill>
        <a:effectLst/>
      </p:bgPr>
    </p:bg>
    <p:spTree>
      <p:nvGrpSpPr>
        <p:cNvPr id="1" name="Shape 75"/>
        <p:cNvGrpSpPr/>
        <p:nvPr/>
      </p:nvGrpSpPr>
      <p:grpSpPr>
        <a:xfrm>
          <a:off x="0" y="0"/>
          <a:ext cx="0" cy="0"/>
          <a:chOff x="0" y="0"/>
          <a:chExt cx="0" cy="0"/>
        </a:xfrm>
      </p:grpSpPr>
      <p:pic>
        <p:nvPicPr>
          <p:cNvPr id="76" name="Google Shape;76;p23"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03-A">
  <p:cSld name="SECTION_HEADER_1_1">
    <p:bg>
      <p:bgPr>
        <a:blipFill>
          <a:blip r:embed="rId2">
            <a:alphaModFix/>
          </a:blip>
          <a:stretch>
            <a:fillRect/>
          </a:stretch>
        </a:blipFill>
        <a:effectLst/>
      </p:bgPr>
    </p:bg>
    <p:spTree>
      <p:nvGrpSpPr>
        <p:cNvPr id="1" name="Shape 77"/>
        <p:cNvGrpSpPr/>
        <p:nvPr/>
      </p:nvGrpSpPr>
      <p:grpSpPr>
        <a:xfrm>
          <a:off x="0" y="0"/>
          <a:ext cx="0" cy="0"/>
          <a:chOff x="0" y="0"/>
          <a:chExt cx="0" cy="0"/>
        </a:xfrm>
      </p:grpSpPr>
      <p:pic>
        <p:nvPicPr>
          <p:cNvPr id="78" name="Google Shape;78;p24"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03-B 5">
  <p:cSld name="SECTION_HEADER_1_1_1_1_1_1_1_1_1_8">
    <p:bg>
      <p:bgPr>
        <a:blipFill>
          <a:blip r:embed="rId2">
            <a:alphaModFix/>
          </a:blip>
          <a:stretch>
            <a:fillRect/>
          </a:stretch>
        </a:blipFill>
        <a:effectLst/>
      </p:bgPr>
    </p:bg>
    <p:spTree>
      <p:nvGrpSpPr>
        <p:cNvPr id="1" name="Shape 79"/>
        <p:cNvGrpSpPr/>
        <p:nvPr/>
      </p:nvGrpSpPr>
      <p:grpSpPr>
        <a:xfrm>
          <a:off x="0" y="0"/>
          <a:ext cx="0" cy="0"/>
          <a:chOff x="0" y="0"/>
          <a:chExt cx="0" cy="0"/>
        </a:xfrm>
      </p:grpSpPr>
      <p:pic>
        <p:nvPicPr>
          <p:cNvPr id="80" name="Google Shape;80;p25"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1"/>
        <p:cNvGrpSpPr/>
        <p:nvPr/>
      </p:nvGrpSpPr>
      <p:grpSpPr>
        <a:xfrm>
          <a:off x="0" y="0"/>
          <a:ext cx="0" cy="0"/>
          <a:chOff x="0" y="0"/>
          <a:chExt cx="0" cy="0"/>
        </a:xfrm>
      </p:grpSpPr>
      <p:sp>
        <p:nvSpPr>
          <p:cNvPr id="82" name="Google Shape;82;p2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rtl="0">
              <a:lnSpc>
                <a:spcPct val="100000"/>
              </a:lnSpc>
              <a:spcBef>
                <a:spcPts val="0"/>
              </a:spcBef>
              <a:spcAft>
                <a:spcPts val="0"/>
              </a:spcAft>
              <a:buSzPts val="2800"/>
              <a:buNone/>
              <a:defRPr/>
            </a:lvl1pPr>
            <a:lvl2pPr lvl="1" algn="l" rtl="0">
              <a:lnSpc>
                <a:spcPct val="100000"/>
              </a:lnSpc>
              <a:spcBef>
                <a:spcPts val="0"/>
              </a:spcBef>
              <a:spcAft>
                <a:spcPts val="0"/>
              </a:spcAft>
              <a:buSzPts val="2800"/>
              <a:buNone/>
              <a:defRPr/>
            </a:lvl2pPr>
            <a:lvl3pPr lvl="2" algn="l" rtl="0">
              <a:lnSpc>
                <a:spcPct val="100000"/>
              </a:lnSpc>
              <a:spcBef>
                <a:spcPts val="0"/>
              </a:spcBef>
              <a:spcAft>
                <a:spcPts val="0"/>
              </a:spcAft>
              <a:buSzPts val="2800"/>
              <a:buNone/>
              <a:defRPr/>
            </a:lvl3pPr>
            <a:lvl4pPr lvl="3" algn="l" rtl="0">
              <a:lnSpc>
                <a:spcPct val="100000"/>
              </a:lnSpc>
              <a:spcBef>
                <a:spcPts val="0"/>
              </a:spcBef>
              <a:spcAft>
                <a:spcPts val="0"/>
              </a:spcAft>
              <a:buSzPts val="2800"/>
              <a:buNone/>
              <a:defRPr/>
            </a:lvl4pPr>
            <a:lvl5pPr lvl="4" algn="l" rtl="0">
              <a:lnSpc>
                <a:spcPct val="100000"/>
              </a:lnSpc>
              <a:spcBef>
                <a:spcPts val="0"/>
              </a:spcBef>
              <a:spcAft>
                <a:spcPts val="0"/>
              </a:spcAft>
              <a:buSzPts val="2800"/>
              <a:buNone/>
              <a:defRPr/>
            </a:lvl5pPr>
            <a:lvl6pPr lvl="5" algn="l" rtl="0">
              <a:lnSpc>
                <a:spcPct val="100000"/>
              </a:lnSpc>
              <a:spcBef>
                <a:spcPts val="0"/>
              </a:spcBef>
              <a:spcAft>
                <a:spcPts val="0"/>
              </a:spcAft>
              <a:buSzPts val="2800"/>
              <a:buNone/>
              <a:defRPr/>
            </a:lvl6pPr>
            <a:lvl7pPr lvl="6" algn="l" rtl="0">
              <a:lnSpc>
                <a:spcPct val="100000"/>
              </a:lnSpc>
              <a:spcBef>
                <a:spcPts val="0"/>
              </a:spcBef>
              <a:spcAft>
                <a:spcPts val="0"/>
              </a:spcAft>
              <a:buSzPts val="2800"/>
              <a:buNone/>
              <a:defRPr/>
            </a:lvl7pPr>
            <a:lvl8pPr lvl="7" algn="l" rtl="0">
              <a:lnSpc>
                <a:spcPct val="100000"/>
              </a:lnSpc>
              <a:spcBef>
                <a:spcPts val="0"/>
              </a:spcBef>
              <a:spcAft>
                <a:spcPts val="0"/>
              </a:spcAft>
              <a:buSzPts val="2800"/>
              <a:buNone/>
              <a:defRPr/>
            </a:lvl8pPr>
            <a:lvl9pPr lvl="8" algn="l" rtl="0">
              <a:lnSpc>
                <a:spcPct val="100000"/>
              </a:lnSpc>
              <a:spcBef>
                <a:spcPts val="0"/>
              </a:spcBef>
              <a:spcAft>
                <a:spcPts val="0"/>
              </a:spcAft>
              <a:buSzPts val="2800"/>
              <a:buNone/>
              <a:defRPr/>
            </a:lvl9pPr>
          </a:lstStyle>
          <a:p>
            <a:endParaRPr/>
          </a:p>
        </p:txBody>
      </p:sp>
      <p:sp>
        <p:nvSpPr>
          <p:cNvPr id="83" name="Google Shape;83;p26"/>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rtl="0">
              <a:lnSpc>
                <a:spcPct val="115000"/>
              </a:lnSpc>
              <a:spcBef>
                <a:spcPts val="0"/>
              </a:spcBef>
              <a:spcAft>
                <a:spcPts val="0"/>
              </a:spcAft>
              <a:buSzPts val="1800"/>
              <a:buChar char="●"/>
              <a:defRPr/>
            </a:lvl1pPr>
            <a:lvl2pPr marL="914400" lvl="1" indent="-317500" algn="l" rtl="0">
              <a:lnSpc>
                <a:spcPct val="115000"/>
              </a:lnSpc>
              <a:spcBef>
                <a:spcPts val="0"/>
              </a:spcBef>
              <a:spcAft>
                <a:spcPts val="0"/>
              </a:spcAft>
              <a:buSzPts val="1400"/>
              <a:buChar char="○"/>
              <a:defRPr/>
            </a:lvl2pPr>
            <a:lvl3pPr marL="1371600" lvl="2" indent="-317500" algn="l" rtl="0">
              <a:lnSpc>
                <a:spcPct val="115000"/>
              </a:lnSpc>
              <a:spcBef>
                <a:spcPts val="0"/>
              </a:spcBef>
              <a:spcAft>
                <a:spcPts val="0"/>
              </a:spcAft>
              <a:buSzPts val="1400"/>
              <a:buChar char="■"/>
              <a:defRPr/>
            </a:lvl3pPr>
            <a:lvl4pPr marL="1828800" lvl="3" indent="-317500" algn="l" rtl="0">
              <a:lnSpc>
                <a:spcPct val="115000"/>
              </a:lnSpc>
              <a:spcBef>
                <a:spcPts val="0"/>
              </a:spcBef>
              <a:spcAft>
                <a:spcPts val="0"/>
              </a:spcAft>
              <a:buSzPts val="1400"/>
              <a:buChar char="●"/>
              <a:defRPr/>
            </a:lvl4pPr>
            <a:lvl5pPr marL="2286000" lvl="4" indent="-317500" algn="l" rtl="0">
              <a:lnSpc>
                <a:spcPct val="115000"/>
              </a:lnSpc>
              <a:spcBef>
                <a:spcPts val="0"/>
              </a:spcBef>
              <a:spcAft>
                <a:spcPts val="0"/>
              </a:spcAft>
              <a:buSzPts val="1400"/>
              <a:buChar char="○"/>
              <a:defRPr/>
            </a:lvl5pPr>
            <a:lvl6pPr marL="2743200" lvl="5" indent="-317500" algn="l" rtl="0">
              <a:lnSpc>
                <a:spcPct val="115000"/>
              </a:lnSpc>
              <a:spcBef>
                <a:spcPts val="0"/>
              </a:spcBef>
              <a:spcAft>
                <a:spcPts val="0"/>
              </a:spcAft>
              <a:buSzPts val="1400"/>
              <a:buChar char="■"/>
              <a:defRPr/>
            </a:lvl6pPr>
            <a:lvl7pPr marL="3200400" lvl="6" indent="-317500" algn="l" rtl="0">
              <a:lnSpc>
                <a:spcPct val="115000"/>
              </a:lnSpc>
              <a:spcBef>
                <a:spcPts val="0"/>
              </a:spcBef>
              <a:spcAft>
                <a:spcPts val="0"/>
              </a:spcAft>
              <a:buSzPts val="1400"/>
              <a:buChar char="●"/>
              <a:defRPr/>
            </a:lvl7pPr>
            <a:lvl8pPr marL="3657600" lvl="7" indent="-317500" algn="l" rtl="0">
              <a:lnSpc>
                <a:spcPct val="115000"/>
              </a:lnSpc>
              <a:spcBef>
                <a:spcPts val="0"/>
              </a:spcBef>
              <a:spcAft>
                <a:spcPts val="0"/>
              </a:spcAft>
              <a:buSzPts val="1400"/>
              <a:buChar char="○"/>
              <a:defRPr/>
            </a:lvl8pPr>
            <a:lvl9pPr marL="4114800" lvl="8" indent="-317500" algn="l" rtl="0">
              <a:lnSpc>
                <a:spcPct val="115000"/>
              </a:lnSpc>
              <a:spcBef>
                <a:spcPts val="0"/>
              </a:spcBef>
              <a:spcAft>
                <a:spcPts val="0"/>
              </a:spcAft>
              <a:buSzPts val="1400"/>
              <a:buChar char="■"/>
              <a:defRPr/>
            </a:lvl9pPr>
          </a:lstStyle>
          <a:p>
            <a:endParaRPr/>
          </a:p>
        </p:txBody>
      </p:sp>
      <p:sp>
        <p:nvSpPr>
          <p:cNvPr id="84" name="Google Shape;84;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5"/>
        <p:cNvGrpSpPr/>
        <p:nvPr/>
      </p:nvGrpSpPr>
      <p:grpSpPr>
        <a:xfrm>
          <a:off x="0" y="0"/>
          <a:ext cx="0" cy="0"/>
          <a:chOff x="0" y="0"/>
          <a:chExt cx="0" cy="0"/>
        </a:xfrm>
      </p:grpSpPr>
      <p:sp>
        <p:nvSpPr>
          <p:cNvPr id="86" name="Google Shape;86;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on imagen 1">
  <p:cSld name="SECTION_HEADER_1_1_1_1_1_1_1_2">
    <p:bg>
      <p:bgPr>
        <a:blipFill>
          <a:blip r:embed="rId2">
            <a:alphaModFix/>
          </a:blip>
          <a:stretch>
            <a:fillRect/>
          </a:stretch>
        </a:blipFill>
        <a:effectLst/>
      </p:bgPr>
    </p:bg>
    <p:spTree>
      <p:nvGrpSpPr>
        <p:cNvPr id="1" name="Shape 87"/>
        <p:cNvGrpSpPr/>
        <p:nvPr/>
      </p:nvGrpSpPr>
      <p:grpSpPr>
        <a:xfrm>
          <a:off x="0" y="0"/>
          <a:ext cx="0" cy="0"/>
          <a:chOff x="0" y="0"/>
          <a:chExt cx="0" cy="0"/>
        </a:xfrm>
      </p:grpSpPr>
      <p:sp>
        <p:nvSpPr>
          <p:cNvPr id="88" name="Google Shape;88;p28"/>
          <p:cNvSpPr/>
          <p:nvPr/>
        </p:nvSpPr>
        <p:spPr>
          <a:xfrm>
            <a:off x="6592475" y="0"/>
            <a:ext cx="2551500" cy="5143500"/>
          </a:xfrm>
          <a:prstGeom prst="rect">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89" name="Google Shape;89;p28"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419"/>
              <a:t>‹Nº›</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8.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8.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8.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18.xml"/><Relationship Id="rId5" Type="http://schemas.openxmlformats.org/officeDocument/2006/relationships/hyperlink" Target="https://github.com/julioavantt/teacher_react_map" TargetMode="External"/><Relationship Id="rId4" Type="http://schemas.openxmlformats.org/officeDocument/2006/relationships/hyperlink" Target="https://github.com/julioavantt/teacher_js_map"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9.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4" name="Google Shape;46;p16"/>
          <p:cNvSpPr txBox="1"/>
          <p:nvPr/>
        </p:nvSpPr>
        <p:spPr>
          <a:xfrm>
            <a:off x="723014" y="927149"/>
            <a:ext cx="6959674" cy="3453223"/>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7200" b="1" u="sng" dirty="0">
                <a:solidFill>
                  <a:schemeClr val="lt1"/>
                </a:solidFill>
                <a:latin typeface="DM Sans"/>
                <a:ea typeface="DM Sans"/>
                <a:cs typeface="DM Sans"/>
                <a:sym typeface="DM Sans"/>
              </a:rPr>
              <a:t>React</a:t>
            </a:r>
            <a:endParaRPr sz="7200" b="1" u="sng" dirty="0">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6000" b="1" u="sng" dirty="0" smtClean="0">
                <a:solidFill>
                  <a:srgbClr val="EAFF6A"/>
                </a:solidFill>
                <a:latin typeface="DM Sans"/>
                <a:ea typeface="DM Sans"/>
                <a:cs typeface="DM Sans"/>
                <a:sym typeface="DM Sans"/>
              </a:rPr>
              <a:t>Flex </a:t>
            </a:r>
          </a:p>
          <a:p>
            <a:pPr marL="0" lvl="0" indent="0" algn="ctr" rtl="0">
              <a:lnSpc>
                <a:spcPct val="90000"/>
              </a:lnSpc>
              <a:spcBef>
                <a:spcPts val="0"/>
              </a:spcBef>
              <a:spcAft>
                <a:spcPts val="0"/>
              </a:spcAft>
              <a:buNone/>
            </a:pPr>
            <a:r>
              <a:rPr lang="es" sz="6000" b="1" u="sng" dirty="0" smtClean="0">
                <a:solidFill>
                  <a:srgbClr val="EAFF6A"/>
                </a:solidFill>
                <a:latin typeface="DM Sans"/>
                <a:ea typeface="DM Sans"/>
                <a:cs typeface="DM Sans"/>
                <a:sym typeface="DM Sans"/>
              </a:rPr>
              <a:t>Clase 3</a:t>
            </a:r>
            <a:r>
              <a:rPr lang="es" sz="6000" b="1" u="sng" dirty="0">
                <a:solidFill>
                  <a:srgbClr val="EAFF6A"/>
                </a:solidFill>
                <a:latin typeface="DM Sans"/>
                <a:ea typeface="DM Sans"/>
                <a:cs typeface="DM Sans"/>
                <a:sym typeface="DM Sans"/>
              </a:rPr>
              <a:t/>
            </a:r>
            <a:br>
              <a:rPr lang="es" sz="6000" b="1" u="sng" dirty="0">
                <a:solidFill>
                  <a:srgbClr val="EAFF6A"/>
                </a:solidFill>
                <a:latin typeface="DM Sans"/>
                <a:ea typeface="DM Sans"/>
                <a:cs typeface="DM Sans"/>
                <a:sym typeface="DM Sans"/>
              </a:rPr>
            </a:br>
            <a:endParaRPr sz="600" b="1" u="sng" dirty="0">
              <a:solidFill>
                <a:srgbClr val="EAFF6A"/>
              </a:solidFill>
              <a:latin typeface="DM Sans"/>
              <a:ea typeface="DM Sans"/>
              <a:cs typeface="DM Sans"/>
              <a:sym typeface="DM Sans"/>
            </a:endParaRPr>
          </a:p>
          <a:p>
            <a:pPr marL="0" lvl="0" indent="0" algn="ctr" rtl="0">
              <a:lnSpc>
                <a:spcPct val="90000"/>
              </a:lnSpc>
              <a:spcBef>
                <a:spcPts val="0"/>
              </a:spcBef>
              <a:spcAft>
                <a:spcPts val="0"/>
              </a:spcAft>
              <a:buNone/>
            </a:pPr>
            <a:endParaRPr sz="600" b="1" u="sng" dirty="0">
              <a:solidFill>
                <a:srgbClr val="EAFF6A"/>
              </a:solidFill>
              <a:latin typeface="DM Sans"/>
              <a:ea typeface="DM Sans"/>
              <a:cs typeface="DM Sans"/>
              <a:sym typeface="DM Sans"/>
            </a:endParaRPr>
          </a:p>
          <a:p>
            <a:pPr marL="0" lvl="0" indent="0" algn="ctr" rtl="0">
              <a:lnSpc>
                <a:spcPct val="90000"/>
              </a:lnSpc>
              <a:spcBef>
                <a:spcPts val="0"/>
              </a:spcBef>
              <a:spcAft>
                <a:spcPts val="0"/>
              </a:spcAft>
              <a:buNone/>
            </a:pPr>
            <a:endParaRPr sz="1600" b="1" u="sng" dirty="0">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1600" u="sng" dirty="0" smtClean="0">
                <a:solidFill>
                  <a:schemeClr val="lt1"/>
                </a:solidFill>
                <a:latin typeface="DM Sans"/>
                <a:ea typeface="DM Sans"/>
                <a:cs typeface="DM Sans"/>
                <a:sym typeface="DM Sans"/>
              </a:rPr>
              <a:t>Curso dictado por Arturo Grottoli</a:t>
            </a:r>
            <a:endParaRPr sz="1600" b="1" u="sng" dirty="0">
              <a:solidFill>
                <a:schemeClr val="lt1"/>
              </a:solidFill>
              <a:latin typeface="DM Sans"/>
              <a:ea typeface="DM Sans"/>
              <a:cs typeface="DM Sans"/>
              <a:sym typeface="DM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8"/>
          <p:cNvSpPr txBox="1"/>
          <p:nvPr/>
        </p:nvSpPr>
        <p:spPr>
          <a:xfrm>
            <a:off x="666200" y="825988"/>
            <a:ext cx="6957344" cy="4348853"/>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MX" sz="3600" b="1" dirty="0" smtClean="0">
                <a:solidFill>
                  <a:schemeClr val="accent6"/>
                </a:solidFill>
                <a:latin typeface="DM Sans"/>
                <a:ea typeface="DM Sans"/>
                <a:cs typeface="DM Sans"/>
                <a:sym typeface="DM Sans"/>
              </a:rPr>
              <a:t>¿Estamos bien para arrancar?</a:t>
            </a:r>
            <a:endParaRPr sz="3600" b="1" dirty="0">
              <a:solidFill>
                <a:schemeClr val="accent6"/>
              </a:solidFill>
              <a:latin typeface="DM Sans"/>
              <a:ea typeface="DM Sans"/>
              <a:cs typeface="DM Sans"/>
              <a:sym typeface="DM Sans"/>
            </a:endParaRPr>
          </a:p>
          <a:p>
            <a:pPr marL="0" lvl="0" indent="0" algn="l" rtl="0">
              <a:lnSpc>
                <a:spcPct val="115000"/>
              </a:lnSpc>
              <a:spcBef>
                <a:spcPts val="0"/>
              </a:spcBef>
              <a:spcAft>
                <a:spcPts val="0"/>
              </a:spcAft>
              <a:buNone/>
            </a:pPr>
            <a:endParaRPr sz="3600" b="1" dirty="0">
              <a:solidFill>
                <a:schemeClr val="lt1"/>
              </a:solidFill>
              <a:latin typeface="DM Sans"/>
              <a:ea typeface="DM Sans"/>
              <a:cs typeface="DM Sans"/>
              <a:sym typeface="DM Sans"/>
            </a:endParaRPr>
          </a:p>
          <a:p>
            <a:pPr marL="457200" lvl="0" indent="-438150" algn="l" rtl="0">
              <a:lnSpc>
                <a:spcPct val="115000"/>
              </a:lnSpc>
              <a:spcBef>
                <a:spcPts val="0"/>
              </a:spcBef>
              <a:spcAft>
                <a:spcPts val="0"/>
              </a:spcAft>
              <a:buClr>
                <a:schemeClr val="lt1"/>
              </a:buClr>
              <a:buSzPts val="3300"/>
              <a:buFont typeface="DM Sans"/>
              <a:buChar char="●"/>
            </a:pPr>
            <a:r>
              <a:rPr lang="es-MX" sz="3300" dirty="0" smtClean="0">
                <a:solidFill>
                  <a:schemeClr val="lt1"/>
                </a:solidFill>
                <a:latin typeface="DM Sans"/>
                <a:ea typeface="DM Sans"/>
                <a:cs typeface="DM Sans"/>
                <a:sym typeface="DM Sans"/>
              </a:rPr>
              <a:t>Sonido e imagen ok</a:t>
            </a:r>
            <a:endParaRPr sz="3300" dirty="0">
              <a:solidFill>
                <a:schemeClr val="lt1"/>
              </a:solidFill>
              <a:latin typeface="DM Sans"/>
              <a:ea typeface="DM Sans"/>
              <a:cs typeface="DM Sans"/>
              <a:sym typeface="DM Sans"/>
            </a:endParaRPr>
          </a:p>
          <a:p>
            <a:pPr marL="457200" lvl="0" indent="-438150" algn="l" rtl="0">
              <a:lnSpc>
                <a:spcPct val="115000"/>
              </a:lnSpc>
              <a:spcBef>
                <a:spcPts val="0"/>
              </a:spcBef>
              <a:spcAft>
                <a:spcPts val="0"/>
              </a:spcAft>
              <a:buClr>
                <a:schemeClr val="accent6"/>
              </a:buClr>
              <a:buSzPts val="3300"/>
              <a:buFont typeface="DM Sans"/>
              <a:buChar char="●"/>
            </a:pPr>
            <a:r>
              <a:rPr lang="es" sz="3300" dirty="0" smtClean="0">
                <a:solidFill>
                  <a:schemeClr val="accent6"/>
                </a:solidFill>
                <a:latin typeface="DM Sans"/>
                <a:ea typeface="DM Sans"/>
                <a:cs typeface="DM Sans"/>
                <a:sym typeface="DM Sans"/>
              </a:rPr>
              <a:t>Diapositivas y tamaño texto</a:t>
            </a:r>
            <a:endParaRPr sz="3300" dirty="0">
              <a:solidFill>
                <a:schemeClr val="lt1"/>
              </a:solidFill>
              <a:latin typeface="DM Sans"/>
              <a:ea typeface="DM Sans"/>
              <a:cs typeface="DM Sans"/>
              <a:sym typeface="DM Sans"/>
            </a:endParaRPr>
          </a:p>
          <a:p>
            <a:pPr marL="457200" lvl="0" indent="-438150" algn="l" rtl="0">
              <a:lnSpc>
                <a:spcPct val="115000"/>
              </a:lnSpc>
              <a:spcBef>
                <a:spcPts val="0"/>
              </a:spcBef>
              <a:spcAft>
                <a:spcPts val="0"/>
              </a:spcAft>
              <a:buClr>
                <a:schemeClr val="accent6"/>
              </a:buClr>
              <a:buSzPts val="3300"/>
              <a:buFont typeface="DM Sans"/>
              <a:buChar char="●"/>
            </a:pPr>
            <a:r>
              <a:rPr lang="es" sz="3300" dirty="0" smtClean="0">
                <a:solidFill>
                  <a:schemeClr val="accent6"/>
                </a:solidFill>
                <a:latin typeface="DM Sans"/>
                <a:ea typeface="DM Sans"/>
                <a:cs typeface="DM Sans"/>
                <a:sym typeface="DM Sans"/>
              </a:rPr>
              <a:t>Recordar chequear que esté grabando.</a:t>
            </a:r>
            <a:endParaRPr sz="3300" dirty="0">
              <a:solidFill>
                <a:schemeClr val="accent6"/>
              </a:solidFill>
              <a:latin typeface="DM Sans"/>
              <a:ea typeface="DM Sans"/>
              <a:cs typeface="DM Sans"/>
              <a:sym typeface="DM Sans"/>
            </a:endParaRPr>
          </a:p>
          <a:p>
            <a:pPr marL="0" lvl="0" indent="0" algn="l" rtl="0">
              <a:lnSpc>
                <a:spcPct val="90000"/>
              </a:lnSpc>
              <a:spcBef>
                <a:spcPts val="0"/>
              </a:spcBef>
              <a:spcAft>
                <a:spcPts val="0"/>
              </a:spcAft>
              <a:buNone/>
            </a:pPr>
            <a:endParaRPr sz="4000" b="1"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26579033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1"/>
          <p:cNvSpPr txBox="1"/>
          <p:nvPr/>
        </p:nvSpPr>
        <p:spPr>
          <a:xfrm>
            <a:off x="457725" y="385250"/>
            <a:ext cx="8224200" cy="6972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419" sz="3700" b="1">
                <a:solidFill>
                  <a:schemeClr val="dk1"/>
                </a:solidFill>
                <a:latin typeface="DM Sans"/>
                <a:ea typeface="DM Sans"/>
                <a:cs typeface="DM Sans"/>
                <a:sym typeface="DM Sans"/>
              </a:rPr>
              <a:t>Ciclos de vida de un componente</a:t>
            </a:r>
            <a:endParaRPr sz="3700" b="1">
              <a:solidFill>
                <a:schemeClr val="dk1"/>
              </a:solidFill>
              <a:latin typeface="DM Sans"/>
              <a:ea typeface="DM Sans"/>
              <a:cs typeface="DM Sans"/>
              <a:sym typeface="DM Sans"/>
            </a:endParaRPr>
          </a:p>
        </p:txBody>
      </p:sp>
      <p:sp>
        <p:nvSpPr>
          <p:cNvPr id="105" name="Google Shape;105;p31"/>
          <p:cNvSpPr txBox="1"/>
          <p:nvPr/>
        </p:nvSpPr>
        <p:spPr>
          <a:xfrm>
            <a:off x="457725" y="1068625"/>
            <a:ext cx="7716900" cy="1034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419" sz="1450">
                <a:solidFill>
                  <a:schemeClr val="dk1"/>
                </a:solidFill>
                <a:latin typeface="DM Sans"/>
                <a:ea typeface="DM Sans"/>
                <a:cs typeface="DM Sans"/>
                <a:sym typeface="DM Sans"/>
              </a:rPr>
              <a:t>El ciclo de vida no es más que una serie de estados por los cuales pasa un componente a lo largo de su existencia.</a:t>
            </a:r>
            <a:endParaRPr sz="1450">
              <a:latin typeface="DM Sans"/>
              <a:ea typeface="DM Sans"/>
              <a:cs typeface="DM Sans"/>
              <a:sym typeface="DM Sans"/>
            </a:endParaRPr>
          </a:p>
          <a:p>
            <a:pPr marL="0" lvl="0" indent="0" algn="l" rtl="0">
              <a:spcBef>
                <a:spcPts val="1000"/>
              </a:spcBef>
              <a:spcAft>
                <a:spcPts val="1000"/>
              </a:spcAft>
              <a:buNone/>
            </a:pPr>
            <a:endParaRPr sz="1350">
              <a:latin typeface="DM Sans"/>
              <a:ea typeface="DM Sans"/>
              <a:cs typeface="DM Sans"/>
              <a:sym typeface="DM Sans"/>
            </a:endParaRPr>
          </a:p>
        </p:txBody>
      </p:sp>
      <p:sp>
        <p:nvSpPr>
          <p:cNvPr id="106" name="Google Shape;106;p31"/>
          <p:cNvSpPr/>
          <p:nvPr/>
        </p:nvSpPr>
        <p:spPr>
          <a:xfrm>
            <a:off x="4365894" y="1980637"/>
            <a:ext cx="450600" cy="376800"/>
          </a:xfrm>
          <a:prstGeom prst="ellipse">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31"/>
          <p:cNvSpPr txBox="1"/>
          <p:nvPr/>
        </p:nvSpPr>
        <p:spPr>
          <a:xfrm>
            <a:off x="1538050" y="2421353"/>
            <a:ext cx="1503900" cy="397001"/>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400"/>
              <a:buFont typeface="Arial"/>
              <a:buNone/>
            </a:pPr>
            <a:r>
              <a:rPr lang="es-419" sz="1200" b="1" i="0" u="none" strike="noStrike" cap="none" dirty="0" smtClean="0">
                <a:solidFill>
                  <a:schemeClr val="dk1"/>
                </a:solidFill>
                <a:latin typeface="DM Sans"/>
                <a:ea typeface="DM Sans"/>
                <a:cs typeface="DM Sans"/>
                <a:sym typeface="DM Sans"/>
              </a:rPr>
              <a:t>Montaje</a:t>
            </a:r>
            <a:endParaRPr sz="1200" b="1" i="0" u="none" strike="noStrike" cap="none" dirty="0">
              <a:solidFill>
                <a:srgbClr val="000000"/>
              </a:solidFill>
              <a:latin typeface="DM Sans"/>
              <a:ea typeface="DM Sans"/>
              <a:cs typeface="DM Sans"/>
              <a:sym typeface="DM Sans"/>
            </a:endParaRPr>
          </a:p>
        </p:txBody>
      </p:sp>
      <p:sp>
        <p:nvSpPr>
          <p:cNvPr id="108" name="Google Shape;108;p31"/>
          <p:cNvSpPr txBox="1"/>
          <p:nvPr/>
        </p:nvSpPr>
        <p:spPr>
          <a:xfrm>
            <a:off x="3842677" y="2421353"/>
            <a:ext cx="1503900" cy="397001"/>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400"/>
              <a:buFont typeface="Arial"/>
              <a:buNone/>
            </a:pPr>
            <a:r>
              <a:rPr lang="es-419" sz="1200" b="1" i="0" u="none" strike="noStrike" cap="none" dirty="0" smtClean="0">
                <a:solidFill>
                  <a:schemeClr val="dk1"/>
                </a:solidFill>
                <a:latin typeface="DM Sans"/>
                <a:ea typeface="DM Sans"/>
                <a:cs typeface="DM Sans"/>
                <a:sym typeface="DM Sans"/>
              </a:rPr>
              <a:t>Actualización</a:t>
            </a:r>
            <a:endParaRPr sz="1200" b="1" i="0" u="none" strike="noStrike" cap="none" dirty="0">
              <a:solidFill>
                <a:srgbClr val="000000"/>
              </a:solidFill>
              <a:latin typeface="DM Sans"/>
              <a:ea typeface="DM Sans"/>
              <a:cs typeface="DM Sans"/>
              <a:sym typeface="DM Sans"/>
            </a:endParaRPr>
          </a:p>
        </p:txBody>
      </p:sp>
      <p:sp>
        <p:nvSpPr>
          <p:cNvPr id="109" name="Google Shape;109;p31"/>
          <p:cNvSpPr/>
          <p:nvPr/>
        </p:nvSpPr>
        <p:spPr>
          <a:xfrm>
            <a:off x="6853878" y="1980654"/>
            <a:ext cx="450600" cy="376800"/>
          </a:xfrm>
          <a:prstGeom prst="ellipse">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10" name="Google Shape;110;p31"/>
          <p:cNvCxnSpPr>
            <a:stCxn id="111" idx="6"/>
            <a:endCxn id="106" idx="2"/>
          </p:cNvCxnSpPr>
          <p:nvPr/>
        </p:nvCxnSpPr>
        <p:spPr>
          <a:xfrm rot="10800000" flipH="1">
            <a:off x="2480798" y="2169004"/>
            <a:ext cx="1885200" cy="2100"/>
          </a:xfrm>
          <a:prstGeom prst="straightConnector1">
            <a:avLst/>
          </a:prstGeom>
          <a:noFill/>
          <a:ln w="9525" cap="flat" cmpd="sng">
            <a:solidFill>
              <a:srgbClr val="EAFF6A"/>
            </a:solidFill>
            <a:prstDash val="solid"/>
            <a:round/>
            <a:headEnd type="none" w="sm" len="sm"/>
            <a:tailEnd type="none" w="sm" len="sm"/>
          </a:ln>
        </p:spPr>
      </p:cxnSp>
      <p:cxnSp>
        <p:nvCxnSpPr>
          <p:cNvPr id="112" name="Google Shape;112;p31"/>
          <p:cNvCxnSpPr>
            <a:stCxn id="106" idx="6"/>
            <a:endCxn id="109" idx="2"/>
          </p:cNvCxnSpPr>
          <p:nvPr/>
        </p:nvCxnSpPr>
        <p:spPr>
          <a:xfrm>
            <a:off x="4816494" y="2169037"/>
            <a:ext cx="2037300" cy="0"/>
          </a:xfrm>
          <a:prstGeom prst="straightConnector1">
            <a:avLst/>
          </a:prstGeom>
          <a:noFill/>
          <a:ln w="9525" cap="flat" cmpd="sng">
            <a:solidFill>
              <a:srgbClr val="EAFF6A"/>
            </a:solidFill>
            <a:prstDash val="solid"/>
            <a:round/>
            <a:headEnd type="none" w="sm" len="sm"/>
            <a:tailEnd type="none" w="sm" len="sm"/>
          </a:ln>
        </p:spPr>
      </p:cxnSp>
      <p:sp>
        <p:nvSpPr>
          <p:cNvPr id="113" name="Google Shape;113;p31"/>
          <p:cNvSpPr txBox="1"/>
          <p:nvPr/>
        </p:nvSpPr>
        <p:spPr>
          <a:xfrm>
            <a:off x="6254452" y="2421353"/>
            <a:ext cx="1503900" cy="397001"/>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400"/>
              <a:buFont typeface="Arial"/>
              <a:buNone/>
            </a:pPr>
            <a:r>
              <a:rPr lang="es-419" sz="1200" b="1" i="0" u="none" strike="noStrike" cap="none" dirty="0" smtClean="0">
                <a:solidFill>
                  <a:schemeClr val="dk1"/>
                </a:solidFill>
                <a:latin typeface="DM Sans"/>
                <a:ea typeface="DM Sans"/>
                <a:cs typeface="DM Sans"/>
                <a:sym typeface="DM Sans"/>
              </a:rPr>
              <a:t>Desmontaje</a:t>
            </a:r>
            <a:endParaRPr sz="1200" b="1" i="0" u="none" strike="noStrike" cap="none" dirty="0">
              <a:solidFill>
                <a:srgbClr val="000000"/>
              </a:solidFill>
              <a:latin typeface="DM Sans"/>
              <a:ea typeface="DM Sans"/>
              <a:cs typeface="DM Sans"/>
              <a:sym typeface="DM Sans"/>
            </a:endParaRPr>
          </a:p>
        </p:txBody>
      </p:sp>
      <p:sp>
        <p:nvSpPr>
          <p:cNvPr id="114" name="Google Shape;114;p31"/>
          <p:cNvSpPr txBox="1"/>
          <p:nvPr/>
        </p:nvSpPr>
        <p:spPr>
          <a:xfrm>
            <a:off x="1071375" y="2695025"/>
            <a:ext cx="2466300" cy="7941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chemeClr val="dk1"/>
              </a:buClr>
              <a:buSzPts val="1100"/>
              <a:buFont typeface="Arial"/>
              <a:buNone/>
            </a:pPr>
            <a:r>
              <a:rPr lang="es-419" sz="1200" b="0" i="0" u="none" strike="noStrike" cap="none">
                <a:solidFill>
                  <a:schemeClr val="dk1"/>
                </a:solidFill>
                <a:latin typeface="DM Sans"/>
                <a:ea typeface="DM Sans"/>
                <a:cs typeface="DM Sans"/>
                <a:sym typeface="DM Sans"/>
              </a:rPr>
              <a:t>Se produce la primera vez que un componente va a generarse, incluyéndose en el DOM.</a:t>
            </a:r>
            <a:endParaRPr sz="1200" b="0" i="0" u="none" strike="noStrike" cap="none">
              <a:solidFill>
                <a:schemeClr val="dk1"/>
              </a:solidFill>
              <a:latin typeface="DM Sans"/>
              <a:ea typeface="DM Sans"/>
              <a:cs typeface="DM Sans"/>
              <a:sym typeface="DM Sans"/>
            </a:endParaRPr>
          </a:p>
        </p:txBody>
      </p:sp>
      <p:sp>
        <p:nvSpPr>
          <p:cNvPr id="115" name="Google Shape;115;p31"/>
          <p:cNvSpPr txBox="1"/>
          <p:nvPr/>
        </p:nvSpPr>
        <p:spPr>
          <a:xfrm>
            <a:off x="3614075" y="2695025"/>
            <a:ext cx="2093700" cy="10065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350"/>
              <a:buFont typeface="Arial"/>
              <a:buNone/>
            </a:pPr>
            <a:r>
              <a:rPr lang="es-419" sz="1200" b="0" i="0" u="none" strike="noStrike" cap="none">
                <a:solidFill>
                  <a:schemeClr val="dk1"/>
                </a:solidFill>
                <a:latin typeface="DM Sans"/>
                <a:ea typeface="DM Sans"/>
                <a:cs typeface="DM Sans"/>
                <a:sym typeface="DM Sans"/>
              </a:rPr>
              <a:t>Se produce cuando el componente ya generado se está actualizando por un cambio de estado.</a:t>
            </a:r>
            <a:endParaRPr sz="1200" b="0" i="0" u="none" strike="noStrike" cap="none">
              <a:solidFill>
                <a:schemeClr val="dk1"/>
              </a:solidFill>
              <a:latin typeface="DM Sans"/>
              <a:ea typeface="DM Sans"/>
              <a:cs typeface="DM Sans"/>
              <a:sym typeface="DM Sans"/>
            </a:endParaRPr>
          </a:p>
        </p:txBody>
      </p:sp>
      <p:sp>
        <p:nvSpPr>
          <p:cNvPr id="116" name="Google Shape;116;p31"/>
          <p:cNvSpPr txBox="1"/>
          <p:nvPr/>
        </p:nvSpPr>
        <p:spPr>
          <a:xfrm>
            <a:off x="6025849" y="2695025"/>
            <a:ext cx="2037300" cy="10296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350"/>
              <a:buFont typeface="Arial"/>
              <a:buNone/>
            </a:pPr>
            <a:r>
              <a:rPr lang="es-419" sz="1200" b="0" i="0" u="none" strike="noStrike" cap="none">
                <a:solidFill>
                  <a:schemeClr val="dk1"/>
                </a:solidFill>
                <a:latin typeface="DM Sans"/>
                <a:ea typeface="DM Sans"/>
                <a:cs typeface="DM Sans"/>
                <a:sym typeface="DM Sans"/>
              </a:rPr>
              <a:t>Se produce cuando el componente se elimina del DOM.</a:t>
            </a:r>
            <a:endParaRPr sz="1200" b="0" i="0" u="none" strike="noStrike" cap="none">
              <a:solidFill>
                <a:schemeClr val="dk1"/>
              </a:solidFill>
              <a:latin typeface="Helvetica Neue Light"/>
              <a:ea typeface="Helvetica Neue Light"/>
              <a:cs typeface="Helvetica Neue Light"/>
              <a:sym typeface="Helvetica Neue Light"/>
            </a:endParaRPr>
          </a:p>
          <a:p>
            <a:pPr marL="0" marR="0" lvl="0" indent="0" algn="ctr" rtl="0">
              <a:lnSpc>
                <a:spcPct val="115000"/>
              </a:lnSpc>
              <a:spcBef>
                <a:spcPts val="0"/>
              </a:spcBef>
              <a:spcAft>
                <a:spcPts val="0"/>
              </a:spcAft>
              <a:buClr>
                <a:schemeClr val="dk1"/>
              </a:buClr>
              <a:buSzPts val="1100"/>
              <a:buFont typeface="Arial"/>
              <a:buNone/>
            </a:pPr>
            <a:endParaRPr sz="1350" b="0" i="0" u="none" strike="noStrike" cap="none">
              <a:solidFill>
                <a:schemeClr val="dk1"/>
              </a:solidFill>
              <a:latin typeface="DM Sans"/>
              <a:ea typeface="DM Sans"/>
              <a:cs typeface="DM Sans"/>
              <a:sym typeface="DM Sans"/>
            </a:endParaRPr>
          </a:p>
        </p:txBody>
      </p:sp>
      <p:sp>
        <p:nvSpPr>
          <p:cNvPr id="117" name="Google Shape;117;p31"/>
          <p:cNvSpPr txBox="1"/>
          <p:nvPr/>
        </p:nvSpPr>
        <p:spPr>
          <a:xfrm>
            <a:off x="4432226" y="1976400"/>
            <a:ext cx="318000" cy="378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000"/>
              <a:buFont typeface="Arial"/>
              <a:buNone/>
            </a:pPr>
            <a:r>
              <a:rPr lang="es-419" b="1" i="0" u="none" strike="noStrike" cap="none">
                <a:solidFill>
                  <a:schemeClr val="dk1"/>
                </a:solidFill>
                <a:latin typeface="DM Sans"/>
                <a:ea typeface="DM Sans"/>
                <a:cs typeface="DM Sans"/>
                <a:sym typeface="DM Sans"/>
              </a:rPr>
              <a:t>2</a:t>
            </a:r>
            <a:endParaRPr b="1" i="0" u="none" strike="noStrike" cap="none">
              <a:solidFill>
                <a:schemeClr val="dk1"/>
              </a:solidFill>
              <a:latin typeface="DM Sans"/>
              <a:ea typeface="DM Sans"/>
              <a:cs typeface="DM Sans"/>
              <a:sym typeface="DM Sans"/>
            </a:endParaRPr>
          </a:p>
        </p:txBody>
      </p:sp>
      <p:sp>
        <p:nvSpPr>
          <p:cNvPr id="118" name="Google Shape;118;p31"/>
          <p:cNvSpPr txBox="1"/>
          <p:nvPr/>
        </p:nvSpPr>
        <p:spPr>
          <a:xfrm>
            <a:off x="6920182" y="1976400"/>
            <a:ext cx="318000" cy="3786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000"/>
              <a:buFont typeface="Arial"/>
              <a:buNone/>
            </a:pPr>
            <a:r>
              <a:rPr lang="es-419" b="1" i="0" u="none" strike="noStrike" cap="none">
                <a:solidFill>
                  <a:schemeClr val="dk1"/>
                </a:solidFill>
                <a:latin typeface="DM Sans"/>
                <a:ea typeface="DM Sans"/>
                <a:cs typeface="DM Sans"/>
                <a:sym typeface="DM Sans"/>
              </a:rPr>
              <a:t>3</a:t>
            </a:r>
            <a:endParaRPr b="1" i="0" u="none" strike="noStrike" cap="none">
              <a:solidFill>
                <a:schemeClr val="dk1"/>
              </a:solidFill>
              <a:latin typeface="DM Sans"/>
              <a:ea typeface="DM Sans"/>
              <a:cs typeface="DM Sans"/>
              <a:sym typeface="DM Sans"/>
            </a:endParaRPr>
          </a:p>
        </p:txBody>
      </p:sp>
      <p:grpSp>
        <p:nvGrpSpPr>
          <p:cNvPr id="119" name="Google Shape;119;p31"/>
          <p:cNvGrpSpPr/>
          <p:nvPr/>
        </p:nvGrpSpPr>
        <p:grpSpPr>
          <a:xfrm>
            <a:off x="2030199" y="1980611"/>
            <a:ext cx="450599" cy="378666"/>
            <a:chOff x="1731113" y="1953850"/>
            <a:chExt cx="587100" cy="596700"/>
          </a:xfrm>
        </p:grpSpPr>
        <p:sp>
          <p:nvSpPr>
            <p:cNvPr id="111" name="Google Shape;111;p31"/>
            <p:cNvSpPr/>
            <p:nvPr/>
          </p:nvSpPr>
          <p:spPr>
            <a:xfrm>
              <a:off x="1731113" y="1960479"/>
              <a:ext cx="587100" cy="587100"/>
            </a:xfrm>
            <a:prstGeom prst="ellipse">
              <a:avLst/>
            </a:prstGeom>
            <a:solidFill>
              <a:srgbClr val="EAFF6A"/>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31"/>
            <p:cNvSpPr txBox="1"/>
            <p:nvPr/>
          </p:nvSpPr>
          <p:spPr>
            <a:xfrm>
              <a:off x="1817525" y="1953850"/>
              <a:ext cx="414300" cy="596700"/>
            </a:xfrm>
            <a:prstGeom prst="rect">
              <a:avLst/>
            </a:prstGeom>
            <a:noFill/>
            <a:ln>
              <a:noFill/>
            </a:ln>
          </p:spPr>
          <p:txBody>
            <a:bodyPr spcFirstLastPara="1" wrap="square" lIns="91425" tIns="91425" rIns="91425" bIns="91425" anchor="t" anchorCtr="0">
              <a:spAutoFit/>
            </a:bodyPr>
            <a:lstStyle/>
            <a:p>
              <a:pPr marL="0" marR="0" lvl="0" indent="0" algn="ctr" rtl="0">
                <a:lnSpc>
                  <a:spcPct val="90000"/>
                </a:lnSpc>
                <a:spcBef>
                  <a:spcPts val="0"/>
                </a:spcBef>
                <a:spcAft>
                  <a:spcPts val="0"/>
                </a:spcAft>
                <a:buClr>
                  <a:srgbClr val="000000"/>
                </a:buClr>
                <a:buSzPts val="3000"/>
                <a:buFont typeface="Arial"/>
                <a:buNone/>
              </a:pPr>
              <a:r>
                <a:rPr lang="es-419" b="1" i="0" u="none" strike="noStrike" cap="none">
                  <a:solidFill>
                    <a:schemeClr val="dk1"/>
                  </a:solidFill>
                  <a:latin typeface="DM Sans"/>
                  <a:ea typeface="DM Sans"/>
                  <a:cs typeface="DM Sans"/>
                  <a:sym typeface="DM Sans"/>
                </a:rPr>
                <a:t>1</a:t>
              </a:r>
              <a:endParaRPr b="1" i="0" u="none" strike="noStrike" cap="none">
                <a:solidFill>
                  <a:schemeClr val="dk1"/>
                </a:solidFill>
                <a:latin typeface="DM Sans"/>
                <a:ea typeface="DM Sans"/>
                <a:cs typeface="DM Sans"/>
                <a:sym typeface="DM Sans"/>
              </a:endParaRPr>
            </a:p>
          </p:txBody>
        </p:sp>
      </p:grpSp>
      <p:sp>
        <p:nvSpPr>
          <p:cNvPr id="121" name="Google Shape;121;p31"/>
          <p:cNvSpPr txBox="1"/>
          <p:nvPr/>
        </p:nvSpPr>
        <p:spPr>
          <a:xfrm>
            <a:off x="457725" y="3969325"/>
            <a:ext cx="6176100" cy="848279"/>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350"/>
              <a:buFont typeface="Arial"/>
              <a:buNone/>
            </a:pPr>
            <a:r>
              <a:rPr lang="es-419" sz="1250" dirty="0" smtClean="0">
                <a:solidFill>
                  <a:schemeClr val="dk1"/>
                </a:solidFill>
                <a:latin typeface="DM Sans"/>
                <a:ea typeface="DM Sans"/>
                <a:cs typeface="DM Sans"/>
                <a:sym typeface="DM Sans"/>
              </a:rPr>
              <a:t>-El </a:t>
            </a:r>
            <a:r>
              <a:rPr lang="es-419" sz="1250" dirty="0">
                <a:solidFill>
                  <a:schemeClr val="dk1"/>
                </a:solidFill>
                <a:latin typeface="DM Sans"/>
                <a:ea typeface="DM Sans"/>
                <a:cs typeface="DM Sans"/>
                <a:sym typeface="DM Sans"/>
              </a:rPr>
              <a:t>componente contenedor puede montar o desmontar a su hija/o.</a:t>
            </a:r>
            <a:endParaRPr sz="1250" dirty="0">
              <a:solidFill>
                <a:schemeClr val="dk1"/>
              </a:solidFill>
              <a:latin typeface="DM Sans"/>
              <a:ea typeface="DM Sans"/>
              <a:cs typeface="DM Sans"/>
              <a:sym typeface="DM Sans"/>
            </a:endParaRPr>
          </a:p>
          <a:p>
            <a:pPr marL="0" marR="0" lvl="0" indent="0" algn="l" rtl="0">
              <a:lnSpc>
                <a:spcPct val="115000"/>
              </a:lnSpc>
              <a:spcBef>
                <a:spcPts val="0"/>
              </a:spcBef>
              <a:spcAft>
                <a:spcPts val="0"/>
              </a:spcAft>
              <a:buClr>
                <a:srgbClr val="000000"/>
              </a:buClr>
              <a:buSzPts val="1350"/>
              <a:buFont typeface="Arial"/>
              <a:buNone/>
            </a:pPr>
            <a:r>
              <a:rPr lang="es-419" sz="1250" dirty="0" smtClean="0">
                <a:solidFill>
                  <a:schemeClr val="dk1"/>
                </a:solidFill>
                <a:latin typeface="DM Sans"/>
                <a:ea typeface="DM Sans"/>
                <a:cs typeface="DM Sans"/>
                <a:sym typeface="DM Sans"/>
              </a:rPr>
              <a:t>-El </a:t>
            </a:r>
            <a:r>
              <a:rPr lang="es-419" sz="1250" dirty="0">
                <a:solidFill>
                  <a:schemeClr val="dk1"/>
                </a:solidFill>
                <a:latin typeface="DM Sans"/>
                <a:ea typeface="DM Sans"/>
                <a:cs typeface="DM Sans"/>
                <a:sym typeface="DM Sans"/>
              </a:rPr>
              <a:t>componente específico</a:t>
            </a:r>
            <a:r>
              <a:rPr lang="es-419" sz="1250" b="0" i="0" u="none" strike="noStrike" cap="none" dirty="0">
                <a:solidFill>
                  <a:schemeClr val="dk1"/>
                </a:solidFill>
                <a:latin typeface="DM Sans"/>
                <a:ea typeface="DM Sans"/>
                <a:cs typeface="DM Sans"/>
                <a:sym typeface="DM Sans"/>
              </a:rPr>
              <a:t> tendrá la posibilidad de cambiar todas las veces que quiera hasta que el componente que lo generó lo destruya.</a:t>
            </a:r>
            <a:endParaRPr sz="1250" b="0" i="0" u="none" strike="noStrike" cap="none" dirty="0">
              <a:solidFill>
                <a:schemeClr val="dk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32"/>
          <p:cNvSpPr txBox="1"/>
          <p:nvPr/>
        </p:nvSpPr>
        <p:spPr>
          <a:xfrm>
            <a:off x="457725" y="918650"/>
            <a:ext cx="58242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419" sz="4000" b="1">
                <a:solidFill>
                  <a:schemeClr val="dk1"/>
                </a:solidFill>
                <a:latin typeface="DM Sans"/>
                <a:ea typeface="DM Sans"/>
                <a:cs typeface="DM Sans"/>
                <a:sym typeface="DM Sans"/>
              </a:rPr>
              <a:t>Props Children</a:t>
            </a:r>
            <a:endParaRPr sz="4000" b="1">
              <a:solidFill>
                <a:schemeClr val="dk1"/>
              </a:solidFill>
              <a:latin typeface="DM Sans"/>
              <a:ea typeface="DM Sans"/>
              <a:cs typeface="DM Sans"/>
              <a:sym typeface="DM Sans"/>
            </a:endParaRPr>
          </a:p>
        </p:txBody>
      </p:sp>
      <p:sp>
        <p:nvSpPr>
          <p:cNvPr id="127" name="Google Shape;127;p32"/>
          <p:cNvSpPr txBox="1"/>
          <p:nvPr/>
        </p:nvSpPr>
        <p:spPr>
          <a:xfrm>
            <a:off x="457725" y="1754425"/>
            <a:ext cx="5824200" cy="2577727"/>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419" sz="1350" dirty="0" err="1">
                <a:solidFill>
                  <a:schemeClr val="dk1"/>
                </a:solidFill>
                <a:latin typeface="DM Sans"/>
                <a:ea typeface="DM Sans"/>
                <a:cs typeface="DM Sans"/>
                <a:sym typeface="DM Sans"/>
              </a:rPr>
              <a:t>Children</a:t>
            </a:r>
            <a:r>
              <a:rPr lang="es-419" sz="1350" dirty="0">
                <a:solidFill>
                  <a:schemeClr val="dk1"/>
                </a:solidFill>
                <a:latin typeface="DM Sans"/>
                <a:ea typeface="DM Sans"/>
                <a:cs typeface="DM Sans"/>
                <a:sym typeface="DM Sans"/>
              </a:rPr>
              <a:t> es una </a:t>
            </a:r>
            <a:r>
              <a:rPr lang="es-419" sz="1350" dirty="0" err="1">
                <a:solidFill>
                  <a:schemeClr val="dk1"/>
                </a:solidFill>
                <a:latin typeface="DM Sans"/>
                <a:ea typeface="DM Sans"/>
                <a:cs typeface="DM Sans"/>
                <a:sym typeface="DM Sans"/>
              </a:rPr>
              <a:t>prop</a:t>
            </a:r>
            <a:r>
              <a:rPr lang="es-419" sz="1350" dirty="0">
                <a:solidFill>
                  <a:schemeClr val="dk1"/>
                </a:solidFill>
                <a:latin typeface="DM Sans"/>
                <a:ea typeface="DM Sans"/>
                <a:cs typeface="DM Sans"/>
                <a:sym typeface="DM Sans"/>
              </a:rPr>
              <a:t> especial que tiene </a:t>
            </a:r>
            <a:r>
              <a:rPr lang="es-419" sz="1350" dirty="0" err="1">
                <a:solidFill>
                  <a:schemeClr val="dk1"/>
                </a:solidFill>
                <a:latin typeface="DM Sans"/>
                <a:ea typeface="DM Sans"/>
                <a:cs typeface="DM Sans"/>
                <a:sym typeface="DM Sans"/>
              </a:rPr>
              <a:t>React</a:t>
            </a:r>
            <a:r>
              <a:rPr lang="es-419" sz="1350" dirty="0">
                <a:solidFill>
                  <a:schemeClr val="dk1"/>
                </a:solidFill>
                <a:latin typeface="DM Sans"/>
                <a:ea typeface="DM Sans"/>
                <a:cs typeface="DM Sans"/>
                <a:sym typeface="DM Sans"/>
              </a:rPr>
              <a:t> para permitirnos componer elementos (</a:t>
            </a:r>
            <a:r>
              <a:rPr lang="es-419" sz="1350" dirty="0" err="1">
                <a:solidFill>
                  <a:schemeClr val="dk1"/>
                </a:solidFill>
                <a:latin typeface="DM Sans"/>
                <a:ea typeface="DM Sans"/>
                <a:cs typeface="DM Sans"/>
                <a:sym typeface="DM Sans"/>
              </a:rPr>
              <a:t>React</a:t>
            </a:r>
            <a:r>
              <a:rPr lang="es-419" sz="1350" dirty="0">
                <a:solidFill>
                  <a:schemeClr val="dk1"/>
                </a:solidFill>
                <a:latin typeface="DM Sans"/>
                <a:ea typeface="DM Sans"/>
                <a:cs typeface="DM Sans"/>
                <a:sym typeface="DM Sans"/>
              </a:rPr>
              <a:t> o HTML) dentro de otros componentes.</a:t>
            </a:r>
            <a:endParaRPr sz="1350" dirty="0">
              <a:solidFill>
                <a:schemeClr val="dk1"/>
              </a:solidFill>
              <a:latin typeface="DM Sans"/>
              <a:ea typeface="DM Sans"/>
              <a:cs typeface="DM Sans"/>
              <a:sym typeface="DM Sans"/>
            </a:endParaRPr>
          </a:p>
          <a:p>
            <a:pPr marL="0" lvl="0" indent="0" algn="l" rtl="0">
              <a:lnSpc>
                <a:spcPct val="115000"/>
              </a:lnSpc>
              <a:spcBef>
                <a:spcPts val="1000"/>
              </a:spcBef>
              <a:spcAft>
                <a:spcPts val="0"/>
              </a:spcAft>
              <a:buNone/>
            </a:pPr>
            <a:r>
              <a:rPr lang="es-419" sz="1350" dirty="0">
                <a:solidFill>
                  <a:schemeClr val="dk1"/>
                </a:solidFill>
                <a:latin typeface="DM Sans"/>
                <a:ea typeface="DM Sans"/>
                <a:cs typeface="DM Sans"/>
                <a:sym typeface="DM Sans"/>
              </a:rPr>
              <a:t>Es ideal cuando:</a:t>
            </a:r>
            <a:endParaRPr sz="1350" b="1" dirty="0">
              <a:solidFill>
                <a:schemeClr val="dk1"/>
              </a:solidFill>
              <a:latin typeface="DM Sans"/>
              <a:ea typeface="DM Sans"/>
              <a:cs typeface="DM Sans"/>
              <a:sym typeface="DM Sans"/>
            </a:endParaRPr>
          </a:p>
          <a:p>
            <a:pPr marL="457200" lvl="0" indent="-314325" algn="l" rtl="0">
              <a:lnSpc>
                <a:spcPct val="115000"/>
              </a:lnSpc>
              <a:spcBef>
                <a:spcPts val="1000"/>
              </a:spcBef>
              <a:spcAft>
                <a:spcPts val="0"/>
              </a:spcAft>
              <a:buClr>
                <a:srgbClr val="EA90FF"/>
              </a:buClr>
              <a:buSzPts val="1350"/>
              <a:buFont typeface="DM Sans"/>
              <a:buChar char="✓"/>
            </a:pPr>
            <a:r>
              <a:rPr lang="es-419" sz="1350" dirty="0" smtClean="0">
                <a:solidFill>
                  <a:schemeClr val="dk1"/>
                </a:solidFill>
                <a:latin typeface="DM Sans"/>
                <a:ea typeface="DM Sans"/>
                <a:cs typeface="DM Sans"/>
                <a:sym typeface="DM Sans"/>
              </a:rPr>
              <a:t>Necesitamos </a:t>
            </a:r>
            <a:r>
              <a:rPr lang="es-419" sz="1350" dirty="0">
                <a:solidFill>
                  <a:schemeClr val="dk1"/>
                </a:solidFill>
                <a:latin typeface="DM Sans"/>
                <a:ea typeface="DM Sans"/>
                <a:cs typeface="DM Sans"/>
                <a:sym typeface="DM Sans"/>
              </a:rPr>
              <a:t>implementar patrones más complejos</a:t>
            </a:r>
            <a:r>
              <a:rPr lang="es-419" sz="1350" dirty="0" smtClean="0">
                <a:solidFill>
                  <a:schemeClr val="dk1"/>
                </a:solidFill>
                <a:latin typeface="DM Sans"/>
                <a:ea typeface="DM Sans"/>
                <a:cs typeface="DM Sans"/>
                <a:sym typeface="DM Sans"/>
              </a:rPr>
              <a:t>.</a:t>
            </a:r>
          </a:p>
          <a:p>
            <a:pPr marL="457200" indent="-314325">
              <a:lnSpc>
                <a:spcPct val="115000"/>
              </a:lnSpc>
              <a:spcBef>
                <a:spcPts val="1000"/>
              </a:spcBef>
              <a:buClr>
                <a:srgbClr val="EA90FF"/>
              </a:buClr>
              <a:buSzPts val="1350"/>
              <a:buFont typeface="DM Sans"/>
              <a:buChar char="✓"/>
            </a:pPr>
            <a:r>
              <a:rPr lang="es-MX" sz="1350" dirty="0">
                <a:solidFill>
                  <a:schemeClr val="dk1"/>
                </a:solidFill>
                <a:latin typeface="DM Sans"/>
                <a:ea typeface="DM Sans"/>
                <a:cs typeface="DM Sans"/>
                <a:sym typeface="DM Sans"/>
              </a:rPr>
              <a:t>Necesitamos que un elemento quede dentro de otro, sin que sepan el uno del otro</a:t>
            </a:r>
            <a:r>
              <a:rPr lang="es-MX" sz="1350" dirty="0" smtClean="0">
                <a:solidFill>
                  <a:schemeClr val="dk1"/>
                </a:solidFill>
                <a:latin typeface="DM Sans"/>
                <a:ea typeface="DM Sans"/>
                <a:cs typeface="DM Sans"/>
                <a:sym typeface="DM Sans"/>
              </a:rPr>
              <a:t>. (Anidar)</a:t>
            </a:r>
            <a:endParaRPr lang="es-MX" sz="1350" dirty="0">
              <a:solidFill>
                <a:schemeClr val="dk1"/>
              </a:solidFill>
              <a:latin typeface="DM Sans"/>
              <a:ea typeface="DM Sans"/>
              <a:cs typeface="DM Sans"/>
              <a:sym typeface="DM Sans"/>
            </a:endParaRPr>
          </a:p>
          <a:p>
            <a:pPr marL="457200" lvl="0" indent="-314325" algn="l" rtl="0">
              <a:lnSpc>
                <a:spcPct val="115000"/>
              </a:lnSpc>
              <a:spcBef>
                <a:spcPts val="1000"/>
              </a:spcBef>
              <a:spcAft>
                <a:spcPts val="0"/>
              </a:spcAft>
              <a:buClr>
                <a:srgbClr val="EA90FF"/>
              </a:buClr>
              <a:buSzPts val="1350"/>
              <a:buFont typeface="DM Sans"/>
              <a:buChar char="✓"/>
            </a:pPr>
            <a:endParaRPr sz="1350" dirty="0">
              <a:solidFill>
                <a:schemeClr val="dk1"/>
              </a:solidFill>
              <a:latin typeface="DM Sans"/>
              <a:ea typeface="DM Sans"/>
              <a:cs typeface="DM Sans"/>
              <a:sym typeface="DM Sans"/>
            </a:endParaRPr>
          </a:p>
          <a:p>
            <a:pPr marL="0" lvl="0" indent="0" algn="l" rtl="0">
              <a:spcBef>
                <a:spcPts val="0"/>
              </a:spcBef>
              <a:spcAft>
                <a:spcPts val="0"/>
              </a:spcAft>
              <a:buNone/>
            </a:pPr>
            <a:endParaRPr sz="1350" dirty="0">
              <a:latin typeface="DM Sans"/>
              <a:ea typeface="DM Sans"/>
              <a:cs typeface="DM Sans"/>
              <a:sym typeface="DM Sans"/>
            </a:endParaRPr>
          </a:p>
        </p:txBody>
      </p:sp>
      <p:pic>
        <p:nvPicPr>
          <p:cNvPr id="128" name="Google Shape;128;p32"/>
          <p:cNvPicPr preferRelativeResize="0"/>
          <p:nvPr/>
        </p:nvPicPr>
        <p:blipFill>
          <a:blip r:embed="rId3">
            <a:alphaModFix/>
          </a:blip>
          <a:stretch>
            <a:fillRect/>
          </a:stretch>
        </p:blipFill>
        <p:spPr>
          <a:xfrm>
            <a:off x="6841150" y="1401175"/>
            <a:ext cx="2107100" cy="2107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33"/>
          <p:cNvSpPr txBox="1"/>
          <p:nvPr/>
        </p:nvSpPr>
        <p:spPr>
          <a:xfrm>
            <a:off x="457725" y="461450"/>
            <a:ext cx="58242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419" sz="4000" b="1">
                <a:solidFill>
                  <a:schemeClr val="dk1"/>
                </a:solidFill>
                <a:latin typeface="DM Sans"/>
                <a:ea typeface="DM Sans"/>
                <a:cs typeface="DM Sans"/>
                <a:sym typeface="DM Sans"/>
              </a:rPr>
              <a:t>Children</a:t>
            </a:r>
            <a:endParaRPr sz="4000" b="1">
              <a:solidFill>
                <a:schemeClr val="dk1"/>
              </a:solidFill>
              <a:latin typeface="DM Sans"/>
              <a:ea typeface="DM Sans"/>
              <a:cs typeface="DM Sans"/>
              <a:sym typeface="DM Sans"/>
            </a:endParaRPr>
          </a:p>
        </p:txBody>
      </p:sp>
      <p:pic>
        <p:nvPicPr>
          <p:cNvPr id="135" name="Google Shape;135;p33"/>
          <p:cNvPicPr preferRelativeResize="0"/>
          <p:nvPr/>
        </p:nvPicPr>
        <p:blipFill>
          <a:blip r:embed="rId3">
            <a:alphaModFix/>
          </a:blip>
          <a:stretch>
            <a:fillRect/>
          </a:stretch>
        </p:blipFill>
        <p:spPr>
          <a:xfrm>
            <a:off x="307354" y="1148475"/>
            <a:ext cx="4832175" cy="2846550"/>
          </a:xfrm>
          <a:prstGeom prst="rect">
            <a:avLst/>
          </a:prstGeom>
          <a:noFill/>
          <a:ln>
            <a:noFill/>
          </a:ln>
        </p:spPr>
      </p:pic>
      <p:pic>
        <p:nvPicPr>
          <p:cNvPr id="136" name="Google Shape;136;p33"/>
          <p:cNvPicPr preferRelativeResize="0"/>
          <p:nvPr/>
        </p:nvPicPr>
        <p:blipFill>
          <a:blip r:embed="rId4">
            <a:alphaModFix/>
          </a:blip>
          <a:stretch>
            <a:fillRect/>
          </a:stretch>
        </p:blipFill>
        <p:spPr>
          <a:xfrm>
            <a:off x="276427" y="3767297"/>
            <a:ext cx="6290200" cy="1200850"/>
          </a:xfrm>
          <a:prstGeom prst="rect">
            <a:avLst/>
          </a:prstGeom>
          <a:noFill/>
          <a:ln>
            <a:noFill/>
          </a:ln>
        </p:spPr>
      </p:pic>
      <p:sp>
        <p:nvSpPr>
          <p:cNvPr id="137" name="Google Shape;137;p33"/>
          <p:cNvSpPr txBox="1"/>
          <p:nvPr/>
        </p:nvSpPr>
        <p:spPr>
          <a:xfrm>
            <a:off x="6805025" y="751300"/>
            <a:ext cx="2181600" cy="3534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419" sz="1350">
                <a:solidFill>
                  <a:schemeClr val="dk1"/>
                </a:solidFill>
                <a:latin typeface="DM Sans"/>
                <a:ea typeface="DM Sans"/>
                <a:cs typeface="DM Sans"/>
                <a:sym typeface="DM Sans"/>
              </a:rPr>
              <a:t>React inyecta </a:t>
            </a:r>
            <a:br>
              <a:rPr lang="es-419" sz="1350">
                <a:solidFill>
                  <a:schemeClr val="dk1"/>
                </a:solidFill>
                <a:latin typeface="DM Sans"/>
                <a:ea typeface="DM Sans"/>
                <a:cs typeface="DM Sans"/>
                <a:sym typeface="DM Sans"/>
              </a:rPr>
            </a:br>
            <a:r>
              <a:rPr lang="es-419" sz="1350">
                <a:solidFill>
                  <a:schemeClr val="dk1"/>
                </a:solidFill>
                <a:latin typeface="DM Sans"/>
                <a:ea typeface="DM Sans"/>
                <a:cs typeface="DM Sans"/>
                <a:sym typeface="DM Sans"/>
              </a:rPr>
              <a:t>automáticamente </a:t>
            </a:r>
            <a:br>
              <a:rPr lang="es-419" sz="1350">
                <a:solidFill>
                  <a:schemeClr val="dk1"/>
                </a:solidFill>
                <a:latin typeface="DM Sans"/>
                <a:ea typeface="DM Sans"/>
                <a:cs typeface="DM Sans"/>
                <a:sym typeface="DM Sans"/>
              </a:rPr>
            </a:br>
            <a:r>
              <a:rPr lang="es-419" sz="1350" b="1">
                <a:solidFill>
                  <a:schemeClr val="dk1"/>
                </a:solidFill>
                <a:latin typeface="DM Sans"/>
                <a:ea typeface="DM Sans"/>
                <a:cs typeface="DM Sans"/>
                <a:sym typeface="DM Sans"/>
              </a:rPr>
              <a:t>children</a:t>
            </a:r>
            <a:r>
              <a:rPr lang="es-419" sz="1350">
                <a:solidFill>
                  <a:schemeClr val="dk1"/>
                </a:solidFill>
                <a:latin typeface="DM Sans"/>
                <a:ea typeface="DM Sans"/>
                <a:cs typeface="DM Sans"/>
                <a:sym typeface="DM Sans"/>
              </a:rPr>
              <a:t> en las props, </a:t>
            </a:r>
            <a:br>
              <a:rPr lang="es-419" sz="1350">
                <a:solidFill>
                  <a:schemeClr val="dk1"/>
                </a:solidFill>
                <a:latin typeface="DM Sans"/>
                <a:ea typeface="DM Sans"/>
                <a:cs typeface="DM Sans"/>
                <a:sym typeface="DM Sans"/>
              </a:rPr>
            </a:br>
            <a:r>
              <a:rPr lang="es-419" sz="1350">
                <a:solidFill>
                  <a:schemeClr val="dk1"/>
                </a:solidFill>
                <a:latin typeface="DM Sans"/>
                <a:ea typeface="DM Sans"/>
                <a:cs typeface="DM Sans"/>
                <a:sym typeface="DM Sans"/>
              </a:rPr>
              <a:t>sólo si encuentra </a:t>
            </a:r>
            <a:br>
              <a:rPr lang="es-419" sz="1350">
                <a:solidFill>
                  <a:schemeClr val="dk1"/>
                </a:solidFill>
                <a:latin typeface="DM Sans"/>
                <a:ea typeface="DM Sans"/>
                <a:cs typeface="DM Sans"/>
                <a:sym typeface="DM Sans"/>
              </a:rPr>
            </a:br>
            <a:r>
              <a:rPr lang="es-419" sz="1350">
                <a:solidFill>
                  <a:schemeClr val="dk1"/>
                </a:solidFill>
                <a:latin typeface="DM Sans"/>
                <a:ea typeface="DM Sans"/>
                <a:cs typeface="DM Sans"/>
                <a:sym typeface="DM Sans"/>
              </a:rPr>
              <a:t>alguno.</a:t>
            </a:r>
            <a:endParaRPr sz="1350">
              <a:solidFill>
                <a:schemeClr val="dk1"/>
              </a:solidFill>
              <a:latin typeface="DM Sans"/>
              <a:ea typeface="DM Sans"/>
              <a:cs typeface="DM Sans"/>
              <a:sym typeface="DM Sans"/>
            </a:endParaRPr>
          </a:p>
          <a:p>
            <a:pPr marL="0" lvl="0" indent="0" algn="l" rtl="0">
              <a:lnSpc>
                <a:spcPct val="115000"/>
              </a:lnSpc>
              <a:spcBef>
                <a:spcPts val="1000"/>
              </a:spcBef>
              <a:spcAft>
                <a:spcPts val="0"/>
              </a:spcAft>
              <a:buNone/>
            </a:pPr>
            <a:endParaRPr sz="1350">
              <a:solidFill>
                <a:schemeClr val="dk1"/>
              </a:solidFill>
              <a:latin typeface="DM Sans"/>
              <a:ea typeface="DM Sans"/>
              <a:cs typeface="DM Sans"/>
              <a:sym typeface="DM Sans"/>
            </a:endParaRPr>
          </a:p>
          <a:p>
            <a:pPr marL="0" lvl="0" indent="0" algn="l" rtl="0">
              <a:lnSpc>
                <a:spcPct val="115000"/>
              </a:lnSpc>
              <a:spcBef>
                <a:spcPts val="1000"/>
              </a:spcBef>
              <a:spcAft>
                <a:spcPts val="0"/>
              </a:spcAft>
              <a:buNone/>
            </a:pPr>
            <a:r>
              <a:rPr lang="es-419" sz="1350">
                <a:solidFill>
                  <a:schemeClr val="dk1"/>
                </a:solidFill>
                <a:latin typeface="DM Sans"/>
                <a:ea typeface="DM Sans"/>
                <a:cs typeface="DM Sans"/>
                <a:sym typeface="DM Sans"/>
              </a:rPr>
              <a:t>Si hay un sólo elemento como children, lo inyecta como objeto. Si son más lo hace como array..</a:t>
            </a:r>
            <a:endParaRPr sz="1350">
              <a:solidFill>
                <a:schemeClr val="dk1"/>
              </a:solidFill>
              <a:latin typeface="DM Sans"/>
              <a:ea typeface="DM Sans"/>
              <a:cs typeface="DM Sans"/>
              <a:sym typeface="DM Sans"/>
            </a:endParaRPr>
          </a:p>
          <a:p>
            <a:pPr marL="0" lvl="0" indent="0" algn="l" rtl="0">
              <a:lnSpc>
                <a:spcPct val="115000"/>
              </a:lnSpc>
              <a:spcBef>
                <a:spcPts val="1000"/>
              </a:spcBef>
              <a:spcAft>
                <a:spcPts val="0"/>
              </a:spcAft>
              <a:buNone/>
            </a:pPr>
            <a:endParaRPr sz="1350">
              <a:solidFill>
                <a:schemeClr val="dk1"/>
              </a:solidFill>
              <a:latin typeface="DM Sans"/>
              <a:ea typeface="DM Sans"/>
              <a:cs typeface="DM Sans"/>
              <a:sym typeface="DM Sans"/>
            </a:endParaRPr>
          </a:p>
          <a:p>
            <a:pPr marL="0" lvl="0" indent="0" algn="l" rtl="0">
              <a:lnSpc>
                <a:spcPct val="115000"/>
              </a:lnSpc>
              <a:spcBef>
                <a:spcPts val="1000"/>
              </a:spcBef>
              <a:spcAft>
                <a:spcPts val="1000"/>
              </a:spcAft>
              <a:buNone/>
            </a:pPr>
            <a:endParaRPr sz="1350">
              <a:solidFill>
                <a:schemeClr val="dk1"/>
              </a:solidFill>
              <a:latin typeface="DM Sans"/>
              <a:ea typeface="DM Sans"/>
              <a:cs typeface="DM Sans"/>
              <a:sym typeface="DM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34"/>
          <p:cNvSpPr txBox="1"/>
          <p:nvPr/>
        </p:nvSpPr>
        <p:spPr>
          <a:xfrm>
            <a:off x="473350" y="4671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chemeClr val="dk1"/>
              </a:buClr>
              <a:buSzPts val="1100"/>
              <a:buFont typeface="Arial"/>
              <a:buNone/>
            </a:pPr>
            <a:r>
              <a:rPr lang="es-419" sz="4000" b="1">
                <a:solidFill>
                  <a:schemeClr val="dk1"/>
                </a:solidFill>
                <a:latin typeface="DM Sans"/>
                <a:ea typeface="DM Sans"/>
                <a:cs typeface="DM Sans"/>
                <a:sym typeface="DM Sans"/>
              </a:rPr>
              <a:t>useRef</a:t>
            </a:r>
            <a:endParaRPr sz="4000" b="1" i="0" u="none" strike="noStrike" cap="none">
              <a:solidFill>
                <a:schemeClr val="dk1"/>
              </a:solidFill>
              <a:latin typeface="DM Sans"/>
              <a:ea typeface="DM Sans"/>
              <a:cs typeface="DM Sans"/>
              <a:sym typeface="DM Sans"/>
            </a:endParaRPr>
          </a:p>
        </p:txBody>
      </p:sp>
      <p:sp>
        <p:nvSpPr>
          <p:cNvPr id="143" name="Google Shape;143;p34"/>
          <p:cNvSpPr txBox="1"/>
          <p:nvPr/>
        </p:nvSpPr>
        <p:spPr>
          <a:xfrm>
            <a:off x="449743" y="1744861"/>
            <a:ext cx="4050000" cy="2798172"/>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350" dirty="0">
                <a:solidFill>
                  <a:schemeClr val="dk1"/>
                </a:solidFill>
                <a:latin typeface="DM Sans"/>
                <a:ea typeface="DM Sans"/>
                <a:cs typeface="DM Sans"/>
                <a:sym typeface="DM Sans"/>
              </a:rPr>
              <a:t>El </a:t>
            </a:r>
            <a:r>
              <a:rPr lang="es-419" sz="1350" dirty="0" err="1">
                <a:solidFill>
                  <a:schemeClr val="dk1"/>
                </a:solidFill>
                <a:latin typeface="DM Sans"/>
                <a:ea typeface="DM Sans"/>
                <a:cs typeface="DM Sans"/>
                <a:sym typeface="DM Sans"/>
              </a:rPr>
              <a:t>hook</a:t>
            </a:r>
            <a:r>
              <a:rPr lang="es-419" sz="1350" dirty="0">
                <a:solidFill>
                  <a:schemeClr val="dk1"/>
                </a:solidFill>
                <a:latin typeface="DM Sans"/>
                <a:ea typeface="DM Sans"/>
                <a:cs typeface="DM Sans"/>
                <a:sym typeface="DM Sans"/>
              </a:rPr>
              <a:t> </a:t>
            </a:r>
            <a:r>
              <a:rPr lang="es-419" sz="1350" dirty="0" err="1">
                <a:solidFill>
                  <a:schemeClr val="dk1"/>
                </a:solidFill>
                <a:latin typeface="DM Sans"/>
                <a:ea typeface="DM Sans"/>
                <a:cs typeface="DM Sans"/>
                <a:sym typeface="DM Sans"/>
              </a:rPr>
              <a:t>useRef</a:t>
            </a:r>
            <a:r>
              <a:rPr lang="es-419" sz="1350" dirty="0">
                <a:solidFill>
                  <a:schemeClr val="dk1"/>
                </a:solidFill>
                <a:latin typeface="DM Sans"/>
                <a:ea typeface="DM Sans"/>
                <a:cs typeface="DM Sans"/>
                <a:sym typeface="DM Sans"/>
              </a:rPr>
              <a:t> se utiliza para crear una referencia mutable.</a:t>
            </a:r>
            <a:endParaRPr sz="1350" dirty="0">
              <a:solidFill>
                <a:schemeClr val="dk1"/>
              </a:solidFill>
              <a:latin typeface="DM Sans"/>
              <a:ea typeface="DM Sans"/>
              <a:cs typeface="DM Sans"/>
              <a:sym typeface="DM Sans"/>
            </a:endParaRPr>
          </a:p>
          <a:p>
            <a:pPr marL="0" lvl="0" indent="0" algn="l" rtl="0">
              <a:spcBef>
                <a:spcPts val="1000"/>
              </a:spcBef>
              <a:spcAft>
                <a:spcPts val="0"/>
              </a:spcAft>
              <a:buNone/>
            </a:pPr>
            <a:r>
              <a:rPr lang="es-419" sz="1350" dirty="0">
                <a:solidFill>
                  <a:schemeClr val="dk1"/>
                </a:solidFill>
                <a:latin typeface="DM Sans"/>
                <a:ea typeface="DM Sans"/>
                <a:cs typeface="DM Sans"/>
                <a:sym typeface="DM Sans"/>
              </a:rPr>
              <a:t>Este </a:t>
            </a:r>
            <a:r>
              <a:rPr lang="es-419" sz="1350" dirty="0" err="1">
                <a:solidFill>
                  <a:schemeClr val="dk1"/>
                </a:solidFill>
                <a:latin typeface="DM Sans"/>
                <a:ea typeface="DM Sans"/>
                <a:cs typeface="DM Sans"/>
                <a:sym typeface="DM Sans"/>
              </a:rPr>
              <a:t>hook</a:t>
            </a:r>
            <a:r>
              <a:rPr lang="es-419" sz="1350" dirty="0">
                <a:solidFill>
                  <a:schemeClr val="dk1"/>
                </a:solidFill>
                <a:latin typeface="DM Sans"/>
                <a:ea typeface="DM Sans"/>
                <a:cs typeface="DM Sans"/>
                <a:sym typeface="DM Sans"/>
              </a:rPr>
              <a:t> retorna un objeto con una propiedad </a:t>
            </a:r>
            <a:r>
              <a:rPr lang="es-419" sz="1350" dirty="0" err="1">
                <a:solidFill>
                  <a:schemeClr val="dk1"/>
                </a:solidFill>
                <a:latin typeface="DM Sans"/>
                <a:ea typeface="DM Sans"/>
                <a:cs typeface="DM Sans"/>
                <a:sym typeface="DM Sans"/>
              </a:rPr>
              <a:t>current</a:t>
            </a:r>
            <a:r>
              <a:rPr lang="es-419" sz="1350" dirty="0">
                <a:solidFill>
                  <a:schemeClr val="dk1"/>
                </a:solidFill>
                <a:latin typeface="DM Sans"/>
                <a:ea typeface="DM Sans"/>
                <a:cs typeface="DM Sans"/>
                <a:sym typeface="DM Sans"/>
              </a:rPr>
              <a:t> la cual apuntará a un valor y podremos mutar</a:t>
            </a:r>
            <a:r>
              <a:rPr lang="es-419" sz="1350" dirty="0" smtClean="0">
                <a:solidFill>
                  <a:schemeClr val="dk1"/>
                </a:solidFill>
                <a:latin typeface="DM Sans"/>
                <a:ea typeface="DM Sans"/>
                <a:cs typeface="DM Sans"/>
                <a:sym typeface="DM Sans"/>
              </a:rPr>
              <a:t>.</a:t>
            </a:r>
          </a:p>
          <a:p>
            <a:pPr>
              <a:spcBef>
                <a:spcPts val="1000"/>
              </a:spcBef>
            </a:pPr>
            <a:r>
              <a:rPr lang="es-MX" sz="1200" dirty="0" err="1"/>
              <a:t>useRef</a:t>
            </a:r>
            <a:r>
              <a:rPr lang="es-MX" sz="1200" dirty="0"/>
              <a:t> sirve para guardar un valor o acceder a un elemento del DOM sin que el componente se vuelva a </a:t>
            </a:r>
            <a:r>
              <a:rPr lang="es-MX" sz="1200" dirty="0" err="1"/>
              <a:t>renderizar</a:t>
            </a:r>
            <a:r>
              <a:rPr lang="es-MX" sz="1200" dirty="0"/>
              <a:t>.</a:t>
            </a:r>
          </a:p>
          <a:p>
            <a:pPr marL="0" lvl="0" indent="0" algn="l" rtl="0">
              <a:spcBef>
                <a:spcPts val="1000"/>
              </a:spcBef>
              <a:spcAft>
                <a:spcPts val="0"/>
              </a:spcAft>
              <a:buNone/>
            </a:pPr>
            <a:endParaRPr sz="1350" dirty="0">
              <a:solidFill>
                <a:schemeClr val="dk1"/>
              </a:solidFill>
              <a:latin typeface="DM Sans"/>
              <a:ea typeface="DM Sans"/>
              <a:cs typeface="DM Sans"/>
              <a:sym typeface="DM Sans"/>
            </a:endParaRPr>
          </a:p>
          <a:p>
            <a:pPr marL="0" marR="0" lvl="0" indent="0" algn="l" rtl="0">
              <a:lnSpc>
                <a:spcPct val="100000"/>
              </a:lnSpc>
              <a:spcBef>
                <a:spcPts val="1000"/>
              </a:spcBef>
              <a:spcAft>
                <a:spcPts val="0"/>
              </a:spcAft>
              <a:buNone/>
            </a:pPr>
            <a:endParaRPr sz="1350" dirty="0">
              <a:solidFill>
                <a:schemeClr val="dk1"/>
              </a:solidFill>
              <a:latin typeface="DM Sans"/>
              <a:ea typeface="DM Sans"/>
              <a:cs typeface="DM Sans"/>
              <a:sym typeface="DM Sans"/>
            </a:endParaRPr>
          </a:p>
        </p:txBody>
      </p:sp>
      <p:pic>
        <p:nvPicPr>
          <p:cNvPr id="144" name="Google Shape;144;p34"/>
          <p:cNvPicPr preferRelativeResize="0"/>
          <p:nvPr/>
        </p:nvPicPr>
        <p:blipFill>
          <a:blip r:embed="rId3">
            <a:alphaModFix/>
          </a:blip>
          <a:stretch>
            <a:fillRect/>
          </a:stretch>
        </p:blipFill>
        <p:spPr>
          <a:xfrm>
            <a:off x="4875142" y="2297228"/>
            <a:ext cx="4049999" cy="2460010"/>
          </a:xfrm>
          <a:prstGeom prst="rect">
            <a:avLst/>
          </a:prstGeom>
          <a:noFill/>
          <a:ln>
            <a:noFill/>
          </a:ln>
        </p:spPr>
      </p:pic>
      <p:sp>
        <p:nvSpPr>
          <p:cNvPr id="145" name="Google Shape;145;p34"/>
          <p:cNvSpPr txBox="1"/>
          <p:nvPr/>
        </p:nvSpPr>
        <p:spPr>
          <a:xfrm>
            <a:off x="473350" y="4532400"/>
            <a:ext cx="5487600" cy="520625"/>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endParaRPr sz="1350" dirty="0">
              <a:latin typeface="DM Sans"/>
              <a:ea typeface="DM Sans"/>
              <a:cs typeface="DM Sans"/>
              <a:sym typeface="DM Sans"/>
            </a:endParaRPr>
          </a:p>
        </p:txBody>
      </p:sp>
      <p:pic>
        <p:nvPicPr>
          <p:cNvPr id="7" name="Google Shape;153;p35"/>
          <p:cNvPicPr preferRelativeResize="0"/>
          <p:nvPr/>
        </p:nvPicPr>
        <p:blipFill>
          <a:blip r:embed="rId4">
            <a:alphaModFix/>
          </a:blip>
          <a:stretch>
            <a:fillRect/>
          </a:stretch>
        </p:blipFill>
        <p:spPr>
          <a:xfrm>
            <a:off x="4675639" y="660837"/>
            <a:ext cx="4120024" cy="1307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5"/>
          <p:cNvSpPr txBox="1"/>
          <p:nvPr/>
        </p:nvSpPr>
        <p:spPr>
          <a:xfrm>
            <a:off x="473350" y="9243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dirty="0" smtClean="0">
                <a:solidFill>
                  <a:schemeClr val="dk1"/>
                </a:solidFill>
                <a:latin typeface="DM Sans"/>
                <a:ea typeface="DM Sans"/>
                <a:cs typeface="DM Sans"/>
                <a:sym typeface="DM Sans"/>
              </a:rPr>
              <a:t>Ejemplo </a:t>
            </a:r>
            <a:r>
              <a:rPr lang="es-419" sz="4000" b="1" dirty="0" err="1" smtClean="0">
                <a:solidFill>
                  <a:schemeClr val="dk1"/>
                </a:solidFill>
                <a:latin typeface="DM Sans"/>
                <a:ea typeface="DM Sans"/>
                <a:cs typeface="DM Sans"/>
                <a:sym typeface="DM Sans"/>
              </a:rPr>
              <a:t>useRef</a:t>
            </a:r>
            <a:endParaRPr sz="4000" b="1" i="0" u="none" strike="noStrike" cap="none" dirty="0">
              <a:solidFill>
                <a:schemeClr val="dk1"/>
              </a:solidFill>
              <a:latin typeface="DM Sans"/>
              <a:ea typeface="DM Sans"/>
              <a:cs typeface="DM Sans"/>
              <a:sym typeface="DM Sans"/>
            </a:endParaRPr>
          </a:p>
        </p:txBody>
      </p:sp>
      <p:sp>
        <p:nvSpPr>
          <p:cNvPr id="151" name="Google Shape;151;p35"/>
          <p:cNvSpPr txBox="1"/>
          <p:nvPr/>
        </p:nvSpPr>
        <p:spPr>
          <a:xfrm>
            <a:off x="473350" y="1829238"/>
            <a:ext cx="3834600" cy="1846629"/>
          </a:xfrm>
          <a:prstGeom prst="rect">
            <a:avLst/>
          </a:prstGeom>
          <a:noFill/>
          <a:ln>
            <a:noFill/>
          </a:ln>
        </p:spPr>
        <p:txBody>
          <a:bodyPr spcFirstLastPara="1" wrap="square" lIns="91425" tIns="91425" rIns="91425" bIns="91425" anchor="t" anchorCtr="0">
            <a:spAutoFit/>
          </a:bodyPr>
          <a:lstStyle/>
          <a:p>
            <a:r>
              <a:rPr lang="es-MX" sz="1200" dirty="0"/>
              <a:t>Explicación sencilla:</a:t>
            </a:r>
          </a:p>
          <a:p>
            <a:r>
              <a:rPr lang="es-MX" sz="1200" dirty="0" err="1"/>
              <a:t>useRef</a:t>
            </a:r>
            <a:r>
              <a:rPr lang="es-MX" sz="1200" dirty="0"/>
              <a:t>() guarda una referencia al input</a:t>
            </a:r>
            <a:r>
              <a:rPr lang="es-MX" sz="1200" dirty="0" smtClean="0"/>
              <a:t>.</a:t>
            </a:r>
          </a:p>
          <a:p>
            <a:endParaRPr lang="es-MX" sz="1200" dirty="0"/>
          </a:p>
          <a:p>
            <a:r>
              <a:rPr lang="es-MX" sz="1200" dirty="0" err="1"/>
              <a:t>ref</a:t>
            </a:r>
            <a:r>
              <a:rPr lang="es-MX" sz="1200" dirty="0"/>
              <a:t>={</a:t>
            </a:r>
            <a:r>
              <a:rPr lang="es-MX" sz="1200" dirty="0" err="1"/>
              <a:t>inputRef</a:t>
            </a:r>
            <a:r>
              <a:rPr lang="es-MX" sz="1200" dirty="0"/>
              <a:t>} conecta el input con esa referencia</a:t>
            </a:r>
            <a:r>
              <a:rPr lang="es-MX" sz="1200" dirty="0" smtClean="0"/>
              <a:t>.</a:t>
            </a:r>
          </a:p>
          <a:p>
            <a:endParaRPr lang="es-MX" sz="1200" dirty="0"/>
          </a:p>
          <a:p>
            <a:endParaRPr lang="es-MX" sz="1200" dirty="0"/>
          </a:p>
          <a:p>
            <a:r>
              <a:rPr lang="es-MX" sz="1200" dirty="0"/>
              <a:t>Cuando </a:t>
            </a:r>
            <a:r>
              <a:rPr lang="es-MX" sz="1200" dirty="0" err="1"/>
              <a:t>hacés</a:t>
            </a:r>
            <a:r>
              <a:rPr lang="es-MX" sz="1200" dirty="0"/>
              <a:t> clic en el botón, accedemos al valor del input con </a:t>
            </a:r>
            <a:r>
              <a:rPr lang="es-MX" sz="1200" dirty="0" err="1"/>
              <a:t>inputRef.current.value</a:t>
            </a:r>
            <a:r>
              <a:rPr lang="es-MX" sz="1200" dirty="0"/>
              <a:t> sin volver a </a:t>
            </a:r>
            <a:r>
              <a:rPr lang="es-MX" sz="1200" dirty="0" err="1"/>
              <a:t>renderizar</a:t>
            </a:r>
            <a:r>
              <a:rPr lang="es-MX" sz="1200" dirty="0"/>
              <a:t> el componente.</a:t>
            </a:r>
          </a:p>
        </p:txBody>
      </p:sp>
      <p:sp>
        <p:nvSpPr>
          <p:cNvPr id="154" name="Google Shape;154;p35"/>
          <p:cNvSpPr txBox="1"/>
          <p:nvPr/>
        </p:nvSpPr>
        <p:spPr>
          <a:xfrm>
            <a:off x="8733600" y="121800"/>
            <a:ext cx="4104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000"/>
              <a:t>55</a:t>
            </a:r>
            <a:endParaRPr sz="1000"/>
          </a:p>
          <a:p>
            <a:pPr marL="0" lvl="0" indent="0" algn="l" rtl="0">
              <a:spcBef>
                <a:spcPts val="0"/>
              </a:spcBef>
              <a:spcAft>
                <a:spcPts val="0"/>
              </a:spcAft>
              <a:buNone/>
            </a:pPr>
            <a:endParaRPr/>
          </a:p>
        </p:txBody>
      </p:sp>
      <p:pic>
        <p:nvPicPr>
          <p:cNvPr id="2" name="Imagen 1"/>
          <p:cNvPicPr>
            <a:picLocks noChangeAspect="1"/>
          </p:cNvPicPr>
          <p:nvPr/>
        </p:nvPicPr>
        <p:blipFill>
          <a:blip r:embed="rId3"/>
          <a:stretch>
            <a:fillRect/>
          </a:stretch>
        </p:blipFill>
        <p:spPr>
          <a:xfrm>
            <a:off x="4307950" y="1456661"/>
            <a:ext cx="4677902" cy="3102526"/>
          </a:xfrm>
          <a:prstGeom prst="rect">
            <a:avLst/>
          </a:prstGeom>
        </p:spPr>
      </p:pic>
    </p:spTree>
    <p:extLst>
      <p:ext uri="{BB962C8B-B14F-4D97-AF65-F5344CB8AC3E}">
        <p14:creationId xmlns:p14="http://schemas.microsoft.com/office/powerpoint/2010/main" val="39086898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35"/>
          <p:cNvSpPr txBox="1"/>
          <p:nvPr/>
        </p:nvSpPr>
        <p:spPr>
          <a:xfrm>
            <a:off x="473350" y="9243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dirty="0" smtClean="0">
                <a:solidFill>
                  <a:schemeClr val="dk1"/>
                </a:solidFill>
                <a:latin typeface="DM Sans"/>
                <a:ea typeface="DM Sans"/>
                <a:cs typeface="DM Sans"/>
                <a:sym typeface="DM Sans"/>
              </a:rPr>
              <a:t>Ejemplo 2 </a:t>
            </a:r>
            <a:r>
              <a:rPr lang="es-419" sz="4000" b="1" dirty="0" err="1" smtClean="0">
                <a:solidFill>
                  <a:schemeClr val="dk1"/>
                </a:solidFill>
                <a:latin typeface="DM Sans"/>
                <a:ea typeface="DM Sans"/>
                <a:cs typeface="DM Sans"/>
                <a:sym typeface="DM Sans"/>
              </a:rPr>
              <a:t>useRef</a:t>
            </a:r>
            <a:endParaRPr sz="4000" b="1" i="0" u="none" strike="noStrike" cap="none" dirty="0">
              <a:solidFill>
                <a:schemeClr val="dk1"/>
              </a:solidFill>
              <a:latin typeface="DM Sans"/>
              <a:ea typeface="DM Sans"/>
              <a:cs typeface="DM Sans"/>
              <a:sym typeface="DM Sans"/>
            </a:endParaRPr>
          </a:p>
        </p:txBody>
      </p:sp>
      <p:sp>
        <p:nvSpPr>
          <p:cNvPr id="151" name="Google Shape;151;p35"/>
          <p:cNvSpPr txBox="1"/>
          <p:nvPr/>
        </p:nvSpPr>
        <p:spPr>
          <a:xfrm>
            <a:off x="473350" y="1829238"/>
            <a:ext cx="3834600" cy="246987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419" sz="1350" dirty="0" smtClean="0">
                <a:solidFill>
                  <a:schemeClr val="dk1"/>
                </a:solidFill>
                <a:latin typeface="DM Sans"/>
                <a:ea typeface="DM Sans"/>
                <a:cs typeface="DM Sans"/>
                <a:sym typeface="DM Sans"/>
              </a:rPr>
              <a:t>Podemos hacer un contador como el que aparece al principio de Vite.</a:t>
            </a:r>
          </a:p>
          <a:p>
            <a:pPr marL="0" marR="0" lvl="0" indent="0" algn="l" rtl="0">
              <a:lnSpc>
                <a:spcPct val="100000"/>
              </a:lnSpc>
              <a:spcBef>
                <a:spcPts val="0"/>
              </a:spcBef>
              <a:spcAft>
                <a:spcPts val="0"/>
              </a:spcAft>
              <a:buNone/>
            </a:pPr>
            <a:endParaRPr lang="es-419" sz="1350" dirty="0" smtClean="0">
              <a:solidFill>
                <a:schemeClr val="dk1"/>
              </a:solidFill>
              <a:latin typeface="DM Sans"/>
              <a:ea typeface="DM Sans"/>
              <a:cs typeface="DM Sans"/>
              <a:sym typeface="DM Sans"/>
            </a:endParaRPr>
          </a:p>
          <a:p>
            <a:pPr marL="0" marR="0" lvl="0" indent="0" algn="l" rtl="0">
              <a:lnSpc>
                <a:spcPct val="100000"/>
              </a:lnSpc>
              <a:spcBef>
                <a:spcPts val="0"/>
              </a:spcBef>
              <a:spcAft>
                <a:spcPts val="0"/>
              </a:spcAft>
              <a:buNone/>
            </a:pPr>
            <a:r>
              <a:rPr lang="es-419" sz="1350" dirty="0" err="1" smtClean="0">
                <a:solidFill>
                  <a:schemeClr val="dk1"/>
                </a:solidFill>
                <a:latin typeface="DM Sans"/>
                <a:ea typeface="DM Sans"/>
                <a:cs typeface="DM Sans"/>
                <a:sym typeface="DM Sans"/>
              </a:rPr>
              <a:t>useRef</a:t>
            </a:r>
            <a:r>
              <a:rPr lang="es-419" sz="1350" dirty="0" smtClean="0">
                <a:solidFill>
                  <a:schemeClr val="dk1"/>
                </a:solidFill>
                <a:latin typeface="DM Sans"/>
                <a:ea typeface="DM Sans"/>
                <a:cs typeface="DM Sans"/>
                <a:sym typeface="DM Sans"/>
              </a:rPr>
              <a:t> </a:t>
            </a:r>
            <a:r>
              <a:rPr lang="es-419" sz="1350" dirty="0">
                <a:solidFill>
                  <a:schemeClr val="dk1"/>
                </a:solidFill>
                <a:latin typeface="DM Sans"/>
                <a:ea typeface="DM Sans"/>
                <a:cs typeface="DM Sans"/>
                <a:sym typeface="DM Sans"/>
              </a:rPr>
              <a:t>puede ser utilizado para mantener valores persistentes en el componente, lo que puede ser útil para realizar cálculos o para almacenar datos temporales que no deben ser expuestos al estado del componente</a:t>
            </a:r>
            <a:r>
              <a:rPr lang="es-419" sz="1350" dirty="0" smtClean="0">
                <a:solidFill>
                  <a:schemeClr val="dk1"/>
                </a:solidFill>
                <a:latin typeface="DM Sans"/>
                <a:ea typeface="DM Sans"/>
                <a:cs typeface="DM Sans"/>
                <a:sym typeface="DM Sans"/>
              </a:rPr>
              <a:t>.</a:t>
            </a:r>
          </a:p>
          <a:p>
            <a:pPr marL="0" marR="0" lvl="0" indent="0" algn="l" rtl="0">
              <a:lnSpc>
                <a:spcPct val="100000"/>
              </a:lnSpc>
              <a:spcBef>
                <a:spcPts val="0"/>
              </a:spcBef>
              <a:spcAft>
                <a:spcPts val="0"/>
              </a:spcAft>
              <a:buNone/>
            </a:pPr>
            <a:endParaRPr lang="es-419" sz="1350" dirty="0">
              <a:solidFill>
                <a:schemeClr val="dk1"/>
              </a:solidFill>
              <a:latin typeface="DM Sans"/>
              <a:ea typeface="DM Sans"/>
              <a:cs typeface="DM Sans"/>
              <a:sym typeface="DM Sans"/>
            </a:endParaRPr>
          </a:p>
          <a:p>
            <a:pPr marL="0" marR="0" lvl="0" indent="0" algn="l" rtl="0">
              <a:lnSpc>
                <a:spcPct val="100000"/>
              </a:lnSpc>
              <a:spcBef>
                <a:spcPts val="0"/>
              </a:spcBef>
              <a:spcAft>
                <a:spcPts val="0"/>
              </a:spcAft>
              <a:buNone/>
            </a:pPr>
            <a:r>
              <a:rPr lang="es-419" sz="1350" dirty="0" smtClean="0">
                <a:solidFill>
                  <a:schemeClr val="dk1"/>
                </a:solidFill>
                <a:latin typeface="DM Sans"/>
                <a:ea typeface="DM Sans"/>
                <a:cs typeface="DM Sans"/>
                <a:sym typeface="DM Sans"/>
              </a:rPr>
              <a:t>Para que se puede usar en el proyecto?</a:t>
            </a:r>
            <a:endParaRPr sz="1350" dirty="0">
              <a:solidFill>
                <a:schemeClr val="dk1"/>
              </a:solidFill>
              <a:latin typeface="DM Sans"/>
              <a:ea typeface="DM Sans"/>
              <a:cs typeface="DM Sans"/>
              <a:sym typeface="DM Sans"/>
            </a:endParaRPr>
          </a:p>
        </p:txBody>
      </p:sp>
      <p:pic>
        <p:nvPicPr>
          <p:cNvPr id="152" name="Google Shape;152;p35"/>
          <p:cNvPicPr preferRelativeResize="0"/>
          <p:nvPr/>
        </p:nvPicPr>
        <p:blipFill>
          <a:blip r:embed="rId3">
            <a:alphaModFix/>
          </a:blip>
          <a:stretch>
            <a:fillRect/>
          </a:stretch>
        </p:blipFill>
        <p:spPr>
          <a:xfrm>
            <a:off x="4818775" y="1510825"/>
            <a:ext cx="4120025" cy="1881375"/>
          </a:xfrm>
          <a:prstGeom prst="rect">
            <a:avLst/>
          </a:prstGeom>
          <a:noFill/>
          <a:ln>
            <a:noFill/>
          </a:ln>
        </p:spPr>
      </p:pic>
      <p:pic>
        <p:nvPicPr>
          <p:cNvPr id="153" name="Google Shape;153;p35"/>
          <p:cNvPicPr preferRelativeResize="0"/>
          <p:nvPr/>
        </p:nvPicPr>
        <p:blipFill>
          <a:blip r:embed="rId4">
            <a:alphaModFix/>
          </a:blip>
          <a:stretch>
            <a:fillRect/>
          </a:stretch>
        </p:blipFill>
        <p:spPr>
          <a:xfrm>
            <a:off x="4915516" y="3392200"/>
            <a:ext cx="4120024" cy="1307775"/>
          </a:xfrm>
          <a:prstGeom prst="rect">
            <a:avLst/>
          </a:prstGeom>
          <a:noFill/>
          <a:ln>
            <a:noFill/>
          </a:ln>
        </p:spPr>
      </p:pic>
      <p:sp>
        <p:nvSpPr>
          <p:cNvPr id="154" name="Google Shape;154;p35"/>
          <p:cNvSpPr txBox="1"/>
          <p:nvPr/>
        </p:nvSpPr>
        <p:spPr>
          <a:xfrm>
            <a:off x="8733600" y="121800"/>
            <a:ext cx="4104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000"/>
              <a:t>55</a:t>
            </a:r>
            <a:endParaRPr sz="1000"/>
          </a:p>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36"/>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a:solidFill>
                  <a:schemeClr val="dk1"/>
                </a:solidFill>
                <a:latin typeface="DM Sans"/>
                <a:ea typeface="DM Sans"/>
                <a:cs typeface="DM Sans"/>
                <a:sym typeface="DM Sans"/>
              </a:rPr>
              <a:t>Render y efectos</a:t>
            </a:r>
            <a:endParaRPr sz="4000" b="1" i="0" u="none" strike="noStrike" cap="none">
              <a:solidFill>
                <a:schemeClr val="dk1"/>
              </a:solidFill>
              <a:latin typeface="DM Sans"/>
              <a:ea typeface="DM Sans"/>
              <a:cs typeface="DM Sans"/>
              <a:sym typeface="DM Sans"/>
            </a:endParaRPr>
          </a:p>
        </p:txBody>
      </p:sp>
      <p:sp>
        <p:nvSpPr>
          <p:cNvPr id="160" name="Google Shape;160;p36"/>
          <p:cNvSpPr txBox="1"/>
          <p:nvPr/>
        </p:nvSpPr>
        <p:spPr>
          <a:xfrm>
            <a:off x="473350" y="1450975"/>
            <a:ext cx="3834600" cy="29349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419" sz="1350">
                <a:solidFill>
                  <a:schemeClr val="dk1"/>
                </a:solidFill>
                <a:latin typeface="DM Sans"/>
                <a:ea typeface="DM Sans"/>
                <a:cs typeface="DM Sans"/>
                <a:sym typeface="DM Sans"/>
              </a:rPr>
              <a:t>El funcionamiento de React está estrechamente ligado al cambio de estados en componentes.</a:t>
            </a:r>
            <a:endParaRPr sz="1350">
              <a:solidFill>
                <a:schemeClr val="dk1"/>
              </a:solidFill>
              <a:latin typeface="DM Sans"/>
              <a:ea typeface="DM Sans"/>
              <a:cs typeface="DM Sans"/>
              <a:sym typeface="DM Sans"/>
            </a:endParaRPr>
          </a:p>
          <a:p>
            <a:pPr marL="0" marR="0" lvl="0" indent="0" algn="l" rtl="0">
              <a:lnSpc>
                <a:spcPct val="100000"/>
              </a:lnSpc>
              <a:spcBef>
                <a:spcPts val="1000"/>
              </a:spcBef>
              <a:spcAft>
                <a:spcPts val="0"/>
              </a:spcAft>
              <a:buNone/>
            </a:pPr>
            <a:r>
              <a:rPr lang="es-419" sz="1350">
                <a:solidFill>
                  <a:schemeClr val="dk1"/>
                </a:solidFill>
                <a:latin typeface="DM Sans"/>
                <a:ea typeface="DM Sans"/>
                <a:cs typeface="DM Sans"/>
                <a:sym typeface="DM Sans"/>
              </a:rPr>
              <a:t>Cuando se produce un cambio de estado local, React ejecuta un nuevo proceso de renderizado para ese componente y, de manera recursiva, para todos sus componentes hijos.</a:t>
            </a:r>
            <a:endParaRPr sz="1350">
              <a:solidFill>
                <a:schemeClr val="dk1"/>
              </a:solidFill>
              <a:latin typeface="DM Sans"/>
              <a:ea typeface="DM Sans"/>
              <a:cs typeface="DM Sans"/>
              <a:sym typeface="DM Sans"/>
            </a:endParaRPr>
          </a:p>
          <a:p>
            <a:pPr marL="0" marR="0" lvl="0" indent="0" algn="l" rtl="0">
              <a:lnSpc>
                <a:spcPct val="100000"/>
              </a:lnSpc>
              <a:spcBef>
                <a:spcPts val="1000"/>
              </a:spcBef>
              <a:spcAft>
                <a:spcPts val="1000"/>
              </a:spcAft>
              <a:buNone/>
            </a:pPr>
            <a:r>
              <a:rPr lang="es-419" sz="1350">
                <a:solidFill>
                  <a:schemeClr val="dk1"/>
                </a:solidFill>
                <a:latin typeface="DM Sans"/>
                <a:ea typeface="DM Sans"/>
                <a:cs typeface="DM Sans"/>
                <a:sym typeface="DM Sans"/>
              </a:rPr>
              <a:t>Durante este proceso React ejecuta de nuevo las funciones de los componentes para generar el nuevo árbol de elementos de la interfaz de usuario.</a:t>
            </a:r>
            <a:endParaRPr sz="1350">
              <a:solidFill>
                <a:schemeClr val="dk1"/>
              </a:solidFill>
              <a:latin typeface="DM Sans"/>
              <a:ea typeface="DM Sans"/>
              <a:cs typeface="DM Sans"/>
              <a:sym typeface="DM Sans"/>
            </a:endParaRPr>
          </a:p>
        </p:txBody>
      </p:sp>
      <p:pic>
        <p:nvPicPr>
          <p:cNvPr id="161" name="Google Shape;161;p36"/>
          <p:cNvPicPr preferRelativeResize="0"/>
          <p:nvPr/>
        </p:nvPicPr>
        <p:blipFill>
          <a:blip r:embed="rId3">
            <a:alphaModFix/>
          </a:blip>
          <a:stretch>
            <a:fillRect/>
          </a:stretch>
        </p:blipFill>
        <p:spPr>
          <a:xfrm>
            <a:off x="4665750" y="1864025"/>
            <a:ext cx="4097750" cy="2094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37"/>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marR="0" lvl="0" indent="0" algn="l" rtl="0">
              <a:lnSpc>
                <a:spcPct val="90000"/>
              </a:lnSpc>
              <a:spcBef>
                <a:spcPts val="0"/>
              </a:spcBef>
              <a:spcAft>
                <a:spcPts val="0"/>
              </a:spcAft>
              <a:buClr>
                <a:srgbClr val="000000"/>
              </a:buClr>
              <a:buSzPts val="4000"/>
              <a:buFont typeface="Arial"/>
              <a:buNone/>
            </a:pPr>
            <a:r>
              <a:rPr lang="es-419" sz="4000" b="1">
                <a:solidFill>
                  <a:schemeClr val="dk1"/>
                </a:solidFill>
                <a:latin typeface="DM Sans"/>
                <a:ea typeface="DM Sans"/>
                <a:cs typeface="DM Sans"/>
                <a:sym typeface="DM Sans"/>
              </a:rPr>
              <a:t>Render y efectos</a:t>
            </a:r>
            <a:endParaRPr sz="4000" b="1" i="0" u="none" strike="noStrike" cap="none">
              <a:solidFill>
                <a:schemeClr val="dk1"/>
              </a:solidFill>
              <a:latin typeface="DM Sans"/>
              <a:ea typeface="DM Sans"/>
              <a:cs typeface="DM Sans"/>
              <a:sym typeface="DM Sans"/>
            </a:endParaRPr>
          </a:p>
        </p:txBody>
      </p:sp>
      <p:sp>
        <p:nvSpPr>
          <p:cNvPr id="167" name="Google Shape;167;p37"/>
          <p:cNvSpPr txBox="1"/>
          <p:nvPr/>
        </p:nvSpPr>
        <p:spPr>
          <a:xfrm>
            <a:off x="502273" y="1468300"/>
            <a:ext cx="4134900" cy="2311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419" sz="1350" b="1">
                <a:solidFill>
                  <a:schemeClr val="dk1"/>
                </a:solidFill>
                <a:latin typeface="DM Sans"/>
                <a:ea typeface="DM Sans"/>
                <a:cs typeface="DM Sans"/>
                <a:sym typeface="DM Sans"/>
              </a:rPr>
              <a:t>Dentro de los componentes</a:t>
            </a:r>
            <a:r>
              <a:rPr lang="es-419" sz="1350">
                <a:solidFill>
                  <a:schemeClr val="dk1"/>
                </a:solidFill>
                <a:latin typeface="DM Sans"/>
                <a:ea typeface="DM Sans"/>
                <a:cs typeface="DM Sans"/>
                <a:sym typeface="DM Sans"/>
              </a:rPr>
              <a:t> podemos tener funciones para realizar </a:t>
            </a:r>
            <a:r>
              <a:rPr lang="es-419" sz="1350" b="1">
                <a:solidFill>
                  <a:schemeClr val="dk1"/>
                </a:solidFill>
                <a:latin typeface="DM Sans"/>
                <a:ea typeface="DM Sans"/>
                <a:cs typeface="DM Sans"/>
                <a:sym typeface="DM Sans"/>
              </a:rPr>
              <a:t>diferentes tareas</a:t>
            </a:r>
            <a:r>
              <a:rPr lang="es-419" sz="1350">
                <a:solidFill>
                  <a:schemeClr val="dk1"/>
                </a:solidFill>
                <a:latin typeface="DM Sans"/>
                <a:ea typeface="DM Sans"/>
                <a:cs typeface="DM Sans"/>
                <a:sym typeface="DM Sans"/>
              </a:rPr>
              <a:t>, como, por ejemplo, una llamada a una api para obtener datos.</a:t>
            </a:r>
            <a:endParaRPr sz="1350">
              <a:solidFill>
                <a:schemeClr val="dk1"/>
              </a:solidFill>
              <a:latin typeface="DM Sans"/>
              <a:ea typeface="DM Sans"/>
              <a:cs typeface="DM Sans"/>
              <a:sym typeface="DM Sans"/>
            </a:endParaRPr>
          </a:p>
          <a:p>
            <a:pPr marL="0" marR="0" lvl="0" indent="0" algn="l" rtl="0">
              <a:lnSpc>
                <a:spcPct val="100000"/>
              </a:lnSpc>
              <a:spcBef>
                <a:spcPts val="1000"/>
              </a:spcBef>
              <a:spcAft>
                <a:spcPts val="0"/>
              </a:spcAft>
              <a:buNone/>
            </a:pPr>
            <a:r>
              <a:rPr lang="es-419" sz="1350">
                <a:solidFill>
                  <a:schemeClr val="dk1"/>
                </a:solidFill>
                <a:latin typeface="DM Sans"/>
                <a:ea typeface="DM Sans"/>
                <a:cs typeface="DM Sans"/>
                <a:sym typeface="DM Sans"/>
              </a:rPr>
              <a:t>Si en cada render se ejecuta esta llamada a la API, quiere decir que </a:t>
            </a:r>
            <a:r>
              <a:rPr lang="es-419" sz="1350" b="1">
                <a:solidFill>
                  <a:schemeClr val="dk1"/>
                </a:solidFill>
                <a:latin typeface="DM Sans"/>
                <a:ea typeface="DM Sans"/>
                <a:cs typeface="DM Sans"/>
                <a:sym typeface="DM Sans"/>
              </a:rPr>
              <a:t>un cambio de estado está provocando efectos secundarios</a:t>
            </a:r>
            <a:r>
              <a:rPr lang="es-419" sz="1350">
                <a:solidFill>
                  <a:schemeClr val="dk1"/>
                </a:solidFill>
                <a:latin typeface="DM Sans"/>
                <a:ea typeface="DM Sans"/>
                <a:cs typeface="DM Sans"/>
                <a:sym typeface="DM Sans"/>
              </a:rPr>
              <a:t> y no controlarlos puede traernos problemas.</a:t>
            </a:r>
            <a:endParaRPr sz="1350">
              <a:solidFill>
                <a:schemeClr val="dk1"/>
              </a:solidFill>
              <a:latin typeface="DM Sans"/>
              <a:ea typeface="DM Sans"/>
              <a:cs typeface="DM Sans"/>
              <a:sym typeface="DM Sans"/>
            </a:endParaRPr>
          </a:p>
          <a:p>
            <a:pPr marL="0" marR="0" lvl="0" indent="0" algn="l" rtl="0">
              <a:lnSpc>
                <a:spcPct val="100000"/>
              </a:lnSpc>
              <a:spcBef>
                <a:spcPts val="1000"/>
              </a:spcBef>
              <a:spcAft>
                <a:spcPts val="1000"/>
              </a:spcAft>
              <a:buNone/>
            </a:pPr>
            <a:r>
              <a:rPr lang="es-419" sz="1350">
                <a:solidFill>
                  <a:schemeClr val="dk1"/>
                </a:solidFill>
                <a:latin typeface="DM Sans"/>
                <a:ea typeface="DM Sans"/>
                <a:cs typeface="DM Sans"/>
                <a:sym typeface="DM Sans"/>
              </a:rPr>
              <a:t>Entonces, ¿cómo los controlamos?</a:t>
            </a:r>
            <a:endParaRPr sz="1350" b="1">
              <a:solidFill>
                <a:schemeClr val="dk1"/>
              </a:solidFill>
              <a:latin typeface="DM Sans"/>
              <a:ea typeface="DM Sans"/>
              <a:cs typeface="DM Sans"/>
              <a:sym typeface="DM Sans"/>
            </a:endParaRPr>
          </a:p>
        </p:txBody>
      </p:sp>
      <p:pic>
        <p:nvPicPr>
          <p:cNvPr id="168" name="Google Shape;168;p37"/>
          <p:cNvPicPr preferRelativeResize="0"/>
          <p:nvPr/>
        </p:nvPicPr>
        <p:blipFill>
          <a:blip r:embed="rId3">
            <a:alphaModFix/>
          </a:blip>
          <a:stretch>
            <a:fillRect/>
          </a:stretch>
        </p:blipFill>
        <p:spPr>
          <a:xfrm>
            <a:off x="5271475" y="1392600"/>
            <a:ext cx="3328526" cy="2205150"/>
          </a:xfrm>
          <a:prstGeom prst="rect">
            <a:avLst/>
          </a:prstGeom>
          <a:noFill/>
          <a:ln>
            <a:noFill/>
          </a:ln>
        </p:spPr>
      </p:pic>
      <p:sp>
        <p:nvSpPr>
          <p:cNvPr id="169" name="Google Shape;169;p37"/>
          <p:cNvSpPr txBox="1"/>
          <p:nvPr/>
        </p:nvSpPr>
        <p:spPr>
          <a:xfrm>
            <a:off x="4572000" y="3611875"/>
            <a:ext cx="42384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100" b="1">
                <a:latin typeface="DM Sans"/>
                <a:ea typeface="DM Sans"/>
                <a:cs typeface="DM Sans"/>
                <a:sym typeface="DM Sans"/>
              </a:rPr>
              <a:t>*Trabajaremos con promesas y APIs en las próximas clases</a:t>
            </a:r>
            <a:endParaRPr sz="1100" b="1">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8"/>
          <p:cNvSpPr txBox="1"/>
          <p:nvPr/>
        </p:nvSpPr>
        <p:spPr>
          <a:xfrm>
            <a:off x="494226" y="308881"/>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chemeClr val="dk1"/>
              </a:buClr>
              <a:buSzPts val="1100"/>
              <a:buFont typeface="Arial"/>
              <a:buNone/>
            </a:pPr>
            <a:r>
              <a:rPr lang="es-419" sz="4000" b="1">
                <a:solidFill>
                  <a:schemeClr val="dk1"/>
                </a:solidFill>
                <a:latin typeface="DM Sans"/>
                <a:ea typeface="DM Sans"/>
                <a:cs typeface="DM Sans"/>
                <a:sym typeface="DM Sans"/>
              </a:rPr>
              <a:t>Efectos secundarios</a:t>
            </a:r>
            <a:endParaRPr sz="4000" b="1" i="0" u="none" strike="noStrike" cap="none">
              <a:solidFill>
                <a:schemeClr val="dk1"/>
              </a:solidFill>
              <a:latin typeface="DM Sans"/>
              <a:ea typeface="DM Sans"/>
              <a:cs typeface="DM Sans"/>
              <a:sym typeface="DM Sans"/>
            </a:endParaRPr>
          </a:p>
        </p:txBody>
      </p:sp>
      <p:pic>
        <p:nvPicPr>
          <p:cNvPr id="175" name="Google Shape;175;p38"/>
          <p:cNvPicPr preferRelativeResize="0"/>
          <p:nvPr/>
        </p:nvPicPr>
        <p:blipFill>
          <a:blip r:embed="rId3">
            <a:alphaModFix/>
          </a:blip>
          <a:stretch>
            <a:fillRect/>
          </a:stretch>
        </p:blipFill>
        <p:spPr>
          <a:xfrm>
            <a:off x="600275" y="1195225"/>
            <a:ext cx="5573751" cy="3095601"/>
          </a:xfrm>
          <a:prstGeom prst="rect">
            <a:avLst/>
          </a:prstGeom>
          <a:noFill/>
          <a:ln>
            <a:noFill/>
          </a:ln>
        </p:spPr>
      </p:pic>
      <p:sp>
        <p:nvSpPr>
          <p:cNvPr id="176" name="Google Shape;176;p38"/>
          <p:cNvSpPr txBox="1"/>
          <p:nvPr/>
        </p:nvSpPr>
        <p:spPr>
          <a:xfrm>
            <a:off x="494225" y="4572950"/>
            <a:ext cx="5487600" cy="392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s-419" sz="1350">
                <a:solidFill>
                  <a:schemeClr val="dk1"/>
                </a:solidFill>
                <a:latin typeface="DM Sans"/>
                <a:ea typeface="DM Sans"/>
                <a:cs typeface="DM Sans"/>
                <a:sym typeface="DM Sans"/>
              </a:rPr>
              <a:t> Repo: https://github.com/julioavantt/teacher_side_effects</a:t>
            </a:r>
            <a:endParaRPr sz="1350">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9"/>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chemeClr val="dk1"/>
              </a:buClr>
              <a:buSzPts val="1100"/>
              <a:buFont typeface="Arial"/>
              <a:buNone/>
            </a:pPr>
            <a:r>
              <a:rPr lang="es-419" sz="4000" b="1">
                <a:solidFill>
                  <a:schemeClr val="dk1"/>
                </a:solidFill>
                <a:latin typeface="DM Sans"/>
                <a:ea typeface="DM Sans"/>
                <a:cs typeface="DM Sans"/>
                <a:sym typeface="DM Sans"/>
              </a:rPr>
              <a:t>useEffect</a:t>
            </a:r>
            <a:endParaRPr sz="4000" b="1" i="0" u="none" strike="noStrike" cap="none">
              <a:solidFill>
                <a:schemeClr val="dk1"/>
              </a:solidFill>
              <a:latin typeface="DM Sans"/>
              <a:ea typeface="DM Sans"/>
              <a:cs typeface="DM Sans"/>
              <a:sym typeface="DM Sans"/>
            </a:endParaRPr>
          </a:p>
        </p:txBody>
      </p:sp>
      <p:sp>
        <p:nvSpPr>
          <p:cNvPr id="182" name="Google Shape;182;p39"/>
          <p:cNvSpPr txBox="1"/>
          <p:nvPr/>
        </p:nvSpPr>
        <p:spPr>
          <a:xfrm>
            <a:off x="473350" y="1269675"/>
            <a:ext cx="4412700" cy="34068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s-419" sz="1250">
                <a:solidFill>
                  <a:schemeClr val="dk1"/>
                </a:solidFill>
                <a:latin typeface="DM Sans"/>
                <a:ea typeface="DM Sans"/>
                <a:cs typeface="DM Sans"/>
                <a:sym typeface="DM Sans"/>
              </a:rPr>
              <a:t>useEffect nos permite controlar efectos secundarios provocados por cambios de estados. Es utilizado normalmente para sincronizar un componente con un sistema externo.</a:t>
            </a:r>
            <a:endParaRPr sz="1250">
              <a:solidFill>
                <a:schemeClr val="dk1"/>
              </a:solidFill>
              <a:latin typeface="DM Sans"/>
              <a:ea typeface="DM Sans"/>
              <a:cs typeface="DM Sans"/>
              <a:sym typeface="DM Sans"/>
            </a:endParaRPr>
          </a:p>
          <a:p>
            <a:pPr marL="0" marR="0" lvl="0" indent="0" algn="l" rtl="0">
              <a:lnSpc>
                <a:spcPct val="100000"/>
              </a:lnSpc>
              <a:spcBef>
                <a:spcPts val="1000"/>
              </a:spcBef>
              <a:spcAft>
                <a:spcPts val="0"/>
              </a:spcAft>
              <a:buNone/>
            </a:pPr>
            <a:r>
              <a:rPr lang="es-419" sz="1250">
                <a:solidFill>
                  <a:schemeClr val="dk1"/>
                </a:solidFill>
                <a:latin typeface="DM Sans"/>
                <a:ea typeface="DM Sans"/>
                <a:cs typeface="DM Sans"/>
                <a:sym typeface="DM Sans"/>
              </a:rPr>
              <a:t>Este hook recibe dos argumentos: </a:t>
            </a:r>
            <a:endParaRPr sz="1250">
              <a:solidFill>
                <a:schemeClr val="dk1"/>
              </a:solidFill>
              <a:latin typeface="DM Sans"/>
              <a:ea typeface="DM Sans"/>
              <a:cs typeface="DM Sans"/>
              <a:sym typeface="DM Sans"/>
            </a:endParaRPr>
          </a:p>
          <a:p>
            <a:pPr marL="457200" lvl="0" indent="-307975" algn="l" rtl="0">
              <a:spcBef>
                <a:spcPts val="1000"/>
              </a:spcBef>
              <a:spcAft>
                <a:spcPts val="0"/>
              </a:spcAft>
              <a:buClr>
                <a:srgbClr val="EAFF6A"/>
              </a:buClr>
              <a:buSzPts val="1250"/>
              <a:buFont typeface="DM Sans"/>
              <a:buChar char="●"/>
            </a:pPr>
            <a:r>
              <a:rPr lang="es-419" sz="1250">
                <a:solidFill>
                  <a:schemeClr val="dk1"/>
                </a:solidFill>
                <a:latin typeface="DM Sans"/>
                <a:ea typeface="DM Sans"/>
                <a:cs typeface="DM Sans"/>
                <a:sym typeface="DM Sans"/>
              </a:rPr>
              <a:t>El primero es una </a:t>
            </a:r>
            <a:r>
              <a:rPr lang="es-419" sz="1250" b="1">
                <a:solidFill>
                  <a:schemeClr val="dk1"/>
                </a:solidFill>
                <a:latin typeface="DM Sans"/>
                <a:ea typeface="DM Sans"/>
                <a:cs typeface="DM Sans"/>
                <a:sym typeface="DM Sans"/>
              </a:rPr>
              <a:t>función de callback</a:t>
            </a:r>
            <a:r>
              <a:rPr lang="es-419" sz="1250">
                <a:solidFill>
                  <a:schemeClr val="dk1"/>
                </a:solidFill>
                <a:latin typeface="DM Sans"/>
                <a:ea typeface="DM Sans"/>
                <a:cs typeface="DM Sans"/>
                <a:sym typeface="DM Sans"/>
              </a:rPr>
              <a:t> con acciones a ejecutar (aquí se ejecuta el efecto secundario).</a:t>
            </a:r>
            <a:endParaRPr sz="1250">
              <a:solidFill>
                <a:schemeClr val="dk1"/>
              </a:solidFill>
              <a:latin typeface="DM Sans"/>
              <a:ea typeface="DM Sans"/>
              <a:cs typeface="DM Sans"/>
              <a:sym typeface="DM Sans"/>
            </a:endParaRPr>
          </a:p>
          <a:p>
            <a:pPr marL="457200" lvl="0" indent="-307975" algn="l" rtl="0">
              <a:spcBef>
                <a:spcPts val="1000"/>
              </a:spcBef>
              <a:spcAft>
                <a:spcPts val="0"/>
              </a:spcAft>
              <a:buClr>
                <a:srgbClr val="EAFF6A"/>
              </a:buClr>
              <a:buSzPts val="1250"/>
              <a:buFont typeface="DM Sans"/>
              <a:buChar char="●"/>
            </a:pPr>
            <a:r>
              <a:rPr lang="es-419" sz="1250">
                <a:solidFill>
                  <a:schemeClr val="dk1"/>
                </a:solidFill>
                <a:latin typeface="DM Sans"/>
                <a:ea typeface="DM Sans"/>
                <a:cs typeface="DM Sans"/>
                <a:sym typeface="DM Sans"/>
              </a:rPr>
              <a:t>El segundo es un </a:t>
            </a:r>
            <a:r>
              <a:rPr lang="es-419" sz="1250" b="1">
                <a:solidFill>
                  <a:schemeClr val="dk1"/>
                </a:solidFill>
                <a:latin typeface="DM Sans"/>
                <a:ea typeface="DM Sans"/>
                <a:cs typeface="DM Sans"/>
                <a:sym typeface="DM Sans"/>
              </a:rPr>
              <a:t>array de dependencias</a:t>
            </a:r>
            <a:r>
              <a:rPr lang="es-419" sz="1250">
                <a:solidFill>
                  <a:schemeClr val="dk1"/>
                </a:solidFill>
                <a:latin typeface="DM Sans"/>
                <a:ea typeface="DM Sans"/>
                <a:cs typeface="DM Sans"/>
                <a:sym typeface="DM Sans"/>
              </a:rPr>
              <a:t>, donde se indicará qué estados (pueden venir por props) deben cambiar para que se vuelva a ejecutar la función del primer argumento. Este argumento es opcional.</a:t>
            </a:r>
            <a:endParaRPr sz="1250">
              <a:solidFill>
                <a:schemeClr val="dk1"/>
              </a:solidFill>
              <a:latin typeface="DM Sans"/>
              <a:ea typeface="DM Sans"/>
              <a:cs typeface="DM Sans"/>
              <a:sym typeface="DM Sans"/>
            </a:endParaRPr>
          </a:p>
          <a:p>
            <a:pPr marL="0" marR="0" lvl="0" indent="0" algn="l" rtl="0">
              <a:lnSpc>
                <a:spcPct val="100000"/>
              </a:lnSpc>
              <a:spcBef>
                <a:spcPts val="1000"/>
              </a:spcBef>
              <a:spcAft>
                <a:spcPts val="0"/>
              </a:spcAft>
              <a:buNone/>
            </a:pPr>
            <a:endParaRPr sz="1350">
              <a:solidFill>
                <a:schemeClr val="dk1"/>
              </a:solidFill>
              <a:latin typeface="DM Sans"/>
              <a:ea typeface="DM Sans"/>
              <a:cs typeface="DM Sans"/>
              <a:sym typeface="DM Sans"/>
            </a:endParaRPr>
          </a:p>
        </p:txBody>
      </p:sp>
      <p:pic>
        <p:nvPicPr>
          <p:cNvPr id="183" name="Google Shape;183;p39"/>
          <p:cNvPicPr preferRelativeResize="0"/>
          <p:nvPr/>
        </p:nvPicPr>
        <p:blipFill>
          <a:blip r:embed="rId3">
            <a:alphaModFix/>
          </a:blip>
          <a:stretch>
            <a:fillRect/>
          </a:stretch>
        </p:blipFill>
        <p:spPr>
          <a:xfrm>
            <a:off x="5266675" y="1587900"/>
            <a:ext cx="3401348" cy="1785724"/>
          </a:xfrm>
          <a:prstGeom prst="rect">
            <a:avLst/>
          </a:prstGeom>
          <a:noFill/>
          <a:ln>
            <a:noFill/>
          </a:ln>
        </p:spPr>
      </p:pic>
      <p:sp>
        <p:nvSpPr>
          <p:cNvPr id="184" name="Google Shape;184;p39"/>
          <p:cNvSpPr txBox="1"/>
          <p:nvPr/>
        </p:nvSpPr>
        <p:spPr>
          <a:xfrm>
            <a:off x="457725" y="4576375"/>
            <a:ext cx="5487600" cy="392400"/>
          </a:xfrm>
          <a:prstGeom prst="rect">
            <a:avLst/>
          </a:prstGeom>
          <a:noFill/>
          <a:ln>
            <a:noFill/>
          </a:ln>
        </p:spPr>
        <p:txBody>
          <a:bodyPr spcFirstLastPara="1" wrap="square" lIns="91425" tIns="91425" rIns="91425" bIns="91425" anchor="t" anchorCtr="0">
            <a:spAutoFit/>
          </a:bodyPr>
          <a:lstStyle/>
          <a:p>
            <a:pPr marL="0" lvl="0" indent="0" algn="l" rtl="0">
              <a:lnSpc>
                <a:spcPct val="100000"/>
              </a:lnSpc>
              <a:spcBef>
                <a:spcPts val="0"/>
              </a:spcBef>
              <a:spcAft>
                <a:spcPts val="1000"/>
              </a:spcAft>
              <a:buNone/>
            </a:pPr>
            <a:r>
              <a:rPr lang="es-419" sz="1350">
                <a:solidFill>
                  <a:schemeClr val="dk1"/>
                </a:solidFill>
                <a:latin typeface="DM Sans"/>
                <a:ea typeface="DM Sans"/>
                <a:cs typeface="DM Sans"/>
                <a:sym typeface="DM Sans"/>
              </a:rPr>
              <a:t> Repo: https://github.com/julioavantt/teacher_coder_useeffect.git</a:t>
            </a:r>
            <a:endParaRPr sz="1350">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40"/>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chemeClr val="dk1"/>
              </a:buClr>
              <a:buSzPts val="1100"/>
              <a:buFont typeface="Arial"/>
              <a:buNone/>
            </a:pPr>
            <a:r>
              <a:rPr lang="es-419" sz="4000" b="1">
                <a:solidFill>
                  <a:schemeClr val="dk1"/>
                </a:solidFill>
                <a:latin typeface="DM Sans"/>
                <a:ea typeface="DM Sans"/>
                <a:cs typeface="DM Sans"/>
                <a:sym typeface="DM Sans"/>
              </a:rPr>
              <a:t>useEffect: Sincronización</a:t>
            </a:r>
            <a:endParaRPr sz="4000" b="1" i="0" u="none" strike="noStrike" cap="none">
              <a:solidFill>
                <a:schemeClr val="dk1"/>
              </a:solidFill>
              <a:latin typeface="DM Sans"/>
              <a:ea typeface="DM Sans"/>
              <a:cs typeface="DM Sans"/>
              <a:sym typeface="DM Sans"/>
            </a:endParaRPr>
          </a:p>
        </p:txBody>
      </p:sp>
      <p:sp>
        <p:nvSpPr>
          <p:cNvPr id="190" name="Google Shape;190;p40"/>
          <p:cNvSpPr txBox="1"/>
          <p:nvPr/>
        </p:nvSpPr>
        <p:spPr>
          <a:xfrm>
            <a:off x="473350" y="1450975"/>
            <a:ext cx="4538100" cy="3509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s-419" sz="1350">
                <a:solidFill>
                  <a:schemeClr val="dk1"/>
                </a:solidFill>
                <a:highlight>
                  <a:srgbClr val="FFFFFF"/>
                </a:highlight>
                <a:latin typeface="DM Sans"/>
                <a:ea typeface="DM Sans"/>
                <a:cs typeface="DM Sans"/>
                <a:sym typeface="DM Sans"/>
              </a:rPr>
              <a:t>Para completar este array de dependencias la pregunta que debo hacerme es:</a:t>
            </a:r>
            <a:endParaRPr sz="1350">
              <a:solidFill>
                <a:schemeClr val="dk1"/>
              </a:solidFill>
              <a:highlight>
                <a:srgbClr val="FFFFFF"/>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419" sz="1350">
                <a:solidFill>
                  <a:schemeClr val="dk1"/>
                </a:solidFill>
                <a:highlight>
                  <a:srgbClr val="FFFFFF"/>
                </a:highlight>
                <a:latin typeface="DM Sans"/>
                <a:ea typeface="DM Sans"/>
                <a:cs typeface="DM Sans"/>
                <a:sym typeface="DM Sans"/>
              </a:rPr>
              <a:t/>
            </a:r>
            <a:br>
              <a:rPr lang="es-419" sz="1350">
                <a:solidFill>
                  <a:schemeClr val="dk1"/>
                </a:solidFill>
                <a:highlight>
                  <a:srgbClr val="FFFFFF"/>
                </a:highlight>
                <a:latin typeface="DM Sans"/>
                <a:ea typeface="DM Sans"/>
                <a:cs typeface="DM Sans"/>
                <a:sym typeface="DM Sans"/>
              </a:rPr>
            </a:br>
            <a:r>
              <a:rPr lang="es-419" sz="1350" b="1">
                <a:solidFill>
                  <a:schemeClr val="dk1"/>
                </a:solidFill>
                <a:highlight>
                  <a:srgbClr val="EAFF6A"/>
                </a:highlight>
                <a:latin typeface="DM Sans"/>
                <a:ea typeface="DM Sans"/>
                <a:cs typeface="DM Sans"/>
                <a:sym typeface="DM Sans"/>
              </a:rPr>
              <a:t>¿Con que estados debo sincronizar este efecto?</a:t>
            </a:r>
            <a:endParaRPr sz="1350" b="1">
              <a:solidFill>
                <a:schemeClr val="dk1"/>
              </a:solidFill>
              <a:highlight>
                <a:srgbClr val="EAFF6A"/>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a:solidFill>
                <a:schemeClr val="dk1"/>
              </a:solidFill>
              <a:highlight>
                <a:srgbClr val="FFFFFF"/>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419" sz="1350" b="1">
                <a:solidFill>
                  <a:schemeClr val="dk1"/>
                </a:solidFill>
                <a:highlight>
                  <a:srgbClr val="FFFFFF"/>
                </a:highlight>
                <a:latin typeface="DM Sans"/>
                <a:ea typeface="DM Sans"/>
                <a:cs typeface="DM Sans"/>
                <a:sym typeface="DM Sans"/>
              </a:rPr>
              <a:t>useEffect(fn) // Con todos los estados</a:t>
            </a:r>
            <a:endParaRPr sz="1350" b="1">
              <a:solidFill>
                <a:schemeClr val="dk1"/>
              </a:solidFill>
              <a:highlight>
                <a:srgbClr val="FFFFFF"/>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b="1">
              <a:solidFill>
                <a:schemeClr val="dk1"/>
              </a:solidFill>
              <a:highlight>
                <a:srgbClr val="FFFFFF"/>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419" sz="1350" b="1">
                <a:solidFill>
                  <a:schemeClr val="dk1"/>
                </a:solidFill>
                <a:highlight>
                  <a:srgbClr val="FFFFFF"/>
                </a:highlight>
                <a:latin typeface="DM Sans"/>
                <a:ea typeface="DM Sans"/>
                <a:cs typeface="DM Sans"/>
                <a:sym typeface="DM Sans"/>
              </a:rPr>
              <a:t>useEffect(fn, []) // Con ningún estado</a:t>
            </a:r>
            <a:endParaRPr sz="1350" b="1">
              <a:solidFill>
                <a:schemeClr val="dk1"/>
              </a:solidFill>
              <a:highlight>
                <a:srgbClr val="FFFFFF"/>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b="1">
              <a:solidFill>
                <a:schemeClr val="dk1"/>
              </a:solidFill>
              <a:highlight>
                <a:srgbClr val="FFFFFF"/>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419" sz="1350" b="1">
                <a:solidFill>
                  <a:schemeClr val="dk1"/>
                </a:solidFill>
                <a:highlight>
                  <a:srgbClr val="FFFFFF"/>
                </a:highlight>
                <a:latin typeface="DM Sans"/>
                <a:ea typeface="DM Sans"/>
                <a:cs typeface="DM Sans"/>
                <a:sym typeface="DM Sans"/>
              </a:rPr>
              <a:t>useEffect(fn, [estadoA])</a:t>
            </a:r>
            <a:endParaRPr sz="1350" b="1">
              <a:solidFill>
                <a:schemeClr val="dk1"/>
              </a:solidFill>
              <a:highlight>
                <a:srgbClr val="FFFFFF"/>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b="1">
              <a:solidFill>
                <a:schemeClr val="dk1"/>
              </a:solidFill>
              <a:highlight>
                <a:srgbClr val="FFFFFF"/>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419" sz="1350">
                <a:solidFill>
                  <a:schemeClr val="dk1"/>
                </a:solidFill>
                <a:highlight>
                  <a:schemeClr val="lt1"/>
                </a:highlight>
                <a:latin typeface="DM Sans"/>
                <a:ea typeface="DM Sans"/>
                <a:cs typeface="DM Sans"/>
                <a:sym typeface="DM Sans"/>
              </a:rPr>
              <a:t>Hay que tener en cuenta que useEffect se ejecuta siempre después del renderizado y por lo menos una vez al montar el componente.</a:t>
            </a:r>
            <a:endParaRPr sz="1350">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b="1">
              <a:solidFill>
                <a:schemeClr val="dk1"/>
              </a:solidFill>
              <a:highlight>
                <a:srgbClr val="FFFFFF"/>
              </a:highlight>
              <a:latin typeface="DM Sans"/>
              <a:ea typeface="DM Sans"/>
              <a:cs typeface="DM Sans"/>
              <a:sym typeface="DM Sans"/>
            </a:endParaRPr>
          </a:p>
          <a:p>
            <a:pPr marL="0" marR="0" lvl="0" indent="0" algn="l" rtl="0">
              <a:lnSpc>
                <a:spcPct val="100000"/>
              </a:lnSpc>
              <a:spcBef>
                <a:spcPts val="0"/>
              </a:spcBef>
              <a:spcAft>
                <a:spcPts val="0"/>
              </a:spcAft>
              <a:buNone/>
            </a:pPr>
            <a:endParaRPr sz="1350">
              <a:solidFill>
                <a:schemeClr val="dk1"/>
              </a:solidFill>
              <a:latin typeface="DM Sans"/>
              <a:ea typeface="DM Sans"/>
              <a:cs typeface="DM Sans"/>
              <a:sym typeface="DM Sans"/>
            </a:endParaRPr>
          </a:p>
        </p:txBody>
      </p:sp>
      <p:pic>
        <p:nvPicPr>
          <p:cNvPr id="191" name="Google Shape;191;p40"/>
          <p:cNvPicPr preferRelativeResize="0"/>
          <p:nvPr/>
        </p:nvPicPr>
        <p:blipFill>
          <a:blip r:embed="rId3">
            <a:alphaModFix/>
          </a:blip>
          <a:stretch>
            <a:fillRect/>
          </a:stretch>
        </p:blipFill>
        <p:spPr>
          <a:xfrm>
            <a:off x="5043475" y="1573775"/>
            <a:ext cx="3766801" cy="273040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41"/>
          <p:cNvSpPr txBox="1"/>
          <p:nvPr/>
        </p:nvSpPr>
        <p:spPr>
          <a:xfrm>
            <a:off x="487002" y="5039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chemeClr val="dk1"/>
              </a:buClr>
              <a:buSzPts val="1100"/>
              <a:buFont typeface="Arial"/>
              <a:buNone/>
            </a:pPr>
            <a:r>
              <a:rPr lang="es-419" sz="4000" b="1">
                <a:solidFill>
                  <a:schemeClr val="dk1"/>
                </a:solidFill>
                <a:latin typeface="DM Sans"/>
                <a:ea typeface="DM Sans"/>
                <a:cs typeface="DM Sans"/>
                <a:sym typeface="DM Sans"/>
              </a:rPr>
              <a:t>useEffect: clean up</a:t>
            </a:r>
            <a:endParaRPr sz="4000" b="1" i="0" u="none" strike="noStrike" cap="none">
              <a:solidFill>
                <a:schemeClr val="dk1"/>
              </a:solidFill>
              <a:latin typeface="DM Sans"/>
              <a:ea typeface="DM Sans"/>
              <a:cs typeface="DM Sans"/>
              <a:sym typeface="DM Sans"/>
            </a:endParaRPr>
          </a:p>
        </p:txBody>
      </p:sp>
      <p:sp>
        <p:nvSpPr>
          <p:cNvPr id="197" name="Google Shape;197;p41"/>
          <p:cNvSpPr txBox="1"/>
          <p:nvPr/>
        </p:nvSpPr>
        <p:spPr>
          <a:xfrm>
            <a:off x="473350" y="1450975"/>
            <a:ext cx="3834600" cy="3093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350">
                <a:solidFill>
                  <a:schemeClr val="dk1"/>
                </a:solidFill>
                <a:highlight>
                  <a:srgbClr val="FFFFFF"/>
                </a:highlight>
                <a:latin typeface="DM Sans"/>
                <a:ea typeface="DM Sans"/>
                <a:cs typeface="DM Sans"/>
                <a:sym typeface="DM Sans"/>
              </a:rPr>
              <a:t>En la función de callback escribiremos el bloque de código que deseamos sincronizar en el cuerpo y retornaremos una función, llamada función de limpieza, que se ejecutará tantas veces como se haya ejecutado la función que la retorna. </a:t>
            </a:r>
            <a:endParaRPr sz="1350">
              <a:solidFill>
                <a:schemeClr val="dk1"/>
              </a:solidFill>
              <a:highlight>
                <a:srgbClr val="FFFFFF"/>
              </a:highlight>
              <a:latin typeface="DM Sans"/>
              <a:ea typeface="DM Sans"/>
              <a:cs typeface="DM Sans"/>
              <a:sym typeface="DM Sans"/>
            </a:endParaRPr>
          </a:p>
          <a:p>
            <a:pPr marL="0" lvl="0" indent="0" algn="l" rtl="0">
              <a:spcBef>
                <a:spcPts val="0"/>
              </a:spcBef>
              <a:spcAft>
                <a:spcPts val="0"/>
              </a:spcAft>
              <a:buNone/>
            </a:pPr>
            <a:endParaRPr sz="1350">
              <a:solidFill>
                <a:schemeClr val="dk1"/>
              </a:solidFill>
              <a:highlight>
                <a:srgbClr val="FFFFFF"/>
              </a:highlight>
              <a:latin typeface="DM Sans"/>
              <a:ea typeface="DM Sans"/>
              <a:cs typeface="DM Sans"/>
              <a:sym typeface="DM Sans"/>
            </a:endParaRPr>
          </a:p>
          <a:p>
            <a:pPr marL="0" lvl="0" indent="0" algn="l" rtl="0">
              <a:spcBef>
                <a:spcPts val="0"/>
              </a:spcBef>
              <a:spcAft>
                <a:spcPts val="0"/>
              </a:spcAft>
              <a:buNone/>
            </a:pPr>
            <a:r>
              <a:rPr lang="es-419" sz="1350">
                <a:solidFill>
                  <a:schemeClr val="dk1"/>
                </a:solidFill>
                <a:highlight>
                  <a:srgbClr val="FFFFFF"/>
                </a:highlight>
                <a:latin typeface="DM Sans"/>
                <a:ea typeface="DM Sans"/>
                <a:cs typeface="DM Sans"/>
                <a:sym typeface="DM Sans"/>
              </a:rPr>
              <a:t>La función de limpieza suele usarse cuando interactuamos con eventos directos del DOM o funciones del objeto window como setInterval.</a:t>
            </a:r>
            <a:endParaRPr sz="1350">
              <a:solidFill>
                <a:schemeClr val="dk1"/>
              </a:solidFill>
              <a:highlight>
                <a:srgbClr val="FFFFFF"/>
              </a:highlight>
              <a:latin typeface="DM Sans"/>
              <a:ea typeface="DM Sans"/>
              <a:cs typeface="DM Sans"/>
              <a:sym typeface="DM Sans"/>
            </a:endParaRPr>
          </a:p>
          <a:p>
            <a:pPr marL="0" lvl="0" indent="0" algn="l" rtl="0">
              <a:spcBef>
                <a:spcPts val="0"/>
              </a:spcBef>
              <a:spcAft>
                <a:spcPts val="0"/>
              </a:spcAft>
              <a:buNone/>
            </a:pPr>
            <a:endParaRPr sz="1350">
              <a:solidFill>
                <a:schemeClr val="dk1"/>
              </a:solidFill>
              <a:highlight>
                <a:srgbClr val="FFFFFF"/>
              </a:highlight>
              <a:latin typeface="DM Sans"/>
              <a:ea typeface="DM Sans"/>
              <a:cs typeface="DM Sans"/>
              <a:sym typeface="DM Sans"/>
            </a:endParaRPr>
          </a:p>
          <a:p>
            <a:pPr marL="0" lvl="0" indent="0" algn="l" rtl="0">
              <a:spcBef>
                <a:spcPts val="0"/>
              </a:spcBef>
              <a:spcAft>
                <a:spcPts val="0"/>
              </a:spcAft>
              <a:buNone/>
            </a:pPr>
            <a:r>
              <a:rPr lang="es-419" sz="1350">
                <a:solidFill>
                  <a:schemeClr val="dk1"/>
                </a:solidFill>
                <a:highlight>
                  <a:srgbClr val="FFFFFF"/>
                </a:highlight>
                <a:latin typeface="DM Sans"/>
                <a:ea typeface="DM Sans"/>
                <a:cs typeface="DM Sans"/>
                <a:sym typeface="DM Sans"/>
              </a:rPr>
              <a:t>Es decir, que </a:t>
            </a:r>
            <a:r>
              <a:rPr lang="es-419" sz="1350" b="1">
                <a:solidFill>
                  <a:schemeClr val="dk1"/>
                </a:solidFill>
                <a:highlight>
                  <a:srgbClr val="FFFFFF"/>
                </a:highlight>
                <a:latin typeface="DM Sans"/>
                <a:ea typeface="DM Sans"/>
                <a:cs typeface="DM Sans"/>
                <a:sym typeface="DM Sans"/>
              </a:rPr>
              <a:t>el proceso es simétrico.</a:t>
            </a:r>
            <a:endParaRPr sz="1350" b="1">
              <a:solidFill>
                <a:schemeClr val="dk1"/>
              </a:solidFill>
              <a:highlight>
                <a:srgbClr val="FFFFFF"/>
              </a:highlight>
              <a:latin typeface="DM Sans"/>
              <a:ea typeface="DM Sans"/>
              <a:cs typeface="DM Sans"/>
              <a:sym typeface="DM Sans"/>
            </a:endParaRPr>
          </a:p>
          <a:p>
            <a:pPr marL="0" marR="0" lvl="0" indent="0" algn="l" rtl="0">
              <a:lnSpc>
                <a:spcPct val="100000"/>
              </a:lnSpc>
              <a:spcBef>
                <a:spcPts val="0"/>
              </a:spcBef>
              <a:spcAft>
                <a:spcPts val="0"/>
              </a:spcAft>
              <a:buNone/>
            </a:pPr>
            <a:endParaRPr sz="1350">
              <a:solidFill>
                <a:schemeClr val="dk1"/>
              </a:solidFill>
              <a:latin typeface="DM Sans"/>
              <a:ea typeface="DM Sans"/>
              <a:cs typeface="DM Sans"/>
              <a:sym typeface="DM Sans"/>
            </a:endParaRPr>
          </a:p>
        </p:txBody>
      </p:sp>
      <p:pic>
        <p:nvPicPr>
          <p:cNvPr id="198" name="Google Shape;198;p41"/>
          <p:cNvPicPr preferRelativeResize="0"/>
          <p:nvPr/>
        </p:nvPicPr>
        <p:blipFill>
          <a:blip r:embed="rId3">
            <a:alphaModFix/>
          </a:blip>
          <a:stretch>
            <a:fillRect/>
          </a:stretch>
        </p:blipFill>
        <p:spPr>
          <a:xfrm>
            <a:off x="4738950" y="1514700"/>
            <a:ext cx="4064276" cy="295117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42"/>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chemeClr val="dk1"/>
              </a:buClr>
              <a:buSzPts val="1100"/>
              <a:buFont typeface="Arial"/>
              <a:buNone/>
            </a:pPr>
            <a:r>
              <a:rPr lang="es-419" sz="4000" b="1">
                <a:solidFill>
                  <a:schemeClr val="dk1"/>
                </a:solidFill>
                <a:latin typeface="DM Sans"/>
                <a:ea typeface="DM Sans"/>
                <a:cs typeface="DM Sans"/>
                <a:sym typeface="DM Sans"/>
              </a:rPr>
              <a:t>useEffect</a:t>
            </a:r>
            <a:endParaRPr sz="4000" b="1" i="0" u="none" strike="noStrike" cap="none">
              <a:solidFill>
                <a:schemeClr val="dk1"/>
              </a:solidFill>
              <a:latin typeface="DM Sans"/>
              <a:ea typeface="DM Sans"/>
              <a:cs typeface="DM Sans"/>
              <a:sym typeface="DM Sans"/>
            </a:endParaRPr>
          </a:p>
        </p:txBody>
      </p:sp>
      <p:sp>
        <p:nvSpPr>
          <p:cNvPr id="204" name="Google Shape;204;p42"/>
          <p:cNvSpPr txBox="1"/>
          <p:nvPr/>
        </p:nvSpPr>
        <p:spPr>
          <a:xfrm>
            <a:off x="473350" y="1450975"/>
            <a:ext cx="3949200" cy="1975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350">
                <a:solidFill>
                  <a:schemeClr val="dk1"/>
                </a:solidFill>
                <a:highlight>
                  <a:schemeClr val="lt1"/>
                </a:highlight>
                <a:latin typeface="DM Sans"/>
                <a:ea typeface="DM Sans"/>
                <a:cs typeface="DM Sans"/>
                <a:sym typeface="DM Sans"/>
              </a:rPr>
              <a:t>Dado que la función se ejecutará por lo menos una vez al montar el componente, la función que se retorna se ejecutará una vez al desmontar el componente. </a:t>
            </a:r>
            <a:endParaRPr sz="1350">
              <a:solidFill>
                <a:schemeClr val="dk1"/>
              </a:solidFill>
              <a:highlight>
                <a:schemeClr val="lt1"/>
              </a:highlight>
              <a:latin typeface="DM Sans"/>
              <a:ea typeface="DM Sans"/>
              <a:cs typeface="DM Sans"/>
              <a:sym typeface="DM Sans"/>
            </a:endParaRPr>
          </a:p>
          <a:p>
            <a:pPr marL="0" lvl="0" indent="0" algn="l" rtl="0">
              <a:spcBef>
                <a:spcPts val="1000"/>
              </a:spcBef>
              <a:spcAft>
                <a:spcPts val="1000"/>
              </a:spcAft>
              <a:buNone/>
            </a:pPr>
            <a:r>
              <a:rPr lang="es-419" sz="1350">
                <a:solidFill>
                  <a:schemeClr val="dk1"/>
                </a:solidFill>
                <a:highlight>
                  <a:schemeClr val="lt1"/>
                </a:highlight>
                <a:latin typeface="DM Sans"/>
                <a:ea typeface="DM Sans"/>
                <a:cs typeface="DM Sans"/>
                <a:sym typeface="DM Sans"/>
              </a:rPr>
              <a:t>En caso de tener dependencias de estados, la limpieza se ejecutará antes de volver a ejecutar el efecto frente a un cambio en una de sus dependencias. </a:t>
            </a:r>
            <a:endParaRPr sz="1350">
              <a:solidFill>
                <a:schemeClr val="dk1"/>
              </a:solidFill>
              <a:latin typeface="DM Sans"/>
              <a:ea typeface="DM Sans"/>
              <a:cs typeface="DM Sans"/>
              <a:sym typeface="DM Sans"/>
            </a:endParaRPr>
          </a:p>
        </p:txBody>
      </p:sp>
      <p:sp>
        <p:nvSpPr>
          <p:cNvPr id="205" name="Google Shape;205;p42"/>
          <p:cNvSpPr txBox="1"/>
          <p:nvPr/>
        </p:nvSpPr>
        <p:spPr>
          <a:xfrm>
            <a:off x="4571475" y="2110975"/>
            <a:ext cx="4189200" cy="423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s-419" sz="1550" b="1">
                <a:solidFill>
                  <a:schemeClr val="dk1"/>
                </a:solidFill>
                <a:highlight>
                  <a:srgbClr val="E0FF00"/>
                </a:highlight>
                <a:latin typeface="DM Sans"/>
                <a:ea typeface="DM Sans"/>
                <a:cs typeface="DM Sans"/>
                <a:sym typeface="DM Sans"/>
              </a:rPr>
              <a:t>Acción =&gt; Limpieza =&gt; Acción =&gt; Limpieza</a:t>
            </a:r>
            <a:endParaRPr/>
          </a:p>
        </p:txBody>
      </p:sp>
      <p:sp>
        <p:nvSpPr>
          <p:cNvPr id="206" name="Google Shape;206;p42"/>
          <p:cNvSpPr txBox="1"/>
          <p:nvPr/>
        </p:nvSpPr>
        <p:spPr>
          <a:xfrm>
            <a:off x="499875" y="3821100"/>
            <a:ext cx="6666600" cy="538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s-419" sz="1150" b="1">
                <a:solidFill>
                  <a:schemeClr val="dk1"/>
                </a:solidFill>
                <a:highlight>
                  <a:schemeClr val="lt1"/>
                </a:highlight>
                <a:latin typeface="DM Sans"/>
                <a:ea typeface="DM Sans"/>
                <a:cs typeface="DM Sans"/>
                <a:sym typeface="DM Sans"/>
              </a:rPr>
              <a:t>*</a:t>
            </a:r>
            <a:r>
              <a:rPr lang="es-419" sz="1150">
                <a:solidFill>
                  <a:schemeClr val="dk1"/>
                </a:solidFill>
                <a:highlight>
                  <a:schemeClr val="lt1"/>
                </a:highlight>
                <a:latin typeface="DM Sans"/>
                <a:ea typeface="DM Sans"/>
                <a:cs typeface="DM Sans"/>
                <a:sym typeface="DM Sans"/>
              </a:rPr>
              <a:t>Actualmente el modo estricto de React ejecuta dos veces la función del primer argumento. Por eso puede ser que veas dos veces un mismo console.log que se ejecutó dentro de esta función.</a:t>
            </a:r>
            <a:endParaRPr sz="12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43"/>
          <p:cNvSpPr txBox="1"/>
          <p:nvPr/>
        </p:nvSpPr>
        <p:spPr>
          <a:xfrm>
            <a:off x="473350" y="8481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chemeClr val="dk1"/>
              </a:buClr>
              <a:buSzPts val="1100"/>
              <a:buFont typeface="Arial"/>
              <a:buNone/>
            </a:pPr>
            <a:r>
              <a:rPr lang="es-419" sz="4000" b="1">
                <a:solidFill>
                  <a:schemeClr val="dk1"/>
                </a:solidFill>
                <a:latin typeface="DM Sans"/>
                <a:ea typeface="DM Sans"/>
                <a:cs typeface="DM Sans"/>
                <a:sym typeface="DM Sans"/>
              </a:rPr>
              <a:t>useEffect</a:t>
            </a:r>
            <a:endParaRPr sz="4000" b="1" i="0" u="none" strike="noStrike" cap="none">
              <a:solidFill>
                <a:schemeClr val="dk1"/>
              </a:solidFill>
              <a:latin typeface="DM Sans"/>
              <a:ea typeface="DM Sans"/>
              <a:cs typeface="DM Sans"/>
              <a:sym typeface="DM Sans"/>
            </a:endParaRPr>
          </a:p>
        </p:txBody>
      </p:sp>
      <p:sp>
        <p:nvSpPr>
          <p:cNvPr id="212" name="Google Shape;212;p43"/>
          <p:cNvSpPr txBox="1"/>
          <p:nvPr/>
        </p:nvSpPr>
        <p:spPr>
          <a:xfrm>
            <a:off x="495200" y="1604525"/>
            <a:ext cx="4251600" cy="1688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sz="1350">
                <a:solidFill>
                  <a:schemeClr val="dk1"/>
                </a:solidFill>
                <a:highlight>
                  <a:srgbClr val="FFFFFF"/>
                </a:highlight>
                <a:latin typeface="DM Sans"/>
                <a:ea typeface="DM Sans"/>
                <a:cs typeface="DM Sans"/>
                <a:sym typeface="DM Sans"/>
              </a:rPr>
              <a:t>Como podemos utilizar todos los useEffect que deseemos, es conveniente separar responsabilidades. </a:t>
            </a:r>
            <a:endParaRPr sz="1350">
              <a:solidFill>
                <a:schemeClr val="dk1"/>
              </a:solidFill>
              <a:highlight>
                <a:srgbClr val="FFFFFF"/>
              </a:highlight>
              <a:latin typeface="DM Sans"/>
              <a:ea typeface="DM Sans"/>
              <a:cs typeface="DM Sans"/>
              <a:sym typeface="DM Sans"/>
            </a:endParaRPr>
          </a:p>
          <a:p>
            <a:pPr marL="0" lvl="0" indent="0" algn="l" rtl="0">
              <a:spcBef>
                <a:spcPts val="1000"/>
              </a:spcBef>
              <a:spcAft>
                <a:spcPts val="0"/>
              </a:spcAft>
              <a:buNone/>
            </a:pPr>
            <a:r>
              <a:rPr lang="es-419" sz="1350">
                <a:solidFill>
                  <a:schemeClr val="dk1"/>
                </a:solidFill>
                <a:highlight>
                  <a:srgbClr val="FFFFFF"/>
                </a:highlight>
                <a:latin typeface="DM Sans"/>
                <a:ea typeface="DM Sans"/>
                <a:cs typeface="DM Sans"/>
                <a:sym typeface="DM Sans"/>
              </a:rPr>
              <a:t>Cada useEffect encargándose de un solo efecto y limpieza.</a:t>
            </a:r>
            <a:endParaRPr sz="1350">
              <a:solidFill>
                <a:schemeClr val="dk1"/>
              </a:solidFill>
              <a:highlight>
                <a:srgbClr val="FFFFFF"/>
              </a:highlight>
              <a:latin typeface="DM Sans"/>
              <a:ea typeface="DM Sans"/>
              <a:cs typeface="DM Sans"/>
              <a:sym typeface="DM Sans"/>
            </a:endParaRPr>
          </a:p>
          <a:p>
            <a:pPr marL="0" lvl="0" indent="0" algn="l" rtl="0">
              <a:spcBef>
                <a:spcPts val="1000"/>
              </a:spcBef>
              <a:spcAft>
                <a:spcPts val="0"/>
              </a:spcAft>
              <a:buNone/>
            </a:pPr>
            <a:endParaRPr sz="1350">
              <a:solidFill>
                <a:schemeClr val="dk1"/>
              </a:solidFill>
              <a:highlight>
                <a:srgbClr val="FFFFFF"/>
              </a:highlight>
              <a:latin typeface="DM Sans"/>
              <a:ea typeface="DM Sans"/>
              <a:cs typeface="DM Sans"/>
              <a:sym typeface="DM Sans"/>
            </a:endParaRPr>
          </a:p>
        </p:txBody>
      </p:sp>
      <p:pic>
        <p:nvPicPr>
          <p:cNvPr id="213" name="Google Shape;213;p43"/>
          <p:cNvPicPr preferRelativeResize="0"/>
          <p:nvPr/>
        </p:nvPicPr>
        <p:blipFill>
          <a:blip r:embed="rId3">
            <a:alphaModFix/>
          </a:blip>
          <a:stretch>
            <a:fillRect/>
          </a:stretch>
        </p:blipFill>
        <p:spPr>
          <a:xfrm>
            <a:off x="5268400" y="907813"/>
            <a:ext cx="3428401" cy="34802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4"/>
          <p:cNvSpPr txBox="1"/>
          <p:nvPr/>
        </p:nvSpPr>
        <p:spPr>
          <a:xfrm>
            <a:off x="1461300" y="1598325"/>
            <a:ext cx="6221400" cy="14316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419" sz="5000">
                <a:solidFill>
                  <a:srgbClr val="E8E7E3"/>
                </a:solidFill>
              </a:rPr>
              <a:t>☕</a:t>
            </a:r>
            <a:endParaRPr sz="5000">
              <a:solidFill>
                <a:srgbClr val="E8E7E3"/>
              </a:solidFill>
            </a:endParaRPr>
          </a:p>
          <a:p>
            <a:pPr marL="0" lvl="0" indent="0" algn="ctr" rtl="0">
              <a:lnSpc>
                <a:spcPct val="90000"/>
              </a:lnSpc>
              <a:spcBef>
                <a:spcPts val="0"/>
              </a:spcBef>
              <a:spcAft>
                <a:spcPts val="0"/>
              </a:spcAft>
              <a:buNone/>
            </a:pPr>
            <a:r>
              <a:rPr lang="es-419" sz="4000" b="1">
                <a:solidFill>
                  <a:srgbClr val="EAFF6A"/>
                </a:solidFill>
                <a:latin typeface="DM Sans"/>
                <a:ea typeface="DM Sans"/>
                <a:cs typeface="DM Sans"/>
                <a:sym typeface="DM Sans"/>
              </a:rPr>
              <a:t>Break</a:t>
            </a:r>
            <a:endParaRPr sz="4000" b="1">
              <a:solidFill>
                <a:schemeClr val="lt1"/>
              </a:solidFill>
              <a:latin typeface="DM Sans"/>
              <a:ea typeface="DM Sans"/>
              <a:cs typeface="DM Sans"/>
              <a:sym typeface="DM Sans"/>
            </a:endParaRPr>
          </a:p>
        </p:txBody>
      </p:sp>
      <p:sp>
        <p:nvSpPr>
          <p:cNvPr id="219" name="Google Shape;219;p44"/>
          <p:cNvSpPr txBox="1"/>
          <p:nvPr/>
        </p:nvSpPr>
        <p:spPr>
          <a:xfrm>
            <a:off x="2998200" y="2971950"/>
            <a:ext cx="3147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000">
                <a:solidFill>
                  <a:schemeClr val="lt1"/>
                </a:solidFill>
                <a:latin typeface="DM Sans"/>
                <a:ea typeface="DM Sans"/>
                <a:cs typeface="DM Sans"/>
                <a:sym typeface="DM Sans"/>
              </a:rPr>
              <a:t>¡5 minutos y volvemos!</a:t>
            </a:r>
            <a:endParaRPr sz="2000">
              <a:solidFill>
                <a:schemeClr val="lt1"/>
              </a:solidFill>
              <a:latin typeface="DM Sans"/>
              <a:ea typeface="DM Sans"/>
              <a:cs typeface="DM Sans"/>
              <a:sym typeface="DM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45"/>
          <p:cNvSpPr txBox="1"/>
          <p:nvPr/>
        </p:nvSpPr>
        <p:spPr>
          <a:xfrm>
            <a:off x="457725" y="732025"/>
            <a:ext cx="4730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419" sz="4000" b="1">
                <a:solidFill>
                  <a:schemeClr val="dk1"/>
                </a:solidFill>
                <a:latin typeface="DM Sans"/>
                <a:ea typeface="DM Sans"/>
                <a:cs typeface="DM Sans"/>
                <a:sym typeface="DM Sans"/>
              </a:rPr>
              <a:t>.map()</a:t>
            </a:r>
            <a:endParaRPr sz="4000" b="1">
              <a:solidFill>
                <a:schemeClr val="dk1"/>
              </a:solidFill>
              <a:latin typeface="DM Sans"/>
              <a:ea typeface="DM Sans"/>
              <a:cs typeface="DM Sans"/>
              <a:sym typeface="DM Sans"/>
            </a:endParaRPr>
          </a:p>
        </p:txBody>
      </p:sp>
      <p:sp>
        <p:nvSpPr>
          <p:cNvPr id="225" name="Google Shape;225;p45"/>
          <p:cNvSpPr txBox="1"/>
          <p:nvPr/>
        </p:nvSpPr>
        <p:spPr>
          <a:xfrm>
            <a:off x="457725" y="1773075"/>
            <a:ext cx="4730100" cy="254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419" sz="1350">
                <a:solidFill>
                  <a:schemeClr val="dk1"/>
                </a:solidFill>
                <a:highlight>
                  <a:schemeClr val="lt1"/>
                </a:highlight>
                <a:latin typeface="DM Sans"/>
                <a:ea typeface="DM Sans"/>
                <a:cs typeface="DM Sans"/>
                <a:sym typeface="DM Sans"/>
              </a:rPr>
              <a:t>El </a:t>
            </a:r>
            <a:r>
              <a:rPr lang="es-419" sz="1350" b="1">
                <a:solidFill>
                  <a:schemeClr val="dk1"/>
                </a:solidFill>
                <a:highlight>
                  <a:schemeClr val="lt1"/>
                </a:highlight>
                <a:latin typeface="DM Sans"/>
                <a:ea typeface="DM Sans"/>
                <a:cs typeface="DM Sans"/>
                <a:sym typeface="DM Sans"/>
              </a:rPr>
              <a:t>método de Arrays map()</a:t>
            </a:r>
            <a:r>
              <a:rPr lang="es-419" sz="1350">
                <a:solidFill>
                  <a:schemeClr val="dk1"/>
                </a:solidFill>
                <a:highlight>
                  <a:schemeClr val="lt1"/>
                </a:highlight>
                <a:latin typeface="DM Sans"/>
                <a:ea typeface="DM Sans"/>
                <a:cs typeface="DM Sans"/>
                <a:sym typeface="DM Sans"/>
              </a:rPr>
              <a:t> nos permite generar un </a:t>
            </a:r>
            <a:r>
              <a:rPr lang="es-419" sz="1350" b="1">
                <a:solidFill>
                  <a:schemeClr val="dk1"/>
                </a:solidFill>
                <a:highlight>
                  <a:schemeClr val="lt1"/>
                </a:highlight>
                <a:latin typeface="DM Sans"/>
                <a:ea typeface="DM Sans"/>
                <a:cs typeface="DM Sans"/>
                <a:sym typeface="DM Sans"/>
              </a:rPr>
              <a:t>nuevo array con modificaciones aplicadas a cada índice </a:t>
            </a:r>
            <a:r>
              <a:rPr lang="es-419" sz="1350">
                <a:solidFill>
                  <a:schemeClr val="dk1"/>
                </a:solidFill>
                <a:highlight>
                  <a:schemeClr val="lt1"/>
                </a:highlight>
                <a:latin typeface="DM Sans"/>
                <a:ea typeface="DM Sans"/>
                <a:cs typeface="DM Sans"/>
                <a:sym typeface="DM Sans"/>
              </a:rPr>
              <a:t>(tomando de base un </a:t>
            </a:r>
            <a:r>
              <a:rPr lang="es-419" sz="1350" b="1">
                <a:solidFill>
                  <a:schemeClr val="dk1"/>
                </a:solidFill>
                <a:highlight>
                  <a:schemeClr val="lt1"/>
                </a:highlight>
                <a:latin typeface="DM Sans"/>
                <a:ea typeface="DM Sans"/>
                <a:cs typeface="DM Sans"/>
                <a:sym typeface="DM Sans"/>
              </a:rPr>
              <a:t>array inicial</a:t>
            </a:r>
            <a:r>
              <a:rPr lang="es-419" sz="1350">
                <a:solidFill>
                  <a:schemeClr val="dk1"/>
                </a:solidFill>
                <a:highlight>
                  <a:schemeClr val="lt1"/>
                </a:highlight>
                <a:latin typeface="DM Sans"/>
                <a:ea typeface="DM Sans"/>
                <a:cs typeface="DM Sans"/>
                <a:sym typeface="DM Sans"/>
              </a:rPr>
              <a:t>) y utilizando una función callback.</a:t>
            </a:r>
            <a:endParaRPr sz="1350">
              <a:solidFill>
                <a:schemeClr val="dk1"/>
              </a:solidFill>
              <a:highlight>
                <a:schemeClr val="lt1"/>
              </a:highlight>
              <a:latin typeface="DM Sans"/>
              <a:ea typeface="DM Sans"/>
              <a:cs typeface="DM Sans"/>
              <a:sym typeface="DM Sans"/>
            </a:endParaRPr>
          </a:p>
          <a:p>
            <a:pPr marL="0" lvl="0" indent="0" algn="l" rtl="0">
              <a:lnSpc>
                <a:spcPct val="115000"/>
              </a:lnSpc>
              <a:spcBef>
                <a:spcPts val="0"/>
              </a:spcBef>
              <a:spcAft>
                <a:spcPts val="0"/>
              </a:spcAft>
              <a:buNone/>
            </a:pPr>
            <a:endParaRPr sz="1350">
              <a:solidFill>
                <a:schemeClr val="dk1"/>
              </a:solidFill>
              <a:highlight>
                <a:schemeClr val="lt1"/>
              </a:highlight>
              <a:latin typeface="DM Sans"/>
              <a:ea typeface="DM Sans"/>
              <a:cs typeface="DM Sans"/>
              <a:sym typeface="DM Sans"/>
            </a:endParaRPr>
          </a:p>
          <a:p>
            <a:pPr marL="0" lvl="0" indent="0" algn="l" rtl="0">
              <a:lnSpc>
                <a:spcPct val="115000"/>
              </a:lnSpc>
              <a:spcBef>
                <a:spcPts val="0"/>
              </a:spcBef>
              <a:spcAft>
                <a:spcPts val="0"/>
              </a:spcAft>
              <a:buNone/>
            </a:pPr>
            <a:r>
              <a:rPr lang="es-419" sz="1350" b="1">
                <a:solidFill>
                  <a:schemeClr val="accent4"/>
                </a:solidFill>
                <a:highlight>
                  <a:schemeClr val="lt1"/>
                </a:highlight>
                <a:latin typeface="DM Sans"/>
                <a:ea typeface="DM Sans"/>
                <a:cs typeface="DM Sans"/>
                <a:sym typeface="DM Sans"/>
              </a:rPr>
              <a:t>!important;</a:t>
            </a:r>
            <a:endParaRPr sz="1350" b="1">
              <a:solidFill>
                <a:schemeClr val="accent4"/>
              </a:solidFill>
              <a:highlight>
                <a:schemeClr val="lt1"/>
              </a:highlight>
              <a:latin typeface="DM Sans"/>
              <a:ea typeface="DM Sans"/>
              <a:cs typeface="DM Sans"/>
              <a:sym typeface="DM Sans"/>
            </a:endParaRPr>
          </a:p>
          <a:p>
            <a:pPr marL="0" lvl="0" indent="0" algn="l" rtl="0">
              <a:lnSpc>
                <a:spcPct val="115000"/>
              </a:lnSpc>
              <a:spcBef>
                <a:spcPts val="0"/>
              </a:spcBef>
              <a:spcAft>
                <a:spcPts val="0"/>
              </a:spcAft>
              <a:buNone/>
            </a:pPr>
            <a:endParaRPr sz="1350" b="1">
              <a:solidFill>
                <a:schemeClr val="accent4"/>
              </a:solidFill>
              <a:highlight>
                <a:schemeClr val="lt1"/>
              </a:highlight>
              <a:latin typeface="DM Sans"/>
              <a:ea typeface="DM Sans"/>
              <a:cs typeface="DM Sans"/>
              <a:sym typeface="DM Sans"/>
            </a:endParaRPr>
          </a:p>
          <a:p>
            <a:pPr marL="0" lvl="0" indent="0" algn="l" rtl="0">
              <a:lnSpc>
                <a:spcPct val="115000"/>
              </a:lnSpc>
              <a:spcBef>
                <a:spcPts val="0"/>
              </a:spcBef>
              <a:spcAft>
                <a:spcPts val="0"/>
              </a:spcAft>
              <a:buNone/>
            </a:pPr>
            <a:r>
              <a:rPr lang="es-419" sz="1350">
                <a:solidFill>
                  <a:schemeClr val="dk1"/>
                </a:solidFill>
                <a:highlight>
                  <a:schemeClr val="lt1"/>
                </a:highlight>
                <a:latin typeface="DM Sans"/>
                <a:ea typeface="DM Sans"/>
                <a:cs typeface="DM Sans"/>
                <a:sym typeface="DM Sans"/>
              </a:rPr>
              <a:t>Si el array inicial tiene 5 elementos, map creará un nuevo array de 5 elementos, sin afectar al array original.</a:t>
            </a:r>
            <a:endParaRPr sz="1350">
              <a:solidFill>
                <a:schemeClr val="dk1"/>
              </a:solidFill>
              <a:highlight>
                <a:schemeClr val="lt1"/>
              </a:highlight>
              <a:latin typeface="DM Sans"/>
              <a:ea typeface="DM Sans"/>
              <a:cs typeface="DM Sans"/>
              <a:sym typeface="DM Sans"/>
            </a:endParaRPr>
          </a:p>
          <a:p>
            <a:pPr marL="0" lvl="0" indent="0" algn="l" rtl="0">
              <a:lnSpc>
                <a:spcPct val="115000"/>
              </a:lnSpc>
              <a:spcBef>
                <a:spcPts val="0"/>
              </a:spcBef>
              <a:spcAft>
                <a:spcPts val="0"/>
              </a:spcAft>
              <a:buNone/>
            </a:pPr>
            <a:endParaRPr sz="1350" b="1">
              <a:solidFill>
                <a:schemeClr val="dk1"/>
              </a:solidFill>
              <a:highlight>
                <a:schemeClr val="lt1"/>
              </a:highlight>
              <a:latin typeface="DM Sans"/>
              <a:ea typeface="DM Sans"/>
              <a:cs typeface="DM Sans"/>
              <a:sym typeface="DM Sans"/>
            </a:endParaRPr>
          </a:p>
        </p:txBody>
      </p:sp>
      <p:sp>
        <p:nvSpPr>
          <p:cNvPr id="226" name="Google Shape;226;p45"/>
          <p:cNvSpPr txBox="1"/>
          <p:nvPr/>
        </p:nvSpPr>
        <p:spPr>
          <a:xfrm>
            <a:off x="6427740" y="2264828"/>
            <a:ext cx="1494300" cy="6003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1350">
                <a:solidFill>
                  <a:schemeClr val="dk1"/>
                </a:solidFill>
                <a:latin typeface="DM Sans"/>
                <a:ea typeface="DM Sans"/>
                <a:cs typeface="DM Sans"/>
                <a:sym typeface="DM Sans"/>
              </a:rPr>
              <a:t>REEMPLAZAR </a:t>
            </a:r>
            <a:endParaRPr sz="1350">
              <a:solidFill>
                <a:schemeClr val="dk1"/>
              </a:solidFill>
              <a:latin typeface="DM Sans"/>
              <a:ea typeface="DM Sans"/>
              <a:cs typeface="DM Sans"/>
              <a:sym typeface="DM Sans"/>
            </a:endParaRPr>
          </a:p>
          <a:p>
            <a:pPr marL="0" lvl="0" indent="0" algn="ctr" rtl="0">
              <a:spcBef>
                <a:spcPts val="0"/>
              </a:spcBef>
              <a:spcAft>
                <a:spcPts val="0"/>
              </a:spcAft>
              <a:buNone/>
            </a:pPr>
            <a:r>
              <a:rPr lang="es-419" sz="1350">
                <a:solidFill>
                  <a:schemeClr val="dk1"/>
                </a:solidFill>
                <a:latin typeface="DM Sans"/>
                <a:ea typeface="DM Sans"/>
                <a:cs typeface="DM Sans"/>
                <a:sym typeface="DM Sans"/>
              </a:rPr>
              <a:t>POR IMAGEN</a:t>
            </a:r>
            <a:endParaRPr sz="1350">
              <a:latin typeface="DM Sans"/>
              <a:ea typeface="DM Sans"/>
              <a:cs typeface="DM Sans"/>
              <a:sym typeface="DM Sans"/>
            </a:endParaRPr>
          </a:p>
        </p:txBody>
      </p:sp>
      <p:grpSp>
        <p:nvGrpSpPr>
          <p:cNvPr id="227" name="Google Shape;227;p45"/>
          <p:cNvGrpSpPr/>
          <p:nvPr/>
        </p:nvGrpSpPr>
        <p:grpSpPr>
          <a:xfrm>
            <a:off x="5971238" y="1550675"/>
            <a:ext cx="2028604" cy="2028603"/>
            <a:chOff x="5760425" y="1557450"/>
            <a:chExt cx="2028604" cy="2028603"/>
          </a:xfrm>
        </p:grpSpPr>
        <p:pic>
          <p:nvPicPr>
            <p:cNvPr id="228" name="Google Shape;228;p45"/>
            <p:cNvPicPr preferRelativeResize="0"/>
            <p:nvPr/>
          </p:nvPicPr>
          <p:blipFill>
            <a:blip r:embed="rId3">
              <a:alphaModFix/>
            </a:blip>
            <a:stretch>
              <a:fillRect/>
            </a:stretch>
          </p:blipFill>
          <p:spPr>
            <a:xfrm>
              <a:off x="5760426" y="1557450"/>
              <a:ext cx="2028603" cy="2028603"/>
            </a:xfrm>
            <a:prstGeom prst="rect">
              <a:avLst/>
            </a:prstGeom>
            <a:noFill/>
            <a:ln>
              <a:noFill/>
            </a:ln>
          </p:spPr>
        </p:pic>
        <p:sp>
          <p:nvSpPr>
            <p:cNvPr id="229" name="Google Shape;229;p45"/>
            <p:cNvSpPr txBox="1"/>
            <p:nvPr/>
          </p:nvSpPr>
          <p:spPr>
            <a:xfrm>
              <a:off x="5760425" y="1557450"/>
              <a:ext cx="979500" cy="799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s-419" sz="2000" b="1">
                  <a:solidFill>
                    <a:schemeClr val="dk1"/>
                  </a:solidFill>
                  <a:latin typeface="Helvetica Neue"/>
                  <a:ea typeface="Helvetica Neue"/>
                  <a:cs typeface="Helvetica Neue"/>
                  <a:sym typeface="Helvetica Neue"/>
                </a:rPr>
                <a:t>map()</a:t>
              </a:r>
              <a:endParaRPr/>
            </a:p>
          </p:txBody>
        </p:sp>
      </p:grpSp>
      <p:sp>
        <p:nvSpPr>
          <p:cNvPr id="230" name="Google Shape;230;p45"/>
          <p:cNvSpPr txBox="1"/>
          <p:nvPr/>
        </p:nvSpPr>
        <p:spPr>
          <a:xfrm>
            <a:off x="457725" y="4158575"/>
            <a:ext cx="6090300" cy="815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419"/>
              <a:t>Repos:</a:t>
            </a:r>
            <a:br>
              <a:rPr lang="es-419"/>
            </a:br>
            <a:r>
              <a:rPr lang="es-419" sz="1350">
                <a:solidFill>
                  <a:schemeClr val="dk1"/>
                </a:solidFill>
                <a:uFill>
                  <a:noFill/>
                </a:uFill>
                <a:latin typeface="DM Sans"/>
                <a:ea typeface="DM Sans"/>
                <a:cs typeface="DM Sans"/>
                <a:sym typeface="DM Sans"/>
                <a:hlinkClick r:id="rId4">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https://github.com/julioavantt/teacher_js_map</a:t>
            </a:r>
            <a:r>
              <a:rPr lang="es-419">
                <a:solidFill>
                  <a:schemeClr val="dk1"/>
                </a:solidFill>
              </a:rPr>
              <a:t/>
            </a:r>
            <a:br>
              <a:rPr lang="es-419">
                <a:solidFill>
                  <a:schemeClr val="dk1"/>
                </a:solidFill>
              </a:rPr>
            </a:br>
            <a:r>
              <a:rPr lang="es-419" sz="1350">
                <a:solidFill>
                  <a:schemeClr val="dk1"/>
                </a:solidFill>
                <a:uFill>
                  <a:noFill/>
                </a:uFill>
                <a:latin typeface="DM Sans"/>
                <a:ea typeface="DM Sans"/>
                <a:cs typeface="DM Sans"/>
                <a:sym typeface="DM Sans"/>
                <a:hlinkClick r:id="rId5">
                  <a:extLst>
                    <a:ext uri="{A12FA001-AC4F-418D-AE19-62706E023703}">
                      <ahyp:hlinkClr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val="tx"/>
                    </a:ext>
                  </a:extLst>
                </a:hlinkClick>
              </a:rPr>
              <a:t>https://github.com/julioavantt/teacher_react_map</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6"/>
          <p:cNvSpPr/>
          <p:nvPr/>
        </p:nvSpPr>
        <p:spPr>
          <a:xfrm>
            <a:off x="647400" y="1564725"/>
            <a:ext cx="7849200" cy="2941800"/>
          </a:xfrm>
          <a:prstGeom prst="rect">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46"/>
          <p:cNvSpPr txBox="1"/>
          <p:nvPr/>
        </p:nvSpPr>
        <p:spPr>
          <a:xfrm>
            <a:off x="1461300" y="204500"/>
            <a:ext cx="6221400" cy="1130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s-419" sz="2900" b="1">
                <a:solidFill>
                  <a:schemeClr val="lt1"/>
                </a:solidFill>
                <a:latin typeface="DM Sans"/>
                <a:ea typeface="DM Sans"/>
                <a:cs typeface="DM Sans"/>
                <a:sym typeface="DM Sans"/>
              </a:rPr>
              <a:t>Método MAP para renderizar</a:t>
            </a:r>
            <a:r>
              <a:rPr lang="es-419" sz="3300" b="1">
                <a:solidFill>
                  <a:schemeClr val="lt1"/>
                </a:solidFill>
                <a:latin typeface="DM Sans"/>
                <a:ea typeface="DM Sans"/>
                <a:cs typeface="DM Sans"/>
                <a:sym typeface="DM Sans"/>
              </a:rPr>
              <a:t> </a:t>
            </a:r>
            <a:r>
              <a:rPr lang="es-419" sz="2350" b="1">
                <a:solidFill>
                  <a:schemeClr val="lt1"/>
                </a:solidFill>
                <a:latin typeface="DM Sans"/>
                <a:ea typeface="DM Sans"/>
                <a:cs typeface="DM Sans"/>
                <a:sym typeface="DM Sans"/>
              </a:rPr>
              <a:t>elementos de un array</a:t>
            </a:r>
            <a:endParaRPr sz="4300" b="1">
              <a:solidFill>
                <a:schemeClr val="lt1"/>
              </a:solidFill>
              <a:latin typeface="DM Sans"/>
              <a:ea typeface="DM Sans"/>
              <a:cs typeface="DM Sans"/>
              <a:sym typeface="DM Sans"/>
            </a:endParaRPr>
          </a:p>
        </p:txBody>
      </p:sp>
      <p:sp>
        <p:nvSpPr>
          <p:cNvPr id="237" name="Google Shape;237;p46"/>
          <p:cNvSpPr txBox="1"/>
          <p:nvPr/>
        </p:nvSpPr>
        <p:spPr>
          <a:xfrm>
            <a:off x="917700" y="1471400"/>
            <a:ext cx="2166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b="1">
              <a:latin typeface="DM Sans"/>
              <a:ea typeface="DM Sans"/>
              <a:cs typeface="DM Sans"/>
              <a:sym typeface="DM Sans"/>
            </a:endParaRPr>
          </a:p>
        </p:txBody>
      </p:sp>
      <p:pic>
        <p:nvPicPr>
          <p:cNvPr id="238" name="Google Shape;238;p46"/>
          <p:cNvPicPr preferRelativeResize="0"/>
          <p:nvPr/>
        </p:nvPicPr>
        <p:blipFill>
          <a:blip r:embed="rId3">
            <a:alphaModFix/>
          </a:blip>
          <a:stretch>
            <a:fillRect/>
          </a:stretch>
        </p:blipFill>
        <p:spPr>
          <a:xfrm>
            <a:off x="920938" y="1860976"/>
            <a:ext cx="7302124" cy="23493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4"/>
          <p:cNvSpPr txBox="1"/>
          <p:nvPr/>
        </p:nvSpPr>
        <p:spPr>
          <a:xfrm>
            <a:off x="1556994" y="790250"/>
            <a:ext cx="6221400" cy="1985129"/>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endParaRPr sz="5000" dirty="0">
              <a:solidFill>
                <a:srgbClr val="E8E7E3"/>
              </a:solidFill>
            </a:endParaRPr>
          </a:p>
          <a:p>
            <a:pPr marL="0" lvl="0" indent="0" algn="ctr" rtl="0">
              <a:lnSpc>
                <a:spcPct val="90000"/>
              </a:lnSpc>
              <a:spcBef>
                <a:spcPts val="0"/>
              </a:spcBef>
              <a:spcAft>
                <a:spcPts val="0"/>
              </a:spcAft>
              <a:buNone/>
            </a:pPr>
            <a:r>
              <a:rPr lang="es-419" sz="4000" b="1" dirty="0" smtClean="0">
                <a:solidFill>
                  <a:srgbClr val="EAFF6A"/>
                </a:solidFill>
                <a:latin typeface="DM Sans"/>
                <a:ea typeface="DM Sans"/>
                <a:cs typeface="DM Sans"/>
                <a:sym typeface="DM Sans"/>
              </a:rPr>
              <a:t>Llegamos al final de la clase!!!!</a:t>
            </a:r>
            <a:endParaRPr sz="4000" b="1" dirty="0">
              <a:solidFill>
                <a:schemeClr val="lt1"/>
              </a:solidFill>
              <a:latin typeface="DM Sans"/>
              <a:ea typeface="DM Sans"/>
              <a:cs typeface="DM Sans"/>
              <a:sym typeface="DM Sans"/>
            </a:endParaRPr>
          </a:p>
        </p:txBody>
      </p:sp>
      <p:sp>
        <p:nvSpPr>
          <p:cNvPr id="219" name="Google Shape;219;p44"/>
          <p:cNvSpPr txBox="1"/>
          <p:nvPr/>
        </p:nvSpPr>
        <p:spPr>
          <a:xfrm>
            <a:off x="2998200" y="2971950"/>
            <a:ext cx="3147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000" dirty="0" smtClean="0">
                <a:solidFill>
                  <a:schemeClr val="lt1"/>
                </a:solidFill>
                <a:latin typeface="DM Sans"/>
                <a:ea typeface="DM Sans"/>
                <a:cs typeface="DM Sans"/>
                <a:sym typeface="DM Sans"/>
              </a:rPr>
              <a:t>Dudas? Consultas?</a:t>
            </a:r>
            <a:endParaRPr sz="2000"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2153306126"/>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1361</Words>
  <Application>Microsoft Office PowerPoint</Application>
  <PresentationFormat>Presentación en pantalla (16:9)</PresentationFormat>
  <Paragraphs>125</Paragraphs>
  <Slides>20</Slides>
  <Notes>20</Notes>
  <HiddenSlides>0</HiddenSlides>
  <MMClips>0</MMClips>
  <ScaleCrop>false</ScaleCrop>
  <HeadingPairs>
    <vt:vector size="6" baseType="variant">
      <vt:variant>
        <vt:lpstr>Fuentes usadas</vt:lpstr>
      </vt:variant>
      <vt:variant>
        <vt:i4>4</vt:i4>
      </vt:variant>
      <vt:variant>
        <vt:lpstr>Tema</vt:lpstr>
      </vt:variant>
      <vt:variant>
        <vt:i4>2</vt:i4>
      </vt:variant>
      <vt:variant>
        <vt:lpstr>Títulos de diapositiva</vt:lpstr>
      </vt:variant>
      <vt:variant>
        <vt:i4>20</vt:i4>
      </vt:variant>
    </vt:vector>
  </HeadingPairs>
  <TitlesOfParts>
    <vt:vector size="26" baseType="lpstr">
      <vt:lpstr>Helvetica Neue</vt:lpstr>
      <vt:lpstr>Helvetica Neue Light</vt:lpstr>
      <vt:lpstr>Arial</vt:lpstr>
      <vt:lpstr>DM Sans</vt:lpstr>
      <vt:lpstr>Simple Light</vt:lpstr>
      <vt:lpstr>Coder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Turi</cp:lastModifiedBy>
  <cp:revision>7</cp:revision>
  <dcterms:modified xsi:type="dcterms:W3CDTF">2025-11-12T21:36:54Z</dcterms:modified>
</cp:coreProperties>
</file>