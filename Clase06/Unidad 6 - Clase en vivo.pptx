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1" r:id="rId1"/>
  </p:sldMasterIdLst>
  <p:notesMasterIdLst>
    <p:notesMasterId r:id="rId22"/>
  </p:notesMasterIdLst>
  <p:sldIdLst>
    <p:sldId id="276" r:id="rId2"/>
    <p:sldId id="27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embeddedFontLst>
    <p:embeddedFont>
      <p:font typeface="DM Sans" panose="020B0604020202020204" charset="0"/>
      <p:regular r:id="rId23"/>
      <p:bold r:id="rId24"/>
      <p:italic r:id="rId25"/>
      <p:boldItalic r:id="rId26"/>
    </p:embeddedFont>
    <p:embeddedFont>
      <p:font typeface="Helvetica Neue Light" panose="020B0604020202020204" charset="0"/>
      <p:regular r:id="rId27"/>
      <p:bold r:id="rId28"/>
      <p:italic r:id="rId29"/>
      <p:boldItalic r:id="rId3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95">
          <p15:clr>
            <a:srgbClr val="A4A3A4"/>
          </p15:clr>
        </p15:guide>
        <p15:guide id="2" pos="5460">
          <p15:clr>
            <a:srgbClr val="A4A3A4"/>
          </p15:clr>
        </p15:guide>
        <p15:guide id="3" pos="300">
          <p15:clr>
            <a:srgbClr val="9AA0A6"/>
          </p15:clr>
        </p15:guide>
        <p15:guide id="4" orient="horz" pos="2892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816" y="78"/>
      </p:cViewPr>
      <p:guideLst>
        <p:guide orient="horz" pos="295"/>
        <p:guide pos="5460"/>
        <p:guide pos="300"/>
        <p:guide orient="horz" pos="289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3365b5acdf_0_3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3365b5acdf_0_3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419">
                <a:solidFill>
                  <a:schemeClr val="dk1"/>
                </a:solidFill>
                <a:highlight>
                  <a:schemeClr val="accent4"/>
                </a:highlight>
                <a:latin typeface="DM Sans"/>
                <a:ea typeface="DM Sans"/>
                <a:cs typeface="DM Sans"/>
                <a:sym typeface="DM Sans"/>
              </a:rPr>
              <a:t>LOS VIDEOS DE ONBOARDING ESTÁN DISPONIBLES EN EL ESPACIO DE LA CLASE 1</a:t>
            </a:r>
            <a:endParaRPr>
              <a:highlight>
                <a:schemeClr val="accent4"/>
              </a:highlight>
              <a:latin typeface="DM Sans"/>
              <a:ea typeface="DM Sans"/>
              <a:cs typeface="DM Sans"/>
              <a:sym typeface="DM Sans"/>
            </a:endParaRPr>
          </a:p>
        </p:txBody>
      </p:sp>
    </p:spTree>
    <p:extLst>
      <p:ext uri="{BB962C8B-B14F-4D97-AF65-F5344CB8AC3E}">
        <p14:creationId xmlns:p14="http://schemas.microsoft.com/office/powerpoint/2010/main" val="4095893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113c9d1b815_1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113c9d1b815_1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Colocar todas las clases.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  <p:extLst>
      <p:ext uri="{BB962C8B-B14F-4D97-AF65-F5344CB8AC3E}">
        <p14:creationId xmlns:p14="http://schemas.microsoft.com/office/powerpoint/2010/main" val="6410074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2e405e85fc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3" name="Google Shape;53;g2e405e85fc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highlight>
                  <a:schemeClr val="accent4"/>
                </a:highlight>
                <a:latin typeface="DM Sans"/>
                <a:ea typeface="DM Sans"/>
                <a:cs typeface="DM Sans"/>
                <a:sym typeface="DM Sans"/>
              </a:rPr>
              <a:t>LOS VIDEOS DE ONBOARDING ESTÁN DISPONIBLES EN EL ESPACIO DE LA CLASE 1</a:t>
            </a:r>
            <a:endParaRPr>
              <a:highlight>
                <a:schemeClr val="accent4"/>
              </a:highlight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2e405e85fce_0_10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2e405e85fce_0_10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2e405e85fce_0_10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2e405e85fce_0_10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2e405e85fce_0_10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2e405e85fce_0_10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e405e85fce_0_1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" name="Google Shape;90;g2e405e85fce_0_1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highlight>
                  <a:schemeClr val="accent4"/>
                </a:highlight>
                <a:latin typeface="DM Sans"/>
                <a:ea typeface="DM Sans"/>
                <a:cs typeface="DM Sans"/>
                <a:sym typeface="DM Sans"/>
              </a:rPr>
              <a:t>LOS VIDEOS DE ONBOARDING ESTÁN DISPONIBLES EN EL ESPACIO DE LA CLASE 1</a:t>
            </a:r>
            <a:endParaRPr>
              <a:highlight>
                <a:schemeClr val="accent4"/>
              </a:highlight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2e405e85fce_0_10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2e405e85fce_0_10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2e405e85fce_0_10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2e405e85fce_0_10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2e405e85fce_0_1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2e405e85fce_0_11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2e405e85fce_0_11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2e405e85fce_0_11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2e405e85fce_0_3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2e405e85fce_0_3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2e405e85fce_0_4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2e405e85fce_0_4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2e405e85fce_0_11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2e405e85fce_0_11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2e405e85fce_0_12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2e405e85fce_0_12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2e405e85fce_0_13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2e405e85fce_0_13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e405e85fce_0_12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2e405e85fce_0_12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2e405e85fce_0_12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2e405e85fce_0_12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2e405e85fce_0_13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" name="Google Shape;203;g2e405e85fce_0_13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2e405e85fce_0_12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2e405e85fce_0_12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ndo blanco">
  <p:cSld name="SECTION_HEADER_1_1_1_1_1_1_1_1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 title="logo coderhous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 imagen">
  <p:cSld name="SECTION_HEADER_1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/>
          <p:nvPr/>
        </p:nvSpPr>
        <p:spPr>
          <a:xfrm>
            <a:off x="6592475" y="0"/>
            <a:ext cx="2551500" cy="5143500"/>
          </a:xfrm>
          <a:prstGeom prst="rect">
            <a:avLst/>
          </a:prstGeom>
          <a:solidFill>
            <a:srgbClr val="EAFF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" name="Google Shape;13;p3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-B">
  <p:cSld name="SECTION_HEADER_1_1_1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4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-A">
  <p:cSld name="SECTION_HEADER_1_1_1_1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oogle Shape;17;p5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-B">
  <p:cSld name="SECTION_HEADER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oogle Shape;19;p6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74775" y="4720250"/>
            <a:ext cx="1024025" cy="211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-A">
  <p:cSld name="SECTION_HEADER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7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rátula 1">
  <p:cSld name="SECTION_HEADER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8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rátula 2">
  <p:cSld name="SECTION_HEADER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Google Shape;25;p9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rátula 3">
  <p:cSld name="SECTION_HEADER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10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adro">
  <p:cSld name="SECTION_HEADER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11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-B 5">
  <p:cSld name="SECTION_HEADER_1_1_1_1_1_1_1_1_1_8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oogle Shape;31;p12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co 1" type="title">
  <p:cSld name="TITLE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DM Sans"/>
              <a:buNone/>
              <a:defRPr sz="4000" b="1">
                <a:latin typeface="DM Sans"/>
                <a:ea typeface="DM Sans"/>
                <a:cs typeface="DM Sans"/>
                <a:sym typeface="DM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4" name="Google Shape;34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Helvetica Neue Light"/>
              <a:buNone/>
              <a:defRPr sz="200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pic>
        <p:nvPicPr>
          <p:cNvPr id="35" name="Google Shape;35;p13" title="logo CoderHous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9" name="Google Shape;39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gi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gi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gi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es.reactjs.org/docs/hooks-reference.html#usememo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6;p16"/>
          <p:cNvSpPr txBox="1"/>
          <p:nvPr/>
        </p:nvSpPr>
        <p:spPr>
          <a:xfrm>
            <a:off x="723014" y="927149"/>
            <a:ext cx="6959674" cy="34532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7200" b="1" u="sng" dirty="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React</a:t>
            </a:r>
            <a:endParaRPr sz="7200" b="1" u="sng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6000" b="1" u="sng" dirty="0" smtClean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Flex </a:t>
            </a: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6000" b="1" u="sng" dirty="0" smtClean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Clase </a:t>
            </a:r>
            <a:r>
              <a:rPr lang="es" sz="6000" b="1" u="sng" dirty="0" smtClean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6</a:t>
            </a:r>
            <a:r>
              <a:rPr lang="es" sz="6000" b="1" u="sng" dirty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  <a:br>
              <a:rPr lang="es" sz="6000" b="1" u="sng" dirty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</a:br>
            <a:endParaRPr sz="600" b="1" u="sng" dirty="0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600" b="1" u="sng" dirty="0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 b="1" u="sng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 u="sng" dirty="0" smtClean="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Curso dictado por Arturo Grottoli</a:t>
            </a:r>
            <a:endParaRPr sz="1600" b="1" u="sng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  <p:extLst>
      <p:ext uri="{BB962C8B-B14F-4D97-AF65-F5344CB8AC3E}">
        <p14:creationId xmlns:p14="http://schemas.microsoft.com/office/powerpoint/2010/main" val="16780799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8"/>
          <p:cNvSpPr txBox="1"/>
          <p:nvPr/>
        </p:nvSpPr>
        <p:spPr>
          <a:xfrm>
            <a:off x="666200" y="825988"/>
            <a:ext cx="6957344" cy="43488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 b="1" dirty="0" smtClean="0">
                <a:solidFill>
                  <a:schemeClr val="accent6"/>
                </a:solidFill>
                <a:latin typeface="DM Sans"/>
                <a:ea typeface="DM Sans"/>
                <a:cs typeface="DM Sans"/>
                <a:sym typeface="DM Sans"/>
              </a:rPr>
              <a:t>¿Estamos bien para arrancar?</a:t>
            </a:r>
            <a:endParaRPr sz="3600" b="1" dirty="0">
              <a:solidFill>
                <a:schemeClr val="accent6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600" b="1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438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DM Sans"/>
              <a:buChar char="●"/>
            </a:pPr>
            <a:r>
              <a:rPr lang="es-MX" sz="3300" dirty="0" smtClean="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Sonido e imagen ok</a:t>
            </a:r>
            <a:endParaRPr sz="3300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438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300"/>
              <a:buFont typeface="DM Sans"/>
              <a:buChar char="●"/>
            </a:pPr>
            <a:r>
              <a:rPr lang="es" sz="3300" dirty="0" smtClean="0">
                <a:solidFill>
                  <a:schemeClr val="accent6"/>
                </a:solidFill>
                <a:latin typeface="DM Sans"/>
                <a:ea typeface="DM Sans"/>
                <a:cs typeface="DM Sans"/>
                <a:sym typeface="DM Sans"/>
              </a:rPr>
              <a:t>Diapositivas y tamaño texto</a:t>
            </a:r>
            <a:endParaRPr sz="3300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438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300"/>
              <a:buFont typeface="DM Sans"/>
              <a:buChar char="●"/>
            </a:pPr>
            <a:r>
              <a:rPr lang="es" sz="3300" dirty="0" smtClean="0">
                <a:solidFill>
                  <a:schemeClr val="accent6"/>
                </a:solidFill>
                <a:latin typeface="DM Sans"/>
                <a:ea typeface="DM Sans"/>
                <a:cs typeface="DM Sans"/>
                <a:sym typeface="DM Sans"/>
              </a:rPr>
              <a:t>Recordar chequear que esté grabando.</a:t>
            </a:r>
            <a:endParaRPr sz="3300" dirty="0">
              <a:solidFill>
                <a:schemeClr val="accent6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4000" b="1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  <p:extLst>
      <p:ext uri="{BB962C8B-B14F-4D97-AF65-F5344CB8AC3E}">
        <p14:creationId xmlns:p14="http://schemas.microsoft.com/office/powerpoint/2010/main" val="35218938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7"/>
          <p:cNvSpPr txBox="1"/>
          <p:nvPr/>
        </p:nvSpPr>
        <p:spPr>
          <a:xfrm>
            <a:off x="1858800" y="1925249"/>
            <a:ext cx="5426400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40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Transmitir datos</a:t>
            </a:r>
            <a:endParaRPr sz="4000" b="1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40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entre </a:t>
            </a:r>
            <a:r>
              <a:rPr lang="es" sz="4000" b="1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componentes</a:t>
            </a:r>
            <a:endParaRPr sz="4000" b="1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Google Shape;60;p18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61" name="Google Shape;61;p18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62" name="Google Shape;62;p18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63" name="Google Shape;63;p18"/>
          <p:cNvSpPr txBox="1"/>
          <p:nvPr/>
        </p:nvSpPr>
        <p:spPr>
          <a:xfrm>
            <a:off x="506275" y="2637075"/>
            <a:ext cx="8009100" cy="98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Repo 1</a:t>
            </a:r>
            <a:endParaRPr sz="4000" b="1" i="0" u="none" strike="noStrike" cap="non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64" name="Google Shape;64;p18"/>
          <p:cNvSpPr txBox="1"/>
          <p:nvPr/>
        </p:nvSpPr>
        <p:spPr>
          <a:xfrm>
            <a:off x="567450" y="3489775"/>
            <a:ext cx="8009100" cy="112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</a:pPr>
            <a:r>
              <a:rPr lang="es" sz="18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https://github.com/julioavantt/teacher_react_context</a:t>
            </a:r>
            <a:endParaRPr sz="1800" b="0" i="0" u="none" strike="noStrike" cap="none">
              <a:solidFill>
                <a:srgbClr val="8BE9FD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65" name="Google Shape;65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8400" y="1372300"/>
            <a:ext cx="2387200" cy="1790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19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71" name="Google Shape;71;p19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72" name="Google Shape;72;p19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73" name="Google Shape;73;p19"/>
          <p:cNvSpPr txBox="1"/>
          <p:nvPr/>
        </p:nvSpPr>
        <p:spPr>
          <a:xfrm>
            <a:off x="475500" y="468325"/>
            <a:ext cx="8394300" cy="6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5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Transmitir datos entre componentes</a:t>
            </a:r>
            <a:endParaRPr sz="35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74" name="Google Shape;74;p19"/>
          <p:cNvSpPr txBox="1"/>
          <p:nvPr/>
        </p:nvSpPr>
        <p:spPr>
          <a:xfrm>
            <a:off x="476250" y="1288300"/>
            <a:ext cx="6988500" cy="143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React funciona a través de un flujo de datos unidireccional </a:t>
            </a:r>
            <a:r>
              <a:rPr lang="es" sz="1450" b="1">
                <a:solidFill>
                  <a:schemeClr val="accent5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(hacia abajo)</a:t>
            </a: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.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La única manera que conocemos hasta </a:t>
            </a:r>
            <a:r>
              <a:rPr lang="es" sz="1450" b="1">
                <a:solidFill>
                  <a:srgbClr val="EF89D2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ahora</a:t>
            </a: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 de transmitir datos es vía </a:t>
            </a:r>
            <a:r>
              <a:rPr lang="es" sz="1450" b="1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props.</a:t>
            </a:r>
            <a:endParaRPr sz="1450" b="1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50" b="1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Sabemos además que cada pieza de estado pertenece al componente que crea esa pieza de estado.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75" name="Google Shape;75;p19"/>
          <p:cNvPicPr preferRelativeResize="0"/>
          <p:nvPr/>
        </p:nvPicPr>
        <p:blipFill rotWithShape="1">
          <a:blip r:embed="rId3">
            <a:alphaModFix/>
          </a:blip>
          <a:srcRect l="19266" r="19492"/>
          <a:stretch/>
        </p:blipFill>
        <p:spPr>
          <a:xfrm>
            <a:off x="7636125" y="1830124"/>
            <a:ext cx="1141450" cy="2329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7975" y="2631400"/>
            <a:ext cx="5455652" cy="24359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1" name="Google Shape;81;p20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82" name="Google Shape;82;p20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83" name="Google Shape;83;p20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84" name="Google Shape;84;p20"/>
          <p:cNvSpPr txBox="1"/>
          <p:nvPr/>
        </p:nvSpPr>
        <p:spPr>
          <a:xfrm>
            <a:off x="501450" y="405450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Prop drilling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85" name="Google Shape;85;p20"/>
          <p:cNvSpPr txBox="1"/>
          <p:nvPr/>
        </p:nvSpPr>
        <p:spPr>
          <a:xfrm>
            <a:off x="501450" y="1303350"/>
            <a:ext cx="4068300" cy="335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¿Qué pasaría si quisiéramos compartir una pieza de estado entre el componente marrón 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y el componente azul. 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Deberíamos atravesar muchos componentes 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vía props. 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Cuando pasamos datos vía props a componentes que no usan estos datos, lo llamamos </a:t>
            </a:r>
            <a:r>
              <a:rPr lang="es" sz="1450" b="1">
                <a:solidFill>
                  <a:schemeClr val="accent5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prop drilling</a:t>
            </a: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.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2350" b="1">
                <a:solidFill>
                  <a:schemeClr val="accent4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¿Cómo lo resolverías?</a:t>
            </a:r>
            <a:endParaRPr sz="2350" b="1">
              <a:solidFill>
                <a:schemeClr val="accent4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86" name="Google Shape;86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02850" y="774275"/>
            <a:ext cx="3371225" cy="330755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0"/>
          <p:cNvSpPr/>
          <p:nvPr/>
        </p:nvSpPr>
        <p:spPr>
          <a:xfrm>
            <a:off x="5940229" y="3784557"/>
            <a:ext cx="1896600" cy="117300"/>
          </a:xfrm>
          <a:prstGeom prst="left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highlight>
                <a:srgbClr val="3CEFAB"/>
              </a:highlight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1"/>
          <p:cNvSpPr txBox="1"/>
          <p:nvPr/>
        </p:nvSpPr>
        <p:spPr>
          <a:xfrm>
            <a:off x="1858800" y="2202299"/>
            <a:ext cx="54264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40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Context</a:t>
            </a:r>
            <a:endParaRPr sz="4000" b="1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oogle Shape;97;p22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98" name="Google Shape;98;p22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99" name="Google Shape;99;p22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100" name="Google Shape;100;p22"/>
          <p:cNvSpPr txBox="1"/>
          <p:nvPr/>
        </p:nvSpPr>
        <p:spPr>
          <a:xfrm>
            <a:off x="501450" y="468325"/>
            <a:ext cx="8141100" cy="84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8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Context</a:t>
            </a:r>
            <a:endParaRPr sz="48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01" name="Google Shape;101;p22"/>
          <p:cNvSpPr txBox="1"/>
          <p:nvPr/>
        </p:nvSpPr>
        <p:spPr>
          <a:xfrm>
            <a:off x="501450" y="1261575"/>
            <a:ext cx="6570300" cy="345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 b="1">
                <a:solidFill>
                  <a:schemeClr val="accent5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Context</a:t>
            </a: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 es una herramienta nativa de React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que crea un componente proveedor (de datos)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que engloba la aplicación total o parcialmente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y puede inyectar una pieza de estado a cualquier 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componente hija/o que lo solicite explícitamente.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Sin props y sin molestar a componentes intermedios.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Se usa cuando una misma variable debe 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utilizarse en múltiples componentes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alejados en el árbol de componentes.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02" name="Google Shape;102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16625" y="738450"/>
            <a:ext cx="3957851" cy="3666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7" name="Google Shape;107;p23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108" name="Google Shape;108;p23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09" name="Google Shape;109;p23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110" name="Google Shape;110;p23"/>
          <p:cNvSpPr txBox="1"/>
          <p:nvPr/>
        </p:nvSpPr>
        <p:spPr>
          <a:xfrm>
            <a:off x="555400" y="418525"/>
            <a:ext cx="8141100" cy="76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2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Crear un contexto</a:t>
            </a:r>
            <a:endParaRPr sz="42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11" name="Google Shape;111;p23"/>
          <p:cNvSpPr txBox="1"/>
          <p:nvPr/>
        </p:nvSpPr>
        <p:spPr>
          <a:xfrm>
            <a:off x="555400" y="1215675"/>
            <a:ext cx="7971000" cy="4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En este ejemplo, creamos un contexto para cambiar de theme (tema) la app. </a:t>
            </a:r>
            <a:endParaRPr/>
          </a:p>
        </p:txBody>
      </p:sp>
      <p:pic>
        <p:nvPicPr>
          <p:cNvPr id="112" name="Google Shape;112;p23" title="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9239" y="1756625"/>
            <a:ext cx="4925525" cy="1502050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23"/>
          <p:cNvSpPr txBox="1"/>
          <p:nvPr/>
        </p:nvSpPr>
        <p:spPr>
          <a:xfrm>
            <a:off x="555400" y="3501675"/>
            <a:ext cx="7971000" cy="11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450" b="1">
                <a:solidFill>
                  <a:schemeClr val="accent4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ThemeContext</a:t>
            </a: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 contiene 2 componentes: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2067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50"/>
              <a:buFont typeface="DM Sans"/>
              <a:buChar char="●"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Provider.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2067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50"/>
              <a:buFont typeface="DM Sans"/>
              <a:buChar char="●"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Consumer. 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8" name="Google Shape;118;p24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119" name="Google Shape;119;p24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20" name="Google Shape;120;p24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121" name="Google Shape;121;p24"/>
          <p:cNvSpPr txBox="1"/>
          <p:nvPr/>
        </p:nvSpPr>
        <p:spPr>
          <a:xfrm>
            <a:off x="555400" y="418525"/>
            <a:ext cx="8141100" cy="76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2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Provider</a:t>
            </a:r>
            <a:endParaRPr sz="42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22" name="Google Shape;122;p24"/>
          <p:cNvSpPr txBox="1"/>
          <p:nvPr/>
        </p:nvSpPr>
        <p:spPr>
          <a:xfrm>
            <a:off x="555400" y="1215675"/>
            <a:ext cx="7971000" cy="11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Con el componente Provider envuelvo a la parte de mi aplicación que necesita datos compartidos.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Los datos del provider se asignan al atributo “value” del Provider. </a:t>
            </a:r>
            <a:endParaRPr/>
          </a:p>
        </p:txBody>
      </p:sp>
      <p:pic>
        <p:nvPicPr>
          <p:cNvPr id="123" name="Google Shape;123;p24" title="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76301" y="2610225"/>
            <a:ext cx="4699300" cy="2163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8" name="Google Shape;128;p25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129" name="Google Shape;129;p25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30" name="Google Shape;130;p25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131" name="Google Shape;131;p25"/>
          <p:cNvSpPr txBox="1"/>
          <p:nvPr/>
        </p:nvSpPr>
        <p:spPr>
          <a:xfrm>
            <a:off x="473350" y="398725"/>
            <a:ext cx="8141100" cy="68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6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Consumir contexto con useContext</a:t>
            </a:r>
            <a:endParaRPr sz="36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32" name="Google Shape;132;p25"/>
          <p:cNvSpPr txBox="1"/>
          <p:nvPr/>
        </p:nvSpPr>
        <p:spPr>
          <a:xfrm>
            <a:off x="537046" y="1148994"/>
            <a:ext cx="3834600" cy="26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useContext(ThemeContext) devolverá el value del contexto al componente que lo solicite.</a:t>
            </a:r>
            <a:endParaRPr sz="14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Probablemente, también importemos el contexto desde el archivo donde lo hayamos creado, por ejemplo src/contexts/themeContext.js</a:t>
            </a:r>
            <a:endParaRPr sz="14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33" name="Google Shape;133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20925" y="1531475"/>
            <a:ext cx="4423001" cy="2570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6"/>
          <p:cNvSpPr txBox="1"/>
          <p:nvPr/>
        </p:nvSpPr>
        <p:spPr>
          <a:xfrm>
            <a:off x="1461300" y="1598325"/>
            <a:ext cx="6221400" cy="143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5000">
                <a:solidFill>
                  <a:srgbClr val="E8E7E3"/>
                </a:solidFill>
              </a:rPr>
              <a:t>☕</a:t>
            </a:r>
            <a:endParaRPr sz="5000">
              <a:solidFill>
                <a:srgbClr val="E8E7E3"/>
              </a:solidFill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Break</a:t>
            </a:r>
            <a:endParaRPr sz="4000" b="1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39" name="Google Shape;139;p26"/>
          <p:cNvSpPr txBox="1"/>
          <p:nvPr/>
        </p:nvSpPr>
        <p:spPr>
          <a:xfrm>
            <a:off x="2998200" y="2971950"/>
            <a:ext cx="31476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20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¡5 minutos y volvemos!</a:t>
            </a:r>
            <a:endParaRPr sz="200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7"/>
          <p:cNvSpPr txBox="1"/>
          <p:nvPr/>
        </p:nvSpPr>
        <p:spPr>
          <a:xfrm>
            <a:off x="1461288" y="1940700"/>
            <a:ext cx="6221400" cy="12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Actualizar </a:t>
            </a:r>
            <a:r>
              <a:rPr lang="es" sz="4000" b="1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Provider</a:t>
            </a:r>
            <a:endParaRPr sz="4000" b="1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24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(contexto dinámico)</a:t>
            </a:r>
            <a:endParaRPr sz="4000" b="1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9" name="Google Shape;149;p28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150" name="Google Shape;150;p28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51" name="Google Shape;151;p28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152" name="Google Shape;152;p28"/>
          <p:cNvSpPr txBox="1"/>
          <p:nvPr/>
        </p:nvSpPr>
        <p:spPr>
          <a:xfrm>
            <a:off x="555400" y="418525"/>
            <a:ext cx="8141100" cy="76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2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Update (actualizar)</a:t>
            </a:r>
            <a:endParaRPr sz="42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3" name="Google Shape;153;p28"/>
          <p:cNvSpPr txBox="1"/>
          <p:nvPr/>
        </p:nvSpPr>
        <p:spPr>
          <a:xfrm>
            <a:off x="555400" y="1215675"/>
            <a:ext cx="7971000" cy="66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En este caso podemos pasar una función de actualización de estado al atributo “value” del Provider.</a:t>
            </a:r>
            <a:endParaRPr/>
          </a:p>
        </p:txBody>
      </p:sp>
      <p:pic>
        <p:nvPicPr>
          <p:cNvPr id="154" name="Google Shape;154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45040" y="1692075"/>
            <a:ext cx="4561824" cy="34514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9"/>
          <p:cNvSpPr txBox="1"/>
          <p:nvPr/>
        </p:nvSpPr>
        <p:spPr>
          <a:xfrm>
            <a:off x="1461288" y="1940700"/>
            <a:ext cx="6221400" cy="12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chemeClr val="accent6"/>
                </a:solidFill>
                <a:latin typeface="DM Sans"/>
                <a:ea typeface="DM Sans"/>
                <a:cs typeface="DM Sans"/>
                <a:sym typeface="DM Sans"/>
              </a:rPr>
              <a:t>Memo</a:t>
            </a:r>
            <a:endParaRPr sz="4000" b="1">
              <a:solidFill>
                <a:schemeClr val="accent6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24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(render optimization)</a:t>
            </a:r>
            <a:endParaRPr sz="4000" b="1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4" name="Google Shape;164;p30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165" name="Google Shape;165;p30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66" name="Google Shape;166;p30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167" name="Google Shape;167;p30"/>
          <p:cNvSpPr txBox="1"/>
          <p:nvPr/>
        </p:nvSpPr>
        <p:spPr>
          <a:xfrm>
            <a:off x="506275" y="2637075"/>
            <a:ext cx="8009100" cy="98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Repo </a:t>
            </a: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2</a:t>
            </a:r>
            <a:endParaRPr sz="4000" b="1" i="0" u="none" strike="noStrike" cap="non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8" name="Google Shape;168;p30"/>
          <p:cNvSpPr txBox="1"/>
          <p:nvPr/>
        </p:nvSpPr>
        <p:spPr>
          <a:xfrm>
            <a:off x="567450" y="3489775"/>
            <a:ext cx="8009100" cy="112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</a:pPr>
            <a:r>
              <a:rPr lang="es" sz="18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https://github.com/julioavantt/teacher_react_memo</a:t>
            </a:r>
            <a:endParaRPr sz="1800" b="0" i="0" u="none" strike="noStrike" cap="none">
              <a:solidFill>
                <a:srgbClr val="8BE9FD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69" name="Google Shape;169;p30" title="giphy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33750" y="1728788"/>
            <a:ext cx="2476500" cy="1685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4" name="Google Shape;174;p31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175" name="Google Shape;175;p31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76" name="Google Shape;176;p31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pic>
        <p:nvPicPr>
          <p:cNvPr id="177" name="Google Shape;177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31"/>
          <p:cNvSpPr txBox="1"/>
          <p:nvPr/>
        </p:nvSpPr>
        <p:spPr>
          <a:xfrm>
            <a:off x="613825" y="1128275"/>
            <a:ext cx="4127400" cy="3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En cada cambio de estado, </a:t>
            </a:r>
            <a:r>
              <a:rPr lang="es" sz="1450" b="1">
                <a:latin typeface="DM Sans"/>
                <a:ea typeface="DM Sans"/>
                <a:cs typeface="DM Sans"/>
                <a:sym typeface="DM Sans"/>
              </a:rPr>
              <a:t>React </a:t>
            </a: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rerenderiza todos los componentes descendientes del componente donde se produjo el cambio de estado, de manera recursiva. </a:t>
            </a:r>
            <a:endParaRPr sz="14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A veces sabemos que nada cambió en algunos de esos componentes o que son muy pesados.</a:t>
            </a:r>
            <a:endParaRPr sz="14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Entonces, para evitar renderizar un componente descendiente puedo usar el método </a:t>
            </a:r>
            <a:r>
              <a:rPr lang="es" sz="1450" b="1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rPr>
              <a:t>memo</a:t>
            </a: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.</a:t>
            </a:r>
            <a:endParaRPr sz="14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79" name="Google Shape;179;p31"/>
          <p:cNvPicPr preferRelativeResize="0"/>
          <p:nvPr/>
        </p:nvPicPr>
        <p:blipFill rotWithShape="1">
          <a:blip r:embed="rId4">
            <a:alphaModFix/>
          </a:blip>
          <a:srcRect l="64312" t="15725" r="6710"/>
          <a:stretch/>
        </p:blipFill>
        <p:spPr>
          <a:xfrm>
            <a:off x="5774625" y="1042050"/>
            <a:ext cx="2570544" cy="2678100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31"/>
          <p:cNvSpPr/>
          <p:nvPr/>
        </p:nvSpPr>
        <p:spPr>
          <a:xfrm>
            <a:off x="6594225" y="1787775"/>
            <a:ext cx="468900" cy="4689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highlight>
                <a:schemeClr val="lt1"/>
              </a:highlight>
            </a:endParaRPr>
          </a:p>
        </p:txBody>
      </p:sp>
      <p:sp>
        <p:nvSpPr>
          <p:cNvPr id="181" name="Google Shape;181;p31"/>
          <p:cNvSpPr txBox="1"/>
          <p:nvPr/>
        </p:nvSpPr>
        <p:spPr>
          <a:xfrm>
            <a:off x="622805" y="282725"/>
            <a:ext cx="7898400" cy="84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8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memo</a:t>
            </a:r>
            <a:endParaRPr sz="48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cxnSp>
        <p:nvCxnSpPr>
          <p:cNvPr id="182" name="Google Shape;182;p31"/>
          <p:cNvCxnSpPr>
            <a:endCxn id="183" idx="3"/>
          </p:cNvCxnSpPr>
          <p:nvPr/>
        </p:nvCxnSpPr>
        <p:spPr>
          <a:xfrm rot="10800000" flipH="1">
            <a:off x="5009529" y="3707060"/>
            <a:ext cx="349800" cy="505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84" name="Google Shape;184;p31"/>
          <p:cNvSpPr txBox="1"/>
          <p:nvPr/>
        </p:nvSpPr>
        <p:spPr>
          <a:xfrm>
            <a:off x="2950700" y="4014775"/>
            <a:ext cx="2381400" cy="45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Biblioteca de Alejandría</a:t>
            </a:r>
            <a:endParaRPr/>
          </a:p>
        </p:txBody>
      </p:sp>
      <p:sp>
        <p:nvSpPr>
          <p:cNvPr id="183" name="Google Shape;183;p31"/>
          <p:cNvSpPr/>
          <p:nvPr/>
        </p:nvSpPr>
        <p:spPr>
          <a:xfrm>
            <a:off x="5176475" y="2590100"/>
            <a:ext cx="1248600" cy="1308600"/>
          </a:xfrm>
          <a:prstGeom prst="ellipse">
            <a:avLst/>
          </a:prstGeom>
          <a:solidFill>
            <a:srgbClr val="FF0000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9" name="Google Shape;189;p32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190" name="Google Shape;190;p32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91" name="Google Shape;191;p32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pic>
        <p:nvPicPr>
          <p:cNvPr id="192" name="Google Shape;192;p32"/>
          <p:cNvPicPr preferRelativeResize="0"/>
          <p:nvPr/>
        </p:nvPicPr>
        <p:blipFill rotWithShape="1">
          <a:blip r:embed="rId3">
            <a:alphaModFix/>
          </a:blip>
          <a:srcRect l="64312" t="15725" r="6710"/>
          <a:stretch/>
        </p:blipFill>
        <p:spPr>
          <a:xfrm>
            <a:off x="6132195" y="1634825"/>
            <a:ext cx="2495080" cy="2599469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32"/>
          <p:cNvSpPr/>
          <p:nvPr/>
        </p:nvSpPr>
        <p:spPr>
          <a:xfrm>
            <a:off x="6565679" y="2812442"/>
            <a:ext cx="477600" cy="500400"/>
          </a:xfrm>
          <a:prstGeom prst="ellipse">
            <a:avLst/>
          </a:prstGeom>
          <a:solidFill>
            <a:srgbClr val="D9EAD3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p32"/>
          <p:cNvSpPr/>
          <p:nvPr/>
        </p:nvSpPr>
        <p:spPr>
          <a:xfrm>
            <a:off x="6228591" y="3312799"/>
            <a:ext cx="477600" cy="500400"/>
          </a:xfrm>
          <a:prstGeom prst="ellipse">
            <a:avLst/>
          </a:prstGeom>
          <a:solidFill>
            <a:srgbClr val="D9EAD3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p32"/>
          <p:cNvSpPr/>
          <p:nvPr/>
        </p:nvSpPr>
        <p:spPr>
          <a:xfrm>
            <a:off x="6891878" y="3312799"/>
            <a:ext cx="477600" cy="500400"/>
          </a:xfrm>
          <a:prstGeom prst="ellipse">
            <a:avLst/>
          </a:prstGeom>
          <a:solidFill>
            <a:srgbClr val="D9EAD3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32"/>
          <p:cNvSpPr/>
          <p:nvPr/>
        </p:nvSpPr>
        <p:spPr>
          <a:xfrm>
            <a:off x="5921025" y="2545974"/>
            <a:ext cx="1800600" cy="1322700"/>
          </a:xfrm>
          <a:prstGeom prst="triangle">
            <a:avLst>
              <a:gd name="adj" fmla="val 49385"/>
            </a:avLst>
          </a:prstGeom>
          <a:noFill/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" name="Google Shape;197;p32"/>
          <p:cNvSpPr txBox="1"/>
          <p:nvPr/>
        </p:nvSpPr>
        <p:spPr>
          <a:xfrm>
            <a:off x="6176520" y="3943590"/>
            <a:ext cx="1289400" cy="74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00">
                <a:latin typeface="DM Sans"/>
                <a:ea typeface="DM Sans"/>
                <a:cs typeface="DM Sans"/>
                <a:sym typeface="DM Sans"/>
              </a:rPr>
              <a:t>Memoizing</a:t>
            </a:r>
            <a:endParaRPr sz="130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98" name="Google Shape;198;p32"/>
          <p:cNvSpPr txBox="1"/>
          <p:nvPr/>
        </p:nvSpPr>
        <p:spPr>
          <a:xfrm>
            <a:off x="622800" y="1021625"/>
            <a:ext cx="5613000" cy="4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450" b="1">
                <a:latin typeface="DM Sans"/>
                <a:ea typeface="DM Sans"/>
                <a:cs typeface="DM Sans"/>
                <a:sym typeface="DM Sans"/>
              </a:rPr>
              <a:t>Podemos salvarnos,</a:t>
            </a: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 si: </a:t>
            </a:r>
            <a:endParaRPr sz="14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99" name="Google Shape;199;p32"/>
          <p:cNvSpPr txBox="1"/>
          <p:nvPr/>
        </p:nvSpPr>
        <p:spPr>
          <a:xfrm>
            <a:off x="823525" y="1726425"/>
            <a:ext cx="3252000" cy="257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20675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450"/>
              <a:buFont typeface="DM Sans"/>
              <a:buChar char="✓"/>
            </a:pP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El componente es </a:t>
            </a:r>
            <a:r>
              <a:rPr lang="es" sz="1450" b="1">
                <a:latin typeface="DM Sans"/>
                <a:ea typeface="DM Sans"/>
                <a:cs typeface="DM Sans"/>
                <a:sym typeface="DM Sans"/>
              </a:rPr>
              <a:t>puro. </a:t>
            </a:r>
            <a:endParaRPr sz="1450" b="1"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20675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450"/>
              <a:buFont typeface="DM Sans"/>
              <a:buChar char="✓"/>
            </a:pP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Tenemos la certeza de que </a:t>
            </a:r>
            <a:r>
              <a:rPr lang="es" sz="1450" b="1">
                <a:latin typeface="DM Sans"/>
                <a:ea typeface="DM Sans"/>
                <a:cs typeface="DM Sans"/>
                <a:sym typeface="DM Sans"/>
              </a:rPr>
              <a:t>las mismas props producen siempre el mismo render.</a:t>
            </a:r>
            <a:endParaRPr sz="1450" b="1"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20675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450"/>
              <a:buFont typeface="DM Sans"/>
              <a:buChar char="✓"/>
            </a:pP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Sabemos que es muy caro de realizar, una lista larga, compleja, etcétera. </a:t>
            </a:r>
            <a:endParaRPr sz="14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00" name="Google Shape;200;p32"/>
          <p:cNvSpPr txBox="1"/>
          <p:nvPr/>
        </p:nvSpPr>
        <p:spPr>
          <a:xfrm>
            <a:off x="622805" y="282725"/>
            <a:ext cx="78984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memo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5" name="Google Shape;205;p33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206" name="Google Shape;206;p33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07" name="Google Shape;207;p33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208" name="Google Shape;208;p33"/>
          <p:cNvSpPr txBox="1"/>
          <p:nvPr/>
        </p:nvSpPr>
        <p:spPr>
          <a:xfrm>
            <a:off x="622800" y="1021625"/>
            <a:ext cx="5613000" cy="42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5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Por default se usa comparación superficial (shallow).</a:t>
            </a:r>
            <a:endParaRPr sz="16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09" name="Google Shape;209;p33"/>
          <p:cNvSpPr txBox="1"/>
          <p:nvPr/>
        </p:nvSpPr>
        <p:spPr>
          <a:xfrm>
            <a:off x="622805" y="282725"/>
            <a:ext cx="78984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memo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10" name="Google Shape;210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2637" y="1589200"/>
            <a:ext cx="4938726" cy="33438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5" name="Google Shape;215;p34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216" name="Google Shape;216;p34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17" name="Google Shape;217;p34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218" name="Google Shape;218;p34"/>
          <p:cNvSpPr txBox="1"/>
          <p:nvPr/>
        </p:nvSpPr>
        <p:spPr>
          <a:xfrm>
            <a:off x="475200" y="468000"/>
            <a:ext cx="4730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memo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19" name="Google Shape;219;p34"/>
          <p:cNvSpPr txBox="1"/>
          <p:nvPr/>
        </p:nvSpPr>
        <p:spPr>
          <a:xfrm>
            <a:off x="618450" y="1533500"/>
            <a:ext cx="6120900" cy="235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20675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450"/>
              <a:buFont typeface="DM Sans"/>
              <a:buChar char="✓"/>
            </a:pP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Sirve para ahorrar renders costosos de los cuales podamos prever el resultado en base al análisis de sus props.</a:t>
            </a:r>
            <a:endParaRPr sz="1450"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20675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450"/>
              <a:buFont typeface="DM Sans"/>
              <a:buChar char="✓"/>
            </a:pP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No es necesario </a:t>
            </a:r>
            <a:r>
              <a:rPr lang="es" sz="1450" b="1">
                <a:latin typeface="DM Sans"/>
                <a:ea typeface="DM Sans"/>
                <a:cs typeface="DM Sans"/>
                <a:sym typeface="DM Sans"/>
              </a:rPr>
              <a:t>ni recomendado</a:t>
            </a: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 usarlo en todos lados o en componentes simples. </a:t>
            </a:r>
            <a:endParaRPr sz="1450"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20675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450"/>
              <a:buFont typeface="DM Sans"/>
              <a:buChar char="✓"/>
            </a:pP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Útil en listas largas y determinadas que se tienen un re- rendering frecuente pero que no modifica sus props. </a:t>
            </a:r>
            <a:endParaRPr sz="1450"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20675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450"/>
              <a:buFont typeface="DM Sans"/>
              <a:buChar char="✓"/>
            </a:pP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Si te interesa expandir, ¡también hay un hook para </a:t>
            </a:r>
            <a:r>
              <a:rPr lang="es" sz="1450" u="sng">
                <a:solidFill>
                  <a:schemeClr val="hlink"/>
                </a:solidFill>
                <a:latin typeface="DM Sans"/>
                <a:ea typeface="DM Sans"/>
                <a:cs typeface="DM Sans"/>
                <a:sym typeface="DM Sans"/>
                <a:hlinkClick r:id="rId3"/>
              </a:rPr>
              <a:t>memoizar</a:t>
            </a:r>
            <a:r>
              <a:rPr lang="es" sz="1450">
                <a:latin typeface="DM Sans"/>
                <a:ea typeface="DM Sans"/>
                <a:cs typeface="DM Sans"/>
                <a:sym typeface="DM Sans"/>
              </a:rPr>
              <a:t> otros cómputos aparte de renders! </a:t>
            </a:r>
            <a:endParaRPr sz="1450"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der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9DF4E2"/>
      </a:accent1>
      <a:accent2>
        <a:srgbClr val="212121"/>
      </a:accent2>
      <a:accent3>
        <a:srgbClr val="78909C"/>
      </a:accent3>
      <a:accent4>
        <a:srgbClr val="EA90FF"/>
      </a:accent4>
      <a:accent5>
        <a:srgbClr val="83AEFB"/>
      </a:accent5>
      <a:accent6>
        <a:srgbClr val="EAFF6A"/>
      </a:accent6>
      <a:hlink>
        <a:srgbClr val="83AEF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578</Words>
  <Application>Microsoft Office PowerPoint</Application>
  <PresentationFormat>Presentación en pantalla (16:9)</PresentationFormat>
  <Paragraphs>93</Paragraphs>
  <Slides>20</Slides>
  <Notes>20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20</vt:i4>
      </vt:variant>
    </vt:vector>
  </HeadingPairs>
  <TitlesOfParts>
    <vt:vector size="24" baseType="lpstr">
      <vt:lpstr>DM Sans</vt:lpstr>
      <vt:lpstr>Arial</vt:lpstr>
      <vt:lpstr>Helvetica Neue Light</vt:lpstr>
      <vt:lpstr>Coder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cp:lastModifiedBy>Turi</cp:lastModifiedBy>
  <cp:revision>1</cp:revision>
  <dcterms:modified xsi:type="dcterms:W3CDTF">2025-10-10T13:13:19Z</dcterms:modified>
</cp:coreProperties>
</file>