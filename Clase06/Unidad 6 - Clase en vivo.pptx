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Helvetica Neue Light"/>
      <p:regular r:id="rId26"/>
      <p:bold r:id="rId27"/>
      <p:italic r:id="rId28"/>
      <p:boldItalic r:id="rId29"/>
    </p:embeddedFont>
    <p:embeddedFont>
      <p:font typeface="DM Sans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95" orient="horz"/>
        <p:guide pos="5460"/>
        <p:guide pos="300"/>
        <p:guide pos="2892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HelveticaNeueLight-regular.fntdata"/><Relationship Id="rId25" Type="http://schemas.openxmlformats.org/officeDocument/2006/relationships/slide" Target="slides/slide20.xml"/><Relationship Id="rId28" Type="http://schemas.openxmlformats.org/officeDocument/2006/relationships/font" Target="fonts/HelveticaNeueLight-italic.fntdata"/><Relationship Id="rId27" Type="http://schemas.openxmlformats.org/officeDocument/2006/relationships/font" Target="fonts/HelveticaNeue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HelveticaNeueL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DMSans-bold.fntdata"/><Relationship Id="rId30" Type="http://schemas.openxmlformats.org/officeDocument/2006/relationships/font" Target="fonts/DMSans-regular.fntdata"/><Relationship Id="rId11" Type="http://schemas.openxmlformats.org/officeDocument/2006/relationships/slide" Target="slides/slide6.xml"/><Relationship Id="rId33" Type="http://schemas.openxmlformats.org/officeDocument/2006/relationships/font" Target="fonts/DMSans-boldItalic.fntdata"/><Relationship Id="rId10" Type="http://schemas.openxmlformats.org/officeDocument/2006/relationships/slide" Target="slides/slide5.xml"/><Relationship Id="rId32" Type="http://schemas.openxmlformats.org/officeDocument/2006/relationships/font" Target="fonts/DMSans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2d9a9b08d1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" name="Google Shape;42;g2d9a9b08d1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e405e85fce_0_9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g2e405e85fce_0_9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e405e85fc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g2e405e85fc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e405e85fce_0_10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e405e85fce_0_10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e405e85fce_0_10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e405e85fce_0_10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405e85fce_0_10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e405e85fce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405e85fce_0_1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2e405e85fce_0_1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e405e85fce_0_10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e405e85fce_0_10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e405e85fc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e405e85fc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e405e85fce_0_1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e405e85fce_0_1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405e85fce_0_1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e405e85fce_0_1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e405e85fce_0_3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e405e85fce_0_3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e405e85fce_0_4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e405e85fce_0_4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e405e85fce_0_1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e405e85fce_0_1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e405e85fce_0_12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e405e85fce_0_1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e405e85fce_0_13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e405e85fce_0_13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405e85fce_0_12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405e85fce_0_12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e405e85fce_0_12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e405e85fce_0_12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e405e85fce_0_1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e405e85fce_0_1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e405e85fce_0_12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e405e85fce_0_1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ndo blanco">
  <p:cSld name="SECTION_HEADER_1_1_1_1_1_1_1_1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logo coderhouse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3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4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5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6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7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8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9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10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1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2" title="logo coderhouse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co 1" type="title">
  <p:cSld name="TITLE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b="1" sz="4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4" name="Google Shape;34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35" name="Google Shape;35;p13" title="logo CoderHouse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gif"/><Relationship Id="rId4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gif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es.reactjs.org/docs/hooks-reference.html#usem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/>
        </p:nvSpPr>
        <p:spPr>
          <a:xfrm>
            <a:off x="1461288" y="1299288"/>
            <a:ext cx="6221400" cy="26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7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b="1" sz="72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VI</a:t>
            </a:r>
            <a:br>
              <a:rPr b="1" lang="es" sz="6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b="1" sz="6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con ajustes por</a:t>
            </a:r>
            <a:r>
              <a:rPr b="1" lang="es" sz="16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Julio Avantt!</a:t>
            </a:r>
            <a:endParaRPr b="1" sz="16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6"/>
          <p:cNvSpPr txBox="1"/>
          <p:nvPr/>
        </p:nvSpPr>
        <p:spPr>
          <a:xfrm>
            <a:off x="320400" y="685213"/>
            <a:ext cx="6221400" cy="40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s" sz="42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return</a:t>
            </a:r>
            <a:r>
              <a:rPr b="1" i="0" lang="es" sz="42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 true, </a:t>
            </a:r>
            <a:r>
              <a:rPr b="1" i="0" lang="es" sz="42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if</a:t>
            </a:r>
            <a:r>
              <a:rPr b="1" i="0" lang="es" sz="42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 b="1" i="0" sz="4200" u="none" cap="none" strike="noStrike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M Sans"/>
              <a:buChar char="●"/>
            </a:pPr>
            <a:r>
              <a:rPr b="0" i="0" lang="es" sz="24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Me escuchan bien.</a:t>
            </a:r>
            <a:endParaRPr b="0" i="0" sz="24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DM Sans"/>
              <a:buChar char="●"/>
            </a:pPr>
            <a:r>
              <a:rPr b="0" i="0" lang="es" sz="24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Ven las diapos en el </a:t>
            </a:r>
            <a:r>
              <a:rPr b="0" i="0" lang="es" sz="24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chat de la comisión</a:t>
            </a:r>
            <a:r>
              <a:rPr b="0" i="0" lang="es" sz="24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2400" u="none" cap="none" strike="noStrike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DM Sans"/>
              <a:buChar char="●"/>
            </a:pPr>
            <a:r>
              <a:rPr b="0" i="0" lang="es" sz="24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Estoy grabando.</a:t>
            </a:r>
            <a:endParaRPr b="0" i="0" sz="2400" u="none" cap="none" strike="noStrike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9E9E9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t/>
            </a:r>
            <a:endParaRPr b="1" i="0" sz="40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0" name="Google Shape;5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0" y="764200"/>
            <a:ext cx="5051176" cy="336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/>
        </p:nvSpPr>
        <p:spPr>
          <a:xfrm>
            <a:off x="1858800" y="1925249"/>
            <a:ext cx="542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Transmitir datos</a:t>
            </a:r>
            <a:endParaRPr b="1" sz="4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entre </a:t>
            </a: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1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61" name="Google Shape;61;p1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62" name="Google Shape;62;p1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3" name="Google Shape;63;p18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" sz="40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1</a:t>
            </a:r>
            <a:endParaRPr b="1" i="0" sz="40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4" name="Google Shape;64;p18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https://github.com/julioavantt/teacher_react_context</a:t>
            </a:r>
            <a:endParaRPr b="0" i="0" sz="1800" u="none" cap="none" strike="noStrik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5" name="Google Shape;6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8400" y="1372300"/>
            <a:ext cx="2387200" cy="179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71" name="Google Shape;71;p1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72" name="Google Shape;72;p1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73" name="Google Shape;73;p19"/>
          <p:cNvSpPr txBox="1"/>
          <p:nvPr/>
        </p:nvSpPr>
        <p:spPr>
          <a:xfrm>
            <a:off x="475500" y="468325"/>
            <a:ext cx="83943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Transmitir datos entre componentes</a:t>
            </a:r>
            <a:endParaRPr b="1" sz="3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4" name="Google Shape;74;p19"/>
          <p:cNvSpPr txBox="1"/>
          <p:nvPr/>
        </p:nvSpPr>
        <p:spPr>
          <a:xfrm>
            <a:off x="476250" y="1288300"/>
            <a:ext cx="6988500" cy="14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React funciona a través de un flujo de datos unidireccional </a:t>
            </a:r>
            <a:r>
              <a:rPr b="1" lang="es" sz="1450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(hacia abajo)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La única manera que conocemos hasta </a:t>
            </a:r>
            <a:r>
              <a:rPr b="1" lang="es" sz="1450">
                <a:solidFill>
                  <a:srgbClr val="EF89D2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ahora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de transmitir datos es vía </a:t>
            </a:r>
            <a:r>
              <a:rPr b="1"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props.</a:t>
            </a:r>
            <a:endParaRPr b="1"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Sabemos además que cada pieza de estado pertenece al componente que crea esa pieza de estado.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 b="0" l="19266" r="19492" t="0"/>
          <a:stretch/>
        </p:blipFill>
        <p:spPr>
          <a:xfrm>
            <a:off x="7636125" y="1830124"/>
            <a:ext cx="1141450" cy="232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7975" y="2631400"/>
            <a:ext cx="5455652" cy="243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oogle Shape;81;p2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82" name="Google Shape;82;p2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83" name="Google Shape;83;p2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84" name="Google Shape;84;p20"/>
          <p:cNvSpPr txBox="1"/>
          <p:nvPr/>
        </p:nvSpPr>
        <p:spPr>
          <a:xfrm>
            <a:off x="501450" y="40545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Prop drilling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20"/>
          <p:cNvSpPr txBox="1"/>
          <p:nvPr/>
        </p:nvSpPr>
        <p:spPr>
          <a:xfrm>
            <a:off x="501450" y="1303350"/>
            <a:ext cx="4068300" cy="33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¿Qué pasaría si quisiéramos compartir una pieza de estado entre el componente marrón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y el componente azul.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Deberíamos atravesar muchos componentes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vía props.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Cuando pasamos datos vía props a componentes que no usan estos datos, lo llamamos </a:t>
            </a:r>
            <a:r>
              <a:rPr b="1" lang="es" sz="1450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 drilling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350">
                <a:solidFill>
                  <a:schemeClr val="accent4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¿Cómo lo resolverías?</a:t>
            </a:r>
            <a:endParaRPr b="1" sz="2350">
              <a:solidFill>
                <a:schemeClr val="accent4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6" name="Google Shape;8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2850" y="774275"/>
            <a:ext cx="3371225" cy="33075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0"/>
          <p:cNvSpPr/>
          <p:nvPr/>
        </p:nvSpPr>
        <p:spPr>
          <a:xfrm>
            <a:off x="5940229" y="3784557"/>
            <a:ext cx="1896600" cy="1173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rgbClr val="3CEFAB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 txBox="1"/>
          <p:nvPr/>
        </p:nvSpPr>
        <p:spPr>
          <a:xfrm>
            <a:off x="1858800" y="2202299"/>
            <a:ext cx="5426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Context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p2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98" name="Google Shape;98;p2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9" name="Google Shape;99;p2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0" name="Google Shape;100;p22"/>
          <p:cNvSpPr txBox="1"/>
          <p:nvPr/>
        </p:nvSpPr>
        <p:spPr>
          <a:xfrm>
            <a:off x="501450" y="468325"/>
            <a:ext cx="81411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Context</a:t>
            </a:r>
            <a:endParaRPr b="1" sz="48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22"/>
          <p:cNvSpPr txBox="1"/>
          <p:nvPr/>
        </p:nvSpPr>
        <p:spPr>
          <a:xfrm>
            <a:off x="501450" y="1261575"/>
            <a:ext cx="6570300" cy="34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450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Context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es una herramienta nativa de React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que crea un componente proveedor (de datos)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que engloba la aplicación total o parcialmente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y puede inyectar una pieza de estado a cualquier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componente hija/o que lo solicite explícitamente.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Sin props y sin molestar a componentes intermedios.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Se usa cuando una misma variable debe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utilizarse en múltiples componentes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alejados en el árbol de componentes.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2" name="Google Shape;1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625" y="738450"/>
            <a:ext cx="3957851" cy="366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2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08" name="Google Shape;108;p2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9" name="Google Shape;109;p2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10" name="Google Shape;110;p23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contexto</a:t>
            </a:r>
            <a:endParaRPr b="1" sz="4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23"/>
          <p:cNvSpPr txBox="1"/>
          <p:nvPr/>
        </p:nvSpPr>
        <p:spPr>
          <a:xfrm>
            <a:off x="555400" y="1215675"/>
            <a:ext cx="7971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este ejemplo, creamos un contexto para cambiar de theme (tema) la app. </a:t>
            </a:r>
            <a:endParaRPr/>
          </a:p>
        </p:txBody>
      </p:sp>
      <p:pic>
        <p:nvPicPr>
          <p:cNvPr id="112" name="Google Shape;112;p23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9239" y="1756625"/>
            <a:ext cx="4925525" cy="150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3"/>
          <p:cNvSpPr txBox="1"/>
          <p:nvPr/>
        </p:nvSpPr>
        <p:spPr>
          <a:xfrm>
            <a:off x="555400" y="3501675"/>
            <a:ext cx="7971000" cy="1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450">
                <a:solidFill>
                  <a:schemeClr val="accent4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ThemeContext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contiene 2 componentes: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DM Sans"/>
              <a:buChar char="●"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Provider.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DM Sans"/>
              <a:buChar char="●"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Consumer.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oogle Shape;118;p2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19" name="Google Shape;119;p2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0" name="Google Shape;120;p2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21" name="Google Shape;121;p24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Provider</a:t>
            </a:r>
            <a:endParaRPr b="1" sz="4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555400" y="1215675"/>
            <a:ext cx="7971000" cy="1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 el componente Provider envuelvo a la parte de mi aplicación que necesita datos compartidos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Los datos del provider se asignan al atributo “value” del 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Provider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 </a:t>
            </a:r>
            <a:endParaRPr/>
          </a:p>
        </p:txBody>
      </p:sp>
      <p:pic>
        <p:nvPicPr>
          <p:cNvPr id="123" name="Google Shape;123;p24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6301" y="2610225"/>
            <a:ext cx="4699300" cy="216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29" name="Google Shape;129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31" name="Google Shape;131;p25"/>
          <p:cNvSpPr txBox="1"/>
          <p:nvPr/>
        </p:nvSpPr>
        <p:spPr>
          <a:xfrm>
            <a:off x="473350" y="398725"/>
            <a:ext cx="8141100" cy="68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Consumir contexto con useContext</a:t>
            </a:r>
            <a:endParaRPr b="1" sz="3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537046" y="1148994"/>
            <a:ext cx="3834600" cy="26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useContext(ThemeContext) devolverá el value del contexto al componente que lo solicite.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Probablemente, también importemos el contexto desde el archivo donde lo hayamos creado, por ejemplo src/contexts/themeContext.js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0925" y="1531475"/>
            <a:ext cx="4423001" cy="257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b="1" sz="4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7"/>
          <p:cNvSpPr txBox="1"/>
          <p:nvPr/>
        </p:nvSpPr>
        <p:spPr>
          <a:xfrm>
            <a:off x="1461288" y="1940700"/>
            <a:ext cx="62214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Actualizar </a:t>
            </a:r>
            <a:r>
              <a:rPr b="1" lang="es" sz="4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Provider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4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(contexto dinámico)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50" name="Google Shape;150;p2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1" name="Google Shape;151;p2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52" name="Google Shape;152;p28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Update (actualizar)</a:t>
            </a:r>
            <a:endParaRPr b="1" sz="4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28"/>
          <p:cNvSpPr txBox="1"/>
          <p:nvPr/>
        </p:nvSpPr>
        <p:spPr>
          <a:xfrm>
            <a:off x="555400" y="1215675"/>
            <a:ext cx="7971000" cy="6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este caso podemos pasar una función de actualización de estado al atributo “value” del Provider.</a:t>
            </a:r>
            <a:endParaRPr/>
          </a:p>
        </p:txBody>
      </p:sp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5040" y="1692075"/>
            <a:ext cx="4561824" cy="3451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/>
          <p:nvPr/>
        </p:nvSpPr>
        <p:spPr>
          <a:xfrm>
            <a:off x="1461288" y="1940700"/>
            <a:ext cx="62214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b="1" sz="400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4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(r</a:t>
            </a:r>
            <a:r>
              <a:rPr b="1" lang="es" sz="24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ender optimization</a:t>
            </a:r>
            <a:r>
              <a:rPr b="1" lang="es" sz="24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)</a:t>
            </a:r>
            <a:endParaRPr b="1" sz="40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3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65" name="Google Shape;165;p3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6" name="Google Shape;166;p3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67" name="Google Shape;167;p30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" sz="40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</a:t>
            </a:r>
            <a:r>
              <a:rPr b="1" lang="es" sz="4000">
                <a:latin typeface="DM Sans"/>
                <a:ea typeface="DM Sans"/>
                <a:cs typeface="DM Sans"/>
                <a:sym typeface="DM Sans"/>
              </a:rPr>
              <a:t>2</a:t>
            </a:r>
            <a:endParaRPr b="1" i="0" sz="40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8" name="Google Shape;168;p30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https://github.com/julioavantt/teacher_react_memo</a:t>
            </a:r>
            <a:endParaRPr b="0" i="0" sz="1800" u="none" cap="none" strike="noStrik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9" name="Google Shape;169;p30" title="giphy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3750" y="1728788"/>
            <a:ext cx="2476500" cy="168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75" name="Google Shape;175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6" name="Google Shape;176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pic>
        <p:nvPicPr>
          <p:cNvPr id="177" name="Google Shape;17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1"/>
          <p:cNvSpPr txBox="1"/>
          <p:nvPr/>
        </p:nvSpPr>
        <p:spPr>
          <a:xfrm>
            <a:off x="613825" y="1128275"/>
            <a:ext cx="4127400" cy="3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cada cambio de estado, </a:t>
            </a:r>
            <a:r>
              <a:rPr b="1" lang="es" sz="1450">
                <a:latin typeface="DM Sans"/>
                <a:ea typeface="DM Sans"/>
                <a:cs typeface="DM Sans"/>
                <a:sym typeface="DM Sans"/>
              </a:rPr>
              <a:t>React 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rerenderiza todos los componentes descendientes del componente donde se produjo el cambio de estado, de manera recursiva.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A veces sabemos que nada cambió en algunos de esos componentes o que son muy pesados.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Entonces, para evitar renderizar un componente descendiente puedo usar el método </a:t>
            </a:r>
            <a:r>
              <a:rPr b="1" lang="es" sz="145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9" name="Google Shape;179;p31"/>
          <p:cNvPicPr preferRelativeResize="0"/>
          <p:nvPr/>
        </p:nvPicPr>
        <p:blipFill rotWithShape="1">
          <a:blip r:embed="rId4">
            <a:alphaModFix/>
          </a:blip>
          <a:srcRect b="0" l="64312" r="6710" t="15725"/>
          <a:stretch/>
        </p:blipFill>
        <p:spPr>
          <a:xfrm>
            <a:off x="5774625" y="1042050"/>
            <a:ext cx="2570544" cy="267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1"/>
          <p:cNvSpPr/>
          <p:nvPr/>
        </p:nvSpPr>
        <p:spPr>
          <a:xfrm>
            <a:off x="6594225" y="1787775"/>
            <a:ext cx="468900" cy="468900"/>
          </a:xfrm>
          <a:prstGeom prst="ellipse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181" name="Google Shape;181;p31"/>
          <p:cNvSpPr txBox="1"/>
          <p:nvPr/>
        </p:nvSpPr>
        <p:spPr>
          <a:xfrm>
            <a:off x="622805" y="282725"/>
            <a:ext cx="78984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b="1" sz="48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82" name="Google Shape;182;p31"/>
          <p:cNvCxnSpPr>
            <a:endCxn id="183" idx="3"/>
          </p:cNvCxnSpPr>
          <p:nvPr/>
        </p:nvCxnSpPr>
        <p:spPr>
          <a:xfrm flipH="1" rot="10800000">
            <a:off x="5009529" y="3707060"/>
            <a:ext cx="349800" cy="505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4" name="Google Shape;184;p31"/>
          <p:cNvSpPr txBox="1"/>
          <p:nvPr/>
        </p:nvSpPr>
        <p:spPr>
          <a:xfrm>
            <a:off x="2950700" y="4014775"/>
            <a:ext cx="23814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Biblioteca de Alejandría</a:t>
            </a:r>
            <a:endParaRPr/>
          </a:p>
        </p:txBody>
      </p:sp>
      <p:sp>
        <p:nvSpPr>
          <p:cNvPr id="183" name="Google Shape;183;p31"/>
          <p:cNvSpPr/>
          <p:nvPr/>
        </p:nvSpPr>
        <p:spPr>
          <a:xfrm>
            <a:off x="5176475" y="2590100"/>
            <a:ext cx="1248600" cy="13086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3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90" name="Google Shape;190;p3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1" name="Google Shape;191;p3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pic>
        <p:nvPicPr>
          <p:cNvPr id="192" name="Google Shape;192;p32"/>
          <p:cNvPicPr preferRelativeResize="0"/>
          <p:nvPr/>
        </p:nvPicPr>
        <p:blipFill rotWithShape="1">
          <a:blip r:embed="rId3">
            <a:alphaModFix/>
          </a:blip>
          <a:srcRect b="0" l="64312" r="6710" t="15725"/>
          <a:stretch/>
        </p:blipFill>
        <p:spPr>
          <a:xfrm>
            <a:off x="6132195" y="1634825"/>
            <a:ext cx="2495080" cy="2599469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2"/>
          <p:cNvSpPr/>
          <p:nvPr/>
        </p:nvSpPr>
        <p:spPr>
          <a:xfrm>
            <a:off x="6565679" y="2812442"/>
            <a:ext cx="477600" cy="500400"/>
          </a:xfrm>
          <a:prstGeom prst="ellipse">
            <a:avLst/>
          </a:prstGeom>
          <a:solidFill>
            <a:srgbClr val="D9EAD3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32"/>
          <p:cNvSpPr/>
          <p:nvPr/>
        </p:nvSpPr>
        <p:spPr>
          <a:xfrm>
            <a:off x="6228591" y="3312799"/>
            <a:ext cx="477600" cy="500400"/>
          </a:xfrm>
          <a:prstGeom prst="ellipse">
            <a:avLst/>
          </a:prstGeom>
          <a:solidFill>
            <a:srgbClr val="D9EAD3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2"/>
          <p:cNvSpPr/>
          <p:nvPr/>
        </p:nvSpPr>
        <p:spPr>
          <a:xfrm>
            <a:off x="6891878" y="3312799"/>
            <a:ext cx="477600" cy="500400"/>
          </a:xfrm>
          <a:prstGeom prst="ellipse">
            <a:avLst/>
          </a:prstGeom>
          <a:solidFill>
            <a:srgbClr val="D9EAD3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32"/>
          <p:cNvSpPr/>
          <p:nvPr/>
        </p:nvSpPr>
        <p:spPr>
          <a:xfrm>
            <a:off x="5921025" y="2545974"/>
            <a:ext cx="1800600" cy="1322700"/>
          </a:xfrm>
          <a:prstGeom prst="triangle">
            <a:avLst>
              <a:gd fmla="val 49385" name="adj"/>
            </a:avLst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32"/>
          <p:cNvSpPr txBox="1"/>
          <p:nvPr/>
        </p:nvSpPr>
        <p:spPr>
          <a:xfrm>
            <a:off x="6176520" y="3943590"/>
            <a:ext cx="1289400" cy="7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Memoizing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8" name="Google Shape;198;p32"/>
          <p:cNvSpPr txBox="1"/>
          <p:nvPr/>
        </p:nvSpPr>
        <p:spPr>
          <a:xfrm>
            <a:off x="622800" y="1021625"/>
            <a:ext cx="56130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450">
                <a:latin typeface="DM Sans"/>
                <a:ea typeface="DM Sans"/>
                <a:cs typeface="DM Sans"/>
                <a:sym typeface="DM Sans"/>
              </a:rPr>
              <a:t>Podemos salvarnos,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si: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9" name="Google Shape;199;p32"/>
          <p:cNvSpPr txBox="1"/>
          <p:nvPr/>
        </p:nvSpPr>
        <p:spPr>
          <a:xfrm>
            <a:off x="823525" y="1726425"/>
            <a:ext cx="3252000" cy="25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0675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El componente es </a:t>
            </a:r>
            <a:r>
              <a:rPr b="1" lang="es" sz="1450">
                <a:latin typeface="DM Sans"/>
                <a:ea typeface="DM Sans"/>
                <a:cs typeface="DM Sans"/>
                <a:sym typeface="DM Sans"/>
              </a:rPr>
              <a:t>puro. </a:t>
            </a:r>
            <a:endParaRPr b="1" sz="1450"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Tenemos la certeza de que </a:t>
            </a:r>
            <a:r>
              <a:rPr b="1" lang="es" sz="1450">
                <a:latin typeface="DM Sans"/>
                <a:ea typeface="DM Sans"/>
                <a:cs typeface="DM Sans"/>
                <a:sym typeface="DM Sans"/>
              </a:rPr>
              <a:t>las mismas props producen siempre el mismo render.</a:t>
            </a:r>
            <a:endParaRPr b="1" sz="1450"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Sabemos que es muy caro de realizar, una lista larga, compleja, etcétera.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0" name="Google Shape;200;p32"/>
          <p:cNvSpPr txBox="1"/>
          <p:nvPr/>
        </p:nvSpPr>
        <p:spPr>
          <a:xfrm>
            <a:off x="622805" y="282725"/>
            <a:ext cx="789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3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06" name="Google Shape;206;p3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7" name="Google Shape;207;p3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08" name="Google Shape;208;p33"/>
          <p:cNvSpPr txBox="1"/>
          <p:nvPr/>
        </p:nvSpPr>
        <p:spPr>
          <a:xfrm>
            <a:off x="622800" y="1021625"/>
            <a:ext cx="56130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default se usa comparación superficial (shallow).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9" name="Google Shape;209;p33"/>
          <p:cNvSpPr txBox="1"/>
          <p:nvPr/>
        </p:nvSpPr>
        <p:spPr>
          <a:xfrm>
            <a:off x="622805" y="282725"/>
            <a:ext cx="789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0" name="Google Shape;21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637" y="1589200"/>
            <a:ext cx="4938726" cy="3343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Google Shape;215;p3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16" name="Google Shape;216;p3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3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18" name="Google Shape;218;p34"/>
          <p:cNvSpPr txBox="1"/>
          <p:nvPr/>
        </p:nvSpPr>
        <p:spPr>
          <a:xfrm>
            <a:off x="475200" y="46800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</a:t>
            </a: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emo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34"/>
          <p:cNvSpPr txBox="1"/>
          <p:nvPr/>
        </p:nvSpPr>
        <p:spPr>
          <a:xfrm>
            <a:off x="618450" y="1533500"/>
            <a:ext cx="6120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0675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Sirve para ahorrar renders costosos de los cuales podamos prever el resultado en base al análisis de sus props.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No es necesario </a:t>
            </a:r>
            <a:r>
              <a:rPr b="1" lang="es" sz="1450">
                <a:latin typeface="DM Sans"/>
                <a:ea typeface="DM Sans"/>
                <a:cs typeface="DM Sans"/>
                <a:sym typeface="DM Sans"/>
              </a:rPr>
              <a:t>ni recomendado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usarlo en todos lados o en componentes simples.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Útil en listas largas y determinadas que se tienen un re- rendering frecuente pero que no modifica sus props.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indent="-320675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Si te interesa expandir, ¡también hay un hook para </a:t>
            </a:r>
            <a:r>
              <a:rPr lang="es" sz="14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memoizar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otros cómputos aparte de renders!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