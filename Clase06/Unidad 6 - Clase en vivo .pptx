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6858000" cy="9144000"/>
  <p:embeddedFontLst>
    <p:embeddedFont>
      <p:font typeface="Helvetica Neue"/>
      <p:regular r:id="rId43"/>
      <p:bold r:id="rId44"/>
      <p:italic r:id="rId45"/>
      <p:boldItalic r:id="rId46"/>
    </p:embeddedFont>
    <p:embeddedFont>
      <p:font typeface="Ubuntu Mono"/>
      <p:regular r:id="rId47"/>
      <p:bold r:id="rId48"/>
      <p:italic r:id="rId49"/>
      <p:boldItalic r:id="rId50"/>
    </p:embeddedFont>
    <p:embeddedFont>
      <p:font typeface="Helvetica Neue Light"/>
      <p:regular r:id="rId51"/>
      <p:bold r:id="rId52"/>
      <p:italic r:id="rId53"/>
      <p:boldItalic r:id="rId54"/>
    </p:embeddedFont>
    <p:embeddedFont>
      <p:font typeface="DM Sans"/>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95">
          <p15:clr>
            <a:srgbClr val="A4A3A4"/>
          </p15:clr>
        </p15:guide>
        <p15:guide id="2" pos="5460">
          <p15:clr>
            <a:srgbClr val="A4A3A4"/>
          </p15:clr>
        </p15:guide>
        <p15:guide id="3" pos="300">
          <p15:clr>
            <a:srgbClr val="9AA0A6"/>
          </p15:clr>
        </p15:guide>
        <p15:guide id="4" orient="horz" pos="324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95" orient="horz"/>
        <p:guide pos="5460"/>
        <p:guide pos="300"/>
        <p:guide pos="324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HelveticaNeue-bold.fntdata"/><Relationship Id="rId43" Type="http://schemas.openxmlformats.org/officeDocument/2006/relationships/font" Target="fonts/HelveticaNeue-regular.fntdata"/><Relationship Id="rId46" Type="http://schemas.openxmlformats.org/officeDocument/2006/relationships/font" Target="fonts/HelveticaNeue-boldItalic.fntdata"/><Relationship Id="rId45" Type="http://schemas.openxmlformats.org/officeDocument/2006/relationships/font" Target="fonts/HelveticaNeue-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UbuntuMono-bold.fntdata"/><Relationship Id="rId47" Type="http://schemas.openxmlformats.org/officeDocument/2006/relationships/font" Target="fonts/UbuntuMono-regular.fntdata"/><Relationship Id="rId49" Type="http://schemas.openxmlformats.org/officeDocument/2006/relationships/font" Target="fonts/UbuntuMon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HelveticaNeueLight-regular.fntdata"/><Relationship Id="rId50" Type="http://schemas.openxmlformats.org/officeDocument/2006/relationships/font" Target="fonts/UbuntuMono-boldItalic.fntdata"/><Relationship Id="rId53" Type="http://schemas.openxmlformats.org/officeDocument/2006/relationships/font" Target="fonts/HelveticaNeueLight-italic.fntdata"/><Relationship Id="rId52" Type="http://schemas.openxmlformats.org/officeDocument/2006/relationships/font" Target="fonts/HelveticaNeueLight-bold.fntdata"/><Relationship Id="rId11" Type="http://schemas.openxmlformats.org/officeDocument/2006/relationships/slide" Target="slides/slide6.xml"/><Relationship Id="rId55" Type="http://schemas.openxmlformats.org/officeDocument/2006/relationships/font" Target="fonts/DMSans-regular.fntdata"/><Relationship Id="rId10" Type="http://schemas.openxmlformats.org/officeDocument/2006/relationships/slide" Target="slides/slide5.xml"/><Relationship Id="rId54" Type="http://schemas.openxmlformats.org/officeDocument/2006/relationships/font" Target="fonts/HelveticaNeueLight-boldItalic.fntdata"/><Relationship Id="rId13" Type="http://schemas.openxmlformats.org/officeDocument/2006/relationships/slide" Target="slides/slide8.xml"/><Relationship Id="rId57" Type="http://schemas.openxmlformats.org/officeDocument/2006/relationships/font" Target="fonts/DMSans-italic.fntdata"/><Relationship Id="rId12" Type="http://schemas.openxmlformats.org/officeDocument/2006/relationships/slide" Target="slides/slide7.xml"/><Relationship Id="rId56" Type="http://schemas.openxmlformats.org/officeDocument/2006/relationships/font" Target="fonts/DMSans-bold.fntdata"/><Relationship Id="rId15" Type="http://schemas.openxmlformats.org/officeDocument/2006/relationships/slide" Target="slides/slide10.xml"/><Relationship Id="rId14" Type="http://schemas.openxmlformats.org/officeDocument/2006/relationships/slide" Target="slides/slide9.xml"/><Relationship Id="rId58" Type="http://schemas.openxmlformats.org/officeDocument/2006/relationships/font" Target="fonts/DMSans-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g21635c457ec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 name="Google Shape;39;g21635c457ec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Colocar todas las clases.</a:t>
            </a:r>
            <a:endParaRPr>
              <a:latin typeface="DM Sans"/>
              <a:ea typeface="DM Sans"/>
              <a:cs typeface="DM Sans"/>
              <a:sym typeface="DM San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g155a413f5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 name="Google Shape;48;g155a413f5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Obligatoria siempre</a:t>
            </a:r>
            <a:endParaRPr>
              <a:latin typeface="DM Sans"/>
              <a:ea typeface="DM Sans"/>
              <a:cs typeface="DM Sans"/>
              <a:sym typeface="DM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10d8ab2ab78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g10d8ab2ab78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Redactar los objetivos en función de los conocimientos y habilidades a desarrollar en la clase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5449dc17f6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5449dc17f6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5449dc17f6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5449dc17f6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Se puede usar para comenzar o finalizar la clase, según sea más conveniente. La información de este slide es de relleno.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Recurso: </a:t>
            </a:r>
            <a:r>
              <a:rPr b="1" lang="es">
                <a:solidFill>
                  <a:schemeClr val="dk1"/>
                </a:solidFill>
                <a:highlight>
                  <a:srgbClr val="EAFF6A"/>
                </a:highlight>
                <a:latin typeface="DM Sans"/>
                <a:ea typeface="DM Sans"/>
                <a:cs typeface="DM Sans"/>
                <a:sym typeface="DM Sans"/>
              </a:rPr>
              <a:t>Mapa de conceptos (genérico)</a:t>
            </a:r>
            <a:endParaRPr b="1">
              <a:solidFill>
                <a:schemeClr val="dk1"/>
              </a:solidFill>
              <a:highlight>
                <a:srgbClr val="EAFF6A"/>
              </a:highlight>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Muestra rápidamente los contenidos de la clase y cómo se relacionan. Ayuda a los estudiantes a evitar “perderse” durante la clase, al avanzar en un sentido lineal una diapositiva tras otra. El ejemplo pertenece a la primera clase del curso UX/UI.</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Sugerencia</a:t>
            </a:r>
            <a:r>
              <a:rPr lang="es">
                <a:solidFill>
                  <a:schemeClr val="dk1"/>
                </a:solidFill>
                <a:latin typeface="DM Sans"/>
                <a:ea typeface="DM Sans"/>
                <a:cs typeface="DM Sans"/>
                <a:sym typeface="DM Sans"/>
              </a:rPr>
              <a:t>: </a:t>
            </a:r>
            <a:br>
              <a:rPr lang="es">
                <a:solidFill>
                  <a:schemeClr val="dk1"/>
                </a:solidFill>
                <a:latin typeface="DM Sans"/>
                <a:ea typeface="DM Sans"/>
                <a:cs typeface="DM Sans"/>
                <a:sym typeface="DM Sans"/>
              </a:rPr>
            </a:br>
            <a:r>
              <a:rPr lang="es">
                <a:solidFill>
                  <a:schemeClr val="dk1"/>
                </a:solidFill>
                <a:latin typeface="DM Sans"/>
                <a:ea typeface="DM Sans"/>
                <a:cs typeface="DM Sans"/>
                <a:sym typeface="DM Sans"/>
              </a:rPr>
              <a:t>-También se pueden mostrar con un menor énfasis o colores apagados, aquellos contenidos de clases anteriores y que se vinculen con la actual. </a:t>
            </a:r>
            <a:endParaRPr>
              <a:solidFill>
                <a:schemeClr val="dk1"/>
              </a:solidFill>
              <a:latin typeface="DM Sans"/>
              <a:ea typeface="DM Sans"/>
              <a:cs typeface="DM Sans"/>
              <a:sym typeface="DM Sans"/>
            </a:endParaRPr>
          </a:p>
          <a:p>
            <a:pPr indent="0" lvl="0" marL="0" rtl="0" algn="l">
              <a:spcBef>
                <a:spcPts val="0"/>
              </a:spcBef>
              <a:spcAft>
                <a:spcPts val="0"/>
              </a:spcAft>
              <a:buNone/>
            </a:pPr>
            <a:r>
              <a:rPr lang="es">
                <a:solidFill>
                  <a:schemeClr val="dk1"/>
                </a:solidFill>
                <a:latin typeface="DM Sans"/>
                <a:ea typeface="DM Sans"/>
                <a:cs typeface="DM Sans"/>
                <a:sym typeface="DM Sans"/>
              </a:rPr>
              <a:t>-Resaltar con color los temas que se abordan en la clase.</a:t>
            </a:r>
            <a:endParaRPr>
              <a:solidFill>
                <a:schemeClr val="dk1"/>
              </a:solidFill>
              <a:latin typeface="DM Sans"/>
              <a:ea typeface="DM Sans"/>
              <a:cs typeface="DM Sans"/>
              <a:sym typeface="DM Sans"/>
            </a:endParaRPr>
          </a:p>
          <a:p>
            <a:pPr indent="0" lvl="0" marL="0" rtl="0" algn="l">
              <a:spcBef>
                <a:spcPts val="0"/>
              </a:spcBef>
              <a:spcAft>
                <a:spcPts val="0"/>
              </a:spcAft>
              <a:buNone/>
            </a:pPr>
            <a:r>
              <a:t/>
            </a:r>
            <a:endParaRPr>
              <a:solidFill>
                <a:schemeClr val="dk1"/>
              </a:solidFill>
              <a:latin typeface="DM Sans"/>
              <a:ea typeface="DM Sans"/>
              <a:cs typeface="DM Sans"/>
              <a:sym typeface="DM Sans"/>
            </a:endParaRPr>
          </a:p>
          <a:p>
            <a:pPr indent="0" lvl="0" marL="0" rtl="0" algn="l">
              <a:spcBef>
                <a:spcPts val="0"/>
              </a:spcBef>
              <a:spcAft>
                <a:spcPts val="0"/>
              </a:spcAft>
              <a:buNone/>
            </a:pPr>
            <a:r>
              <a:rPr lang="es">
                <a:solidFill>
                  <a:schemeClr val="dk1"/>
                </a:solidFill>
                <a:latin typeface="DM Sans"/>
                <a:ea typeface="DM Sans"/>
                <a:cs typeface="DM Sans"/>
                <a:sym typeface="DM Sans"/>
              </a:rPr>
              <a:t>Colores</a:t>
            </a:r>
            <a:endParaRPr>
              <a:solidFill>
                <a:schemeClr val="dk1"/>
              </a:solidFill>
              <a:latin typeface="DM Sans"/>
              <a:ea typeface="DM Sans"/>
              <a:cs typeface="DM Sans"/>
              <a:sym typeface="DM Sans"/>
            </a:endParaRPr>
          </a:p>
          <a:p>
            <a:pPr indent="0" lvl="0" marL="0" rtl="0" algn="l">
              <a:spcBef>
                <a:spcPts val="0"/>
              </a:spcBef>
              <a:spcAft>
                <a:spcPts val="0"/>
              </a:spcAft>
              <a:buNone/>
            </a:pPr>
            <a:r>
              <a:rPr lang="es">
                <a:solidFill>
                  <a:schemeClr val="dk1"/>
                </a:solidFill>
                <a:latin typeface="DM Sans"/>
                <a:ea typeface="DM Sans"/>
                <a:cs typeface="DM Sans"/>
                <a:sym typeface="DM Sans"/>
              </a:rPr>
              <a:t>Categorías principales: Pleno en #27282d con texto en blanco.</a:t>
            </a:r>
            <a:endParaRPr>
              <a:solidFill>
                <a:schemeClr val="dk1"/>
              </a:solidFill>
              <a:latin typeface="DM Sans"/>
              <a:ea typeface="DM Sans"/>
              <a:cs typeface="DM Sans"/>
              <a:sym typeface="DM Sans"/>
            </a:endParaRPr>
          </a:p>
          <a:p>
            <a:pPr indent="0" lvl="0" marL="0" rtl="0" algn="l">
              <a:spcBef>
                <a:spcPts val="0"/>
              </a:spcBef>
              <a:spcAft>
                <a:spcPts val="0"/>
              </a:spcAft>
              <a:buNone/>
            </a:pPr>
            <a:r>
              <a:rPr lang="es">
                <a:solidFill>
                  <a:schemeClr val="dk1"/>
                </a:solidFill>
                <a:latin typeface="DM Sans"/>
                <a:ea typeface="DM Sans"/>
                <a:cs typeface="DM Sans"/>
                <a:sym typeface="DM Sans"/>
              </a:rPr>
              <a:t>Categorías secundarias (o a destacar): Pleno en #393b43 con texto en blanco.</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Categorías terciarias: Borde en #393b43 con texto en #222222.</a:t>
            </a:r>
            <a:endParaRPr>
              <a:solidFill>
                <a:schemeClr val="dk1"/>
              </a:solidFill>
              <a:latin typeface="DM Sans"/>
              <a:ea typeface="DM Sans"/>
              <a:cs typeface="DM Sans"/>
              <a:sym typeface="DM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53250eb3e8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53250eb3e8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En esta slide se retoma sobre un </a:t>
            </a:r>
            <a:r>
              <a:rPr b="1" lang="es">
                <a:solidFill>
                  <a:schemeClr val="dk1"/>
                </a:solidFill>
                <a:latin typeface="DM Sans"/>
                <a:ea typeface="DM Sans"/>
                <a:cs typeface="DM Sans"/>
                <a:sym typeface="DM Sans"/>
              </a:rPr>
              <a:t>tema en específico</a:t>
            </a:r>
            <a:r>
              <a:rPr lang="es">
                <a:solidFill>
                  <a:schemeClr val="dk1"/>
                </a:solidFill>
                <a:latin typeface="DM Sans"/>
                <a:ea typeface="DM Sans"/>
                <a:cs typeface="DM Sans"/>
                <a:sym typeface="DM Sans"/>
              </a:rPr>
              <a:t> de algún contenido pregrabado </a:t>
            </a:r>
            <a:r>
              <a:rPr lang="es">
                <a:solidFill>
                  <a:schemeClr val="dk1"/>
                </a:solidFill>
                <a:highlight>
                  <a:srgbClr val="EAFF6A"/>
                </a:highlight>
                <a:latin typeface="DM Sans"/>
                <a:ea typeface="DM Sans"/>
                <a:cs typeface="DM Sans"/>
                <a:sym typeface="DM Sans"/>
              </a:rPr>
              <a:t>en caso de que sea necesario</a:t>
            </a:r>
            <a:r>
              <a:rPr lang="es">
                <a:solidFill>
                  <a:schemeClr val="dk1"/>
                </a:solidFill>
                <a:latin typeface="DM Sans"/>
                <a:ea typeface="DM Sans"/>
                <a:cs typeface="DM Sans"/>
                <a:sym typeface="DM Sans"/>
              </a:rPr>
              <a:t>. </a:t>
            </a:r>
            <a:r>
              <a:rPr b="1" lang="es">
                <a:solidFill>
                  <a:schemeClr val="dk1"/>
                </a:solidFill>
                <a:latin typeface="DM Sans"/>
                <a:ea typeface="DM Sans"/>
                <a:cs typeface="DM Sans"/>
                <a:sym typeface="DM Sans"/>
              </a:rPr>
              <a:t>Señalar en “Notas al orador” la duración (en minutos) que se sugiere para el momento de repaso teniendo en cuenta que el foco de las clases es la práctica. </a:t>
            </a:r>
            <a:endParaRPr b="1">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5449dc17f6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5449dc17f6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con instancias a destacar.</a:t>
            </a:r>
            <a:endParaRPr>
              <a:latin typeface="DM Sans"/>
              <a:ea typeface="DM Sans"/>
              <a:cs typeface="DM Sans"/>
              <a:sym typeface="DM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53250eb3e8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53250eb3e8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En esta slide se retoma sobre un </a:t>
            </a:r>
            <a:r>
              <a:rPr b="1" lang="es">
                <a:solidFill>
                  <a:schemeClr val="dk1"/>
                </a:solidFill>
                <a:latin typeface="DM Sans"/>
                <a:ea typeface="DM Sans"/>
                <a:cs typeface="DM Sans"/>
                <a:sym typeface="DM Sans"/>
              </a:rPr>
              <a:t>tema en específico</a:t>
            </a:r>
            <a:r>
              <a:rPr lang="es">
                <a:solidFill>
                  <a:schemeClr val="dk1"/>
                </a:solidFill>
                <a:latin typeface="DM Sans"/>
                <a:ea typeface="DM Sans"/>
                <a:cs typeface="DM Sans"/>
                <a:sym typeface="DM Sans"/>
              </a:rPr>
              <a:t> de algún contenido pregrabado </a:t>
            </a:r>
            <a:r>
              <a:rPr lang="es">
                <a:solidFill>
                  <a:schemeClr val="dk1"/>
                </a:solidFill>
                <a:highlight>
                  <a:srgbClr val="EAFF6A"/>
                </a:highlight>
                <a:latin typeface="DM Sans"/>
                <a:ea typeface="DM Sans"/>
                <a:cs typeface="DM Sans"/>
                <a:sym typeface="DM Sans"/>
              </a:rPr>
              <a:t>en caso de que sea necesario</a:t>
            </a:r>
            <a:r>
              <a:rPr lang="es">
                <a:solidFill>
                  <a:schemeClr val="dk1"/>
                </a:solidFill>
                <a:latin typeface="DM Sans"/>
                <a:ea typeface="DM Sans"/>
                <a:cs typeface="DM Sans"/>
                <a:sym typeface="DM Sans"/>
              </a:rPr>
              <a:t>. </a:t>
            </a:r>
            <a:r>
              <a:rPr b="1" lang="es">
                <a:solidFill>
                  <a:schemeClr val="dk1"/>
                </a:solidFill>
                <a:latin typeface="DM Sans"/>
                <a:ea typeface="DM Sans"/>
                <a:cs typeface="DM Sans"/>
                <a:sym typeface="DM Sans"/>
              </a:rPr>
              <a:t>Señalar en “Notas al orador” la duración (en minutos) que se sugiere para el momento de repaso teniendo en cuenta que el foco de las clases es la práctica. </a:t>
            </a:r>
            <a:endParaRPr b="1">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53250eb3e8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53250eb3e8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En esta slide se retoma sobre un </a:t>
            </a:r>
            <a:r>
              <a:rPr b="1" lang="es">
                <a:solidFill>
                  <a:schemeClr val="dk1"/>
                </a:solidFill>
                <a:latin typeface="DM Sans"/>
                <a:ea typeface="DM Sans"/>
                <a:cs typeface="DM Sans"/>
                <a:sym typeface="DM Sans"/>
              </a:rPr>
              <a:t>tema en específico</a:t>
            </a:r>
            <a:r>
              <a:rPr lang="es">
                <a:solidFill>
                  <a:schemeClr val="dk1"/>
                </a:solidFill>
                <a:latin typeface="DM Sans"/>
                <a:ea typeface="DM Sans"/>
                <a:cs typeface="DM Sans"/>
                <a:sym typeface="DM Sans"/>
              </a:rPr>
              <a:t> de algún contenido pregrabado </a:t>
            </a:r>
            <a:r>
              <a:rPr lang="es">
                <a:solidFill>
                  <a:schemeClr val="dk1"/>
                </a:solidFill>
                <a:highlight>
                  <a:srgbClr val="EAFF6A"/>
                </a:highlight>
                <a:latin typeface="DM Sans"/>
                <a:ea typeface="DM Sans"/>
                <a:cs typeface="DM Sans"/>
                <a:sym typeface="DM Sans"/>
              </a:rPr>
              <a:t>en caso de que sea necesario</a:t>
            </a:r>
            <a:r>
              <a:rPr lang="es">
                <a:solidFill>
                  <a:schemeClr val="dk1"/>
                </a:solidFill>
                <a:latin typeface="DM Sans"/>
                <a:ea typeface="DM Sans"/>
                <a:cs typeface="DM Sans"/>
                <a:sym typeface="DM Sans"/>
              </a:rPr>
              <a:t>. </a:t>
            </a:r>
            <a:r>
              <a:rPr b="1" lang="es">
                <a:solidFill>
                  <a:schemeClr val="dk1"/>
                </a:solidFill>
                <a:latin typeface="DM Sans"/>
                <a:ea typeface="DM Sans"/>
                <a:cs typeface="DM Sans"/>
                <a:sym typeface="DM Sans"/>
              </a:rPr>
              <a:t>Señalar en “Notas al orador” la duración (en minutos) que se sugiere para el momento de repaso teniendo en cuenta que el foco de las clases es la práctica. </a:t>
            </a:r>
            <a:endParaRPr b="1">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5449dc17f6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5449dc17f6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En esta slide se retoma sobre un </a:t>
            </a:r>
            <a:r>
              <a:rPr b="1" lang="es">
                <a:solidFill>
                  <a:schemeClr val="dk1"/>
                </a:solidFill>
                <a:latin typeface="DM Sans"/>
                <a:ea typeface="DM Sans"/>
                <a:cs typeface="DM Sans"/>
                <a:sym typeface="DM Sans"/>
              </a:rPr>
              <a:t>tema en específico</a:t>
            </a:r>
            <a:r>
              <a:rPr lang="es">
                <a:solidFill>
                  <a:schemeClr val="dk1"/>
                </a:solidFill>
                <a:latin typeface="DM Sans"/>
                <a:ea typeface="DM Sans"/>
                <a:cs typeface="DM Sans"/>
                <a:sym typeface="DM Sans"/>
              </a:rPr>
              <a:t> de algún contenido pregrabado </a:t>
            </a:r>
            <a:r>
              <a:rPr lang="es">
                <a:solidFill>
                  <a:schemeClr val="dk1"/>
                </a:solidFill>
                <a:highlight>
                  <a:srgbClr val="EAFF6A"/>
                </a:highlight>
                <a:latin typeface="DM Sans"/>
                <a:ea typeface="DM Sans"/>
                <a:cs typeface="DM Sans"/>
                <a:sym typeface="DM Sans"/>
              </a:rPr>
              <a:t>en caso de que sea necesario</a:t>
            </a:r>
            <a:r>
              <a:rPr lang="es">
                <a:solidFill>
                  <a:schemeClr val="dk1"/>
                </a:solidFill>
                <a:latin typeface="DM Sans"/>
                <a:ea typeface="DM Sans"/>
                <a:cs typeface="DM Sans"/>
                <a:sym typeface="DM Sans"/>
              </a:rPr>
              <a:t>. </a:t>
            </a:r>
            <a:r>
              <a:rPr b="1" lang="es">
                <a:solidFill>
                  <a:schemeClr val="dk1"/>
                </a:solidFill>
                <a:latin typeface="DM Sans"/>
                <a:ea typeface="DM Sans"/>
                <a:cs typeface="DM Sans"/>
                <a:sym typeface="DM Sans"/>
              </a:rPr>
              <a:t>Señalar en “Notas al orador” la duración (en minutos) que se sugiere para el momento de repaso teniendo en cuenta que el foco de las clases es la práctica. </a:t>
            </a:r>
            <a:endParaRPr b="1">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5449dc17f6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5449dc17f6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En esta slide se retoma sobre un </a:t>
            </a:r>
            <a:r>
              <a:rPr b="1" lang="es">
                <a:solidFill>
                  <a:schemeClr val="dk1"/>
                </a:solidFill>
                <a:latin typeface="DM Sans"/>
                <a:ea typeface="DM Sans"/>
                <a:cs typeface="DM Sans"/>
                <a:sym typeface="DM Sans"/>
              </a:rPr>
              <a:t>tema en específico</a:t>
            </a:r>
            <a:r>
              <a:rPr lang="es">
                <a:solidFill>
                  <a:schemeClr val="dk1"/>
                </a:solidFill>
                <a:latin typeface="DM Sans"/>
                <a:ea typeface="DM Sans"/>
                <a:cs typeface="DM Sans"/>
                <a:sym typeface="DM Sans"/>
              </a:rPr>
              <a:t> de algún contenido pregrabado </a:t>
            </a:r>
            <a:r>
              <a:rPr lang="es">
                <a:solidFill>
                  <a:schemeClr val="dk1"/>
                </a:solidFill>
                <a:highlight>
                  <a:srgbClr val="EAFF6A"/>
                </a:highlight>
                <a:latin typeface="DM Sans"/>
                <a:ea typeface="DM Sans"/>
                <a:cs typeface="DM Sans"/>
                <a:sym typeface="DM Sans"/>
              </a:rPr>
              <a:t>en caso de que sea necesario</a:t>
            </a:r>
            <a:r>
              <a:rPr lang="es">
                <a:solidFill>
                  <a:schemeClr val="dk1"/>
                </a:solidFill>
                <a:latin typeface="DM Sans"/>
                <a:ea typeface="DM Sans"/>
                <a:cs typeface="DM Sans"/>
                <a:sym typeface="DM Sans"/>
              </a:rPr>
              <a:t>. </a:t>
            </a:r>
            <a:r>
              <a:rPr b="1" lang="es">
                <a:solidFill>
                  <a:schemeClr val="dk1"/>
                </a:solidFill>
                <a:latin typeface="DM Sans"/>
                <a:ea typeface="DM Sans"/>
                <a:cs typeface="DM Sans"/>
                <a:sym typeface="DM Sans"/>
              </a:rPr>
              <a:t>Señalar en “Notas al orador” la duración (en minutos) que se sugiere para el momento de repaso teniendo en cuenta que el foco de las clases es la práctica. </a:t>
            </a:r>
            <a:endParaRPr b="1">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52ba13cb37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52ba13cb37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52ba13cb3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52ba13cb3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highlight>
                  <a:srgbClr val="DEFC52"/>
                </a:highlight>
                <a:latin typeface="DM Sans"/>
                <a:ea typeface="DM Sans"/>
                <a:cs typeface="DM Sans"/>
                <a:sym typeface="DM Sans"/>
              </a:rPr>
              <a:t>(OPCIÓN DASH)</a:t>
            </a:r>
            <a:endParaRPr>
              <a:highlight>
                <a:srgbClr val="DEFC52"/>
              </a:highlight>
              <a:latin typeface="DM Sans"/>
              <a:ea typeface="DM Sans"/>
              <a:cs typeface="DM Sans"/>
              <a:sym typeface="DM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5ad24861c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5ad24861c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52ba13cb37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52ba13cb37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Utilizar esta slide para hacer un repaso de visto en el ejemplo en vivo.</a:t>
            </a:r>
            <a:endParaRPr>
              <a:latin typeface="DM Sans"/>
              <a:ea typeface="DM Sans"/>
              <a:cs typeface="DM Sans"/>
              <a:sym typeface="DM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52ba13cb37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52ba13cb37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5449dc17f6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25449dc17f6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52ba13cb37_1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52ba13cb37_1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Utilizar esta slide para hacer un repaso de visto en el ejemplo en vivo.</a:t>
            </a:r>
            <a:endParaRPr>
              <a:latin typeface="DM Sans"/>
              <a:ea typeface="DM Sans"/>
              <a:cs typeface="DM Sans"/>
              <a:sym typeface="DM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52ba13cb37_1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252ba13cb37_1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Actividades individuales. </a:t>
            </a:r>
            <a:r>
              <a:rPr lang="es">
                <a:solidFill>
                  <a:schemeClr val="dk1"/>
                </a:solidFill>
                <a:highlight>
                  <a:srgbClr val="EA90FF"/>
                </a:highlight>
                <a:latin typeface="DM Sans"/>
                <a:ea typeface="DM Sans"/>
                <a:cs typeface="DM Sans"/>
                <a:sym typeface="DM Sans"/>
              </a:rPr>
              <a:t>Profe/tutor</a:t>
            </a:r>
            <a:r>
              <a:rPr lang="es">
                <a:solidFill>
                  <a:schemeClr val="dk1"/>
                </a:solidFill>
                <a:latin typeface="DM Sans"/>
                <a:ea typeface="DM Sans"/>
                <a:cs typeface="DM Sans"/>
                <a:sym typeface="DM Sans"/>
              </a:rPr>
              <a:t>: La duración que se sugiere para que los</a:t>
            </a:r>
            <a:r>
              <a:rPr b="1" lang="es">
                <a:solidFill>
                  <a:schemeClr val="dk1"/>
                </a:solidFill>
                <a:latin typeface="DM Sans"/>
                <a:ea typeface="DM Sans"/>
                <a:cs typeface="DM Sans"/>
                <a:sym typeface="DM Sans"/>
              </a:rPr>
              <a:t> estudiantes realicen la actividad</a:t>
            </a:r>
            <a:r>
              <a:rPr lang="es">
                <a:solidFill>
                  <a:schemeClr val="dk1"/>
                </a:solidFill>
                <a:latin typeface="DM Sans"/>
                <a:ea typeface="DM Sans"/>
                <a:cs typeface="DM Sans"/>
                <a:sym typeface="DM Sans"/>
              </a:rPr>
              <a:t> es de X minutos. A ellos se le suman </a:t>
            </a:r>
            <a:r>
              <a:rPr lang="es" u="sng">
                <a:solidFill>
                  <a:schemeClr val="dk1"/>
                </a:solidFill>
                <a:latin typeface="DM Sans"/>
                <a:ea typeface="DM Sans"/>
                <a:cs typeface="DM Sans"/>
                <a:sym typeface="DM Sans"/>
              </a:rPr>
              <a:t>X </a:t>
            </a:r>
            <a:r>
              <a:rPr lang="es">
                <a:solidFill>
                  <a:schemeClr val="dk1"/>
                </a:solidFill>
                <a:latin typeface="DM Sans"/>
                <a:ea typeface="DM Sans"/>
                <a:cs typeface="DM Sans"/>
                <a:sym typeface="DM Sans"/>
              </a:rPr>
              <a:t>de </a:t>
            </a:r>
            <a:r>
              <a:rPr b="1" lang="es">
                <a:solidFill>
                  <a:schemeClr val="dk1"/>
                </a:solidFill>
                <a:latin typeface="DM Sans"/>
                <a:ea typeface="DM Sans"/>
                <a:cs typeface="DM Sans"/>
                <a:sym typeface="DM Sans"/>
              </a:rPr>
              <a:t>puesta en común</a:t>
            </a:r>
            <a:r>
              <a:rPr lang="es">
                <a:solidFill>
                  <a:schemeClr val="dk1"/>
                </a:solidFill>
                <a:latin typeface="DM Sans"/>
                <a:ea typeface="DM Sans"/>
                <a:cs typeface="DM Sans"/>
                <a:sym typeface="DM Sans"/>
              </a:rPr>
              <a:t>. Por ello, el total dedicado a la actividad completa será de aproximadamente X</a:t>
            </a:r>
            <a:r>
              <a:rPr b="1" lang="es" u="sng">
                <a:solidFill>
                  <a:schemeClr val="dk1"/>
                </a:solidFill>
                <a:latin typeface="DM Sans"/>
                <a:ea typeface="DM Sans"/>
                <a:cs typeface="DM Sans"/>
                <a:sym typeface="DM Sans"/>
              </a:rPr>
              <a:t> minutos.</a:t>
            </a:r>
            <a:endParaRPr>
              <a:latin typeface="DM Sans"/>
              <a:ea typeface="DM Sans"/>
              <a:cs typeface="DM Sans"/>
              <a:sym typeface="DM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52ba13cb37_1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252ba13cb37_1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52ba13cb37_1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52ba13cb37_1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2532aada7ff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2532aada7ff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los módulos más importantes de la clase, donde se introducen conceptos que se ven en varios slides. No hay que usarla para todos los módulos.</a:t>
            </a:r>
            <a:endParaRPr>
              <a:latin typeface="DM Sans"/>
              <a:ea typeface="DM Sans"/>
              <a:cs typeface="DM Sans"/>
              <a:sym typeface="DM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5449dc17f6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25449dc17f6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imagen completa.</a:t>
            </a:r>
            <a:endParaRPr>
              <a:latin typeface="DM Sans"/>
              <a:ea typeface="DM Sans"/>
              <a:cs typeface="DM Sans"/>
              <a:sym typeface="DM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5449dc17f6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25449dc17f6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2532aada7ff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2532aada7ff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2532aada7ff_0_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2532aada7ff_0_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Utilizar esta slide para hacer un repaso de visto en el ejemplo en vivo.</a:t>
            </a:r>
            <a:endParaRPr>
              <a:latin typeface="DM Sans"/>
              <a:ea typeface="DM Sans"/>
              <a:cs typeface="DM Sans"/>
              <a:sym typeface="DM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252ba13cb37_1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252ba13cb37_1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2532aada7ff_0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2532aada7ff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los módulos más importantes de la clase, donde se introducen conceptos que se ven en varios slides. No hay que usarla para todos los módulos.</a:t>
            </a:r>
            <a:endParaRPr>
              <a:latin typeface="DM Sans"/>
              <a:ea typeface="DM Sans"/>
              <a:cs typeface="DM Sans"/>
              <a:sym typeface="DM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52ba13cb37_1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252ba13cb37_1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400">
                <a:highlight>
                  <a:srgbClr val="EAFF6A"/>
                </a:highlight>
              </a:rPr>
              <a:t>Para profes/ tutores</a:t>
            </a:r>
            <a:r>
              <a:rPr lang="es" sz="1400"/>
              <a:t>: dejamos a su criterio qué ejemplos usa. En base a cómo vean la comisión y nivel, seleccionen los ejemplos que considern para utilizar las tecnicas de renderizado que se vieron. </a:t>
            </a:r>
            <a:endParaRPr sz="140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2532aada7ff_0_5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2532aada7ff_0_5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Actividades individuales. </a:t>
            </a:r>
            <a:r>
              <a:rPr lang="es">
                <a:solidFill>
                  <a:schemeClr val="dk1"/>
                </a:solidFill>
                <a:highlight>
                  <a:srgbClr val="EA90FF"/>
                </a:highlight>
                <a:latin typeface="DM Sans"/>
                <a:ea typeface="DM Sans"/>
                <a:cs typeface="DM Sans"/>
                <a:sym typeface="DM Sans"/>
              </a:rPr>
              <a:t>Profe/tutor</a:t>
            </a:r>
            <a:r>
              <a:rPr lang="es">
                <a:solidFill>
                  <a:schemeClr val="dk1"/>
                </a:solidFill>
                <a:latin typeface="DM Sans"/>
                <a:ea typeface="DM Sans"/>
                <a:cs typeface="DM Sans"/>
                <a:sym typeface="DM Sans"/>
              </a:rPr>
              <a:t>: La duración que se sugiere para que los</a:t>
            </a:r>
            <a:r>
              <a:rPr b="1" lang="es">
                <a:solidFill>
                  <a:schemeClr val="dk1"/>
                </a:solidFill>
                <a:latin typeface="DM Sans"/>
                <a:ea typeface="DM Sans"/>
                <a:cs typeface="DM Sans"/>
                <a:sym typeface="DM Sans"/>
              </a:rPr>
              <a:t> estudiantes realicen la actividad</a:t>
            </a:r>
            <a:r>
              <a:rPr lang="es">
                <a:solidFill>
                  <a:schemeClr val="dk1"/>
                </a:solidFill>
                <a:latin typeface="DM Sans"/>
                <a:ea typeface="DM Sans"/>
                <a:cs typeface="DM Sans"/>
                <a:sym typeface="DM Sans"/>
              </a:rPr>
              <a:t> es de X minutos. A ellos se le suman </a:t>
            </a:r>
            <a:r>
              <a:rPr lang="es" u="sng">
                <a:solidFill>
                  <a:schemeClr val="dk1"/>
                </a:solidFill>
                <a:latin typeface="DM Sans"/>
                <a:ea typeface="DM Sans"/>
                <a:cs typeface="DM Sans"/>
                <a:sym typeface="DM Sans"/>
              </a:rPr>
              <a:t>X </a:t>
            </a:r>
            <a:r>
              <a:rPr lang="es">
                <a:solidFill>
                  <a:schemeClr val="dk1"/>
                </a:solidFill>
                <a:latin typeface="DM Sans"/>
                <a:ea typeface="DM Sans"/>
                <a:cs typeface="DM Sans"/>
                <a:sym typeface="DM Sans"/>
              </a:rPr>
              <a:t>de </a:t>
            </a:r>
            <a:r>
              <a:rPr b="1" lang="es">
                <a:solidFill>
                  <a:schemeClr val="dk1"/>
                </a:solidFill>
                <a:latin typeface="DM Sans"/>
                <a:ea typeface="DM Sans"/>
                <a:cs typeface="DM Sans"/>
                <a:sym typeface="DM Sans"/>
              </a:rPr>
              <a:t>puesta en común</a:t>
            </a:r>
            <a:r>
              <a:rPr lang="es">
                <a:solidFill>
                  <a:schemeClr val="dk1"/>
                </a:solidFill>
                <a:latin typeface="DM Sans"/>
                <a:ea typeface="DM Sans"/>
                <a:cs typeface="DM Sans"/>
                <a:sym typeface="DM Sans"/>
              </a:rPr>
              <a:t>. Por ello, el total dedicado a la actividad completa será de aproximadamente X</a:t>
            </a:r>
            <a:r>
              <a:rPr b="1" lang="es" u="sng">
                <a:solidFill>
                  <a:schemeClr val="dk1"/>
                </a:solidFill>
                <a:latin typeface="DM Sans"/>
                <a:ea typeface="DM Sans"/>
                <a:cs typeface="DM Sans"/>
                <a:sym typeface="DM Sans"/>
              </a:rPr>
              <a:t> minutos.</a:t>
            </a:r>
            <a:endParaRPr>
              <a:latin typeface="DM Sans"/>
              <a:ea typeface="DM Sans"/>
              <a:cs typeface="DM Sans"/>
              <a:sym typeface="DM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2532aada7ff_0_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2532aada7ff_0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a:solidFill>
                  <a:schemeClr val="dk1"/>
                </a:solidFill>
                <a:highlight>
                  <a:srgbClr val="DEFC52"/>
                </a:highlight>
                <a:latin typeface="DM Sans"/>
                <a:ea typeface="DM Sans"/>
                <a:cs typeface="DM Sans"/>
                <a:sym typeface="DM Sans"/>
              </a:rPr>
              <a:t>PARA PROFES/TUTORES:</a:t>
            </a:r>
            <a:r>
              <a:rPr b="1" lang="es">
                <a:solidFill>
                  <a:schemeClr val="dk1"/>
                </a:solidFill>
                <a:latin typeface="DM Sans"/>
                <a:ea typeface="DM Sans"/>
                <a:cs typeface="DM Sans"/>
                <a:sym typeface="DM Sans"/>
              </a:rPr>
              <a:t> </a:t>
            </a:r>
            <a:r>
              <a:rPr lang="es">
                <a:solidFill>
                  <a:schemeClr val="dk1"/>
                </a:solidFill>
                <a:latin typeface="DM Sans"/>
                <a:ea typeface="DM Sans"/>
                <a:cs typeface="DM Sans"/>
                <a:sym typeface="DM Sans"/>
              </a:rPr>
              <a:t>para esta actividad deben retomar lo trabajado en la actividad extra Clase 6 - actividad 2 de la guía de ejercicios complementarios para poder hacerlo en el tiempo establecido. No hacerlo desde cero.</a:t>
            </a:r>
            <a:endParaRPr>
              <a:latin typeface="DM Sans"/>
              <a:ea typeface="DM Sans"/>
              <a:cs typeface="DM Sans"/>
              <a:sym typeface="DM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2532d6354c3_1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2532d6354c3_1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13ad191e9b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13ad191e9b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highlight>
                  <a:srgbClr val="EA90FF"/>
                </a:highlight>
                <a:latin typeface="DM Sans"/>
                <a:ea typeface="DM Sans"/>
                <a:cs typeface="DM Sans"/>
                <a:sym typeface="DM Sans"/>
              </a:rPr>
              <a:t>(Probar si se puede hacer con Kahoot y de lo contrario que hagan preguntas activando micrófono o por chat).</a:t>
            </a:r>
            <a:endParaRPr>
              <a:highlight>
                <a:srgbClr val="EA90FF"/>
              </a:highlight>
              <a:latin typeface="DM Sans"/>
              <a:ea typeface="DM Sans"/>
              <a:cs typeface="DM Sans"/>
              <a:sym typeface="DM Sa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5afd0db0c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8" name="Google Shape;448;g25afd0db0c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50">
                <a:solidFill>
                  <a:schemeClr val="dk1"/>
                </a:solidFill>
                <a:highlight>
                  <a:srgbClr val="E0FF00"/>
                </a:highlight>
                <a:latin typeface="Helvetica Neue"/>
                <a:ea typeface="Helvetica Neue"/>
                <a:cs typeface="Helvetica Neue"/>
                <a:sym typeface="Helvetica Neue"/>
              </a:rPr>
              <a:t>Para profes/tutores:</a:t>
            </a:r>
            <a:r>
              <a:rPr lang="es" sz="1250">
                <a:solidFill>
                  <a:schemeClr val="dk1"/>
                </a:solidFill>
                <a:latin typeface="Helvetica Neue"/>
                <a:ea typeface="Helvetica Neue"/>
                <a:cs typeface="Helvetica Neue"/>
                <a:sym typeface="Helvetica Neue"/>
              </a:rPr>
              <a:t> Si bien las actividades recomendadas no son obligatorias ni reciben corrección, corresponden a ejercicios que aportan a la construcción de las pre entregas y Proyecto Final. En caso de que den los tiempos, les sugerimos que ingresen a la Guía y lean en conjunto las consignas.</a:t>
            </a:r>
            <a:endParaRPr sz="125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25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13bbc910f27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13bbc910f27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Obligatoria siempre. Completar el resumen con palabras claves de lo visto. En caso de cerrar con el “mapa de conceptos” se puede sacar. </a:t>
            </a:r>
            <a:endParaRPr>
              <a:latin typeface="DM Sans"/>
              <a:ea typeface="DM Sans"/>
              <a:cs typeface="DM Sans"/>
              <a:sym typeface="DM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13bbc910f27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13bbc910f27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Obligatoria siempre.</a:t>
            </a:r>
            <a:endParaRPr>
              <a:latin typeface="DM Sans"/>
              <a:ea typeface="DM Sans"/>
              <a:cs typeface="DM Sans"/>
              <a:sym typeface="DM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13bbc910f27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13bbc910f27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Todas las clases</a:t>
            </a:r>
            <a:endParaRPr>
              <a:latin typeface="DM Sans"/>
              <a:ea typeface="DM Sans"/>
              <a:cs typeface="DM Sans"/>
              <a:sym typeface="DM San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co 1"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Font typeface="DM Sans"/>
              <a:buNone/>
              <a:defRPr b="1" sz="4000">
                <a:latin typeface="DM Sans"/>
                <a:ea typeface="DM Sans"/>
                <a:cs typeface="DM Sans"/>
                <a:sym typeface="DM Sans"/>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000"/>
              <a:buFont typeface="Helvetica Neue Light"/>
              <a:buNone/>
              <a:defRPr sz="2000">
                <a:latin typeface="Helvetica Neue Light"/>
                <a:ea typeface="Helvetica Neue Light"/>
                <a:cs typeface="Helvetica Neue Light"/>
                <a:sym typeface="Helvetica Neue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2" name="Google Shape;12;p2" title="logo CoderHouse"/>
          <p:cNvPicPr preferRelativeResize="0"/>
          <p:nvPr/>
        </p:nvPicPr>
        <p:blipFill>
          <a:blip r:embed="rId2">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B">
  <p:cSld name="SECTION_HEADER_1">
    <p:bg>
      <p:bgPr>
        <a:blipFill>
          <a:blip r:embed="rId2">
            <a:alphaModFix/>
          </a:blip>
          <a:stretch>
            <a:fillRect/>
          </a:stretch>
        </a:blipFill>
      </p:bgPr>
    </p:bg>
    <p:spTree>
      <p:nvGrpSpPr>
        <p:cNvPr id="13" name="Shape 13"/>
        <p:cNvGrpSpPr/>
        <p:nvPr/>
      </p:nvGrpSpPr>
      <p:grpSpPr>
        <a:xfrm>
          <a:off x="0" y="0"/>
          <a:ext cx="0" cy="0"/>
          <a:chOff x="0" y="0"/>
          <a:chExt cx="0" cy="0"/>
        </a:xfrm>
      </p:grpSpPr>
      <p:pic>
        <p:nvPicPr>
          <p:cNvPr id="14" name="Google Shape;14;p3" title="logo coderhouse"/>
          <p:cNvPicPr preferRelativeResize="0"/>
          <p:nvPr/>
        </p:nvPicPr>
        <p:blipFill>
          <a:blip r:embed="rId3">
            <a:alphaModFix/>
          </a:blip>
          <a:stretch>
            <a:fillRect/>
          </a:stretch>
        </p:blipFill>
        <p:spPr>
          <a:xfrm>
            <a:off x="7874775" y="4720250"/>
            <a:ext cx="1024025" cy="2116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A">
  <p:cSld name="SECTION_HEADER_1_1">
    <p:bg>
      <p:bgPr>
        <a:blipFill>
          <a:blip r:embed="rId2">
            <a:alphaModFix/>
          </a:blip>
          <a:stretch>
            <a:fillRect/>
          </a:stretch>
        </a:blipFill>
      </p:bgPr>
    </p:bg>
    <p:spTree>
      <p:nvGrpSpPr>
        <p:cNvPr id="15" name="Shape 15"/>
        <p:cNvGrpSpPr/>
        <p:nvPr/>
      </p:nvGrpSpPr>
      <p:grpSpPr>
        <a:xfrm>
          <a:off x="0" y="0"/>
          <a:ext cx="0" cy="0"/>
          <a:chOff x="0" y="0"/>
          <a:chExt cx="0" cy="0"/>
        </a:xfrm>
      </p:grpSpPr>
      <p:pic>
        <p:nvPicPr>
          <p:cNvPr id="16" name="Google Shape;16;p4"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17" name="Google Shape;17;p4"/>
          <p:cNvSpPr/>
          <p:nvPr/>
        </p:nvSpPr>
        <p:spPr>
          <a:xfrm>
            <a:off x="1089900" y="995400"/>
            <a:ext cx="6964200" cy="3152700"/>
          </a:xfrm>
          <a:prstGeom prst="rect">
            <a:avLst/>
          </a:prstGeom>
          <a:solidFill>
            <a:srgbClr val="B5B5B5">
              <a:alpha val="10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A 1">
  <p:cSld name="SECTION_HEADER_1_1_1">
    <p:bg>
      <p:bgPr>
        <a:blipFill>
          <a:blip r:embed="rId2">
            <a:alphaModFix/>
          </a:blip>
          <a:stretch>
            <a:fillRect/>
          </a:stretch>
        </a:blipFill>
      </p:bgPr>
    </p:bg>
    <p:spTree>
      <p:nvGrpSpPr>
        <p:cNvPr id="18" name="Shape 18"/>
        <p:cNvGrpSpPr/>
        <p:nvPr/>
      </p:nvGrpSpPr>
      <p:grpSpPr>
        <a:xfrm>
          <a:off x="0" y="0"/>
          <a:ext cx="0" cy="0"/>
          <a:chOff x="0" y="0"/>
          <a:chExt cx="0" cy="0"/>
        </a:xfrm>
      </p:grpSpPr>
      <p:pic>
        <p:nvPicPr>
          <p:cNvPr id="19" name="Google Shape;19;p5"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adro">
  <p:cSld name="SECTION_HEADER_1_1_1_1_1_1">
    <p:bg>
      <p:bgPr>
        <a:blipFill>
          <a:blip r:embed="rId2">
            <a:alphaModFix/>
          </a:blip>
          <a:stretch>
            <a:fillRect/>
          </a:stretch>
        </a:blipFill>
      </p:bgPr>
    </p:bg>
    <p:spTree>
      <p:nvGrpSpPr>
        <p:cNvPr id="20" name="Shape 20"/>
        <p:cNvGrpSpPr/>
        <p:nvPr/>
      </p:nvGrpSpPr>
      <p:grpSpPr>
        <a:xfrm>
          <a:off x="0" y="0"/>
          <a:ext cx="0" cy="0"/>
          <a:chOff x="0" y="0"/>
          <a:chExt cx="0" cy="0"/>
        </a:xfrm>
      </p:grpSpPr>
      <p:pic>
        <p:nvPicPr>
          <p:cNvPr id="21" name="Google Shape;21;p6"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 imagen">
  <p:cSld name="SECTION_HEADER_1_1_1_1_1_1_1">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7"/>
          <p:cNvSpPr/>
          <p:nvPr/>
        </p:nvSpPr>
        <p:spPr>
          <a:xfrm>
            <a:off x="6592475" y="0"/>
            <a:ext cx="2551500" cy="5143500"/>
          </a:xfrm>
          <a:prstGeom prst="rect">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 name="Google Shape;24;p7"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blanco">
  <p:cSld name="SECTION_HEADER_1_1_1_1_1_1_1_1">
    <p:spTree>
      <p:nvGrpSpPr>
        <p:cNvPr id="25" name="Shape 25"/>
        <p:cNvGrpSpPr/>
        <p:nvPr/>
      </p:nvGrpSpPr>
      <p:grpSpPr>
        <a:xfrm>
          <a:off x="0" y="0"/>
          <a:ext cx="0" cy="0"/>
          <a:chOff x="0" y="0"/>
          <a:chExt cx="0" cy="0"/>
        </a:xfrm>
      </p:grpSpPr>
      <p:pic>
        <p:nvPicPr>
          <p:cNvPr id="26" name="Google Shape;26;p8" title="logo coderhouse"/>
          <p:cNvPicPr preferRelativeResize="0"/>
          <p:nvPr/>
        </p:nvPicPr>
        <p:blipFill>
          <a:blip r:embed="rId2">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B">
  <p:cSld name="SECTION_HEADER_1_1_1_1_1_1_1_1_1">
    <p:bg>
      <p:bgPr>
        <a:blipFill>
          <a:blip r:embed="rId2">
            <a:alphaModFix/>
          </a:blip>
          <a:stretch>
            <a:fillRect/>
          </a:stretch>
        </a:blipFill>
      </p:bgPr>
    </p:bg>
    <p:spTree>
      <p:nvGrpSpPr>
        <p:cNvPr id="27" name="Shape 27"/>
        <p:cNvGrpSpPr/>
        <p:nvPr/>
      </p:nvGrpSpPr>
      <p:grpSpPr>
        <a:xfrm>
          <a:off x="0" y="0"/>
          <a:ext cx="0" cy="0"/>
          <a:chOff x="0" y="0"/>
          <a:chExt cx="0" cy="0"/>
        </a:xfrm>
      </p:grpSpPr>
      <p:pic>
        <p:nvPicPr>
          <p:cNvPr id="28" name="Google Shape;28;p9"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A">
  <p:cSld name="SECTION_HEADER_1_1_1_1_1_1_1_1_1_1">
    <p:bg>
      <p:bgPr>
        <a:blipFill>
          <a:blip r:embed="rId2">
            <a:alphaModFix/>
          </a:blip>
          <a:stretch>
            <a:fillRect/>
          </a:stretch>
        </a:blipFill>
      </p:bgPr>
    </p:bg>
    <p:spTree>
      <p:nvGrpSpPr>
        <p:cNvPr id="29" name="Shape 29"/>
        <p:cNvGrpSpPr/>
        <p:nvPr/>
      </p:nvGrpSpPr>
      <p:grpSpPr>
        <a:xfrm>
          <a:off x="0" y="0"/>
          <a:ext cx="0" cy="0"/>
          <a:chOff x="0" y="0"/>
          <a:chExt cx="0" cy="0"/>
        </a:xfrm>
      </p:grpSpPr>
      <p:pic>
        <p:nvPicPr>
          <p:cNvPr id="30" name="Google Shape;30;p10"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B 5">
  <p:cSld name="SECTION_HEADER_1_1_1_1_1_1_1_1_1_8">
    <p:bg>
      <p:bgPr>
        <a:blipFill>
          <a:blip r:embed="rId2">
            <a:alphaModFix/>
          </a:blip>
          <a:stretch>
            <a:fillRect/>
          </a:stretch>
        </a:blipFill>
      </p:bgPr>
    </p:bg>
    <p:spTree>
      <p:nvGrpSpPr>
        <p:cNvPr id="31" name="Shape 31"/>
        <p:cNvGrpSpPr/>
        <p:nvPr/>
      </p:nvGrpSpPr>
      <p:grpSpPr>
        <a:xfrm>
          <a:off x="0" y="0"/>
          <a:ext cx="0" cy="0"/>
          <a:chOff x="0" y="0"/>
          <a:chExt cx="0" cy="0"/>
        </a:xfrm>
      </p:grpSpPr>
      <p:pic>
        <p:nvPicPr>
          <p:cNvPr id="32" name="Google Shape;32;p11"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B 1">
  <p:cSld name="SECTION_HEADER_1_2">
    <p:spTree>
      <p:nvGrpSpPr>
        <p:cNvPr id="33" name="Shape 33"/>
        <p:cNvGrpSpPr/>
        <p:nvPr/>
      </p:nvGrpSpPr>
      <p:grpSpPr>
        <a:xfrm>
          <a:off x="0" y="0"/>
          <a:ext cx="0" cy="0"/>
          <a:chOff x="0" y="0"/>
          <a:chExt cx="0" cy="0"/>
        </a:xfrm>
      </p:grpSpPr>
      <p:pic>
        <p:nvPicPr>
          <p:cNvPr id="34" name="Google Shape;34;p12" title="logo coderhouse"/>
          <p:cNvPicPr preferRelativeResize="0"/>
          <p:nvPr/>
        </p:nvPicPr>
        <p:blipFill>
          <a:blip r:embed="rId2">
            <a:alphaModFix/>
          </a:blip>
          <a:stretch>
            <a:fillRect/>
          </a:stretch>
        </p:blipFill>
        <p:spPr>
          <a:xfrm>
            <a:off x="7874775" y="4720250"/>
            <a:ext cx="1024025" cy="21162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B 1">
  <p:cSld name="SECTION_HEADER_1_1_1_1_1_1_1_1_1_3">
    <p:bg>
      <p:bgPr>
        <a:blipFill>
          <a:blip r:embed="rId2">
            <a:alphaModFix/>
          </a:blip>
          <a:stretch>
            <a:fillRect/>
          </a:stretch>
        </a:blipFill>
      </p:bgPr>
    </p:bg>
    <p:spTree>
      <p:nvGrpSpPr>
        <p:cNvPr id="35" name="Shape 35"/>
        <p:cNvGrpSpPr/>
        <p:nvPr/>
      </p:nvGrpSpPr>
      <p:grpSpPr>
        <a:xfrm>
          <a:off x="0" y="0"/>
          <a:ext cx="0" cy="0"/>
          <a:chOff x="0" y="0"/>
          <a:chExt cx="0" cy="0"/>
        </a:xfrm>
      </p:grpSpPr>
      <p:pic>
        <p:nvPicPr>
          <p:cNvPr id="36" name="Google Shape;36;p13"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hyperlink" Target="https://stackblitz.com/edit/stackblitz-starters-fh3qmx?file=src%2FApp.js" TargetMode="External"/><Relationship Id="rId6" Type="http://schemas.openxmlformats.org/officeDocument/2006/relationships/hyperlink" Target="http://drive.google.com/file/d/1BUdLHtzeK6skQudq_WG_HKEEtBjmQ-M0/view" TargetMode="External"/><Relationship Id="rId7"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2.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3.png"/><Relationship Id="rId4" Type="http://schemas.openxmlformats.org/officeDocument/2006/relationships/image" Target="../media/image8.png"/><Relationship Id="rId5"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5.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hyperlink" Target="https://stackblitz.com/"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8.png"/><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4.xml"/><Relationship Id="rId3" Type="http://schemas.openxmlformats.org/officeDocument/2006/relationships/hyperlink" Target="https://docs.google.com/presentation/d/1QPPbESR68PrQwlPRNlR9brRPZ-0K8sLJWvPsvfLoix8/edit?usp=sharing" TargetMode="External"/><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14"/>
          <p:cNvSpPr/>
          <p:nvPr/>
        </p:nvSpPr>
        <p:spPr>
          <a:xfrm>
            <a:off x="3080700" y="2547525"/>
            <a:ext cx="2982600" cy="7938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4"/>
          <p:cNvSpPr txBox="1"/>
          <p:nvPr/>
        </p:nvSpPr>
        <p:spPr>
          <a:xfrm>
            <a:off x="1461300" y="1802163"/>
            <a:ext cx="62214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chemeClr val="lt1"/>
                </a:solidFill>
                <a:latin typeface="DM Sans"/>
                <a:ea typeface="DM Sans"/>
                <a:cs typeface="DM Sans"/>
                <a:sym typeface="DM Sans"/>
              </a:rPr>
              <a:t>Esta clase va a ser</a:t>
            </a:r>
            <a:endParaRPr b="1" sz="4000">
              <a:solidFill>
                <a:srgbClr val="DEFC52"/>
              </a:solidFill>
              <a:latin typeface="DM Sans"/>
              <a:ea typeface="DM Sans"/>
              <a:cs typeface="DM Sans"/>
              <a:sym typeface="DM Sans"/>
            </a:endParaRPr>
          </a:p>
        </p:txBody>
      </p:sp>
      <p:sp>
        <p:nvSpPr>
          <p:cNvPr id="43" name="Google Shape;43;p14"/>
          <p:cNvSpPr txBox="1"/>
          <p:nvPr/>
        </p:nvSpPr>
        <p:spPr>
          <a:xfrm>
            <a:off x="3655975" y="2541075"/>
            <a:ext cx="25062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rgbClr val="EAFF6A"/>
                </a:solidFill>
                <a:latin typeface="DM Sans"/>
                <a:ea typeface="DM Sans"/>
                <a:cs typeface="DM Sans"/>
                <a:sym typeface="DM Sans"/>
              </a:rPr>
              <a:t>grabada</a:t>
            </a:r>
            <a:endParaRPr b="1" sz="4000">
              <a:solidFill>
                <a:srgbClr val="EAFF6A"/>
              </a:solidFill>
              <a:latin typeface="DM Sans"/>
              <a:ea typeface="DM Sans"/>
              <a:cs typeface="DM Sans"/>
              <a:sym typeface="DM Sans"/>
            </a:endParaRPr>
          </a:p>
        </p:txBody>
      </p:sp>
      <p:sp>
        <p:nvSpPr>
          <p:cNvPr id="44" name="Google Shape;44;p14"/>
          <p:cNvSpPr/>
          <p:nvPr/>
        </p:nvSpPr>
        <p:spPr>
          <a:xfrm>
            <a:off x="3293875" y="2844525"/>
            <a:ext cx="199800" cy="199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 name="Google Shape;45;p14"/>
          <p:cNvPicPr preferRelativeResize="0"/>
          <p:nvPr/>
        </p:nvPicPr>
        <p:blipFill>
          <a:blip r:embed="rId3">
            <a:alphaModFix/>
          </a:blip>
          <a:stretch>
            <a:fillRect/>
          </a:stretch>
        </p:blipFill>
        <p:spPr>
          <a:xfrm>
            <a:off x="2605100" y="3654844"/>
            <a:ext cx="3933794" cy="1624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5"/>
          <p:cNvSpPr txBox="1"/>
          <p:nvPr/>
        </p:nvSpPr>
        <p:spPr>
          <a:xfrm>
            <a:off x="1185025" y="2252975"/>
            <a:ext cx="67731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rgbClr val="EAFF6A"/>
                </a:solidFill>
                <a:latin typeface="DM Sans"/>
                <a:ea typeface="DM Sans"/>
                <a:cs typeface="DM Sans"/>
                <a:sym typeface="DM Sans"/>
              </a:rPr>
              <a:t>Context API en React</a:t>
            </a:r>
            <a:endParaRPr b="1" sz="4000">
              <a:solidFill>
                <a:srgbClr val="EAFF6A"/>
              </a:solidFill>
              <a:latin typeface="DM Sans"/>
              <a:ea typeface="DM Sans"/>
              <a:cs typeface="DM Sans"/>
              <a:sym typeface="DM Sans"/>
            </a:endParaRPr>
          </a:p>
        </p:txBody>
      </p:sp>
      <p:sp>
        <p:nvSpPr>
          <p:cNvPr id="51" name="Google Shape;51;p15"/>
          <p:cNvSpPr txBox="1"/>
          <p:nvPr/>
        </p:nvSpPr>
        <p:spPr>
          <a:xfrm>
            <a:off x="1461300" y="1665250"/>
            <a:ext cx="6221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1800">
                <a:solidFill>
                  <a:schemeClr val="lt1"/>
                </a:solidFill>
                <a:latin typeface="DM Sans"/>
                <a:ea typeface="DM Sans"/>
                <a:cs typeface="DM Sans"/>
                <a:sym typeface="DM Sans"/>
              </a:rPr>
              <a:t>Unidad 6</a:t>
            </a:r>
            <a:r>
              <a:rPr b="1" lang="es" sz="1800">
                <a:solidFill>
                  <a:schemeClr val="lt1"/>
                </a:solidFill>
                <a:latin typeface="DM Sans"/>
                <a:ea typeface="DM Sans"/>
                <a:cs typeface="DM Sans"/>
                <a:sym typeface="DM Sans"/>
              </a:rPr>
              <a:t>.</a:t>
            </a:r>
            <a:r>
              <a:rPr lang="es" sz="1800">
                <a:solidFill>
                  <a:schemeClr val="lt1"/>
                </a:solidFill>
                <a:latin typeface="DM Sans"/>
                <a:ea typeface="DM Sans"/>
                <a:cs typeface="DM Sans"/>
                <a:sym typeface="DM Sans"/>
              </a:rPr>
              <a:t> REACT JS</a:t>
            </a:r>
            <a:endParaRPr sz="1600">
              <a:solidFill>
                <a:schemeClr val="lt1"/>
              </a:solidFill>
              <a:latin typeface="DM Sans"/>
              <a:ea typeface="DM Sans"/>
              <a:cs typeface="DM Sans"/>
              <a:sym typeface="DM Sans"/>
            </a:endParaRPr>
          </a:p>
        </p:txBody>
      </p:sp>
      <p:pic>
        <p:nvPicPr>
          <p:cNvPr id="52" name="Google Shape;52;p15"/>
          <p:cNvPicPr preferRelativeResize="0"/>
          <p:nvPr/>
        </p:nvPicPr>
        <p:blipFill>
          <a:blip r:embed="rId3">
            <a:alphaModFix/>
          </a:blip>
          <a:stretch>
            <a:fillRect/>
          </a:stretch>
        </p:blipFill>
        <p:spPr>
          <a:xfrm>
            <a:off x="2605100" y="3654844"/>
            <a:ext cx="3933794" cy="1624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6"/>
          <p:cNvSpPr txBox="1"/>
          <p:nvPr/>
        </p:nvSpPr>
        <p:spPr>
          <a:xfrm>
            <a:off x="501450" y="468275"/>
            <a:ext cx="81411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000">
                <a:solidFill>
                  <a:srgbClr val="EAFF6A"/>
                </a:solidFill>
                <a:latin typeface="DM Sans"/>
                <a:ea typeface="DM Sans"/>
                <a:cs typeface="DM Sans"/>
                <a:sym typeface="DM Sans"/>
              </a:rPr>
              <a:t>Objetivos de la clase</a:t>
            </a:r>
            <a:r>
              <a:rPr b="1" lang="es" sz="3000">
                <a:solidFill>
                  <a:srgbClr val="EAFF6A"/>
                </a:solidFill>
                <a:latin typeface="DM Sans"/>
                <a:ea typeface="DM Sans"/>
                <a:cs typeface="DM Sans"/>
                <a:sym typeface="DM Sans"/>
              </a:rPr>
              <a:t> </a:t>
            </a:r>
            <a:endParaRPr b="1" sz="3000">
              <a:solidFill>
                <a:srgbClr val="EAFF6A"/>
              </a:solidFill>
              <a:latin typeface="DM Sans"/>
              <a:ea typeface="DM Sans"/>
              <a:cs typeface="DM Sans"/>
              <a:sym typeface="DM Sans"/>
            </a:endParaRPr>
          </a:p>
        </p:txBody>
      </p:sp>
      <p:pic>
        <p:nvPicPr>
          <p:cNvPr id="58" name="Google Shape;58;p16"/>
          <p:cNvPicPr preferRelativeResize="0"/>
          <p:nvPr/>
        </p:nvPicPr>
        <p:blipFill>
          <a:blip r:embed="rId3">
            <a:alphaModFix/>
          </a:blip>
          <a:stretch>
            <a:fillRect/>
          </a:stretch>
        </p:blipFill>
        <p:spPr>
          <a:xfrm>
            <a:off x="2172438" y="1545313"/>
            <a:ext cx="196975" cy="196975"/>
          </a:xfrm>
          <a:prstGeom prst="rect">
            <a:avLst/>
          </a:prstGeom>
          <a:noFill/>
          <a:ln>
            <a:noFill/>
          </a:ln>
        </p:spPr>
      </p:pic>
      <p:sp>
        <p:nvSpPr>
          <p:cNvPr id="59" name="Google Shape;59;p16"/>
          <p:cNvSpPr txBox="1"/>
          <p:nvPr/>
        </p:nvSpPr>
        <p:spPr>
          <a:xfrm>
            <a:off x="2690561" y="1451613"/>
            <a:ext cx="4281300" cy="631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1350">
                <a:solidFill>
                  <a:schemeClr val="lt1"/>
                </a:solidFill>
                <a:latin typeface="DM Sans"/>
                <a:ea typeface="DM Sans"/>
                <a:cs typeface="DM Sans"/>
                <a:sym typeface="DM Sans"/>
              </a:rPr>
              <a:t>Organizar </a:t>
            </a:r>
            <a:r>
              <a:rPr lang="es" sz="1350">
                <a:solidFill>
                  <a:schemeClr val="lt1"/>
                </a:solidFill>
                <a:latin typeface="DM Sans"/>
                <a:ea typeface="DM Sans"/>
                <a:cs typeface="DM Sans"/>
                <a:sym typeface="DM Sans"/>
              </a:rPr>
              <a:t>los eventos aplicativos de nuestros proyectos.</a:t>
            </a:r>
            <a:endParaRPr sz="1350">
              <a:solidFill>
                <a:schemeClr val="lt1"/>
              </a:solidFill>
              <a:latin typeface="DM Sans"/>
              <a:ea typeface="DM Sans"/>
              <a:cs typeface="DM Sans"/>
              <a:sym typeface="DM Sans"/>
            </a:endParaRPr>
          </a:p>
        </p:txBody>
      </p:sp>
      <p:pic>
        <p:nvPicPr>
          <p:cNvPr id="60" name="Google Shape;60;p16"/>
          <p:cNvPicPr preferRelativeResize="0"/>
          <p:nvPr/>
        </p:nvPicPr>
        <p:blipFill>
          <a:blip r:embed="rId3">
            <a:alphaModFix/>
          </a:blip>
          <a:stretch>
            <a:fillRect/>
          </a:stretch>
        </p:blipFill>
        <p:spPr>
          <a:xfrm>
            <a:off x="2172138" y="2178713"/>
            <a:ext cx="196975" cy="196975"/>
          </a:xfrm>
          <a:prstGeom prst="rect">
            <a:avLst/>
          </a:prstGeom>
          <a:noFill/>
          <a:ln>
            <a:noFill/>
          </a:ln>
        </p:spPr>
      </p:pic>
      <p:sp>
        <p:nvSpPr>
          <p:cNvPr id="61" name="Google Shape;61;p16"/>
          <p:cNvSpPr txBox="1"/>
          <p:nvPr/>
        </p:nvSpPr>
        <p:spPr>
          <a:xfrm>
            <a:off x="2690561" y="2054738"/>
            <a:ext cx="4281300" cy="631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s" sz="1350">
                <a:solidFill>
                  <a:schemeClr val="lt1"/>
                </a:solidFill>
                <a:latin typeface="DM Sans"/>
                <a:ea typeface="DM Sans"/>
                <a:cs typeface="DM Sans"/>
                <a:sym typeface="DM Sans"/>
              </a:rPr>
              <a:t>Crear </a:t>
            </a:r>
            <a:r>
              <a:rPr lang="es" sz="1350">
                <a:solidFill>
                  <a:schemeClr val="lt1"/>
                </a:solidFill>
                <a:latin typeface="DM Sans"/>
                <a:ea typeface="DM Sans"/>
                <a:cs typeface="DM Sans"/>
                <a:sym typeface="DM Sans"/>
              </a:rPr>
              <a:t>interacciones persistentes entre componentes.</a:t>
            </a:r>
            <a:endParaRPr sz="1350">
              <a:solidFill>
                <a:schemeClr val="lt1"/>
              </a:solidFill>
              <a:latin typeface="DM Sans"/>
              <a:ea typeface="DM Sans"/>
              <a:cs typeface="DM Sans"/>
              <a:sym typeface="DM Sans"/>
            </a:endParaRPr>
          </a:p>
        </p:txBody>
      </p:sp>
      <p:pic>
        <p:nvPicPr>
          <p:cNvPr id="62" name="Google Shape;62;p16"/>
          <p:cNvPicPr preferRelativeResize="0"/>
          <p:nvPr/>
        </p:nvPicPr>
        <p:blipFill>
          <a:blip r:embed="rId3">
            <a:alphaModFix/>
          </a:blip>
          <a:stretch>
            <a:fillRect/>
          </a:stretch>
        </p:blipFill>
        <p:spPr>
          <a:xfrm>
            <a:off x="2172138" y="2832688"/>
            <a:ext cx="196975" cy="196975"/>
          </a:xfrm>
          <a:prstGeom prst="rect">
            <a:avLst/>
          </a:prstGeom>
          <a:noFill/>
          <a:ln>
            <a:noFill/>
          </a:ln>
        </p:spPr>
      </p:pic>
      <p:sp>
        <p:nvSpPr>
          <p:cNvPr id="63" name="Google Shape;63;p16"/>
          <p:cNvSpPr txBox="1"/>
          <p:nvPr/>
        </p:nvSpPr>
        <p:spPr>
          <a:xfrm>
            <a:off x="2690561" y="2734963"/>
            <a:ext cx="4281300" cy="39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s" sz="1350">
                <a:solidFill>
                  <a:schemeClr val="lt1"/>
                </a:solidFill>
                <a:latin typeface="DM Sans"/>
                <a:ea typeface="DM Sans"/>
                <a:cs typeface="DM Sans"/>
                <a:sym typeface="DM Sans"/>
              </a:rPr>
              <a:t>Desarrollar</a:t>
            </a:r>
            <a:r>
              <a:rPr lang="es" sz="1350">
                <a:solidFill>
                  <a:schemeClr val="lt1"/>
                </a:solidFill>
                <a:latin typeface="DM Sans"/>
                <a:ea typeface="DM Sans"/>
                <a:cs typeface="DM Sans"/>
                <a:sym typeface="DM Sans"/>
              </a:rPr>
              <a:t> implementaciones custom de context.</a:t>
            </a:r>
            <a:endParaRPr sz="1350">
              <a:solidFill>
                <a:schemeClr val="lt1"/>
              </a:solidFill>
              <a:latin typeface="DM Sans"/>
              <a:ea typeface="DM Sans"/>
              <a:cs typeface="DM Sans"/>
              <a:sym typeface="DM Sans"/>
            </a:endParaRPr>
          </a:p>
        </p:txBody>
      </p:sp>
      <p:pic>
        <p:nvPicPr>
          <p:cNvPr id="64" name="Google Shape;64;p16"/>
          <p:cNvPicPr preferRelativeResize="0"/>
          <p:nvPr/>
        </p:nvPicPr>
        <p:blipFill>
          <a:blip r:embed="rId3">
            <a:alphaModFix/>
          </a:blip>
          <a:stretch>
            <a:fillRect/>
          </a:stretch>
        </p:blipFill>
        <p:spPr>
          <a:xfrm>
            <a:off x="2172138" y="3523338"/>
            <a:ext cx="196975" cy="196975"/>
          </a:xfrm>
          <a:prstGeom prst="rect">
            <a:avLst/>
          </a:prstGeom>
          <a:noFill/>
          <a:ln>
            <a:noFill/>
          </a:ln>
        </p:spPr>
      </p:pic>
      <p:sp>
        <p:nvSpPr>
          <p:cNvPr id="65" name="Google Shape;65;p16"/>
          <p:cNvSpPr txBox="1"/>
          <p:nvPr/>
        </p:nvSpPr>
        <p:spPr>
          <a:xfrm>
            <a:off x="2690550" y="3415188"/>
            <a:ext cx="4281300" cy="39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s" sz="1350">
                <a:solidFill>
                  <a:schemeClr val="lt1"/>
                </a:solidFill>
                <a:latin typeface="DM Sans"/>
                <a:ea typeface="DM Sans"/>
                <a:cs typeface="DM Sans"/>
                <a:sym typeface="DM Sans"/>
              </a:rPr>
              <a:t>Diagnosticar </a:t>
            </a:r>
            <a:r>
              <a:rPr lang="es" sz="1350">
                <a:solidFill>
                  <a:schemeClr val="lt1"/>
                </a:solidFill>
                <a:latin typeface="DM Sans"/>
                <a:ea typeface="DM Sans"/>
                <a:cs typeface="DM Sans"/>
                <a:sym typeface="DM Sans"/>
              </a:rPr>
              <a:t>y solucionar problemas de rendering.</a:t>
            </a:r>
            <a:endParaRPr sz="1350">
              <a:solidFill>
                <a:schemeClr val="lt1"/>
              </a:solidFill>
              <a:latin typeface="DM Sans"/>
              <a:ea typeface="DM Sans"/>
              <a:cs typeface="DM Sans"/>
              <a:sym typeface="DM Sans"/>
            </a:endParaRPr>
          </a:p>
        </p:txBody>
      </p:sp>
      <p:cxnSp>
        <p:nvCxnSpPr>
          <p:cNvPr id="66" name="Google Shape;66;p16"/>
          <p:cNvCxnSpPr>
            <a:stCxn id="58" idx="2"/>
            <a:endCxn id="60" idx="0"/>
          </p:cNvCxnSpPr>
          <p:nvPr/>
        </p:nvCxnSpPr>
        <p:spPr>
          <a:xfrm flipH="1" rot="-5400000">
            <a:off x="2052975" y="1960237"/>
            <a:ext cx="436500" cy="600"/>
          </a:xfrm>
          <a:prstGeom prst="bentConnector3">
            <a:avLst>
              <a:gd fmla="val 49991" name="adj1"/>
            </a:avLst>
          </a:prstGeom>
          <a:noFill/>
          <a:ln cap="flat" cmpd="sng" w="9525">
            <a:solidFill>
              <a:srgbClr val="EAFF6A"/>
            </a:solidFill>
            <a:prstDash val="solid"/>
            <a:round/>
            <a:headEnd len="med" w="med" type="none"/>
            <a:tailEnd len="med" w="med" type="none"/>
          </a:ln>
        </p:spPr>
      </p:cxnSp>
      <p:cxnSp>
        <p:nvCxnSpPr>
          <p:cNvPr id="67" name="Google Shape;67;p16"/>
          <p:cNvCxnSpPr>
            <a:stCxn id="60" idx="2"/>
            <a:endCxn id="62" idx="0"/>
          </p:cNvCxnSpPr>
          <p:nvPr/>
        </p:nvCxnSpPr>
        <p:spPr>
          <a:xfrm flipH="1" rot="-5400000">
            <a:off x="2042475" y="2603837"/>
            <a:ext cx="456900" cy="600"/>
          </a:xfrm>
          <a:prstGeom prst="bentConnector3">
            <a:avLst>
              <a:gd fmla="val 50011" name="adj1"/>
            </a:avLst>
          </a:prstGeom>
          <a:noFill/>
          <a:ln cap="flat" cmpd="sng" w="9525">
            <a:solidFill>
              <a:srgbClr val="EAFF6A"/>
            </a:solidFill>
            <a:prstDash val="solid"/>
            <a:round/>
            <a:headEnd len="med" w="med" type="none"/>
            <a:tailEnd len="med" w="med" type="none"/>
          </a:ln>
        </p:spPr>
      </p:cxnSp>
      <p:cxnSp>
        <p:nvCxnSpPr>
          <p:cNvPr id="68" name="Google Shape;68;p16"/>
          <p:cNvCxnSpPr>
            <a:stCxn id="62" idx="2"/>
            <a:endCxn id="64" idx="0"/>
          </p:cNvCxnSpPr>
          <p:nvPr/>
        </p:nvCxnSpPr>
        <p:spPr>
          <a:xfrm flipH="1" rot="-5400000">
            <a:off x="2024025" y="3276262"/>
            <a:ext cx="493800" cy="600"/>
          </a:xfrm>
          <a:prstGeom prst="bentConnector3">
            <a:avLst>
              <a:gd fmla="val 49987" name="adj1"/>
            </a:avLst>
          </a:prstGeom>
          <a:noFill/>
          <a:ln cap="flat" cmpd="sng" w="9525">
            <a:solidFill>
              <a:srgbClr val="EAFF6A"/>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7"/>
          <p:cNvSpPr/>
          <p:nvPr/>
        </p:nvSpPr>
        <p:spPr>
          <a:xfrm>
            <a:off x="588525" y="701375"/>
            <a:ext cx="296100" cy="120900"/>
          </a:xfrm>
          <a:prstGeom prst="rect">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7"/>
          <p:cNvSpPr txBox="1"/>
          <p:nvPr/>
        </p:nvSpPr>
        <p:spPr>
          <a:xfrm>
            <a:off x="884625" y="468275"/>
            <a:ext cx="2461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DM Sans"/>
                <a:ea typeface="DM Sans"/>
                <a:cs typeface="DM Sans"/>
                <a:sym typeface="DM Sans"/>
              </a:rPr>
              <a:t>MAPA DE </a:t>
            </a:r>
            <a:r>
              <a:rPr lang="es" sz="1600">
                <a:solidFill>
                  <a:schemeClr val="dk1"/>
                </a:solidFill>
                <a:latin typeface="DM Sans"/>
                <a:ea typeface="DM Sans"/>
                <a:cs typeface="DM Sans"/>
                <a:sym typeface="DM Sans"/>
              </a:rPr>
              <a:t>CONCEPTOS</a:t>
            </a:r>
            <a:endParaRPr>
              <a:latin typeface="DM Sans"/>
              <a:ea typeface="DM Sans"/>
              <a:cs typeface="DM Sans"/>
              <a:sym typeface="DM Sans"/>
            </a:endParaRPr>
          </a:p>
        </p:txBody>
      </p:sp>
      <p:sp>
        <p:nvSpPr>
          <p:cNvPr id="75" name="Google Shape;75;p17"/>
          <p:cNvSpPr/>
          <p:nvPr/>
        </p:nvSpPr>
        <p:spPr>
          <a:xfrm>
            <a:off x="588525" y="3883430"/>
            <a:ext cx="1399200" cy="580200"/>
          </a:xfrm>
          <a:prstGeom prst="rect">
            <a:avLst/>
          </a:prstGeom>
          <a:solidFill>
            <a:srgbClr val="27282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1200">
                <a:solidFill>
                  <a:srgbClr val="FFFFFF"/>
                </a:solidFill>
                <a:latin typeface="DM Sans"/>
                <a:ea typeface="DM Sans"/>
                <a:cs typeface="DM Sans"/>
                <a:sym typeface="DM Sans"/>
              </a:rPr>
              <a:t>Nodo proveedor</a:t>
            </a:r>
            <a:endParaRPr sz="1200">
              <a:solidFill>
                <a:srgbClr val="FFFFFF"/>
              </a:solidFill>
              <a:latin typeface="DM Sans"/>
              <a:ea typeface="DM Sans"/>
              <a:cs typeface="DM Sans"/>
              <a:sym typeface="DM Sans"/>
            </a:endParaRPr>
          </a:p>
        </p:txBody>
      </p:sp>
      <p:sp>
        <p:nvSpPr>
          <p:cNvPr id="76" name="Google Shape;76;p17"/>
          <p:cNvSpPr/>
          <p:nvPr/>
        </p:nvSpPr>
        <p:spPr>
          <a:xfrm>
            <a:off x="4310631" y="1453689"/>
            <a:ext cx="1596900" cy="580200"/>
          </a:xfrm>
          <a:prstGeom prst="rect">
            <a:avLst/>
          </a:prstGeom>
          <a:noFill/>
          <a:ln cap="flat" cmpd="sng" w="9525">
            <a:solidFill>
              <a:srgbClr val="393B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s" sz="1200">
                <a:solidFill>
                  <a:srgbClr val="222222"/>
                </a:solidFill>
                <a:latin typeface="DM Sans"/>
                <a:ea typeface="DM Sans"/>
                <a:cs typeface="DM Sans"/>
                <a:sym typeface="DM Sans"/>
              </a:rPr>
              <a:t>Proveedor </a:t>
            </a:r>
            <a:endParaRPr sz="1200">
              <a:solidFill>
                <a:srgbClr val="222222"/>
              </a:solidFill>
              <a:latin typeface="DM Sans"/>
              <a:ea typeface="DM Sans"/>
              <a:cs typeface="DM Sans"/>
              <a:sym typeface="DM Sans"/>
            </a:endParaRPr>
          </a:p>
        </p:txBody>
      </p:sp>
      <p:sp>
        <p:nvSpPr>
          <p:cNvPr id="77" name="Google Shape;77;p17"/>
          <p:cNvSpPr/>
          <p:nvPr/>
        </p:nvSpPr>
        <p:spPr>
          <a:xfrm>
            <a:off x="588525" y="1453684"/>
            <a:ext cx="1399200" cy="580200"/>
          </a:xfrm>
          <a:prstGeom prst="rect">
            <a:avLst/>
          </a:prstGeom>
          <a:solidFill>
            <a:srgbClr val="27282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1200">
                <a:solidFill>
                  <a:srgbClr val="FFFFFF"/>
                </a:solidFill>
                <a:latin typeface="DM Sans"/>
                <a:ea typeface="DM Sans"/>
                <a:cs typeface="DM Sans"/>
                <a:sym typeface="DM Sans"/>
              </a:rPr>
              <a:t>Contexto</a:t>
            </a:r>
            <a:endParaRPr sz="1200">
              <a:solidFill>
                <a:srgbClr val="FFFFFF"/>
              </a:solidFill>
              <a:latin typeface="DM Sans"/>
              <a:ea typeface="DM Sans"/>
              <a:cs typeface="DM Sans"/>
              <a:sym typeface="DM Sans"/>
            </a:endParaRPr>
          </a:p>
        </p:txBody>
      </p:sp>
      <p:cxnSp>
        <p:nvCxnSpPr>
          <p:cNvPr id="78" name="Google Shape;78;p17"/>
          <p:cNvCxnSpPr>
            <a:stCxn id="75" idx="0"/>
            <a:endCxn id="77" idx="2"/>
          </p:cNvCxnSpPr>
          <p:nvPr/>
        </p:nvCxnSpPr>
        <p:spPr>
          <a:xfrm rot="10800000">
            <a:off x="1288125" y="2033930"/>
            <a:ext cx="0" cy="1849500"/>
          </a:xfrm>
          <a:prstGeom prst="straightConnector1">
            <a:avLst/>
          </a:prstGeom>
          <a:noFill/>
          <a:ln cap="flat" cmpd="sng" w="9525">
            <a:solidFill>
              <a:srgbClr val="CCCCCC"/>
            </a:solidFill>
            <a:prstDash val="solid"/>
            <a:round/>
            <a:headEnd len="med" w="med" type="oval"/>
            <a:tailEnd len="med" w="med" type="oval"/>
          </a:ln>
        </p:spPr>
      </p:cxnSp>
      <p:sp>
        <p:nvSpPr>
          <p:cNvPr id="79" name="Google Shape;79;p17"/>
          <p:cNvSpPr/>
          <p:nvPr/>
        </p:nvSpPr>
        <p:spPr>
          <a:xfrm>
            <a:off x="4307600" y="3877725"/>
            <a:ext cx="1596900" cy="580200"/>
          </a:xfrm>
          <a:prstGeom prst="rect">
            <a:avLst/>
          </a:prstGeom>
          <a:solidFill>
            <a:schemeClr val="lt1"/>
          </a:solidFill>
          <a:ln cap="flat" cmpd="sng" w="9525">
            <a:solidFill>
              <a:srgbClr val="393B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s" sz="1200">
                <a:solidFill>
                  <a:srgbClr val="222222"/>
                </a:solidFill>
                <a:latin typeface="DM Sans"/>
                <a:ea typeface="DM Sans"/>
                <a:cs typeface="DM Sans"/>
                <a:sym typeface="DM Sans"/>
              </a:rPr>
              <a:t>Configuración</a:t>
            </a:r>
            <a:endParaRPr sz="1200">
              <a:solidFill>
                <a:srgbClr val="222222"/>
              </a:solidFill>
              <a:latin typeface="DM Sans"/>
              <a:ea typeface="DM Sans"/>
              <a:cs typeface="DM Sans"/>
              <a:sym typeface="DM Sans"/>
            </a:endParaRPr>
          </a:p>
        </p:txBody>
      </p:sp>
      <p:sp>
        <p:nvSpPr>
          <p:cNvPr id="80" name="Google Shape;80;p17"/>
          <p:cNvSpPr/>
          <p:nvPr/>
        </p:nvSpPr>
        <p:spPr>
          <a:xfrm>
            <a:off x="4310631" y="746975"/>
            <a:ext cx="1596900" cy="580200"/>
          </a:xfrm>
          <a:prstGeom prst="rect">
            <a:avLst/>
          </a:prstGeom>
          <a:noFill/>
          <a:ln cap="flat" cmpd="sng" w="9525">
            <a:solidFill>
              <a:srgbClr val="393B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s" sz="1200">
                <a:solidFill>
                  <a:srgbClr val="222222"/>
                </a:solidFill>
                <a:latin typeface="DM Sans"/>
                <a:ea typeface="DM Sans"/>
                <a:cs typeface="DM Sans"/>
                <a:sym typeface="DM Sans"/>
              </a:rPr>
              <a:t>Creación </a:t>
            </a:r>
            <a:endParaRPr sz="1200">
              <a:solidFill>
                <a:srgbClr val="222222"/>
              </a:solidFill>
              <a:latin typeface="DM Sans"/>
              <a:ea typeface="DM Sans"/>
              <a:cs typeface="DM Sans"/>
              <a:sym typeface="DM Sans"/>
            </a:endParaRPr>
          </a:p>
        </p:txBody>
      </p:sp>
      <p:sp>
        <p:nvSpPr>
          <p:cNvPr id="81" name="Google Shape;81;p17"/>
          <p:cNvSpPr/>
          <p:nvPr/>
        </p:nvSpPr>
        <p:spPr>
          <a:xfrm>
            <a:off x="4310631" y="2160397"/>
            <a:ext cx="1596900" cy="580200"/>
          </a:xfrm>
          <a:prstGeom prst="rect">
            <a:avLst/>
          </a:prstGeom>
          <a:noFill/>
          <a:ln cap="flat" cmpd="sng" w="9525">
            <a:solidFill>
              <a:srgbClr val="393B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s" sz="1200">
                <a:solidFill>
                  <a:srgbClr val="222222"/>
                </a:solidFill>
                <a:latin typeface="DM Sans"/>
                <a:ea typeface="DM Sans"/>
                <a:cs typeface="DM Sans"/>
                <a:sym typeface="DM Sans"/>
              </a:rPr>
              <a:t>Consumiendo un contexto</a:t>
            </a:r>
            <a:endParaRPr sz="1200">
              <a:solidFill>
                <a:srgbClr val="222222"/>
              </a:solidFill>
              <a:latin typeface="DM Sans"/>
              <a:ea typeface="DM Sans"/>
              <a:cs typeface="DM Sans"/>
              <a:sym typeface="DM Sans"/>
            </a:endParaRPr>
          </a:p>
        </p:txBody>
      </p:sp>
      <p:cxnSp>
        <p:nvCxnSpPr>
          <p:cNvPr id="82" name="Google Shape;82;p17"/>
          <p:cNvCxnSpPr>
            <a:stCxn id="77" idx="3"/>
            <a:endCxn id="80" idx="1"/>
          </p:cNvCxnSpPr>
          <p:nvPr/>
        </p:nvCxnSpPr>
        <p:spPr>
          <a:xfrm flipH="1" rot="10800000">
            <a:off x="1987725" y="1036984"/>
            <a:ext cx="2322900" cy="706800"/>
          </a:xfrm>
          <a:prstGeom prst="bentConnector3">
            <a:avLst>
              <a:gd fmla="val 50002" name="adj1"/>
            </a:avLst>
          </a:prstGeom>
          <a:noFill/>
          <a:ln cap="flat" cmpd="sng" w="9525">
            <a:solidFill>
              <a:srgbClr val="CCCCCC"/>
            </a:solidFill>
            <a:prstDash val="solid"/>
            <a:round/>
            <a:headEnd len="med" w="med" type="none"/>
            <a:tailEnd len="med" w="med" type="oval"/>
          </a:ln>
        </p:spPr>
      </p:cxnSp>
      <p:cxnSp>
        <p:nvCxnSpPr>
          <p:cNvPr id="83" name="Google Shape;83;p17"/>
          <p:cNvCxnSpPr>
            <a:stCxn id="77" idx="3"/>
            <a:endCxn id="76" idx="1"/>
          </p:cNvCxnSpPr>
          <p:nvPr/>
        </p:nvCxnSpPr>
        <p:spPr>
          <a:xfrm>
            <a:off x="1987725" y="1743784"/>
            <a:ext cx="2322900" cy="600"/>
          </a:xfrm>
          <a:prstGeom prst="bentConnector3">
            <a:avLst>
              <a:gd fmla="val 50002" name="adj1"/>
            </a:avLst>
          </a:prstGeom>
          <a:noFill/>
          <a:ln cap="flat" cmpd="sng" w="9525">
            <a:solidFill>
              <a:srgbClr val="CCCCCC"/>
            </a:solidFill>
            <a:prstDash val="solid"/>
            <a:round/>
            <a:headEnd len="med" w="med" type="none"/>
            <a:tailEnd len="med" w="med" type="oval"/>
          </a:ln>
        </p:spPr>
      </p:cxnSp>
      <p:cxnSp>
        <p:nvCxnSpPr>
          <p:cNvPr id="84" name="Google Shape;84;p17"/>
          <p:cNvCxnSpPr>
            <a:stCxn id="77" idx="3"/>
            <a:endCxn id="81" idx="1"/>
          </p:cNvCxnSpPr>
          <p:nvPr/>
        </p:nvCxnSpPr>
        <p:spPr>
          <a:xfrm>
            <a:off x="1987725" y="1743784"/>
            <a:ext cx="2322900" cy="706800"/>
          </a:xfrm>
          <a:prstGeom prst="bentConnector3">
            <a:avLst>
              <a:gd fmla="val 50002" name="adj1"/>
            </a:avLst>
          </a:prstGeom>
          <a:noFill/>
          <a:ln cap="flat" cmpd="sng" w="9525">
            <a:solidFill>
              <a:srgbClr val="CCCCCC"/>
            </a:solidFill>
            <a:prstDash val="solid"/>
            <a:round/>
            <a:headEnd len="med" w="med" type="none"/>
            <a:tailEnd len="med" w="med" type="oval"/>
          </a:ln>
        </p:spPr>
      </p:cxnSp>
      <p:cxnSp>
        <p:nvCxnSpPr>
          <p:cNvPr id="85" name="Google Shape;85;p17"/>
          <p:cNvCxnSpPr>
            <a:stCxn id="75" idx="3"/>
            <a:endCxn id="79" idx="1"/>
          </p:cNvCxnSpPr>
          <p:nvPr/>
        </p:nvCxnSpPr>
        <p:spPr>
          <a:xfrm flipH="1" rot="10800000">
            <a:off x="1987725" y="4167830"/>
            <a:ext cx="2319900" cy="5700"/>
          </a:xfrm>
          <a:prstGeom prst="straightConnector1">
            <a:avLst/>
          </a:prstGeom>
          <a:noFill/>
          <a:ln cap="flat" cmpd="sng" w="9525">
            <a:solidFill>
              <a:srgbClr val="CCCCCC"/>
            </a:solidFill>
            <a:prstDash val="solid"/>
            <a:round/>
            <a:headEnd len="med" w="med" type="none"/>
            <a:tailEnd len="med" w="med" type="oval"/>
          </a:ln>
        </p:spPr>
      </p:cxnSp>
      <p:pic>
        <p:nvPicPr>
          <p:cNvPr id="86" name="Google Shape;86;p17" title="ícono de mapa de contenidos"/>
          <p:cNvPicPr preferRelativeResize="0"/>
          <p:nvPr/>
        </p:nvPicPr>
        <p:blipFill>
          <a:blip r:embed="rId3">
            <a:alphaModFix/>
          </a:blip>
          <a:stretch>
            <a:fillRect/>
          </a:stretch>
        </p:blipFill>
        <p:spPr>
          <a:xfrm>
            <a:off x="586275" y="533519"/>
            <a:ext cx="300599" cy="300618"/>
          </a:xfrm>
          <a:prstGeom prst="rect">
            <a:avLst/>
          </a:prstGeom>
          <a:noFill/>
          <a:ln>
            <a:noFill/>
          </a:ln>
        </p:spPr>
      </p:pic>
      <p:sp>
        <p:nvSpPr>
          <p:cNvPr id="87" name="Google Shape;87;p17"/>
          <p:cNvSpPr/>
          <p:nvPr/>
        </p:nvSpPr>
        <p:spPr>
          <a:xfrm>
            <a:off x="4310631" y="3004872"/>
            <a:ext cx="1596900" cy="580200"/>
          </a:xfrm>
          <a:prstGeom prst="rect">
            <a:avLst/>
          </a:prstGeom>
          <a:noFill/>
          <a:ln cap="flat" cmpd="sng" w="9525">
            <a:solidFill>
              <a:srgbClr val="393B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s" sz="1200">
                <a:solidFill>
                  <a:srgbClr val="222222"/>
                </a:solidFill>
                <a:latin typeface="DM Sans"/>
                <a:ea typeface="DM Sans"/>
                <a:cs typeface="DM Sans"/>
                <a:sym typeface="DM Sans"/>
              </a:rPr>
              <a:t>Contexto dinámico </a:t>
            </a:r>
            <a:endParaRPr sz="1200">
              <a:solidFill>
                <a:srgbClr val="222222"/>
              </a:solidFill>
              <a:latin typeface="DM Sans"/>
              <a:ea typeface="DM Sans"/>
              <a:cs typeface="DM Sans"/>
              <a:sym typeface="DM Sans"/>
            </a:endParaRPr>
          </a:p>
        </p:txBody>
      </p:sp>
      <p:cxnSp>
        <p:nvCxnSpPr>
          <p:cNvPr id="88" name="Google Shape;88;p17"/>
          <p:cNvCxnSpPr/>
          <p:nvPr/>
        </p:nvCxnSpPr>
        <p:spPr>
          <a:xfrm>
            <a:off x="3140925" y="2269175"/>
            <a:ext cx="16500" cy="1052700"/>
          </a:xfrm>
          <a:prstGeom prst="straightConnector1">
            <a:avLst/>
          </a:prstGeom>
          <a:noFill/>
          <a:ln cap="flat" cmpd="sng" w="9525">
            <a:solidFill>
              <a:srgbClr val="CCCCCC"/>
            </a:solidFill>
            <a:prstDash val="solid"/>
            <a:round/>
            <a:headEnd len="med" w="med" type="none"/>
            <a:tailEnd len="med" w="med" type="none"/>
          </a:ln>
        </p:spPr>
      </p:cxnSp>
      <p:cxnSp>
        <p:nvCxnSpPr>
          <p:cNvPr id="89" name="Google Shape;89;p17"/>
          <p:cNvCxnSpPr/>
          <p:nvPr/>
        </p:nvCxnSpPr>
        <p:spPr>
          <a:xfrm>
            <a:off x="3149300" y="3312775"/>
            <a:ext cx="1158300" cy="9300"/>
          </a:xfrm>
          <a:prstGeom prst="straightConnector1">
            <a:avLst/>
          </a:prstGeom>
          <a:noFill/>
          <a:ln cap="flat" cmpd="sng" w="9525">
            <a:solidFill>
              <a:srgbClr val="CCCCCC"/>
            </a:solidFill>
            <a:prstDash val="solid"/>
            <a:round/>
            <a:headEnd len="med" w="med" type="none"/>
            <a:tailEnd len="med" w="med" type="oval"/>
          </a:ln>
        </p:spPr>
      </p:cxnSp>
      <p:cxnSp>
        <p:nvCxnSpPr>
          <p:cNvPr id="90" name="Google Shape;90;p17"/>
          <p:cNvCxnSpPr/>
          <p:nvPr/>
        </p:nvCxnSpPr>
        <p:spPr>
          <a:xfrm>
            <a:off x="5907525" y="2450488"/>
            <a:ext cx="958200" cy="0"/>
          </a:xfrm>
          <a:prstGeom prst="straightConnector1">
            <a:avLst/>
          </a:prstGeom>
          <a:noFill/>
          <a:ln cap="flat" cmpd="sng" w="9525">
            <a:solidFill>
              <a:srgbClr val="CCCCCC"/>
            </a:solidFill>
            <a:prstDash val="solid"/>
            <a:round/>
            <a:headEnd len="med" w="med" type="oval"/>
            <a:tailEnd len="med" w="med" type="oval"/>
          </a:ln>
        </p:spPr>
      </p:cxnSp>
      <p:cxnSp>
        <p:nvCxnSpPr>
          <p:cNvPr id="91" name="Google Shape;91;p17"/>
          <p:cNvCxnSpPr/>
          <p:nvPr/>
        </p:nvCxnSpPr>
        <p:spPr>
          <a:xfrm>
            <a:off x="5907525" y="3294963"/>
            <a:ext cx="958200" cy="0"/>
          </a:xfrm>
          <a:prstGeom prst="straightConnector1">
            <a:avLst/>
          </a:prstGeom>
          <a:noFill/>
          <a:ln cap="flat" cmpd="sng" w="9525">
            <a:solidFill>
              <a:srgbClr val="CCCCCC"/>
            </a:solidFill>
            <a:prstDash val="solid"/>
            <a:round/>
            <a:headEnd len="med" w="med" type="oval"/>
            <a:tailEnd len="med" w="med" type="oval"/>
          </a:ln>
        </p:spPr>
      </p:cxnSp>
      <p:sp>
        <p:nvSpPr>
          <p:cNvPr id="92" name="Google Shape;92;p17"/>
          <p:cNvSpPr/>
          <p:nvPr/>
        </p:nvSpPr>
        <p:spPr>
          <a:xfrm>
            <a:off x="6865725" y="2160400"/>
            <a:ext cx="1596900" cy="580200"/>
          </a:xfrm>
          <a:prstGeom prst="rect">
            <a:avLst/>
          </a:prstGeom>
          <a:solidFill>
            <a:schemeClr val="lt1"/>
          </a:solidFill>
          <a:ln cap="flat" cmpd="sng" w="9525">
            <a:solidFill>
              <a:srgbClr val="393B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s" sz="1200">
                <a:solidFill>
                  <a:srgbClr val="222222"/>
                </a:solidFill>
                <a:latin typeface="DM Sans"/>
                <a:ea typeface="DM Sans"/>
                <a:cs typeface="DM Sans"/>
                <a:sym typeface="DM Sans"/>
              </a:rPr>
              <a:t>Declarando un consumidor</a:t>
            </a:r>
            <a:endParaRPr sz="1200">
              <a:solidFill>
                <a:srgbClr val="222222"/>
              </a:solidFill>
              <a:latin typeface="DM Sans"/>
              <a:ea typeface="DM Sans"/>
              <a:cs typeface="DM Sans"/>
              <a:sym typeface="DM Sans"/>
            </a:endParaRPr>
          </a:p>
        </p:txBody>
      </p:sp>
      <p:sp>
        <p:nvSpPr>
          <p:cNvPr id="93" name="Google Shape;93;p17"/>
          <p:cNvSpPr/>
          <p:nvPr/>
        </p:nvSpPr>
        <p:spPr>
          <a:xfrm>
            <a:off x="6865725" y="3004875"/>
            <a:ext cx="1596900" cy="580200"/>
          </a:xfrm>
          <a:prstGeom prst="rect">
            <a:avLst/>
          </a:prstGeom>
          <a:solidFill>
            <a:schemeClr val="lt1"/>
          </a:solidFill>
          <a:ln cap="flat" cmpd="sng" w="9525">
            <a:solidFill>
              <a:srgbClr val="393B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s" sz="1200">
                <a:solidFill>
                  <a:srgbClr val="222222"/>
                </a:solidFill>
                <a:latin typeface="DM Sans"/>
                <a:ea typeface="DM Sans"/>
                <a:cs typeface="DM Sans"/>
                <a:sym typeface="DM Sans"/>
              </a:rPr>
              <a:t>Creación de un custom provider</a:t>
            </a:r>
            <a:endParaRPr sz="1200">
              <a:solidFill>
                <a:srgbClr val="222222"/>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p:nvPr/>
        </p:nvSpPr>
        <p:spPr>
          <a:xfrm>
            <a:off x="588525" y="701375"/>
            <a:ext cx="296100" cy="120900"/>
          </a:xfrm>
          <a:prstGeom prst="rect">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8"/>
          <p:cNvSpPr txBox="1"/>
          <p:nvPr/>
        </p:nvSpPr>
        <p:spPr>
          <a:xfrm>
            <a:off x="884625" y="468275"/>
            <a:ext cx="2461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DM Sans"/>
                <a:ea typeface="DM Sans"/>
                <a:cs typeface="DM Sans"/>
                <a:sym typeface="DM Sans"/>
              </a:rPr>
              <a:t>MAPA DE </a:t>
            </a:r>
            <a:r>
              <a:rPr lang="es" sz="1600">
                <a:solidFill>
                  <a:schemeClr val="dk1"/>
                </a:solidFill>
                <a:latin typeface="DM Sans"/>
                <a:ea typeface="DM Sans"/>
                <a:cs typeface="DM Sans"/>
                <a:sym typeface="DM Sans"/>
              </a:rPr>
              <a:t>CONCEPTOS</a:t>
            </a:r>
            <a:endParaRPr>
              <a:latin typeface="DM Sans"/>
              <a:ea typeface="DM Sans"/>
              <a:cs typeface="DM Sans"/>
              <a:sym typeface="DM Sans"/>
            </a:endParaRPr>
          </a:p>
        </p:txBody>
      </p:sp>
      <p:sp>
        <p:nvSpPr>
          <p:cNvPr id="100" name="Google Shape;100;p18"/>
          <p:cNvSpPr/>
          <p:nvPr/>
        </p:nvSpPr>
        <p:spPr>
          <a:xfrm>
            <a:off x="588525" y="3373693"/>
            <a:ext cx="1399200" cy="580200"/>
          </a:xfrm>
          <a:prstGeom prst="rect">
            <a:avLst/>
          </a:prstGeom>
          <a:solidFill>
            <a:srgbClr val="27282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1150">
                <a:solidFill>
                  <a:srgbClr val="FFFFFF"/>
                </a:solidFill>
                <a:latin typeface="DM Sans"/>
                <a:ea typeface="DM Sans"/>
                <a:cs typeface="DM Sans"/>
                <a:sym typeface="DM Sans"/>
              </a:rPr>
              <a:t>Render optimization</a:t>
            </a:r>
            <a:endParaRPr sz="1150">
              <a:solidFill>
                <a:srgbClr val="FFFFFF"/>
              </a:solidFill>
              <a:latin typeface="DM Sans"/>
              <a:ea typeface="DM Sans"/>
              <a:cs typeface="DM Sans"/>
              <a:sym typeface="DM Sans"/>
            </a:endParaRPr>
          </a:p>
        </p:txBody>
      </p:sp>
      <p:sp>
        <p:nvSpPr>
          <p:cNvPr id="101" name="Google Shape;101;p18"/>
          <p:cNvSpPr/>
          <p:nvPr/>
        </p:nvSpPr>
        <p:spPr>
          <a:xfrm>
            <a:off x="3773550" y="1896288"/>
            <a:ext cx="1659900" cy="580200"/>
          </a:xfrm>
          <a:prstGeom prst="rect">
            <a:avLst/>
          </a:prstGeom>
          <a:noFill/>
          <a:ln cap="flat" cmpd="sng" w="9525">
            <a:solidFill>
              <a:srgbClr val="393B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s" sz="1100">
                <a:solidFill>
                  <a:srgbClr val="222222"/>
                </a:solidFill>
                <a:latin typeface="DM Sans"/>
                <a:ea typeface="DM Sans"/>
                <a:cs typeface="DM Sans"/>
                <a:sym typeface="DM Sans"/>
              </a:rPr>
              <a:t>Técnicas de rendering condicional</a:t>
            </a:r>
            <a:endParaRPr sz="1100">
              <a:solidFill>
                <a:srgbClr val="222222"/>
              </a:solidFill>
              <a:latin typeface="DM Sans"/>
              <a:ea typeface="DM Sans"/>
              <a:cs typeface="DM Sans"/>
              <a:sym typeface="DM Sans"/>
            </a:endParaRPr>
          </a:p>
        </p:txBody>
      </p:sp>
      <p:sp>
        <p:nvSpPr>
          <p:cNvPr id="102" name="Google Shape;102;p18"/>
          <p:cNvSpPr/>
          <p:nvPr/>
        </p:nvSpPr>
        <p:spPr>
          <a:xfrm>
            <a:off x="588525" y="1896296"/>
            <a:ext cx="1399200" cy="580200"/>
          </a:xfrm>
          <a:prstGeom prst="rect">
            <a:avLst/>
          </a:prstGeom>
          <a:solidFill>
            <a:srgbClr val="2728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100">
                <a:solidFill>
                  <a:srgbClr val="FFFFFF"/>
                </a:solidFill>
                <a:latin typeface="DM Sans"/>
                <a:ea typeface="DM Sans"/>
                <a:cs typeface="DM Sans"/>
                <a:sym typeface="DM Sans"/>
              </a:rPr>
              <a:t>Recapitulando: principios básicos React</a:t>
            </a:r>
            <a:endParaRPr sz="1100">
              <a:solidFill>
                <a:srgbClr val="FFFFFF"/>
              </a:solidFill>
              <a:latin typeface="DM Sans"/>
              <a:ea typeface="DM Sans"/>
              <a:cs typeface="DM Sans"/>
              <a:sym typeface="DM Sans"/>
            </a:endParaRPr>
          </a:p>
        </p:txBody>
      </p:sp>
      <p:cxnSp>
        <p:nvCxnSpPr>
          <p:cNvPr id="103" name="Google Shape;103;p18"/>
          <p:cNvCxnSpPr>
            <a:stCxn id="100" idx="0"/>
            <a:endCxn id="102" idx="2"/>
          </p:cNvCxnSpPr>
          <p:nvPr/>
        </p:nvCxnSpPr>
        <p:spPr>
          <a:xfrm rot="10800000">
            <a:off x="1288125" y="2476393"/>
            <a:ext cx="0" cy="897300"/>
          </a:xfrm>
          <a:prstGeom prst="straightConnector1">
            <a:avLst/>
          </a:prstGeom>
          <a:noFill/>
          <a:ln cap="flat" cmpd="sng" w="9525">
            <a:solidFill>
              <a:srgbClr val="CCCCCC"/>
            </a:solidFill>
            <a:prstDash val="solid"/>
            <a:round/>
            <a:headEnd len="med" w="med" type="oval"/>
            <a:tailEnd len="med" w="med" type="oval"/>
          </a:ln>
        </p:spPr>
      </p:cxnSp>
      <p:sp>
        <p:nvSpPr>
          <p:cNvPr id="104" name="Google Shape;104;p18"/>
          <p:cNvSpPr/>
          <p:nvPr/>
        </p:nvSpPr>
        <p:spPr>
          <a:xfrm>
            <a:off x="3804900" y="2580238"/>
            <a:ext cx="1628400" cy="580200"/>
          </a:xfrm>
          <a:prstGeom prst="rect">
            <a:avLst/>
          </a:prstGeom>
          <a:noFill/>
          <a:ln cap="flat" cmpd="sng" w="9525">
            <a:solidFill>
              <a:srgbClr val="393B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s" sz="1150">
                <a:solidFill>
                  <a:srgbClr val="222222"/>
                </a:solidFill>
                <a:latin typeface="DM Sans"/>
                <a:ea typeface="DM Sans"/>
                <a:cs typeface="DM Sans"/>
                <a:sym typeface="DM Sans"/>
              </a:rPr>
              <a:t>Otras técnicas para control tradicional</a:t>
            </a:r>
            <a:endParaRPr sz="1150">
              <a:solidFill>
                <a:srgbClr val="222222"/>
              </a:solidFill>
              <a:latin typeface="DM Sans"/>
              <a:ea typeface="DM Sans"/>
              <a:cs typeface="DM Sans"/>
              <a:sym typeface="DM Sans"/>
            </a:endParaRPr>
          </a:p>
        </p:txBody>
      </p:sp>
      <p:cxnSp>
        <p:nvCxnSpPr>
          <p:cNvPr id="105" name="Google Shape;105;p18"/>
          <p:cNvCxnSpPr>
            <a:stCxn id="102" idx="3"/>
          </p:cNvCxnSpPr>
          <p:nvPr/>
        </p:nvCxnSpPr>
        <p:spPr>
          <a:xfrm flipH="1" rot="10800000">
            <a:off x="1987725" y="1492796"/>
            <a:ext cx="1816200" cy="693600"/>
          </a:xfrm>
          <a:prstGeom prst="bentConnector3">
            <a:avLst>
              <a:gd fmla="val 50000" name="adj1"/>
            </a:avLst>
          </a:prstGeom>
          <a:noFill/>
          <a:ln cap="flat" cmpd="sng" w="9525">
            <a:solidFill>
              <a:srgbClr val="CCCCCC"/>
            </a:solidFill>
            <a:prstDash val="solid"/>
            <a:round/>
            <a:headEnd len="med" w="med" type="none"/>
            <a:tailEnd len="med" w="med" type="oval"/>
          </a:ln>
        </p:spPr>
      </p:cxnSp>
      <p:cxnSp>
        <p:nvCxnSpPr>
          <p:cNvPr id="106" name="Google Shape;106;p18"/>
          <p:cNvCxnSpPr>
            <a:stCxn id="102" idx="3"/>
          </p:cNvCxnSpPr>
          <p:nvPr/>
        </p:nvCxnSpPr>
        <p:spPr>
          <a:xfrm>
            <a:off x="1987725" y="2186396"/>
            <a:ext cx="1785900" cy="1500"/>
          </a:xfrm>
          <a:prstGeom prst="bentConnector3">
            <a:avLst>
              <a:gd fmla="val 50000" name="adj1"/>
            </a:avLst>
          </a:prstGeom>
          <a:noFill/>
          <a:ln cap="flat" cmpd="sng" w="9525">
            <a:solidFill>
              <a:srgbClr val="CCCCCC"/>
            </a:solidFill>
            <a:prstDash val="solid"/>
            <a:round/>
            <a:headEnd len="med" w="med" type="none"/>
            <a:tailEnd len="med" w="med" type="oval"/>
          </a:ln>
        </p:spPr>
      </p:cxnSp>
      <p:cxnSp>
        <p:nvCxnSpPr>
          <p:cNvPr id="107" name="Google Shape;107;p18"/>
          <p:cNvCxnSpPr>
            <a:stCxn id="102" idx="3"/>
          </p:cNvCxnSpPr>
          <p:nvPr/>
        </p:nvCxnSpPr>
        <p:spPr>
          <a:xfrm>
            <a:off x="1987725" y="2186396"/>
            <a:ext cx="1805700" cy="688800"/>
          </a:xfrm>
          <a:prstGeom prst="bentConnector3">
            <a:avLst>
              <a:gd fmla="val 50000" name="adj1"/>
            </a:avLst>
          </a:prstGeom>
          <a:noFill/>
          <a:ln cap="flat" cmpd="sng" w="9525">
            <a:solidFill>
              <a:srgbClr val="CCCCCC"/>
            </a:solidFill>
            <a:prstDash val="solid"/>
            <a:round/>
            <a:headEnd len="med" w="med" type="none"/>
            <a:tailEnd len="med" w="med" type="oval"/>
          </a:ln>
        </p:spPr>
      </p:cxnSp>
      <p:cxnSp>
        <p:nvCxnSpPr>
          <p:cNvPr id="108" name="Google Shape;108;p18"/>
          <p:cNvCxnSpPr>
            <a:stCxn id="100" idx="3"/>
            <a:endCxn id="109" idx="1"/>
          </p:cNvCxnSpPr>
          <p:nvPr/>
        </p:nvCxnSpPr>
        <p:spPr>
          <a:xfrm>
            <a:off x="1987725" y="3663793"/>
            <a:ext cx="1785900" cy="0"/>
          </a:xfrm>
          <a:prstGeom prst="straightConnector1">
            <a:avLst/>
          </a:prstGeom>
          <a:noFill/>
          <a:ln cap="flat" cmpd="sng" w="9525">
            <a:solidFill>
              <a:srgbClr val="CCCCCC"/>
            </a:solidFill>
            <a:prstDash val="solid"/>
            <a:round/>
            <a:headEnd len="med" w="med" type="none"/>
            <a:tailEnd len="med" w="med" type="oval"/>
          </a:ln>
        </p:spPr>
      </p:cxnSp>
      <p:pic>
        <p:nvPicPr>
          <p:cNvPr id="110" name="Google Shape;110;p18" title="ícono de mapa de contenidos"/>
          <p:cNvPicPr preferRelativeResize="0"/>
          <p:nvPr/>
        </p:nvPicPr>
        <p:blipFill>
          <a:blip r:embed="rId3">
            <a:alphaModFix/>
          </a:blip>
          <a:stretch>
            <a:fillRect/>
          </a:stretch>
        </p:blipFill>
        <p:spPr>
          <a:xfrm>
            <a:off x="586275" y="533519"/>
            <a:ext cx="300599" cy="300618"/>
          </a:xfrm>
          <a:prstGeom prst="rect">
            <a:avLst/>
          </a:prstGeom>
          <a:noFill/>
          <a:ln>
            <a:noFill/>
          </a:ln>
        </p:spPr>
      </p:pic>
      <p:sp>
        <p:nvSpPr>
          <p:cNvPr id="109" name="Google Shape;109;p18"/>
          <p:cNvSpPr/>
          <p:nvPr/>
        </p:nvSpPr>
        <p:spPr>
          <a:xfrm>
            <a:off x="3773550" y="3373688"/>
            <a:ext cx="1659900" cy="580200"/>
          </a:xfrm>
          <a:prstGeom prst="rect">
            <a:avLst/>
          </a:prstGeom>
          <a:noFill/>
          <a:ln cap="flat" cmpd="sng" w="9525">
            <a:solidFill>
              <a:srgbClr val="393B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s" sz="1200">
                <a:solidFill>
                  <a:srgbClr val="222222"/>
                </a:solidFill>
                <a:latin typeface="DM Sans"/>
                <a:ea typeface="DM Sans"/>
                <a:cs typeface="DM Sans"/>
                <a:sym typeface="DM Sans"/>
              </a:rPr>
              <a:t>React Memo</a:t>
            </a:r>
            <a:endParaRPr sz="1200">
              <a:solidFill>
                <a:srgbClr val="222222"/>
              </a:solidFill>
              <a:latin typeface="DM Sans"/>
              <a:ea typeface="DM Sans"/>
              <a:cs typeface="DM Sans"/>
              <a:sym typeface="DM Sans"/>
            </a:endParaRPr>
          </a:p>
        </p:txBody>
      </p:sp>
      <p:sp>
        <p:nvSpPr>
          <p:cNvPr id="111" name="Google Shape;111;p18"/>
          <p:cNvSpPr/>
          <p:nvPr/>
        </p:nvSpPr>
        <p:spPr>
          <a:xfrm>
            <a:off x="3804900" y="1189613"/>
            <a:ext cx="1628400" cy="580200"/>
          </a:xfrm>
          <a:prstGeom prst="rect">
            <a:avLst/>
          </a:prstGeom>
          <a:noFill/>
          <a:ln cap="flat" cmpd="sng" w="9525">
            <a:solidFill>
              <a:srgbClr val="393B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s" sz="1150">
                <a:solidFill>
                  <a:srgbClr val="222222"/>
                </a:solidFill>
                <a:latin typeface="DM Sans"/>
                <a:ea typeface="DM Sans"/>
                <a:cs typeface="DM Sans"/>
                <a:sym typeface="DM Sans"/>
              </a:rPr>
              <a:t>¿Qué es y para qué sirve?</a:t>
            </a:r>
            <a:endParaRPr sz="1150">
              <a:solidFill>
                <a:srgbClr val="222222"/>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9"/>
          <p:cNvSpPr txBox="1"/>
          <p:nvPr/>
        </p:nvSpPr>
        <p:spPr>
          <a:xfrm>
            <a:off x="475500" y="971050"/>
            <a:ext cx="48495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Context </a:t>
            </a:r>
            <a:endParaRPr b="1" sz="4000">
              <a:solidFill>
                <a:schemeClr val="dk1"/>
              </a:solidFill>
              <a:latin typeface="DM Sans"/>
              <a:ea typeface="DM Sans"/>
              <a:cs typeface="DM Sans"/>
              <a:sym typeface="DM Sans"/>
            </a:endParaRPr>
          </a:p>
        </p:txBody>
      </p:sp>
      <p:pic>
        <p:nvPicPr>
          <p:cNvPr id="117" name="Google Shape;117;p19"/>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118" name="Google Shape;118;p19"/>
          <p:cNvSpPr txBox="1"/>
          <p:nvPr/>
        </p:nvSpPr>
        <p:spPr>
          <a:xfrm>
            <a:off x="475500" y="2515575"/>
            <a:ext cx="5088600" cy="206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Administrar un </a:t>
            </a:r>
            <a:r>
              <a:rPr lang="es" sz="1350">
                <a:latin typeface="DM Sans"/>
                <a:ea typeface="DM Sans"/>
                <a:cs typeface="DM Sans"/>
                <a:sym typeface="DM Sans"/>
              </a:rPr>
              <a:t>Context </a:t>
            </a:r>
            <a:r>
              <a:rPr lang="es" sz="1350">
                <a:latin typeface="DM Sans"/>
                <a:ea typeface="DM Sans"/>
                <a:cs typeface="DM Sans"/>
                <a:sym typeface="DM Sans"/>
              </a:rPr>
              <a:t>te servirá para gestionar y compartir datos a través de componentes sin tener que pasar manualmente props a lo largo de la jerarquía de componentes. Algunos casos de uso son: datos del usuario activo, configuración del tema de estilos de la interfaz, o la gestión del carrito de compras para tu proyecto.</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lnSpc>
                <a:spcPct val="115000"/>
              </a:lnSpc>
              <a:spcBef>
                <a:spcPts val="0"/>
              </a:spcBef>
              <a:spcAft>
                <a:spcPts val="0"/>
              </a:spcAft>
              <a:buNone/>
            </a:pPr>
            <a:r>
              <a:t/>
            </a:r>
            <a:endParaRPr sz="1350">
              <a:latin typeface="DM Sans"/>
              <a:ea typeface="DM Sans"/>
              <a:cs typeface="DM Sans"/>
              <a:sym typeface="DM Sans"/>
            </a:endParaRPr>
          </a:p>
        </p:txBody>
      </p:sp>
      <p:pic>
        <p:nvPicPr>
          <p:cNvPr id="119" name="Google Shape;119;p19"/>
          <p:cNvPicPr preferRelativeResize="0"/>
          <p:nvPr/>
        </p:nvPicPr>
        <p:blipFill>
          <a:blip r:embed="rId4">
            <a:alphaModFix/>
          </a:blip>
          <a:stretch>
            <a:fillRect/>
          </a:stretch>
        </p:blipFill>
        <p:spPr>
          <a:xfrm>
            <a:off x="5673600" y="0"/>
            <a:ext cx="3470406" cy="5143500"/>
          </a:xfrm>
          <a:prstGeom prst="rect">
            <a:avLst/>
          </a:prstGeom>
          <a:noFill/>
          <a:ln>
            <a:noFill/>
          </a:ln>
        </p:spPr>
      </p:pic>
      <p:pic>
        <p:nvPicPr>
          <p:cNvPr id="120" name="Google Shape;120;p19"/>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grpSp>
        <p:nvGrpSpPr>
          <p:cNvPr id="125" name="Google Shape;125;p20"/>
          <p:cNvGrpSpPr/>
          <p:nvPr/>
        </p:nvGrpSpPr>
        <p:grpSpPr>
          <a:xfrm>
            <a:off x="2172088" y="1852650"/>
            <a:ext cx="197100" cy="197100"/>
            <a:chOff x="2172088" y="1852650"/>
            <a:chExt cx="197100" cy="197100"/>
          </a:xfrm>
        </p:grpSpPr>
        <p:sp>
          <p:nvSpPr>
            <p:cNvPr id="126" name="Google Shape;126;p20"/>
            <p:cNvSpPr/>
            <p:nvPr/>
          </p:nvSpPr>
          <p:spPr>
            <a:xfrm>
              <a:off x="2172088" y="1852650"/>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0"/>
            <p:cNvSpPr/>
            <p:nvPr/>
          </p:nvSpPr>
          <p:spPr>
            <a:xfrm>
              <a:off x="2227138" y="1907700"/>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 name="Google Shape;128;p20"/>
          <p:cNvGrpSpPr/>
          <p:nvPr/>
        </p:nvGrpSpPr>
        <p:grpSpPr>
          <a:xfrm>
            <a:off x="2172088" y="2455775"/>
            <a:ext cx="197100" cy="197100"/>
            <a:chOff x="2172088" y="2455775"/>
            <a:chExt cx="197100" cy="197100"/>
          </a:xfrm>
        </p:grpSpPr>
        <p:sp>
          <p:nvSpPr>
            <p:cNvPr id="129" name="Google Shape;129;p20"/>
            <p:cNvSpPr/>
            <p:nvPr/>
          </p:nvSpPr>
          <p:spPr>
            <a:xfrm>
              <a:off x="2172088" y="2455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0"/>
            <p:cNvSpPr/>
            <p:nvPr/>
          </p:nvSpPr>
          <p:spPr>
            <a:xfrm>
              <a:off x="2227138" y="2510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31" name="Google Shape;131;p20"/>
          <p:cNvCxnSpPr>
            <a:endCxn id="129" idx="0"/>
          </p:cNvCxnSpPr>
          <p:nvPr/>
        </p:nvCxnSpPr>
        <p:spPr>
          <a:xfrm>
            <a:off x="2270638" y="2049875"/>
            <a:ext cx="0" cy="405900"/>
          </a:xfrm>
          <a:prstGeom prst="straightConnector1">
            <a:avLst/>
          </a:prstGeom>
          <a:noFill/>
          <a:ln cap="flat" cmpd="sng" w="9525">
            <a:solidFill>
              <a:srgbClr val="DEFC52"/>
            </a:solidFill>
            <a:prstDash val="solid"/>
            <a:round/>
            <a:headEnd len="med" w="med" type="none"/>
            <a:tailEnd len="med" w="med" type="none"/>
          </a:ln>
        </p:spPr>
      </p:cxnSp>
      <p:sp>
        <p:nvSpPr>
          <p:cNvPr id="132" name="Google Shape;132;p20"/>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Recapitulación Context</a:t>
            </a:r>
            <a:endParaRPr b="1" sz="4000">
              <a:solidFill>
                <a:schemeClr val="dk1"/>
              </a:solidFill>
              <a:latin typeface="DM Sans"/>
              <a:ea typeface="DM Sans"/>
              <a:cs typeface="DM Sans"/>
              <a:sym typeface="DM Sans"/>
            </a:endParaRPr>
          </a:p>
        </p:txBody>
      </p:sp>
      <p:sp>
        <p:nvSpPr>
          <p:cNvPr id="133" name="Google Shape;133;p20"/>
          <p:cNvSpPr txBox="1"/>
          <p:nvPr/>
        </p:nvSpPr>
        <p:spPr>
          <a:xfrm>
            <a:off x="2690573" y="1731413"/>
            <a:ext cx="4281300" cy="39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350">
                <a:solidFill>
                  <a:schemeClr val="dk1"/>
                </a:solidFill>
                <a:highlight>
                  <a:schemeClr val="lt1"/>
                </a:highlight>
                <a:latin typeface="DM Sans"/>
                <a:ea typeface="DM Sans"/>
                <a:cs typeface="DM Sans"/>
                <a:sym typeface="DM Sans"/>
              </a:rPr>
              <a:t>Permiten</a:t>
            </a:r>
            <a:r>
              <a:rPr lang="es" sz="1350">
                <a:solidFill>
                  <a:schemeClr val="dk1"/>
                </a:solidFill>
                <a:highlight>
                  <a:schemeClr val="lt1"/>
                </a:highlight>
                <a:latin typeface="DM Sans"/>
                <a:ea typeface="DM Sans"/>
                <a:cs typeface="DM Sans"/>
                <a:sym typeface="DM Sans"/>
              </a:rPr>
              <a:t> compartir un valor único cross-app.</a:t>
            </a:r>
            <a:endParaRPr sz="1350">
              <a:solidFill>
                <a:schemeClr val="dk1"/>
              </a:solidFill>
              <a:latin typeface="DM Sans"/>
              <a:ea typeface="DM Sans"/>
              <a:cs typeface="DM Sans"/>
              <a:sym typeface="DM Sans"/>
            </a:endParaRPr>
          </a:p>
        </p:txBody>
      </p:sp>
      <p:sp>
        <p:nvSpPr>
          <p:cNvPr id="134" name="Google Shape;134;p20"/>
          <p:cNvSpPr txBox="1"/>
          <p:nvPr/>
        </p:nvSpPr>
        <p:spPr>
          <a:xfrm>
            <a:off x="2690573" y="2334538"/>
            <a:ext cx="4281300" cy="39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1350">
                <a:solidFill>
                  <a:schemeClr val="dk1"/>
                </a:solidFill>
                <a:highlight>
                  <a:schemeClr val="lt1"/>
                </a:highlight>
                <a:latin typeface="DM Sans"/>
                <a:ea typeface="DM Sans"/>
                <a:cs typeface="DM Sans"/>
                <a:sym typeface="DM Sans"/>
              </a:rPr>
              <a:t>Reducen </a:t>
            </a:r>
            <a:r>
              <a:rPr lang="es" sz="1350">
                <a:solidFill>
                  <a:schemeClr val="dk1"/>
                </a:solidFill>
                <a:highlight>
                  <a:schemeClr val="lt1"/>
                </a:highlight>
                <a:latin typeface="DM Sans"/>
                <a:ea typeface="DM Sans"/>
                <a:cs typeface="DM Sans"/>
                <a:sym typeface="DM Sans"/>
              </a:rPr>
              <a:t>el wrapper-hell (infierno de nesting).</a:t>
            </a:r>
            <a:endParaRPr sz="1350">
              <a:solidFill>
                <a:schemeClr val="dk1"/>
              </a:solidFill>
              <a:latin typeface="DM Sans"/>
              <a:ea typeface="DM Sans"/>
              <a:cs typeface="DM Sans"/>
              <a:sym typeface="DM Sans"/>
            </a:endParaRPr>
          </a:p>
        </p:txBody>
      </p:sp>
      <p:grpSp>
        <p:nvGrpSpPr>
          <p:cNvPr id="135" name="Google Shape;135;p20"/>
          <p:cNvGrpSpPr/>
          <p:nvPr/>
        </p:nvGrpSpPr>
        <p:grpSpPr>
          <a:xfrm>
            <a:off x="2172088" y="3082350"/>
            <a:ext cx="197100" cy="197100"/>
            <a:chOff x="2172088" y="3058775"/>
            <a:chExt cx="197100" cy="197100"/>
          </a:xfrm>
        </p:grpSpPr>
        <p:sp>
          <p:nvSpPr>
            <p:cNvPr id="136" name="Google Shape;136;p20"/>
            <p:cNvSpPr/>
            <p:nvPr/>
          </p:nvSpPr>
          <p:spPr>
            <a:xfrm>
              <a:off x="2172088" y="3058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0"/>
            <p:cNvSpPr/>
            <p:nvPr/>
          </p:nvSpPr>
          <p:spPr>
            <a:xfrm>
              <a:off x="2227138" y="3113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38" name="Google Shape;138;p20"/>
          <p:cNvCxnSpPr>
            <a:endCxn id="136" idx="0"/>
          </p:cNvCxnSpPr>
          <p:nvPr/>
        </p:nvCxnSpPr>
        <p:spPr>
          <a:xfrm>
            <a:off x="2270638" y="2676450"/>
            <a:ext cx="0" cy="405900"/>
          </a:xfrm>
          <a:prstGeom prst="straightConnector1">
            <a:avLst/>
          </a:prstGeom>
          <a:noFill/>
          <a:ln cap="flat" cmpd="sng" w="9525">
            <a:solidFill>
              <a:srgbClr val="DEFC52"/>
            </a:solidFill>
            <a:prstDash val="solid"/>
            <a:round/>
            <a:headEnd len="med" w="med" type="none"/>
            <a:tailEnd len="med" w="med" type="none"/>
          </a:ln>
        </p:spPr>
      </p:cxnSp>
      <p:grpSp>
        <p:nvGrpSpPr>
          <p:cNvPr id="139" name="Google Shape;139;p20"/>
          <p:cNvGrpSpPr/>
          <p:nvPr/>
        </p:nvGrpSpPr>
        <p:grpSpPr>
          <a:xfrm>
            <a:off x="2172088" y="3685475"/>
            <a:ext cx="197100" cy="197100"/>
            <a:chOff x="2172088" y="3661775"/>
            <a:chExt cx="197100" cy="197100"/>
          </a:xfrm>
        </p:grpSpPr>
        <p:sp>
          <p:nvSpPr>
            <p:cNvPr id="140" name="Google Shape;140;p20"/>
            <p:cNvSpPr/>
            <p:nvPr/>
          </p:nvSpPr>
          <p:spPr>
            <a:xfrm>
              <a:off x="2172088" y="3661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0"/>
            <p:cNvSpPr/>
            <p:nvPr/>
          </p:nvSpPr>
          <p:spPr>
            <a:xfrm>
              <a:off x="2227138" y="3716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42" name="Google Shape;142;p20"/>
          <p:cNvCxnSpPr>
            <a:endCxn id="140" idx="0"/>
          </p:cNvCxnSpPr>
          <p:nvPr/>
        </p:nvCxnSpPr>
        <p:spPr>
          <a:xfrm>
            <a:off x="2270638" y="3279575"/>
            <a:ext cx="0" cy="405900"/>
          </a:xfrm>
          <a:prstGeom prst="straightConnector1">
            <a:avLst/>
          </a:prstGeom>
          <a:noFill/>
          <a:ln cap="flat" cmpd="sng" w="9525">
            <a:solidFill>
              <a:srgbClr val="DEFC52"/>
            </a:solidFill>
            <a:prstDash val="solid"/>
            <a:round/>
            <a:headEnd len="med" w="med" type="none"/>
            <a:tailEnd len="med" w="med" type="none"/>
          </a:ln>
        </p:spPr>
      </p:cxnSp>
      <p:sp>
        <p:nvSpPr>
          <p:cNvPr id="143" name="Google Shape;143;p20"/>
          <p:cNvSpPr txBox="1"/>
          <p:nvPr/>
        </p:nvSpPr>
        <p:spPr>
          <a:xfrm>
            <a:off x="2690573" y="2984688"/>
            <a:ext cx="4281300" cy="631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1350">
                <a:solidFill>
                  <a:schemeClr val="dk1"/>
                </a:solidFill>
                <a:highlight>
                  <a:schemeClr val="lt1"/>
                </a:highlight>
                <a:latin typeface="DM Sans"/>
                <a:ea typeface="DM Sans"/>
                <a:cs typeface="DM Sans"/>
                <a:sym typeface="DM Sans"/>
              </a:rPr>
              <a:t>No sólo pueden llevar values</a:t>
            </a:r>
            <a:r>
              <a:rPr lang="es" sz="1350">
                <a:solidFill>
                  <a:schemeClr val="dk1"/>
                </a:solidFill>
                <a:highlight>
                  <a:schemeClr val="lt1"/>
                </a:highlight>
                <a:latin typeface="DM Sans"/>
                <a:ea typeface="DM Sans"/>
                <a:cs typeface="DM Sans"/>
                <a:sym typeface="DM Sans"/>
              </a:rPr>
              <a:t>, sino cualquier tipo de </a:t>
            </a:r>
            <a:r>
              <a:rPr b="1" lang="es" sz="1350">
                <a:solidFill>
                  <a:schemeClr val="dk1"/>
                </a:solidFill>
                <a:highlight>
                  <a:schemeClr val="lt1"/>
                </a:highlight>
                <a:latin typeface="DM Sans"/>
                <a:ea typeface="DM Sans"/>
                <a:cs typeface="DM Sans"/>
                <a:sym typeface="DM Sans"/>
              </a:rPr>
              <a:t>fn</a:t>
            </a:r>
            <a:r>
              <a:rPr lang="es" sz="1350">
                <a:solidFill>
                  <a:schemeClr val="dk1"/>
                </a:solidFill>
                <a:highlight>
                  <a:schemeClr val="lt1"/>
                </a:highlight>
                <a:latin typeface="DM Sans"/>
                <a:ea typeface="DM Sans"/>
                <a:cs typeface="DM Sans"/>
                <a:sym typeface="DM Sans"/>
              </a:rPr>
              <a:t>, </a:t>
            </a:r>
            <a:r>
              <a:rPr b="1" lang="es" sz="1350">
                <a:solidFill>
                  <a:schemeClr val="dk1"/>
                </a:solidFill>
                <a:highlight>
                  <a:schemeClr val="lt1"/>
                </a:highlight>
                <a:latin typeface="DM Sans"/>
                <a:ea typeface="DM Sans"/>
                <a:cs typeface="DM Sans"/>
                <a:sym typeface="DM Sans"/>
              </a:rPr>
              <a:t>obj</a:t>
            </a:r>
            <a:r>
              <a:rPr lang="es" sz="1350">
                <a:solidFill>
                  <a:schemeClr val="dk1"/>
                </a:solidFill>
                <a:highlight>
                  <a:schemeClr val="lt1"/>
                </a:highlight>
                <a:latin typeface="DM Sans"/>
                <a:ea typeface="DM Sans"/>
                <a:cs typeface="DM Sans"/>
                <a:sym typeface="DM Sans"/>
              </a:rPr>
              <a:t> o referencia.</a:t>
            </a:r>
            <a:endParaRPr sz="1350">
              <a:solidFill>
                <a:schemeClr val="dk1"/>
              </a:solidFill>
              <a:latin typeface="DM Sans"/>
              <a:ea typeface="DM Sans"/>
              <a:cs typeface="DM Sans"/>
              <a:sym typeface="DM Sans"/>
            </a:endParaRPr>
          </a:p>
        </p:txBody>
      </p:sp>
      <p:sp>
        <p:nvSpPr>
          <p:cNvPr id="144" name="Google Shape;144;p20"/>
          <p:cNvSpPr txBox="1"/>
          <p:nvPr/>
        </p:nvSpPr>
        <p:spPr>
          <a:xfrm>
            <a:off x="2690573" y="3587813"/>
            <a:ext cx="4281300" cy="631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1350">
                <a:solidFill>
                  <a:schemeClr val="dk1"/>
                </a:solidFill>
                <a:highlight>
                  <a:schemeClr val="lt1"/>
                </a:highlight>
                <a:latin typeface="DM Sans"/>
                <a:ea typeface="DM Sans"/>
                <a:cs typeface="DM Sans"/>
                <a:sym typeface="DM Sans"/>
              </a:rPr>
              <a:t>Toman </a:t>
            </a:r>
            <a:r>
              <a:rPr lang="es" sz="1350">
                <a:solidFill>
                  <a:schemeClr val="dk1"/>
                </a:solidFill>
                <a:highlight>
                  <a:schemeClr val="lt1"/>
                </a:highlight>
                <a:latin typeface="DM Sans"/>
                <a:ea typeface="DM Sans"/>
                <a:cs typeface="DM Sans"/>
                <a:sym typeface="DM Sans"/>
              </a:rPr>
              <a:t>el valor del provider más cercano o el definido durante su declaración.</a:t>
            </a:r>
            <a:endParaRPr sz="1350">
              <a:solidFill>
                <a:schemeClr val="dk1"/>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1"/>
          <p:cNvSpPr txBox="1"/>
          <p:nvPr/>
        </p:nvSpPr>
        <p:spPr>
          <a:xfrm>
            <a:off x="475500" y="971050"/>
            <a:ext cx="4849500" cy="2401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b="1" lang="es" sz="4000">
                <a:solidFill>
                  <a:schemeClr val="dk1"/>
                </a:solidFill>
                <a:latin typeface="DM Sans"/>
                <a:ea typeface="DM Sans"/>
                <a:cs typeface="DM Sans"/>
                <a:sym typeface="DM Sans"/>
              </a:rPr>
              <a:t>Nodo Proveedor y Custom Provider</a:t>
            </a:r>
            <a:endParaRPr b="1" sz="4000">
              <a:solidFill>
                <a:schemeClr val="dk1"/>
              </a:solidFill>
              <a:latin typeface="DM Sans"/>
              <a:ea typeface="DM Sans"/>
              <a:cs typeface="DM Sans"/>
              <a:sym typeface="DM Sans"/>
            </a:endParaRPr>
          </a:p>
          <a:p>
            <a:pPr indent="0" lvl="0" marL="0" rtl="0" algn="l">
              <a:lnSpc>
                <a:spcPct val="90000"/>
              </a:lnSpc>
              <a:spcBef>
                <a:spcPts val="0"/>
              </a:spcBef>
              <a:spcAft>
                <a:spcPts val="0"/>
              </a:spcAft>
              <a:buClr>
                <a:schemeClr val="dk1"/>
              </a:buClr>
              <a:buSzPts val="1100"/>
              <a:buFont typeface="Arial"/>
              <a:buNone/>
            </a:pPr>
            <a:r>
              <a:t/>
            </a:r>
            <a:endParaRPr b="1" sz="4000">
              <a:solidFill>
                <a:schemeClr val="dk1"/>
              </a:solidFill>
              <a:latin typeface="DM Sans"/>
              <a:ea typeface="DM Sans"/>
              <a:cs typeface="DM Sans"/>
              <a:sym typeface="DM Sans"/>
            </a:endParaRPr>
          </a:p>
          <a:p>
            <a:pPr indent="0" lvl="0" marL="0" rtl="0" algn="l">
              <a:lnSpc>
                <a:spcPct val="90000"/>
              </a:lnSpc>
              <a:spcBef>
                <a:spcPts val="0"/>
              </a:spcBef>
              <a:spcAft>
                <a:spcPts val="0"/>
              </a:spcAft>
              <a:buNone/>
            </a:pPr>
            <a:r>
              <a:t/>
            </a:r>
            <a:endParaRPr b="1" sz="4000">
              <a:solidFill>
                <a:schemeClr val="dk1"/>
              </a:solidFill>
              <a:latin typeface="DM Sans"/>
              <a:ea typeface="DM Sans"/>
              <a:cs typeface="DM Sans"/>
              <a:sym typeface="DM Sans"/>
            </a:endParaRPr>
          </a:p>
        </p:txBody>
      </p:sp>
      <p:sp>
        <p:nvSpPr>
          <p:cNvPr id="150" name="Google Shape;150;p21"/>
          <p:cNvSpPr txBox="1"/>
          <p:nvPr/>
        </p:nvSpPr>
        <p:spPr>
          <a:xfrm>
            <a:off x="475500" y="2515575"/>
            <a:ext cx="5088600" cy="200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350">
                <a:latin typeface="DM Sans"/>
                <a:ea typeface="DM Sans"/>
                <a:cs typeface="DM Sans"/>
                <a:sym typeface="DM Sans"/>
              </a:rPr>
              <a:t>Creando un componente y, usándolo como Custom Provider, podrás administrar información de la aplicación de forma dinámica utilizando el hook </a:t>
            </a:r>
            <a:r>
              <a:rPr b="1" lang="es" sz="1350">
                <a:latin typeface="DM Sans"/>
                <a:ea typeface="DM Sans"/>
                <a:cs typeface="DM Sans"/>
                <a:sym typeface="DM Sans"/>
              </a:rPr>
              <a:t>useState</a:t>
            </a:r>
            <a:r>
              <a:rPr lang="es" sz="1350">
                <a:latin typeface="DM Sans"/>
                <a:ea typeface="DM Sans"/>
                <a:cs typeface="DM Sans"/>
                <a:sym typeface="DM Sans"/>
              </a:rPr>
              <a:t>. </a:t>
            </a:r>
            <a:r>
              <a:rPr lang="es" sz="1350">
                <a:solidFill>
                  <a:schemeClr val="dk1"/>
                </a:solidFill>
                <a:latin typeface="DM Sans"/>
                <a:ea typeface="DM Sans"/>
                <a:cs typeface="DM Sans"/>
                <a:sym typeface="DM Sans"/>
              </a:rPr>
              <a:t>Cada vez que ocurra una actualización de estado en el Custom Provider, esta se propagará a todos los componentes consumers.</a:t>
            </a:r>
            <a:endParaRPr sz="135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350">
                <a:solidFill>
                  <a:schemeClr val="dk1"/>
                </a:solidFill>
                <a:latin typeface="DM Sans"/>
                <a:ea typeface="DM Sans"/>
                <a:cs typeface="DM Sans"/>
                <a:sym typeface="DM Sans"/>
              </a:rPr>
              <a:t>Con un Custom Provider podrás administrar todos los productos que el usuario agregue al carrito, y crear funcionalidad que te permita manipularlo</a:t>
            </a:r>
            <a:endParaRPr sz="1350">
              <a:latin typeface="DM Sans"/>
              <a:ea typeface="DM Sans"/>
              <a:cs typeface="DM Sans"/>
              <a:sym typeface="DM Sans"/>
            </a:endParaRPr>
          </a:p>
        </p:txBody>
      </p:sp>
      <p:pic>
        <p:nvPicPr>
          <p:cNvPr id="151" name="Google Shape;151;p21"/>
          <p:cNvPicPr preferRelativeResize="0"/>
          <p:nvPr/>
        </p:nvPicPr>
        <p:blipFill>
          <a:blip r:embed="rId3">
            <a:alphaModFix/>
          </a:blip>
          <a:stretch>
            <a:fillRect/>
          </a:stretch>
        </p:blipFill>
        <p:spPr>
          <a:xfrm>
            <a:off x="7811413" y="4692275"/>
            <a:ext cx="1150750" cy="267575"/>
          </a:xfrm>
          <a:prstGeom prst="rect">
            <a:avLst/>
          </a:prstGeom>
          <a:noFill/>
          <a:ln>
            <a:noFill/>
          </a:ln>
        </p:spPr>
      </p:pic>
      <p:pic>
        <p:nvPicPr>
          <p:cNvPr id="152" name="Google Shape;152;p21"/>
          <p:cNvPicPr preferRelativeResize="0"/>
          <p:nvPr/>
        </p:nvPicPr>
        <p:blipFill>
          <a:blip r:embed="rId4">
            <a:alphaModFix/>
          </a:blip>
          <a:stretch>
            <a:fillRect/>
          </a:stretch>
        </p:blipFill>
        <p:spPr>
          <a:xfrm>
            <a:off x="5673600" y="0"/>
            <a:ext cx="3470406" cy="5143500"/>
          </a:xfrm>
          <a:prstGeom prst="rect">
            <a:avLst/>
          </a:prstGeom>
          <a:noFill/>
          <a:ln>
            <a:noFill/>
          </a:ln>
        </p:spPr>
      </p:pic>
      <p:pic>
        <p:nvPicPr>
          <p:cNvPr id="153" name="Google Shape;153;p21"/>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2"/>
          <p:cNvSpPr txBox="1"/>
          <p:nvPr/>
        </p:nvSpPr>
        <p:spPr>
          <a:xfrm>
            <a:off x="475500" y="971050"/>
            <a:ext cx="4849500" cy="1293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R</a:t>
            </a:r>
            <a:r>
              <a:rPr b="1" lang="es" sz="4000">
                <a:solidFill>
                  <a:schemeClr val="dk1"/>
                </a:solidFill>
                <a:latin typeface="DM Sans"/>
                <a:ea typeface="DM Sans"/>
                <a:cs typeface="DM Sans"/>
                <a:sym typeface="DM Sans"/>
              </a:rPr>
              <a:t>endering condicional</a:t>
            </a:r>
            <a:endParaRPr b="1" sz="4000">
              <a:solidFill>
                <a:schemeClr val="dk1"/>
              </a:solidFill>
              <a:latin typeface="DM Sans"/>
              <a:ea typeface="DM Sans"/>
              <a:cs typeface="DM Sans"/>
              <a:sym typeface="DM Sans"/>
            </a:endParaRPr>
          </a:p>
        </p:txBody>
      </p:sp>
      <p:pic>
        <p:nvPicPr>
          <p:cNvPr id="159" name="Google Shape;159;p22"/>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160" name="Google Shape;160;p22"/>
          <p:cNvSpPr txBox="1"/>
          <p:nvPr/>
        </p:nvSpPr>
        <p:spPr>
          <a:xfrm>
            <a:off x="475500" y="2515575"/>
            <a:ext cx="4751100" cy="158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350">
                <a:solidFill>
                  <a:schemeClr val="dk1"/>
                </a:solidFill>
                <a:latin typeface="DM Sans"/>
                <a:ea typeface="DM Sans"/>
                <a:cs typeface="DM Sans"/>
                <a:sym typeface="DM Sans"/>
              </a:rPr>
              <a:t>El rendering condicional en React se refiere a la capacidad de mostrar diferentes elementos o componentes en función de ciertas condiciones.</a:t>
            </a:r>
            <a:endParaRPr sz="135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rPr lang="es" sz="1350">
                <a:latin typeface="DM Sans"/>
                <a:ea typeface="DM Sans"/>
                <a:cs typeface="DM Sans"/>
                <a:sym typeface="DM Sans"/>
              </a:rPr>
              <a:t>Hay diversas maneras de alterar el renderizado de componente en base a información que provenga del estado, de props o de datos externos.</a:t>
            </a:r>
            <a:endParaRPr b="1" sz="1350">
              <a:latin typeface="DM Sans"/>
              <a:ea typeface="DM Sans"/>
              <a:cs typeface="DM Sans"/>
              <a:sym typeface="DM Sans"/>
            </a:endParaRPr>
          </a:p>
        </p:txBody>
      </p:sp>
      <p:pic>
        <p:nvPicPr>
          <p:cNvPr id="161" name="Google Shape;161;p22"/>
          <p:cNvPicPr preferRelativeResize="0"/>
          <p:nvPr/>
        </p:nvPicPr>
        <p:blipFill>
          <a:blip r:embed="rId4">
            <a:alphaModFix/>
          </a:blip>
          <a:stretch>
            <a:fillRect/>
          </a:stretch>
        </p:blipFill>
        <p:spPr>
          <a:xfrm>
            <a:off x="5673600" y="0"/>
            <a:ext cx="3470406" cy="5143500"/>
          </a:xfrm>
          <a:prstGeom prst="rect">
            <a:avLst/>
          </a:prstGeom>
          <a:noFill/>
          <a:ln>
            <a:noFill/>
          </a:ln>
        </p:spPr>
      </p:pic>
      <p:pic>
        <p:nvPicPr>
          <p:cNvPr id="162" name="Google Shape;162;p22"/>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23"/>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168" name="Google Shape;168;p23"/>
          <p:cNvSpPr txBox="1"/>
          <p:nvPr/>
        </p:nvSpPr>
        <p:spPr>
          <a:xfrm>
            <a:off x="475500" y="2515575"/>
            <a:ext cx="5088600" cy="134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350">
                <a:latin typeface="DM Sans"/>
                <a:ea typeface="DM Sans"/>
                <a:cs typeface="DM Sans"/>
                <a:sym typeface="DM Sans"/>
              </a:rPr>
              <a:t>Utilizando operadores condicionales, también podemos modificar distintas características de los elementos de la interfaz, como su className o Style, y así generar diferente impacto visual dependiendo de las props que recibe un componente o de datos externos.</a:t>
            </a:r>
            <a:endParaRPr b="1" sz="1350">
              <a:latin typeface="DM Sans"/>
              <a:ea typeface="DM Sans"/>
              <a:cs typeface="DM Sans"/>
              <a:sym typeface="DM Sans"/>
            </a:endParaRPr>
          </a:p>
        </p:txBody>
      </p:sp>
      <p:pic>
        <p:nvPicPr>
          <p:cNvPr id="169" name="Google Shape;169;p23"/>
          <p:cNvPicPr preferRelativeResize="0"/>
          <p:nvPr/>
        </p:nvPicPr>
        <p:blipFill>
          <a:blip r:embed="rId4">
            <a:alphaModFix/>
          </a:blip>
          <a:stretch>
            <a:fillRect/>
          </a:stretch>
        </p:blipFill>
        <p:spPr>
          <a:xfrm>
            <a:off x="5673600" y="0"/>
            <a:ext cx="3470406" cy="5143500"/>
          </a:xfrm>
          <a:prstGeom prst="rect">
            <a:avLst/>
          </a:prstGeom>
          <a:noFill/>
          <a:ln>
            <a:noFill/>
          </a:ln>
        </p:spPr>
      </p:pic>
      <p:pic>
        <p:nvPicPr>
          <p:cNvPr id="170" name="Google Shape;170;p23"/>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171" name="Google Shape;171;p23"/>
          <p:cNvSpPr txBox="1"/>
          <p:nvPr/>
        </p:nvSpPr>
        <p:spPr>
          <a:xfrm>
            <a:off x="475500" y="971050"/>
            <a:ext cx="4849500" cy="1293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Rendering condicional</a:t>
            </a:r>
            <a:endParaRPr b="1" sz="4000">
              <a:solidFill>
                <a:schemeClr val="dk1"/>
              </a:solidFill>
              <a:latin typeface="DM Sans"/>
              <a:ea typeface="DM Sans"/>
              <a:cs typeface="DM Sans"/>
              <a:sym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4"/>
          <p:cNvSpPr txBox="1"/>
          <p:nvPr/>
        </p:nvSpPr>
        <p:spPr>
          <a:xfrm>
            <a:off x="475500" y="971050"/>
            <a:ext cx="4849500" cy="2401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b="1" lang="es" sz="4000">
                <a:solidFill>
                  <a:schemeClr val="dk1"/>
                </a:solidFill>
                <a:latin typeface="DM Sans"/>
                <a:ea typeface="DM Sans"/>
                <a:cs typeface="DM Sans"/>
                <a:sym typeface="DM Sans"/>
              </a:rPr>
              <a:t> Render optimization</a:t>
            </a:r>
            <a:endParaRPr b="1" sz="4000">
              <a:solidFill>
                <a:schemeClr val="dk1"/>
              </a:solidFill>
              <a:latin typeface="DM Sans"/>
              <a:ea typeface="DM Sans"/>
              <a:cs typeface="DM Sans"/>
              <a:sym typeface="DM Sans"/>
            </a:endParaRPr>
          </a:p>
          <a:p>
            <a:pPr indent="0" lvl="0" marL="0" rtl="0" algn="l">
              <a:lnSpc>
                <a:spcPct val="90000"/>
              </a:lnSpc>
              <a:spcBef>
                <a:spcPts val="0"/>
              </a:spcBef>
              <a:spcAft>
                <a:spcPts val="0"/>
              </a:spcAft>
              <a:buClr>
                <a:schemeClr val="dk1"/>
              </a:buClr>
              <a:buSzPts val="1100"/>
              <a:buFont typeface="Arial"/>
              <a:buNone/>
            </a:pPr>
            <a:r>
              <a:t/>
            </a:r>
            <a:endParaRPr b="1" sz="4000">
              <a:solidFill>
                <a:schemeClr val="dk1"/>
              </a:solidFill>
              <a:latin typeface="DM Sans"/>
              <a:ea typeface="DM Sans"/>
              <a:cs typeface="DM Sans"/>
              <a:sym typeface="DM Sans"/>
            </a:endParaRPr>
          </a:p>
          <a:p>
            <a:pPr indent="0" lvl="0" marL="0" rtl="0" algn="l">
              <a:lnSpc>
                <a:spcPct val="90000"/>
              </a:lnSpc>
              <a:spcBef>
                <a:spcPts val="0"/>
              </a:spcBef>
              <a:spcAft>
                <a:spcPts val="0"/>
              </a:spcAft>
              <a:buNone/>
            </a:pPr>
            <a:r>
              <a:t/>
            </a:r>
            <a:endParaRPr b="1" sz="4000">
              <a:solidFill>
                <a:schemeClr val="dk1"/>
              </a:solidFill>
              <a:latin typeface="DM Sans"/>
              <a:ea typeface="DM Sans"/>
              <a:cs typeface="DM Sans"/>
              <a:sym typeface="DM Sans"/>
            </a:endParaRPr>
          </a:p>
        </p:txBody>
      </p:sp>
      <p:pic>
        <p:nvPicPr>
          <p:cNvPr id="177" name="Google Shape;177;p24"/>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178" name="Google Shape;178;p24"/>
          <p:cNvSpPr txBox="1"/>
          <p:nvPr/>
        </p:nvSpPr>
        <p:spPr>
          <a:xfrm>
            <a:off x="475500" y="2515575"/>
            <a:ext cx="5088600" cy="182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1350">
                <a:latin typeface="DM Sans"/>
                <a:ea typeface="DM Sans"/>
                <a:cs typeface="DM Sans"/>
                <a:sym typeface="DM Sans"/>
              </a:rPr>
              <a:t>Memo </a:t>
            </a:r>
            <a:r>
              <a:rPr lang="es" sz="1350">
                <a:latin typeface="DM Sans"/>
                <a:ea typeface="DM Sans"/>
                <a:cs typeface="DM Sans"/>
                <a:sym typeface="DM Sans"/>
              </a:rPr>
              <a:t>es una función de optimización de rendimiento que  sirve para memorizar o almacenar en caché el resultado de un componente, evitando su renderización innecesaria cuando las props no han cambiado. Al envolver un componente con React.memo, se compara las props actuales con las props anteriores, y solo se vuelve a renderizar si hay cambios. </a:t>
            </a:r>
            <a:endParaRPr b="1" sz="1350">
              <a:latin typeface="DM Sans"/>
              <a:ea typeface="DM Sans"/>
              <a:cs typeface="DM Sans"/>
              <a:sym typeface="DM Sans"/>
            </a:endParaRPr>
          </a:p>
        </p:txBody>
      </p:sp>
      <p:pic>
        <p:nvPicPr>
          <p:cNvPr id="179" name="Google Shape;179;p24"/>
          <p:cNvPicPr preferRelativeResize="0"/>
          <p:nvPr/>
        </p:nvPicPr>
        <p:blipFill>
          <a:blip r:embed="rId4">
            <a:alphaModFix/>
          </a:blip>
          <a:stretch>
            <a:fillRect/>
          </a:stretch>
        </p:blipFill>
        <p:spPr>
          <a:xfrm>
            <a:off x="5673600" y="0"/>
            <a:ext cx="3470406" cy="5143500"/>
          </a:xfrm>
          <a:prstGeom prst="rect">
            <a:avLst/>
          </a:prstGeom>
          <a:noFill/>
          <a:ln>
            <a:noFill/>
          </a:ln>
        </p:spPr>
      </p:pic>
      <p:pic>
        <p:nvPicPr>
          <p:cNvPr id="180" name="Google Shape;180;p24"/>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5"/>
          <p:cNvSpPr txBox="1"/>
          <p:nvPr/>
        </p:nvSpPr>
        <p:spPr>
          <a:xfrm>
            <a:off x="475500" y="1181850"/>
            <a:ext cx="7169400" cy="66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500">
                <a:solidFill>
                  <a:schemeClr val="dk1"/>
                </a:solidFill>
                <a:latin typeface="DM Sans"/>
                <a:ea typeface="DM Sans"/>
                <a:cs typeface="DM Sans"/>
                <a:sym typeface="DM Sans"/>
              </a:rPr>
              <a:t>El costo de memo</a:t>
            </a:r>
            <a:endParaRPr b="1" sz="3500">
              <a:solidFill>
                <a:schemeClr val="dk1"/>
              </a:solidFill>
              <a:latin typeface="DM Sans"/>
              <a:ea typeface="DM Sans"/>
              <a:cs typeface="DM Sans"/>
              <a:sym typeface="DM Sans"/>
            </a:endParaRPr>
          </a:p>
        </p:txBody>
      </p:sp>
      <p:sp>
        <p:nvSpPr>
          <p:cNvPr id="186" name="Google Shape;186;p25"/>
          <p:cNvSpPr txBox="1"/>
          <p:nvPr/>
        </p:nvSpPr>
        <p:spPr>
          <a:xfrm>
            <a:off x="475500" y="2235575"/>
            <a:ext cx="84600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1800">
                <a:solidFill>
                  <a:schemeClr val="dk2"/>
                </a:solidFill>
                <a:latin typeface="DM Sans"/>
                <a:ea typeface="DM Sans"/>
                <a:cs typeface="DM Sans"/>
                <a:sym typeface="DM Sans"/>
              </a:rPr>
              <a:t>Ten en cuenta, que el uso de memo tiene un costo secundario asociado, ya que React debe almacenar en memoria una representación del componente y realizar una verificación adicional de props.</a:t>
            </a:r>
            <a:endParaRPr sz="1800">
              <a:solidFill>
                <a:schemeClr val="dk2"/>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800">
              <a:solidFill>
                <a:schemeClr val="dk2"/>
              </a:solidFill>
              <a:latin typeface="DM Sans"/>
              <a:ea typeface="DM Sans"/>
              <a:cs typeface="DM Sans"/>
              <a:sym typeface="DM Sans"/>
            </a:endParaRPr>
          </a:p>
          <a:p>
            <a:pPr indent="0" lvl="0" marL="0" rtl="0" algn="l">
              <a:spcBef>
                <a:spcPts val="0"/>
              </a:spcBef>
              <a:spcAft>
                <a:spcPts val="0"/>
              </a:spcAft>
              <a:buNone/>
            </a:pPr>
            <a:r>
              <a:rPr lang="es" sz="1800">
                <a:solidFill>
                  <a:schemeClr val="dk2"/>
                </a:solidFill>
                <a:latin typeface="DM Sans"/>
                <a:ea typeface="DM Sans"/>
                <a:cs typeface="DM Sans"/>
                <a:sym typeface="DM Sans"/>
              </a:rPr>
              <a:t>Por este motivo, es importante utilizar memoization solo en los casos recomendados y realizar un diagnóstico previo de tu aplicación para determinar si su uso implica una mejora real en la performance.</a:t>
            </a:r>
            <a:endParaRPr b="1" sz="1800">
              <a:solidFill>
                <a:srgbClr val="B7B7B7"/>
              </a:solidFill>
              <a:latin typeface="Helvetica Neue"/>
              <a:ea typeface="Helvetica Neue"/>
              <a:cs typeface="Helvetica Neue"/>
              <a:sym typeface="Helvetica Neue"/>
            </a:endParaRPr>
          </a:p>
        </p:txBody>
      </p:sp>
      <p:grpSp>
        <p:nvGrpSpPr>
          <p:cNvPr id="187" name="Google Shape;187;p25"/>
          <p:cNvGrpSpPr/>
          <p:nvPr/>
        </p:nvGrpSpPr>
        <p:grpSpPr>
          <a:xfrm>
            <a:off x="0" y="-7400"/>
            <a:ext cx="9143925" cy="44400"/>
            <a:chOff x="0" y="-7400"/>
            <a:chExt cx="9143925" cy="44400"/>
          </a:xfrm>
        </p:grpSpPr>
        <p:sp>
          <p:nvSpPr>
            <p:cNvPr id="188" name="Google Shape;188;p25"/>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DM Sans"/>
                <a:ea typeface="DM Sans"/>
                <a:cs typeface="DM Sans"/>
                <a:sym typeface="DM Sans"/>
              </a:endParaRPr>
            </a:p>
          </p:txBody>
        </p:sp>
        <p:sp>
          <p:nvSpPr>
            <p:cNvPr id="189" name="Google Shape;189;p25"/>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grpSp>
        <p:nvGrpSpPr>
          <p:cNvPr id="194" name="Google Shape;194;p26"/>
          <p:cNvGrpSpPr/>
          <p:nvPr/>
        </p:nvGrpSpPr>
        <p:grpSpPr>
          <a:xfrm>
            <a:off x="4202551" y="1088764"/>
            <a:ext cx="738900" cy="738974"/>
            <a:chOff x="974706" y="2467173"/>
            <a:chExt cx="738900" cy="738900"/>
          </a:xfrm>
        </p:grpSpPr>
        <p:sp>
          <p:nvSpPr>
            <p:cNvPr id="195" name="Google Shape;195;p26"/>
            <p:cNvSpPr/>
            <p:nvPr/>
          </p:nvSpPr>
          <p:spPr>
            <a:xfrm>
              <a:off x="974706" y="2467173"/>
              <a:ext cx="738900" cy="738900"/>
            </a:xfrm>
            <a:prstGeom prst="ellipse">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6" name="Google Shape;196;p26" title="ícono de actividad en clase"/>
            <p:cNvPicPr preferRelativeResize="0"/>
            <p:nvPr/>
          </p:nvPicPr>
          <p:blipFill>
            <a:blip r:embed="rId3">
              <a:alphaModFix/>
            </a:blip>
            <a:stretch>
              <a:fillRect/>
            </a:stretch>
          </p:blipFill>
          <p:spPr>
            <a:xfrm>
              <a:off x="1109750" y="2610275"/>
              <a:ext cx="452650" cy="452650"/>
            </a:xfrm>
            <a:prstGeom prst="rect">
              <a:avLst/>
            </a:prstGeom>
            <a:noFill/>
            <a:ln>
              <a:noFill/>
            </a:ln>
          </p:spPr>
        </p:pic>
      </p:grpSp>
      <p:sp>
        <p:nvSpPr>
          <p:cNvPr id="197" name="Google Shape;197;p26"/>
          <p:cNvSpPr txBox="1"/>
          <p:nvPr/>
        </p:nvSpPr>
        <p:spPr>
          <a:xfrm>
            <a:off x="1547025" y="1925250"/>
            <a:ext cx="6221400" cy="18471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Clr>
                <a:schemeClr val="dk1"/>
              </a:buClr>
              <a:buSzPts val="1100"/>
              <a:buFont typeface="Arial"/>
              <a:buNone/>
            </a:pPr>
            <a:r>
              <a:rPr b="1" lang="es" sz="4000">
                <a:solidFill>
                  <a:schemeClr val="dk1"/>
                </a:solidFill>
                <a:latin typeface="DM Sans"/>
                <a:ea typeface="DM Sans"/>
                <a:cs typeface="DM Sans"/>
                <a:sym typeface="DM Sans"/>
              </a:rPr>
              <a:t>User Context</a:t>
            </a:r>
            <a:endParaRPr b="1" sz="4000">
              <a:solidFill>
                <a:schemeClr val="dk1"/>
              </a:solidFill>
              <a:latin typeface="DM Sans"/>
              <a:ea typeface="DM Sans"/>
              <a:cs typeface="DM Sans"/>
              <a:sym typeface="DM Sans"/>
            </a:endParaRPr>
          </a:p>
          <a:p>
            <a:pPr indent="0" lvl="0" marL="0" rtl="0" algn="ctr">
              <a:lnSpc>
                <a:spcPct val="90000"/>
              </a:lnSpc>
              <a:spcBef>
                <a:spcPts val="0"/>
              </a:spcBef>
              <a:spcAft>
                <a:spcPts val="0"/>
              </a:spcAft>
              <a:buClr>
                <a:schemeClr val="dk1"/>
              </a:buClr>
              <a:buSzPts val="1100"/>
              <a:buFont typeface="Arial"/>
              <a:buNone/>
            </a:pPr>
            <a:r>
              <a:t/>
            </a:r>
            <a:endParaRPr b="1" sz="4000">
              <a:solidFill>
                <a:schemeClr val="dk1"/>
              </a:solidFill>
              <a:latin typeface="DM Sans"/>
              <a:ea typeface="DM Sans"/>
              <a:cs typeface="DM Sans"/>
              <a:sym typeface="DM Sans"/>
            </a:endParaRPr>
          </a:p>
          <a:p>
            <a:pPr indent="0" lvl="0" marL="0" rtl="0" algn="ctr">
              <a:lnSpc>
                <a:spcPct val="90000"/>
              </a:lnSpc>
              <a:spcBef>
                <a:spcPts val="0"/>
              </a:spcBef>
              <a:spcAft>
                <a:spcPts val="0"/>
              </a:spcAft>
              <a:buNone/>
            </a:pPr>
            <a:r>
              <a:t/>
            </a:r>
            <a:endParaRPr b="1" sz="4000">
              <a:solidFill>
                <a:schemeClr val="dk1"/>
              </a:solidFill>
              <a:latin typeface="DM Sans"/>
              <a:ea typeface="DM Sans"/>
              <a:cs typeface="DM Sans"/>
              <a:sym typeface="DM Sans"/>
            </a:endParaRPr>
          </a:p>
        </p:txBody>
      </p:sp>
      <p:sp>
        <p:nvSpPr>
          <p:cNvPr id="198" name="Google Shape;198;p26"/>
          <p:cNvSpPr txBox="1"/>
          <p:nvPr/>
        </p:nvSpPr>
        <p:spPr>
          <a:xfrm>
            <a:off x="987300" y="3287388"/>
            <a:ext cx="7169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000">
                <a:solidFill>
                  <a:srgbClr val="999999"/>
                </a:solidFill>
                <a:latin typeface="DM Sans"/>
                <a:ea typeface="DM Sans"/>
                <a:cs typeface="DM Sans"/>
                <a:sym typeface="DM Sans"/>
              </a:rPr>
              <a:t>¡Vamos a recuperar lo trabajado durante la semana! </a:t>
            </a:r>
            <a:endParaRPr sz="2000">
              <a:solidFill>
                <a:srgbClr val="999999"/>
              </a:solidFill>
              <a:latin typeface="DM Sans"/>
              <a:ea typeface="DM Sans"/>
              <a:cs typeface="DM Sans"/>
              <a:sym typeface="DM Sans"/>
            </a:endParaRPr>
          </a:p>
        </p:txBody>
      </p:sp>
      <p:sp>
        <p:nvSpPr>
          <p:cNvPr id="199" name="Google Shape;199;p26"/>
          <p:cNvSpPr txBox="1"/>
          <p:nvPr/>
        </p:nvSpPr>
        <p:spPr>
          <a:xfrm>
            <a:off x="987300" y="3849138"/>
            <a:ext cx="7169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800">
                <a:solidFill>
                  <a:srgbClr val="83AEFB"/>
                </a:solidFill>
                <a:latin typeface="DM Sans"/>
                <a:ea typeface="DM Sans"/>
                <a:cs typeface="DM Sans"/>
                <a:sym typeface="DM Sans"/>
              </a:rPr>
              <a:t>Duración: </a:t>
            </a:r>
            <a:r>
              <a:rPr b="1" lang="es" sz="1800">
                <a:solidFill>
                  <a:srgbClr val="83AEFB"/>
                </a:solidFill>
                <a:latin typeface="DM Sans"/>
                <a:ea typeface="DM Sans"/>
                <a:cs typeface="DM Sans"/>
                <a:sym typeface="DM Sans"/>
              </a:rPr>
              <a:t>10</a:t>
            </a:r>
            <a:r>
              <a:rPr b="1" lang="es" sz="1800">
                <a:solidFill>
                  <a:srgbClr val="83AEFB"/>
                </a:solidFill>
                <a:latin typeface="DM Sans"/>
                <a:ea typeface="DM Sans"/>
                <a:cs typeface="DM Sans"/>
                <a:sym typeface="DM Sans"/>
              </a:rPr>
              <a:t> </a:t>
            </a:r>
            <a:r>
              <a:rPr b="1" lang="es" sz="1800">
                <a:solidFill>
                  <a:srgbClr val="83AEFB"/>
                </a:solidFill>
                <a:latin typeface="DM Sans"/>
                <a:ea typeface="DM Sans"/>
                <a:cs typeface="DM Sans"/>
                <a:sym typeface="DM Sans"/>
              </a:rPr>
              <a:t>minutos</a:t>
            </a:r>
            <a:r>
              <a:rPr lang="es" sz="1800">
                <a:solidFill>
                  <a:srgbClr val="83AEFB"/>
                </a:solidFill>
                <a:latin typeface="DM Sans"/>
                <a:ea typeface="DM Sans"/>
                <a:cs typeface="DM Sans"/>
                <a:sym typeface="DM Sans"/>
              </a:rPr>
              <a:t>.</a:t>
            </a:r>
            <a:endParaRPr sz="1800">
              <a:solidFill>
                <a:srgbClr val="83AEFB"/>
              </a:solidFill>
              <a:latin typeface="DM Sans"/>
              <a:ea typeface="DM Sans"/>
              <a:cs typeface="DM Sans"/>
              <a:sym typeface="DM Sans"/>
            </a:endParaRPr>
          </a:p>
        </p:txBody>
      </p:sp>
      <p:grpSp>
        <p:nvGrpSpPr>
          <p:cNvPr id="200" name="Google Shape;200;p26"/>
          <p:cNvGrpSpPr/>
          <p:nvPr/>
        </p:nvGrpSpPr>
        <p:grpSpPr>
          <a:xfrm>
            <a:off x="0" y="-7400"/>
            <a:ext cx="9143925" cy="44400"/>
            <a:chOff x="0" y="-7400"/>
            <a:chExt cx="9143925" cy="44400"/>
          </a:xfrm>
        </p:grpSpPr>
        <p:sp>
          <p:nvSpPr>
            <p:cNvPr id="201" name="Google Shape;201;p26"/>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DM Sans"/>
                <a:ea typeface="DM Sans"/>
                <a:cs typeface="DM Sans"/>
                <a:sym typeface="DM Sans"/>
              </a:endParaRPr>
            </a:p>
          </p:txBody>
        </p:sp>
        <p:sp>
          <p:nvSpPr>
            <p:cNvPr id="202" name="Google Shape;202;p26"/>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6" name="Shape 206"/>
        <p:cNvGrpSpPr/>
        <p:nvPr/>
      </p:nvGrpSpPr>
      <p:grpSpPr>
        <a:xfrm>
          <a:off x="0" y="0"/>
          <a:ext cx="0" cy="0"/>
          <a:chOff x="0" y="0"/>
          <a:chExt cx="0" cy="0"/>
        </a:xfrm>
      </p:grpSpPr>
      <p:sp>
        <p:nvSpPr>
          <p:cNvPr id="207" name="Google Shape;207;p27"/>
          <p:cNvSpPr/>
          <p:nvPr/>
        </p:nvSpPr>
        <p:spPr>
          <a:xfrm>
            <a:off x="485050" y="3937450"/>
            <a:ext cx="8183700" cy="653400"/>
          </a:xfrm>
          <a:prstGeom prst="rect">
            <a:avLst/>
          </a:prstGeom>
          <a:solidFill>
            <a:srgbClr val="F0F7F5"/>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s" sz="1800">
                <a:solidFill>
                  <a:schemeClr val="accent5"/>
                </a:solidFill>
                <a:latin typeface="DM Sans"/>
                <a:ea typeface="DM Sans"/>
                <a:cs typeface="DM Sans"/>
                <a:sym typeface="DM Sans"/>
              </a:rPr>
              <a:t>Duración: </a:t>
            </a:r>
            <a:r>
              <a:rPr b="1" lang="es" sz="1800">
                <a:solidFill>
                  <a:schemeClr val="accent5"/>
                </a:solidFill>
                <a:latin typeface="DM Sans"/>
                <a:ea typeface="DM Sans"/>
                <a:cs typeface="DM Sans"/>
                <a:sym typeface="DM Sans"/>
              </a:rPr>
              <a:t>15 </a:t>
            </a:r>
            <a:r>
              <a:rPr b="1" lang="es" sz="1800">
                <a:solidFill>
                  <a:schemeClr val="accent5"/>
                </a:solidFill>
                <a:latin typeface="DM Sans"/>
                <a:ea typeface="DM Sans"/>
                <a:cs typeface="DM Sans"/>
                <a:sym typeface="DM Sans"/>
              </a:rPr>
              <a:t>minutos</a:t>
            </a:r>
            <a:r>
              <a:rPr lang="es" sz="1800">
                <a:solidFill>
                  <a:schemeClr val="accent5"/>
                </a:solidFill>
                <a:latin typeface="DM Sans"/>
                <a:ea typeface="DM Sans"/>
                <a:cs typeface="DM Sans"/>
                <a:sym typeface="DM Sans"/>
              </a:rPr>
              <a:t>.</a:t>
            </a:r>
            <a:endParaRPr sz="1800">
              <a:solidFill>
                <a:schemeClr val="accent5"/>
              </a:solidFill>
              <a:latin typeface="DM Sans"/>
              <a:ea typeface="DM Sans"/>
              <a:cs typeface="DM Sans"/>
              <a:sym typeface="DM Sans"/>
            </a:endParaRPr>
          </a:p>
          <a:p>
            <a:pPr indent="0" lvl="0" marL="0" rtl="0" algn="l">
              <a:spcBef>
                <a:spcPts val="0"/>
              </a:spcBef>
              <a:spcAft>
                <a:spcPts val="0"/>
              </a:spcAft>
              <a:buNone/>
            </a:pPr>
            <a:r>
              <a:t/>
            </a:r>
            <a:endParaRPr/>
          </a:p>
        </p:txBody>
      </p:sp>
      <p:sp>
        <p:nvSpPr>
          <p:cNvPr id="208" name="Google Shape;208;p27"/>
          <p:cNvSpPr/>
          <p:nvPr/>
        </p:nvSpPr>
        <p:spPr>
          <a:xfrm>
            <a:off x="475500" y="1694775"/>
            <a:ext cx="4131000" cy="2159700"/>
          </a:xfrm>
          <a:prstGeom prst="rect">
            <a:avLst/>
          </a:prstGeom>
          <a:solidFill>
            <a:srgbClr val="F0F7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9" name="Google Shape;209;p27"/>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210" name="Google Shape;210;p27"/>
          <p:cNvSpPr txBox="1"/>
          <p:nvPr/>
        </p:nvSpPr>
        <p:spPr>
          <a:xfrm>
            <a:off x="469200" y="1077850"/>
            <a:ext cx="7353300" cy="53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2500">
                <a:solidFill>
                  <a:schemeClr val="dk1"/>
                </a:solidFill>
                <a:latin typeface="DM Sans"/>
                <a:ea typeface="DM Sans"/>
                <a:cs typeface="DM Sans"/>
                <a:sym typeface="DM Sans"/>
              </a:rPr>
              <a:t>User Context</a:t>
            </a:r>
            <a:endParaRPr b="1" sz="2500">
              <a:solidFill>
                <a:schemeClr val="dk1"/>
              </a:solidFill>
              <a:latin typeface="DM Sans"/>
              <a:ea typeface="DM Sans"/>
              <a:cs typeface="DM Sans"/>
              <a:sym typeface="DM Sans"/>
            </a:endParaRPr>
          </a:p>
        </p:txBody>
      </p:sp>
      <p:sp>
        <p:nvSpPr>
          <p:cNvPr id="211" name="Google Shape;211;p27"/>
          <p:cNvSpPr txBox="1"/>
          <p:nvPr/>
        </p:nvSpPr>
        <p:spPr>
          <a:xfrm>
            <a:off x="900300" y="455050"/>
            <a:ext cx="3831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1600">
                <a:solidFill>
                  <a:schemeClr val="dk1"/>
                </a:solidFill>
                <a:latin typeface="DM Sans"/>
                <a:ea typeface="DM Sans"/>
                <a:cs typeface="DM Sans"/>
                <a:sym typeface="DM Sans"/>
              </a:rPr>
              <a:t>EJERCICIO</a:t>
            </a:r>
            <a:endParaRPr/>
          </a:p>
        </p:txBody>
      </p:sp>
      <p:sp>
        <p:nvSpPr>
          <p:cNvPr id="212" name="Google Shape;212;p27"/>
          <p:cNvSpPr/>
          <p:nvPr/>
        </p:nvSpPr>
        <p:spPr>
          <a:xfrm>
            <a:off x="4689651" y="1694775"/>
            <a:ext cx="3933900" cy="2139600"/>
          </a:xfrm>
          <a:prstGeom prst="rect">
            <a:avLst/>
          </a:prstGeom>
          <a:solidFill>
            <a:srgbClr val="F0F7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7"/>
          <p:cNvSpPr txBox="1"/>
          <p:nvPr/>
        </p:nvSpPr>
        <p:spPr>
          <a:xfrm>
            <a:off x="4729425" y="1839250"/>
            <a:ext cx="4232700" cy="392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s" sz="1350">
                <a:latin typeface="DM Sans"/>
                <a:ea typeface="DM Sans"/>
                <a:cs typeface="DM Sans"/>
                <a:sym typeface="DM Sans"/>
              </a:rPr>
              <a:t>Tips</a:t>
            </a:r>
            <a:endParaRPr sz="1200" u="sng">
              <a:solidFill>
                <a:srgbClr val="83AEFB"/>
              </a:solidFill>
              <a:latin typeface="DM Sans"/>
              <a:ea typeface="DM Sans"/>
              <a:cs typeface="DM Sans"/>
              <a:sym typeface="DM Sans"/>
            </a:endParaRPr>
          </a:p>
        </p:txBody>
      </p:sp>
      <p:grpSp>
        <p:nvGrpSpPr>
          <p:cNvPr id="214" name="Google Shape;214;p27"/>
          <p:cNvGrpSpPr/>
          <p:nvPr/>
        </p:nvGrpSpPr>
        <p:grpSpPr>
          <a:xfrm>
            <a:off x="0" y="-7400"/>
            <a:ext cx="9143925" cy="44400"/>
            <a:chOff x="0" y="-7400"/>
            <a:chExt cx="9143925" cy="44400"/>
          </a:xfrm>
        </p:grpSpPr>
        <p:sp>
          <p:nvSpPr>
            <p:cNvPr id="215" name="Google Shape;215;p27"/>
            <p:cNvSpPr/>
            <p:nvPr/>
          </p:nvSpPr>
          <p:spPr>
            <a:xfrm>
              <a:off x="5846625" y="-7400"/>
              <a:ext cx="3297300" cy="44400"/>
            </a:xfrm>
            <a:prstGeom prst="rect">
              <a:avLst/>
            </a:prstGeom>
            <a:solidFill>
              <a:srgbClr val="21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00000"/>
                </a:solidFill>
                <a:latin typeface="DM Sans"/>
                <a:ea typeface="DM Sans"/>
                <a:cs typeface="DM Sans"/>
                <a:sym typeface="DM Sans"/>
              </a:endParaRPr>
            </a:p>
          </p:txBody>
        </p:sp>
        <p:sp>
          <p:nvSpPr>
            <p:cNvPr id="216" name="Google Shape;216;p27"/>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grpSp>
        <p:nvGrpSpPr>
          <p:cNvPr id="217" name="Google Shape;217;p27"/>
          <p:cNvGrpSpPr/>
          <p:nvPr/>
        </p:nvGrpSpPr>
        <p:grpSpPr>
          <a:xfrm>
            <a:off x="475509" y="435709"/>
            <a:ext cx="431100" cy="431100"/>
            <a:chOff x="475509" y="435709"/>
            <a:chExt cx="431100" cy="431100"/>
          </a:xfrm>
        </p:grpSpPr>
        <p:sp>
          <p:nvSpPr>
            <p:cNvPr id="218" name="Google Shape;218;p27"/>
            <p:cNvSpPr/>
            <p:nvPr/>
          </p:nvSpPr>
          <p:spPr>
            <a:xfrm>
              <a:off x="475509" y="435709"/>
              <a:ext cx="431100" cy="4311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300">
                <a:latin typeface="DM Sans"/>
                <a:ea typeface="DM Sans"/>
                <a:cs typeface="DM Sans"/>
                <a:sym typeface="DM Sans"/>
              </a:endParaRPr>
            </a:p>
          </p:txBody>
        </p:sp>
        <p:pic>
          <p:nvPicPr>
            <p:cNvPr id="219" name="Google Shape;219;p27" title="ícono de actividad en clase"/>
            <p:cNvPicPr preferRelativeResize="0"/>
            <p:nvPr/>
          </p:nvPicPr>
          <p:blipFill>
            <a:blip r:embed="rId4">
              <a:alphaModFix/>
            </a:blip>
            <a:stretch>
              <a:fillRect/>
            </a:stretch>
          </p:blipFill>
          <p:spPr>
            <a:xfrm>
              <a:off x="539150" y="499350"/>
              <a:ext cx="303800" cy="303800"/>
            </a:xfrm>
            <a:prstGeom prst="rect">
              <a:avLst/>
            </a:prstGeom>
            <a:noFill/>
            <a:ln>
              <a:noFill/>
            </a:ln>
          </p:spPr>
        </p:pic>
      </p:grpSp>
      <p:sp>
        <p:nvSpPr>
          <p:cNvPr id="220" name="Google Shape;220;p27"/>
          <p:cNvSpPr txBox="1"/>
          <p:nvPr/>
        </p:nvSpPr>
        <p:spPr>
          <a:xfrm>
            <a:off x="675350" y="2160025"/>
            <a:ext cx="3676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
        <p:nvSpPr>
          <p:cNvPr id="221" name="Google Shape;221;p27"/>
          <p:cNvSpPr txBox="1"/>
          <p:nvPr/>
        </p:nvSpPr>
        <p:spPr>
          <a:xfrm>
            <a:off x="668550" y="1839250"/>
            <a:ext cx="3831900" cy="186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s" sz="1000">
                <a:solidFill>
                  <a:schemeClr val="dk1"/>
                </a:solidFill>
                <a:latin typeface="DM Sans"/>
                <a:ea typeface="DM Sans"/>
                <a:cs typeface="DM Sans"/>
                <a:sym typeface="DM Sans"/>
              </a:rPr>
              <a:t>Consigna</a:t>
            </a:r>
            <a:endParaRPr b="1" sz="100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br>
              <a:rPr lang="es" sz="1000">
                <a:solidFill>
                  <a:schemeClr val="dk1"/>
                </a:solidFill>
                <a:latin typeface="DM Sans"/>
                <a:ea typeface="DM Sans"/>
                <a:cs typeface="DM Sans"/>
                <a:sym typeface="DM Sans"/>
              </a:rPr>
            </a:br>
            <a:r>
              <a:rPr lang="es" sz="1000">
                <a:solidFill>
                  <a:schemeClr val="dk1"/>
                </a:solidFill>
                <a:latin typeface="DM Sans"/>
                <a:ea typeface="DM Sans"/>
                <a:cs typeface="DM Sans"/>
                <a:sym typeface="DM Sans"/>
              </a:rPr>
              <a:t>Edita la siguiente </a:t>
            </a:r>
            <a:r>
              <a:rPr b="1" lang="es" sz="1000" u="sng">
                <a:solidFill>
                  <a:schemeClr val="accent5"/>
                </a:solidFill>
                <a:latin typeface="DM Sans"/>
                <a:ea typeface="DM Sans"/>
                <a:cs typeface="DM Sans"/>
                <a:sym typeface="DM Sans"/>
                <a:hlinkClick r:id="rId5">
                  <a:extLst>
                    <a:ext uri="{A12FA001-AC4F-418D-AE19-62706E023703}">
                      <ahyp:hlinkClr val="tx"/>
                    </a:ext>
                  </a:extLst>
                </a:hlinkClick>
              </a:rPr>
              <a:t>aplicación de Stackblitz</a:t>
            </a:r>
            <a:r>
              <a:rPr lang="es" sz="1000">
                <a:solidFill>
                  <a:schemeClr val="dk1"/>
                </a:solidFill>
                <a:latin typeface="DM Sans"/>
                <a:ea typeface="DM Sans"/>
                <a:cs typeface="DM Sans"/>
                <a:sym typeface="DM Sans"/>
              </a:rPr>
              <a:t>.</a:t>
            </a:r>
            <a:endParaRPr sz="100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00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000">
                <a:solidFill>
                  <a:schemeClr val="dk1"/>
                </a:solidFill>
                <a:latin typeface="DM Sans"/>
                <a:ea typeface="DM Sans"/>
                <a:cs typeface="DM Sans"/>
                <a:sym typeface="DM Sans"/>
              </a:rPr>
              <a:t>Crea un </a:t>
            </a:r>
            <a:r>
              <a:rPr b="1" lang="es" sz="1000">
                <a:solidFill>
                  <a:schemeClr val="dk1"/>
                </a:solidFill>
                <a:latin typeface="DM Sans"/>
                <a:ea typeface="DM Sans"/>
                <a:cs typeface="DM Sans"/>
                <a:sym typeface="DM Sans"/>
              </a:rPr>
              <a:t>context </a:t>
            </a:r>
            <a:r>
              <a:rPr lang="es" sz="1000">
                <a:solidFill>
                  <a:schemeClr val="dk1"/>
                </a:solidFill>
                <a:latin typeface="DM Sans"/>
                <a:ea typeface="DM Sans"/>
                <a:cs typeface="DM Sans"/>
                <a:sym typeface="DM Sans"/>
              </a:rPr>
              <a:t>para almacenar los datos del usuario y evitar el paso de props a cada componente.</a:t>
            </a:r>
            <a:br>
              <a:rPr lang="es" sz="1000">
                <a:solidFill>
                  <a:schemeClr val="dk1"/>
                </a:solidFill>
                <a:latin typeface="DM Sans"/>
                <a:ea typeface="DM Sans"/>
                <a:cs typeface="DM Sans"/>
                <a:sym typeface="DM Sans"/>
              </a:rPr>
            </a:br>
            <a:r>
              <a:rPr lang="es" sz="1000">
                <a:solidFill>
                  <a:schemeClr val="dk1"/>
                </a:solidFill>
                <a:latin typeface="DM Sans"/>
                <a:ea typeface="DM Sans"/>
                <a:cs typeface="DM Sans"/>
                <a:sym typeface="DM Sans"/>
              </a:rPr>
              <a:t>Implementa el </a:t>
            </a:r>
            <a:r>
              <a:rPr b="1" lang="es" sz="1000">
                <a:solidFill>
                  <a:schemeClr val="dk1"/>
                </a:solidFill>
                <a:latin typeface="DM Sans"/>
                <a:ea typeface="DM Sans"/>
                <a:cs typeface="DM Sans"/>
                <a:sym typeface="DM Sans"/>
              </a:rPr>
              <a:t>context.Provider </a:t>
            </a:r>
            <a:r>
              <a:rPr lang="es" sz="1000">
                <a:solidFill>
                  <a:schemeClr val="dk1"/>
                </a:solidFill>
                <a:latin typeface="DM Sans"/>
                <a:ea typeface="DM Sans"/>
                <a:cs typeface="DM Sans"/>
                <a:sym typeface="DM Sans"/>
              </a:rPr>
              <a:t>para brindar acceso a los datos de usuario a los componentes children.</a:t>
            </a:r>
            <a:br>
              <a:rPr lang="es" sz="1000">
                <a:solidFill>
                  <a:schemeClr val="dk1"/>
                </a:solidFill>
                <a:latin typeface="DM Sans"/>
                <a:ea typeface="DM Sans"/>
                <a:cs typeface="DM Sans"/>
                <a:sym typeface="DM Sans"/>
              </a:rPr>
            </a:br>
            <a:r>
              <a:rPr lang="es" sz="1000">
                <a:solidFill>
                  <a:schemeClr val="dk1"/>
                </a:solidFill>
                <a:latin typeface="DM Sans"/>
                <a:ea typeface="DM Sans"/>
                <a:cs typeface="DM Sans"/>
                <a:sym typeface="DM Sans"/>
              </a:rPr>
              <a:t>Utiliza </a:t>
            </a:r>
            <a:r>
              <a:rPr b="1" lang="es" sz="1000">
                <a:solidFill>
                  <a:schemeClr val="dk1"/>
                </a:solidFill>
                <a:latin typeface="DM Sans"/>
                <a:ea typeface="DM Sans"/>
                <a:cs typeface="DM Sans"/>
                <a:sym typeface="DM Sans"/>
              </a:rPr>
              <a:t>useContext</a:t>
            </a:r>
            <a:r>
              <a:rPr lang="es" sz="1000">
                <a:solidFill>
                  <a:schemeClr val="dk1"/>
                </a:solidFill>
                <a:latin typeface="DM Sans"/>
                <a:ea typeface="DM Sans"/>
                <a:cs typeface="DM Sans"/>
                <a:sym typeface="DM Sans"/>
              </a:rPr>
              <a:t>() en cada componente para recibir la información almacenada en el context en lugar de las props.</a:t>
            </a:r>
            <a:endParaRPr sz="100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b="1" sz="900">
              <a:latin typeface="DM Sans"/>
              <a:ea typeface="DM Sans"/>
              <a:cs typeface="DM Sans"/>
              <a:sym typeface="DM Sans"/>
            </a:endParaRPr>
          </a:p>
        </p:txBody>
      </p:sp>
      <p:sp>
        <p:nvSpPr>
          <p:cNvPr id="222" name="Google Shape;222;p27"/>
          <p:cNvSpPr txBox="1"/>
          <p:nvPr/>
        </p:nvSpPr>
        <p:spPr>
          <a:xfrm>
            <a:off x="4780250" y="2109250"/>
            <a:ext cx="3642900" cy="1569900"/>
          </a:xfrm>
          <a:prstGeom prst="rect">
            <a:avLst/>
          </a:prstGeom>
          <a:noFill/>
          <a:ln>
            <a:noFill/>
          </a:ln>
        </p:spPr>
        <p:txBody>
          <a:bodyPr anchorCtr="0" anchor="t" bIns="91425" lIns="91425" spcFirstLastPara="1" rIns="91425" wrap="square" tIns="91425">
            <a:spAutoFit/>
          </a:bodyPr>
          <a:lstStyle/>
          <a:p>
            <a:pPr indent="-292100" lvl="0" marL="457200" rtl="0" algn="l">
              <a:spcBef>
                <a:spcPts val="0"/>
              </a:spcBef>
              <a:spcAft>
                <a:spcPts val="0"/>
              </a:spcAft>
              <a:buClr>
                <a:srgbClr val="000000"/>
              </a:buClr>
              <a:buSzPts val="1000"/>
              <a:buFont typeface="DM Sans"/>
              <a:buChar char="✓"/>
            </a:pPr>
            <a:r>
              <a:rPr lang="es" sz="1000">
                <a:latin typeface="DM Sans"/>
                <a:ea typeface="DM Sans"/>
                <a:cs typeface="DM Sans"/>
                <a:sym typeface="DM Sans"/>
              </a:rPr>
              <a:t>Recuerda que a useContext debes enviarle por parámetro el context al cual deseas conectarte</a:t>
            </a:r>
            <a:endParaRPr sz="1000">
              <a:latin typeface="DM Sans"/>
              <a:ea typeface="DM Sans"/>
              <a:cs typeface="DM Sans"/>
              <a:sym typeface="DM Sans"/>
            </a:endParaRPr>
          </a:p>
          <a:p>
            <a:pPr indent="0" lvl="0" marL="0" rtl="0" algn="l">
              <a:spcBef>
                <a:spcPts val="0"/>
              </a:spcBef>
              <a:spcAft>
                <a:spcPts val="0"/>
              </a:spcAft>
              <a:buNone/>
            </a:pPr>
            <a:r>
              <a:rPr lang="es" sz="1000">
                <a:latin typeface="DM Sans"/>
                <a:ea typeface="DM Sans"/>
                <a:cs typeface="DM Sans"/>
                <a:sym typeface="DM Sans"/>
              </a:rPr>
              <a:t> </a:t>
            </a:r>
            <a:endParaRPr sz="1000">
              <a:latin typeface="DM Sans"/>
              <a:ea typeface="DM Sans"/>
              <a:cs typeface="DM Sans"/>
              <a:sym typeface="DM Sans"/>
            </a:endParaRPr>
          </a:p>
          <a:p>
            <a:pPr indent="-292100" lvl="0" marL="457200" rtl="0" algn="l">
              <a:spcBef>
                <a:spcPts val="0"/>
              </a:spcBef>
              <a:spcAft>
                <a:spcPts val="0"/>
              </a:spcAft>
              <a:buClr>
                <a:srgbClr val="595959"/>
              </a:buClr>
              <a:buSzPts val="1000"/>
              <a:buFont typeface="DM Sans"/>
              <a:buChar char="✓"/>
            </a:pPr>
            <a:r>
              <a:rPr lang="es" sz="1000">
                <a:latin typeface="DM Sans"/>
                <a:ea typeface="DM Sans"/>
                <a:cs typeface="DM Sans"/>
                <a:sym typeface="DM Sans"/>
              </a:rPr>
              <a:t>Utiliza el context.Provider como componente wrapper del resto de la aplicación</a:t>
            </a:r>
            <a:br>
              <a:rPr lang="es" sz="1000">
                <a:latin typeface="DM Sans"/>
                <a:ea typeface="DM Sans"/>
                <a:cs typeface="DM Sans"/>
                <a:sym typeface="DM Sans"/>
              </a:rPr>
            </a:br>
            <a:endParaRPr sz="1000">
              <a:latin typeface="DM Sans"/>
              <a:ea typeface="DM Sans"/>
              <a:cs typeface="DM Sans"/>
              <a:sym typeface="DM Sans"/>
            </a:endParaRPr>
          </a:p>
          <a:p>
            <a:pPr indent="-292100" lvl="0" marL="457200" rtl="0" algn="l">
              <a:spcBef>
                <a:spcPts val="0"/>
              </a:spcBef>
              <a:spcAft>
                <a:spcPts val="0"/>
              </a:spcAft>
              <a:buClr>
                <a:srgbClr val="595959"/>
              </a:buClr>
              <a:buSzPts val="1000"/>
              <a:buFont typeface="DM Sans"/>
              <a:buChar char="✓"/>
            </a:pPr>
            <a:r>
              <a:rPr lang="es" sz="1000">
                <a:latin typeface="DM Sans"/>
                <a:ea typeface="DM Sans"/>
                <a:cs typeface="DM Sans"/>
                <a:sym typeface="DM Sans"/>
              </a:rPr>
              <a:t>Context no es un reemplazo de props: solo utilizalo en caso que necesites compartir el mismo set de datos a través de múltiples componentes</a:t>
            </a:r>
            <a:endParaRPr sz="1000">
              <a:latin typeface="DM Sans"/>
              <a:ea typeface="DM Sans"/>
              <a:cs typeface="DM Sans"/>
              <a:sym typeface="DM Sans"/>
            </a:endParaRPr>
          </a:p>
        </p:txBody>
      </p:sp>
      <p:pic>
        <p:nvPicPr>
          <p:cNvPr id="223" name="Google Shape;223;p27" title="MD 06">
            <a:hlinkClick r:id="rId6"/>
          </p:cNvPr>
          <p:cNvPicPr preferRelativeResize="0"/>
          <p:nvPr/>
        </p:nvPicPr>
        <p:blipFill>
          <a:blip r:embed="rId7">
            <a:alphaModFix/>
          </a:blip>
          <a:stretch>
            <a:fillRect/>
          </a:stretch>
        </p:blipFill>
        <p:spPr>
          <a:xfrm>
            <a:off x="2915750" y="866800"/>
            <a:ext cx="653400" cy="653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grpSp>
        <p:nvGrpSpPr>
          <p:cNvPr id="228" name="Google Shape;228;p28"/>
          <p:cNvGrpSpPr/>
          <p:nvPr/>
        </p:nvGrpSpPr>
        <p:grpSpPr>
          <a:xfrm>
            <a:off x="2172088" y="1852650"/>
            <a:ext cx="197100" cy="197100"/>
            <a:chOff x="2172088" y="1852650"/>
            <a:chExt cx="197100" cy="197100"/>
          </a:xfrm>
        </p:grpSpPr>
        <p:sp>
          <p:nvSpPr>
            <p:cNvPr id="229" name="Google Shape;229;p28"/>
            <p:cNvSpPr/>
            <p:nvPr/>
          </p:nvSpPr>
          <p:spPr>
            <a:xfrm>
              <a:off x="2172088" y="1852650"/>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8"/>
            <p:cNvSpPr/>
            <p:nvPr/>
          </p:nvSpPr>
          <p:spPr>
            <a:xfrm>
              <a:off x="2227138" y="1907700"/>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1" name="Google Shape;231;p28"/>
          <p:cNvGrpSpPr/>
          <p:nvPr/>
        </p:nvGrpSpPr>
        <p:grpSpPr>
          <a:xfrm>
            <a:off x="2172088" y="2455775"/>
            <a:ext cx="197100" cy="197100"/>
            <a:chOff x="2172088" y="2455775"/>
            <a:chExt cx="197100" cy="197100"/>
          </a:xfrm>
        </p:grpSpPr>
        <p:sp>
          <p:nvSpPr>
            <p:cNvPr id="232" name="Google Shape;232;p28"/>
            <p:cNvSpPr/>
            <p:nvPr/>
          </p:nvSpPr>
          <p:spPr>
            <a:xfrm>
              <a:off x="2172088" y="2455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8"/>
            <p:cNvSpPr/>
            <p:nvPr/>
          </p:nvSpPr>
          <p:spPr>
            <a:xfrm>
              <a:off x="2227138" y="2510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34" name="Google Shape;234;p28"/>
          <p:cNvCxnSpPr>
            <a:endCxn id="232" idx="0"/>
          </p:cNvCxnSpPr>
          <p:nvPr/>
        </p:nvCxnSpPr>
        <p:spPr>
          <a:xfrm>
            <a:off x="2270638" y="2049875"/>
            <a:ext cx="0" cy="405900"/>
          </a:xfrm>
          <a:prstGeom prst="straightConnector1">
            <a:avLst/>
          </a:prstGeom>
          <a:noFill/>
          <a:ln cap="flat" cmpd="sng" w="9525">
            <a:solidFill>
              <a:srgbClr val="DEFC52"/>
            </a:solidFill>
            <a:prstDash val="solid"/>
            <a:round/>
            <a:headEnd len="med" w="med" type="none"/>
            <a:tailEnd len="med" w="med" type="none"/>
          </a:ln>
        </p:spPr>
      </p:cxnSp>
      <p:sp>
        <p:nvSpPr>
          <p:cNvPr id="235" name="Google Shape;235;p28"/>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Paso a paso</a:t>
            </a:r>
            <a:endParaRPr b="1" sz="4000">
              <a:solidFill>
                <a:schemeClr val="dk1"/>
              </a:solidFill>
              <a:latin typeface="DM Sans"/>
              <a:ea typeface="DM Sans"/>
              <a:cs typeface="DM Sans"/>
              <a:sym typeface="DM Sans"/>
            </a:endParaRPr>
          </a:p>
        </p:txBody>
      </p:sp>
      <p:sp>
        <p:nvSpPr>
          <p:cNvPr id="236" name="Google Shape;236;p28"/>
          <p:cNvSpPr txBox="1"/>
          <p:nvPr/>
        </p:nvSpPr>
        <p:spPr>
          <a:xfrm>
            <a:off x="2690573" y="2341013"/>
            <a:ext cx="42813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Utilizamos context.Provider como wrapper del resto de componentes.</a:t>
            </a:r>
            <a:endParaRPr sz="1350">
              <a:solidFill>
                <a:schemeClr val="dk1"/>
              </a:solidFill>
              <a:latin typeface="DM Sans"/>
              <a:ea typeface="DM Sans"/>
              <a:cs typeface="DM Sans"/>
              <a:sym typeface="DM Sans"/>
            </a:endParaRPr>
          </a:p>
        </p:txBody>
      </p:sp>
      <p:sp>
        <p:nvSpPr>
          <p:cNvPr id="237" name="Google Shape;237;p28"/>
          <p:cNvSpPr txBox="1"/>
          <p:nvPr/>
        </p:nvSpPr>
        <p:spPr>
          <a:xfrm>
            <a:off x="2690573" y="2944138"/>
            <a:ext cx="4281300" cy="39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Descartamos los usos de props innecesarias.</a:t>
            </a:r>
            <a:endParaRPr sz="1350">
              <a:solidFill>
                <a:schemeClr val="dk1"/>
              </a:solidFill>
              <a:latin typeface="DM Sans"/>
              <a:ea typeface="DM Sans"/>
              <a:cs typeface="DM Sans"/>
              <a:sym typeface="DM Sans"/>
            </a:endParaRPr>
          </a:p>
        </p:txBody>
      </p:sp>
      <p:grpSp>
        <p:nvGrpSpPr>
          <p:cNvPr id="238" name="Google Shape;238;p28"/>
          <p:cNvGrpSpPr/>
          <p:nvPr/>
        </p:nvGrpSpPr>
        <p:grpSpPr>
          <a:xfrm>
            <a:off x="2172088" y="3006150"/>
            <a:ext cx="197100" cy="197100"/>
            <a:chOff x="2172088" y="3058775"/>
            <a:chExt cx="197100" cy="197100"/>
          </a:xfrm>
        </p:grpSpPr>
        <p:sp>
          <p:nvSpPr>
            <p:cNvPr id="239" name="Google Shape;239;p28"/>
            <p:cNvSpPr/>
            <p:nvPr/>
          </p:nvSpPr>
          <p:spPr>
            <a:xfrm>
              <a:off x="2172088" y="3058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8"/>
            <p:cNvSpPr/>
            <p:nvPr/>
          </p:nvSpPr>
          <p:spPr>
            <a:xfrm>
              <a:off x="2227138" y="3113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41" name="Google Shape;241;p28"/>
          <p:cNvCxnSpPr>
            <a:endCxn id="239" idx="0"/>
          </p:cNvCxnSpPr>
          <p:nvPr/>
        </p:nvCxnSpPr>
        <p:spPr>
          <a:xfrm>
            <a:off x="2270638" y="2600250"/>
            <a:ext cx="0" cy="405900"/>
          </a:xfrm>
          <a:prstGeom prst="straightConnector1">
            <a:avLst/>
          </a:prstGeom>
          <a:noFill/>
          <a:ln cap="flat" cmpd="sng" w="9525">
            <a:solidFill>
              <a:srgbClr val="DEFC52"/>
            </a:solidFill>
            <a:prstDash val="solid"/>
            <a:round/>
            <a:headEnd len="med" w="med" type="none"/>
            <a:tailEnd len="med" w="med" type="none"/>
          </a:ln>
        </p:spPr>
      </p:cxnSp>
      <p:sp>
        <p:nvSpPr>
          <p:cNvPr id="242" name="Google Shape;242;p28"/>
          <p:cNvSpPr txBox="1"/>
          <p:nvPr/>
        </p:nvSpPr>
        <p:spPr>
          <a:xfrm>
            <a:off x="2690573" y="3441888"/>
            <a:ext cx="42813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Leemos la información del context utilizando el hook useContext.</a:t>
            </a:r>
            <a:endParaRPr sz="1350">
              <a:solidFill>
                <a:schemeClr val="dk1"/>
              </a:solidFill>
              <a:latin typeface="DM Sans"/>
              <a:ea typeface="DM Sans"/>
              <a:cs typeface="DM Sans"/>
              <a:sym typeface="DM Sans"/>
            </a:endParaRPr>
          </a:p>
        </p:txBody>
      </p:sp>
      <p:grpSp>
        <p:nvGrpSpPr>
          <p:cNvPr id="243" name="Google Shape;243;p28"/>
          <p:cNvGrpSpPr/>
          <p:nvPr/>
        </p:nvGrpSpPr>
        <p:grpSpPr>
          <a:xfrm>
            <a:off x="2172088" y="3533075"/>
            <a:ext cx="197100" cy="197100"/>
            <a:chOff x="2172088" y="3661775"/>
            <a:chExt cx="197100" cy="197100"/>
          </a:xfrm>
        </p:grpSpPr>
        <p:sp>
          <p:nvSpPr>
            <p:cNvPr id="244" name="Google Shape;244;p28"/>
            <p:cNvSpPr/>
            <p:nvPr/>
          </p:nvSpPr>
          <p:spPr>
            <a:xfrm>
              <a:off x="2172088" y="3661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8"/>
            <p:cNvSpPr/>
            <p:nvPr/>
          </p:nvSpPr>
          <p:spPr>
            <a:xfrm>
              <a:off x="2227138" y="3716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46" name="Google Shape;246;p28"/>
          <p:cNvCxnSpPr/>
          <p:nvPr/>
        </p:nvCxnSpPr>
        <p:spPr>
          <a:xfrm>
            <a:off x="2270638" y="3028475"/>
            <a:ext cx="0" cy="580800"/>
          </a:xfrm>
          <a:prstGeom prst="straightConnector1">
            <a:avLst/>
          </a:prstGeom>
          <a:noFill/>
          <a:ln cap="flat" cmpd="sng" w="9525">
            <a:solidFill>
              <a:srgbClr val="DEFC52"/>
            </a:solidFill>
            <a:prstDash val="solid"/>
            <a:round/>
            <a:headEnd len="med" w="med" type="none"/>
            <a:tailEnd len="med" w="med" type="none"/>
          </a:ln>
        </p:spPr>
      </p:cxnSp>
      <p:sp>
        <p:nvSpPr>
          <p:cNvPr id="247" name="Google Shape;247;p28"/>
          <p:cNvSpPr txBox="1"/>
          <p:nvPr/>
        </p:nvSpPr>
        <p:spPr>
          <a:xfrm>
            <a:off x="2690575" y="1774925"/>
            <a:ext cx="46842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Creamos un nuevo contexto con createContext, con un valor por defecto</a:t>
            </a:r>
            <a:r>
              <a:rPr lang="es" sz="1350">
                <a:solidFill>
                  <a:schemeClr val="dk1"/>
                </a:solidFill>
                <a:latin typeface="Ubuntu Mono"/>
                <a:ea typeface="Ubuntu Mono"/>
                <a:cs typeface="Ubuntu Mono"/>
                <a:sym typeface="Ubuntu Mono"/>
              </a:rPr>
              <a:t> { user: null, isLoggedIn: false}</a:t>
            </a:r>
            <a:endParaRPr sz="1350">
              <a:solidFill>
                <a:schemeClr val="dk1"/>
              </a:solidFill>
              <a:latin typeface="Ubuntu Mono"/>
              <a:ea typeface="Ubuntu Mono"/>
              <a:cs typeface="Ubuntu Mono"/>
              <a:sym typeface="Ubuntu Mon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9"/>
          <p:cNvSpPr txBox="1"/>
          <p:nvPr/>
        </p:nvSpPr>
        <p:spPr>
          <a:xfrm>
            <a:off x="1905000" y="2202300"/>
            <a:ext cx="53721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Clr>
                <a:schemeClr val="dk1"/>
              </a:buClr>
              <a:buSzPts val="1100"/>
              <a:buFont typeface="Arial"/>
              <a:buNone/>
            </a:pPr>
            <a:r>
              <a:rPr b="1" lang="es" sz="4000">
                <a:solidFill>
                  <a:schemeClr val="dk1"/>
                </a:solidFill>
                <a:latin typeface="DM Sans"/>
                <a:ea typeface="DM Sans"/>
                <a:cs typeface="DM Sans"/>
                <a:sym typeface="DM Sans"/>
              </a:rPr>
              <a:t>¡Buen trabajo! </a:t>
            </a:r>
            <a:r>
              <a:rPr b="1" lang="es" sz="3500">
                <a:solidFill>
                  <a:schemeClr val="dk1"/>
                </a:solidFill>
                <a:latin typeface="DM Sans"/>
                <a:ea typeface="DM Sans"/>
                <a:cs typeface="DM Sans"/>
                <a:sym typeface="DM Sans"/>
              </a:rPr>
              <a:t>😎</a:t>
            </a:r>
            <a:endParaRPr sz="3000">
              <a:solidFill>
                <a:schemeClr val="dk1"/>
              </a:solidFill>
              <a:latin typeface="DM Sans"/>
              <a:ea typeface="DM Sans"/>
              <a:cs typeface="DM Sans"/>
              <a:sym typeface="DM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0"/>
          <p:cNvSpPr txBox="1"/>
          <p:nvPr/>
        </p:nvSpPr>
        <p:spPr>
          <a:xfrm>
            <a:off x="1447300" y="537575"/>
            <a:ext cx="7169400" cy="66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500">
                <a:solidFill>
                  <a:schemeClr val="dk1"/>
                </a:solidFill>
                <a:latin typeface="DM Sans"/>
                <a:ea typeface="DM Sans"/>
                <a:cs typeface="DM Sans"/>
                <a:sym typeface="DM Sans"/>
              </a:rPr>
              <a:t>Ejemplo en vivo</a:t>
            </a:r>
            <a:endParaRPr b="1" sz="3500">
              <a:solidFill>
                <a:schemeClr val="dk1"/>
              </a:solidFill>
              <a:latin typeface="DM Sans"/>
              <a:ea typeface="DM Sans"/>
              <a:cs typeface="DM Sans"/>
              <a:sym typeface="DM Sans"/>
            </a:endParaRPr>
          </a:p>
        </p:txBody>
      </p:sp>
      <p:sp>
        <p:nvSpPr>
          <p:cNvPr id="258" name="Google Shape;258;p30"/>
          <p:cNvSpPr txBox="1"/>
          <p:nvPr/>
        </p:nvSpPr>
        <p:spPr>
          <a:xfrm>
            <a:off x="475500" y="1474850"/>
            <a:ext cx="7169400" cy="210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500">
              <a:solidFill>
                <a:srgbClr val="B7B7B7"/>
              </a:solidFill>
              <a:latin typeface="DM Sans"/>
              <a:ea typeface="DM Sans"/>
              <a:cs typeface="DM Sans"/>
              <a:sym typeface="DM Sans"/>
            </a:endParaRPr>
          </a:p>
          <a:p>
            <a:pPr indent="0" lvl="0" marL="0" rtl="0" algn="l">
              <a:spcBef>
                <a:spcPts val="0"/>
              </a:spcBef>
              <a:spcAft>
                <a:spcPts val="0"/>
              </a:spcAft>
              <a:buNone/>
            </a:pPr>
            <a:r>
              <a:rPr lang="es" sz="2500">
                <a:solidFill>
                  <a:schemeClr val="dk2"/>
                </a:solidFill>
                <a:latin typeface="DM Sans"/>
                <a:ea typeface="DM Sans"/>
                <a:cs typeface="DM Sans"/>
                <a:sym typeface="DM Sans"/>
              </a:rPr>
              <a:t>Creamos una estructura de context simple, utilizando </a:t>
            </a:r>
            <a:r>
              <a:rPr b="1" lang="es" sz="2500">
                <a:solidFill>
                  <a:schemeClr val="dk2"/>
                </a:solidFill>
                <a:latin typeface="DM Sans"/>
                <a:ea typeface="DM Sans"/>
                <a:cs typeface="DM Sans"/>
                <a:sym typeface="DM Sans"/>
              </a:rPr>
              <a:t>createContext </a:t>
            </a:r>
            <a:r>
              <a:rPr lang="es" sz="2500">
                <a:solidFill>
                  <a:schemeClr val="dk2"/>
                </a:solidFill>
                <a:latin typeface="DM Sans"/>
                <a:ea typeface="DM Sans"/>
                <a:cs typeface="DM Sans"/>
                <a:sym typeface="DM Sans"/>
              </a:rPr>
              <a:t>con un valor por defecto y consumiendo este context con </a:t>
            </a:r>
            <a:r>
              <a:rPr b="1" lang="es" sz="2500">
                <a:solidFill>
                  <a:schemeClr val="dk2"/>
                </a:solidFill>
                <a:latin typeface="DM Sans"/>
                <a:ea typeface="DM Sans"/>
                <a:cs typeface="DM Sans"/>
                <a:sym typeface="DM Sans"/>
              </a:rPr>
              <a:t>useContext</a:t>
            </a:r>
            <a:r>
              <a:rPr lang="es" sz="2500">
                <a:solidFill>
                  <a:schemeClr val="dk2"/>
                </a:solidFill>
                <a:latin typeface="DM Sans"/>
                <a:ea typeface="DM Sans"/>
                <a:cs typeface="DM Sans"/>
                <a:sym typeface="DM Sans"/>
              </a:rPr>
              <a:t> desde un componente de la app.</a:t>
            </a:r>
            <a:endParaRPr b="1" sz="2500">
              <a:solidFill>
                <a:srgbClr val="B7B7B7"/>
              </a:solidFill>
              <a:latin typeface="Helvetica Neue"/>
              <a:ea typeface="Helvetica Neue"/>
              <a:cs typeface="Helvetica Neue"/>
              <a:sym typeface="Helvetica Neue"/>
            </a:endParaRPr>
          </a:p>
        </p:txBody>
      </p:sp>
      <p:grpSp>
        <p:nvGrpSpPr>
          <p:cNvPr id="259" name="Google Shape;259;p30"/>
          <p:cNvGrpSpPr/>
          <p:nvPr/>
        </p:nvGrpSpPr>
        <p:grpSpPr>
          <a:xfrm>
            <a:off x="475501" y="468273"/>
            <a:ext cx="738900" cy="738900"/>
            <a:chOff x="473351" y="619523"/>
            <a:chExt cx="738900" cy="738900"/>
          </a:xfrm>
        </p:grpSpPr>
        <p:sp>
          <p:nvSpPr>
            <p:cNvPr id="260" name="Google Shape;260;p30"/>
            <p:cNvSpPr/>
            <p:nvPr/>
          </p:nvSpPr>
          <p:spPr>
            <a:xfrm>
              <a:off x="473351" y="61952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1" name="Google Shape;261;p30" title="ícono de ejemplo en vivo"/>
            <p:cNvPicPr preferRelativeResize="0"/>
            <p:nvPr/>
          </p:nvPicPr>
          <p:blipFill>
            <a:blip r:embed="rId3">
              <a:alphaModFix/>
            </a:blip>
            <a:stretch>
              <a:fillRect/>
            </a:stretch>
          </p:blipFill>
          <p:spPr>
            <a:xfrm>
              <a:off x="616475" y="762650"/>
              <a:ext cx="452650" cy="452650"/>
            </a:xfrm>
            <a:prstGeom prst="rect">
              <a:avLst/>
            </a:prstGeom>
            <a:noFill/>
            <a:ln>
              <a:noFill/>
            </a:ln>
          </p:spPr>
        </p:pic>
      </p:grpSp>
      <p:sp>
        <p:nvSpPr>
          <p:cNvPr id="262" name="Google Shape;262;p30"/>
          <p:cNvSpPr txBox="1"/>
          <p:nvPr/>
        </p:nvSpPr>
        <p:spPr>
          <a:xfrm>
            <a:off x="475500" y="3829300"/>
            <a:ext cx="7169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2"/>
                </a:solidFill>
                <a:latin typeface="DM Sans"/>
                <a:ea typeface="DM Sans"/>
                <a:cs typeface="DM Sans"/>
                <a:sym typeface="DM Sans"/>
              </a:rPr>
              <a:t>Duración: </a:t>
            </a:r>
            <a:r>
              <a:rPr b="1" lang="es" sz="2000">
                <a:solidFill>
                  <a:schemeClr val="dk2"/>
                </a:solidFill>
                <a:latin typeface="DM Sans"/>
                <a:ea typeface="DM Sans"/>
                <a:cs typeface="DM Sans"/>
                <a:sym typeface="DM Sans"/>
              </a:rPr>
              <a:t>10 minutos</a:t>
            </a:r>
            <a:endParaRPr b="1" sz="2000">
              <a:solidFill>
                <a:schemeClr val="dk2"/>
              </a:solidFill>
              <a:latin typeface="DM Sans"/>
              <a:ea typeface="DM Sans"/>
              <a:cs typeface="DM Sans"/>
              <a:sym typeface="DM Sans"/>
            </a:endParaRPr>
          </a:p>
        </p:txBody>
      </p:sp>
      <p:grpSp>
        <p:nvGrpSpPr>
          <p:cNvPr id="263" name="Google Shape;263;p30"/>
          <p:cNvGrpSpPr/>
          <p:nvPr/>
        </p:nvGrpSpPr>
        <p:grpSpPr>
          <a:xfrm>
            <a:off x="0" y="-7400"/>
            <a:ext cx="9143925" cy="44400"/>
            <a:chOff x="0" y="-7400"/>
            <a:chExt cx="9143925" cy="44400"/>
          </a:xfrm>
        </p:grpSpPr>
        <p:sp>
          <p:nvSpPr>
            <p:cNvPr id="264" name="Google Shape;264;p30"/>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DM Sans"/>
                <a:ea typeface="DM Sans"/>
                <a:cs typeface="DM Sans"/>
                <a:sym typeface="DM Sans"/>
              </a:endParaRPr>
            </a:p>
          </p:txBody>
        </p:sp>
        <p:sp>
          <p:nvSpPr>
            <p:cNvPr id="265" name="Google Shape;265;p30"/>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1"/>
          <p:cNvSpPr txBox="1"/>
          <p:nvPr/>
        </p:nvSpPr>
        <p:spPr>
          <a:xfrm>
            <a:off x="2690575" y="2334550"/>
            <a:ext cx="48054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Dentro de otro componente, importamos el hook </a:t>
            </a:r>
            <a:r>
              <a:rPr b="1" lang="es" sz="1350">
                <a:solidFill>
                  <a:schemeClr val="dk1"/>
                </a:solidFill>
                <a:latin typeface="DM Sans"/>
                <a:ea typeface="DM Sans"/>
                <a:cs typeface="DM Sans"/>
                <a:sym typeface="DM Sans"/>
              </a:rPr>
              <a:t>useContext </a:t>
            </a:r>
            <a:r>
              <a:rPr lang="es" sz="1350">
                <a:solidFill>
                  <a:schemeClr val="dk1"/>
                </a:solidFill>
                <a:latin typeface="DM Sans"/>
                <a:ea typeface="DM Sans"/>
                <a:cs typeface="DM Sans"/>
                <a:sym typeface="DM Sans"/>
              </a:rPr>
              <a:t>y la variable donde almacenamos el context.</a:t>
            </a:r>
            <a:endParaRPr sz="1350">
              <a:solidFill>
                <a:schemeClr val="dk1"/>
              </a:solidFill>
              <a:latin typeface="DM Sans"/>
              <a:ea typeface="DM Sans"/>
              <a:cs typeface="DM Sans"/>
              <a:sym typeface="DM Sans"/>
            </a:endParaRPr>
          </a:p>
        </p:txBody>
      </p:sp>
      <p:grpSp>
        <p:nvGrpSpPr>
          <p:cNvPr id="271" name="Google Shape;271;p31"/>
          <p:cNvGrpSpPr/>
          <p:nvPr/>
        </p:nvGrpSpPr>
        <p:grpSpPr>
          <a:xfrm>
            <a:off x="2172088" y="1852650"/>
            <a:ext cx="197100" cy="197100"/>
            <a:chOff x="2172088" y="1852650"/>
            <a:chExt cx="197100" cy="197100"/>
          </a:xfrm>
        </p:grpSpPr>
        <p:sp>
          <p:nvSpPr>
            <p:cNvPr id="272" name="Google Shape;272;p31"/>
            <p:cNvSpPr/>
            <p:nvPr/>
          </p:nvSpPr>
          <p:spPr>
            <a:xfrm>
              <a:off x="2172088" y="1852650"/>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1"/>
            <p:cNvSpPr/>
            <p:nvPr/>
          </p:nvSpPr>
          <p:spPr>
            <a:xfrm>
              <a:off x="2227138" y="1907700"/>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4" name="Google Shape;274;p31"/>
          <p:cNvGrpSpPr/>
          <p:nvPr/>
        </p:nvGrpSpPr>
        <p:grpSpPr>
          <a:xfrm>
            <a:off x="2172088" y="2455775"/>
            <a:ext cx="197100" cy="197100"/>
            <a:chOff x="2172088" y="2455775"/>
            <a:chExt cx="197100" cy="197100"/>
          </a:xfrm>
        </p:grpSpPr>
        <p:sp>
          <p:nvSpPr>
            <p:cNvPr id="275" name="Google Shape;275;p31"/>
            <p:cNvSpPr/>
            <p:nvPr/>
          </p:nvSpPr>
          <p:spPr>
            <a:xfrm>
              <a:off x="2172088" y="2455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1"/>
            <p:cNvSpPr/>
            <p:nvPr/>
          </p:nvSpPr>
          <p:spPr>
            <a:xfrm>
              <a:off x="2227138" y="2510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77" name="Google Shape;277;p31"/>
          <p:cNvCxnSpPr>
            <a:endCxn id="275" idx="0"/>
          </p:cNvCxnSpPr>
          <p:nvPr/>
        </p:nvCxnSpPr>
        <p:spPr>
          <a:xfrm>
            <a:off x="2270638" y="2049875"/>
            <a:ext cx="0" cy="405900"/>
          </a:xfrm>
          <a:prstGeom prst="straightConnector1">
            <a:avLst/>
          </a:prstGeom>
          <a:noFill/>
          <a:ln cap="flat" cmpd="sng" w="9525">
            <a:solidFill>
              <a:srgbClr val="DEFC52"/>
            </a:solidFill>
            <a:prstDash val="solid"/>
            <a:round/>
            <a:headEnd len="med" w="med" type="none"/>
            <a:tailEnd len="med" w="med" type="none"/>
          </a:ln>
        </p:spPr>
      </p:cxnSp>
      <p:sp>
        <p:nvSpPr>
          <p:cNvPr id="278" name="Google Shape;278;p31"/>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Paso a paso</a:t>
            </a:r>
            <a:endParaRPr b="1" sz="4000">
              <a:solidFill>
                <a:schemeClr val="dk1"/>
              </a:solidFill>
              <a:latin typeface="DM Sans"/>
              <a:ea typeface="DM Sans"/>
              <a:cs typeface="DM Sans"/>
              <a:sym typeface="DM Sans"/>
            </a:endParaRPr>
          </a:p>
        </p:txBody>
      </p:sp>
      <p:sp>
        <p:nvSpPr>
          <p:cNvPr id="279" name="Google Shape;279;p31"/>
          <p:cNvSpPr txBox="1"/>
          <p:nvPr/>
        </p:nvSpPr>
        <p:spPr>
          <a:xfrm>
            <a:off x="2690575" y="1731425"/>
            <a:ext cx="54408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Creamos el contexto con </a:t>
            </a:r>
            <a:r>
              <a:rPr b="1" lang="es" sz="1350">
                <a:solidFill>
                  <a:schemeClr val="dk1"/>
                </a:solidFill>
                <a:latin typeface="DM Sans"/>
                <a:ea typeface="DM Sans"/>
                <a:cs typeface="DM Sans"/>
                <a:sym typeface="DM Sans"/>
              </a:rPr>
              <a:t>createContext </a:t>
            </a:r>
            <a:r>
              <a:rPr lang="es" sz="1350">
                <a:solidFill>
                  <a:schemeClr val="dk1"/>
                </a:solidFill>
                <a:latin typeface="DM Sans"/>
                <a:ea typeface="DM Sans"/>
                <a:cs typeface="DM Sans"/>
                <a:sym typeface="DM Sans"/>
              </a:rPr>
              <a:t>y un valor por defecto. Ejemplo:</a:t>
            </a:r>
            <a:r>
              <a:rPr lang="es" sz="1350">
                <a:solidFill>
                  <a:schemeClr val="dk1"/>
                </a:solidFill>
                <a:latin typeface="Ubuntu Mono"/>
                <a:ea typeface="Ubuntu Mono"/>
                <a:cs typeface="Ubuntu Mono"/>
                <a:sym typeface="Ubuntu Mono"/>
              </a:rPr>
              <a:t> createContext({ title: “valor por defecto” })</a:t>
            </a:r>
            <a:endParaRPr sz="1350">
              <a:solidFill>
                <a:schemeClr val="dk1"/>
              </a:solidFill>
              <a:latin typeface="Ubuntu Mono"/>
              <a:ea typeface="Ubuntu Mono"/>
              <a:cs typeface="Ubuntu Mono"/>
              <a:sym typeface="Ubuntu Mono"/>
            </a:endParaRPr>
          </a:p>
        </p:txBody>
      </p:sp>
      <p:grpSp>
        <p:nvGrpSpPr>
          <p:cNvPr id="280" name="Google Shape;280;p31"/>
          <p:cNvGrpSpPr/>
          <p:nvPr/>
        </p:nvGrpSpPr>
        <p:grpSpPr>
          <a:xfrm>
            <a:off x="2172088" y="3082350"/>
            <a:ext cx="197100" cy="197100"/>
            <a:chOff x="2172088" y="3058775"/>
            <a:chExt cx="197100" cy="197100"/>
          </a:xfrm>
        </p:grpSpPr>
        <p:sp>
          <p:nvSpPr>
            <p:cNvPr id="281" name="Google Shape;281;p31"/>
            <p:cNvSpPr/>
            <p:nvPr/>
          </p:nvSpPr>
          <p:spPr>
            <a:xfrm>
              <a:off x="2172088" y="3058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1"/>
            <p:cNvSpPr/>
            <p:nvPr/>
          </p:nvSpPr>
          <p:spPr>
            <a:xfrm>
              <a:off x="2227138" y="3113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83" name="Google Shape;283;p31"/>
          <p:cNvCxnSpPr>
            <a:endCxn id="281" idx="0"/>
          </p:cNvCxnSpPr>
          <p:nvPr/>
        </p:nvCxnSpPr>
        <p:spPr>
          <a:xfrm>
            <a:off x="2270638" y="2676450"/>
            <a:ext cx="0" cy="405900"/>
          </a:xfrm>
          <a:prstGeom prst="straightConnector1">
            <a:avLst/>
          </a:prstGeom>
          <a:noFill/>
          <a:ln cap="flat" cmpd="sng" w="9525">
            <a:solidFill>
              <a:srgbClr val="DEFC52"/>
            </a:solidFill>
            <a:prstDash val="solid"/>
            <a:round/>
            <a:headEnd len="med" w="med" type="none"/>
            <a:tailEnd len="med" w="med" type="none"/>
          </a:ln>
        </p:spPr>
      </p:cxnSp>
      <p:sp>
        <p:nvSpPr>
          <p:cNvPr id="284" name="Google Shape;284;p31"/>
          <p:cNvSpPr txBox="1"/>
          <p:nvPr/>
        </p:nvSpPr>
        <p:spPr>
          <a:xfrm>
            <a:off x="2690573" y="2984688"/>
            <a:ext cx="4281300" cy="39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50">
              <a:solidFill>
                <a:schemeClr val="dk1"/>
              </a:solidFill>
              <a:latin typeface="DM Sans"/>
              <a:ea typeface="DM Sans"/>
              <a:cs typeface="DM Sans"/>
              <a:sym typeface="DM Sans"/>
            </a:endParaRPr>
          </a:p>
        </p:txBody>
      </p:sp>
      <p:sp>
        <p:nvSpPr>
          <p:cNvPr id="285" name="Google Shape;285;p31"/>
          <p:cNvSpPr txBox="1"/>
          <p:nvPr/>
        </p:nvSpPr>
        <p:spPr>
          <a:xfrm>
            <a:off x="2690575" y="3006150"/>
            <a:ext cx="4608600" cy="8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Importamos el context.Provider en el nodo de nuestra app donde necesitemos utilizarlo, y envolvemos los componentes necesarios como childrens.</a:t>
            </a:r>
            <a:endParaRPr sz="1350">
              <a:solidFill>
                <a:schemeClr val="dk1"/>
              </a:solidFill>
              <a:latin typeface="DM Sans"/>
              <a:ea typeface="DM Sans"/>
              <a:cs typeface="DM Sans"/>
              <a:sym typeface="DM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grpSp>
        <p:nvGrpSpPr>
          <p:cNvPr id="290" name="Google Shape;290;p32"/>
          <p:cNvGrpSpPr/>
          <p:nvPr/>
        </p:nvGrpSpPr>
        <p:grpSpPr>
          <a:xfrm>
            <a:off x="4202556" y="994173"/>
            <a:ext cx="738900" cy="738900"/>
            <a:chOff x="974706" y="2467173"/>
            <a:chExt cx="738900" cy="738900"/>
          </a:xfrm>
        </p:grpSpPr>
        <p:sp>
          <p:nvSpPr>
            <p:cNvPr id="291" name="Google Shape;291;p32"/>
            <p:cNvSpPr/>
            <p:nvPr/>
          </p:nvSpPr>
          <p:spPr>
            <a:xfrm>
              <a:off x="974706" y="246717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2" name="Google Shape;292;p32" title="ícono de actividad en clase"/>
            <p:cNvPicPr preferRelativeResize="0"/>
            <p:nvPr/>
          </p:nvPicPr>
          <p:blipFill>
            <a:blip r:embed="rId3">
              <a:alphaModFix/>
            </a:blip>
            <a:stretch>
              <a:fillRect/>
            </a:stretch>
          </p:blipFill>
          <p:spPr>
            <a:xfrm>
              <a:off x="1109750" y="2610275"/>
              <a:ext cx="452650" cy="452650"/>
            </a:xfrm>
            <a:prstGeom prst="rect">
              <a:avLst/>
            </a:prstGeom>
            <a:noFill/>
            <a:ln>
              <a:noFill/>
            </a:ln>
          </p:spPr>
        </p:pic>
      </p:grpSp>
      <p:sp>
        <p:nvSpPr>
          <p:cNvPr id="293" name="Google Shape;293;p32"/>
          <p:cNvSpPr txBox="1"/>
          <p:nvPr/>
        </p:nvSpPr>
        <p:spPr>
          <a:xfrm>
            <a:off x="1461300" y="2208625"/>
            <a:ext cx="62214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chemeClr val="dk1"/>
                </a:solidFill>
                <a:latin typeface="DM Sans"/>
                <a:ea typeface="DM Sans"/>
                <a:cs typeface="DM Sans"/>
                <a:sym typeface="DM Sans"/>
              </a:rPr>
              <a:t>Crea tu contexto</a:t>
            </a:r>
            <a:endParaRPr b="1" sz="4000">
              <a:solidFill>
                <a:schemeClr val="dk1"/>
              </a:solidFill>
              <a:latin typeface="DM Sans"/>
              <a:ea typeface="DM Sans"/>
              <a:cs typeface="DM Sans"/>
              <a:sym typeface="DM Sans"/>
            </a:endParaRPr>
          </a:p>
        </p:txBody>
      </p:sp>
      <p:sp>
        <p:nvSpPr>
          <p:cNvPr id="294" name="Google Shape;294;p32"/>
          <p:cNvSpPr txBox="1"/>
          <p:nvPr/>
        </p:nvSpPr>
        <p:spPr>
          <a:xfrm>
            <a:off x="987263" y="3818588"/>
            <a:ext cx="7169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000">
                <a:solidFill>
                  <a:schemeClr val="dk2"/>
                </a:solidFill>
                <a:latin typeface="DM Sans"/>
                <a:ea typeface="DM Sans"/>
                <a:cs typeface="DM Sans"/>
                <a:sym typeface="DM Sans"/>
              </a:rPr>
              <a:t>Duración: </a:t>
            </a:r>
            <a:r>
              <a:rPr b="1" lang="es" sz="2000">
                <a:solidFill>
                  <a:schemeClr val="dk2"/>
                </a:solidFill>
                <a:latin typeface="DM Sans"/>
                <a:ea typeface="DM Sans"/>
                <a:cs typeface="DM Sans"/>
                <a:sym typeface="DM Sans"/>
              </a:rPr>
              <a:t>15 minutos</a:t>
            </a:r>
            <a:endParaRPr b="1" sz="2000">
              <a:solidFill>
                <a:schemeClr val="dk2"/>
              </a:solidFill>
              <a:latin typeface="DM Sans"/>
              <a:ea typeface="DM Sans"/>
              <a:cs typeface="DM Sans"/>
              <a:sym typeface="DM Sans"/>
            </a:endParaRPr>
          </a:p>
        </p:txBody>
      </p:sp>
      <p:sp>
        <p:nvSpPr>
          <p:cNvPr id="295" name="Google Shape;295;p32"/>
          <p:cNvSpPr txBox="1"/>
          <p:nvPr/>
        </p:nvSpPr>
        <p:spPr>
          <a:xfrm>
            <a:off x="1064900" y="2947513"/>
            <a:ext cx="7169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000">
                <a:solidFill>
                  <a:srgbClr val="999999"/>
                </a:solidFill>
                <a:latin typeface="DM Sans"/>
                <a:ea typeface="DM Sans"/>
                <a:cs typeface="DM Sans"/>
                <a:sym typeface="DM Sans"/>
              </a:rPr>
              <a:t>Vamos a practicar lo visto</a:t>
            </a:r>
            <a:endParaRPr sz="2000">
              <a:solidFill>
                <a:srgbClr val="999999"/>
              </a:solidFill>
              <a:latin typeface="DM Sans"/>
              <a:ea typeface="DM Sans"/>
              <a:cs typeface="DM Sans"/>
              <a:sym typeface="DM Sans"/>
            </a:endParaRPr>
          </a:p>
        </p:txBody>
      </p:sp>
      <p:grpSp>
        <p:nvGrpSpPr>
          <p:cNvPr id="296" name="Google Shape;296;p32"/>
          <p:cNvGrpSpPr/>
          <p:nvPr/>
        </p:nvGrpSpPr>
        <p:grpSpPr>
          <a:xfrm>
            <a:off x="0" y="-7400"/>
            <a:ext cx="9143925" cy="44400"/>
            <a:chOff x="0" y="-7400"/>
            <a:chExt cx="9143925" cy="44400"/>
          </a:xfrm>
        </p:grpSpPr>
        <p:sp>
          <p:nvSpPr>
            <p:cNvPr id="297" name="Google Shape;297;p32"/>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DM Sans"/>
                <a:ea typeface="DM Sans"/>
                <a:cs typeface="DM Sans"/>
                <a:sym typeface="DM Sans"/>
              </a:endParaRPr>
            </a:p>
          </p:txBody>
        </p:sp>
        <p:sp>
          <p:nvSpPr>
            <p:cNvPr id="298" name="Google Shape;298;p32"/>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grpSp>
        <p:nvGrpSpPr>
          <p:cNvPr id="303" name="Google Shape;303;p33"/>
          <p:cNvGrpSpPr/>
          <p:nvPr/>
        </p:nvGrpSpPr>
        <p:grpSpPr>
          <a:xfrm>
            <a:off x="457347" y="468297"/>
            <a:ext cx="431074" cy="431074"/>
            <a:chOff x="974706" y="2467173"/>
            <a:chExt cx="738900" cy="738900"/>
          </a:xfrm>
        </p:grpSpPr>
        <p:sp>
          <p:nvSpPr>
            <p:cNvPr id="304" name="Google Shape;304;p33"/>
            <p:cNvSpPr/>
            <p:nvPr/>
          </p:nvSpPr>
          <p:spPr>
            <a:xfrm>
              <a:off x="974706" y="246717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5" name="Google Shape;305;p33" title="ícono de actividad en clase"/>
            <p:cNvPicPr preferRelativeResize="0"/>
            <p:nvPr/>
          </p:nvPicPr>
          <p:blipFill>
            <a:blip r:embed="rId3">
              <a:alphaModFix/>
            </a:blip>
            <a:stretch>
              <a:fillRect/>
            </a:stretch>
          </p:blipFill>
          <p:spPr>
            <a:xfrm>
              <a:off x="1109750" y="2610275"/>
              <a:ext cx="452650" cy="452650"/>
            </a:xfrm>
            <a:prstGeom prst="rect">
              <a:avLst/>
            </a:prstGeom>
            <a:noFill/>
            <a:ln>
              <a:noFill/>
            </a:ln>
          </p:spPr>
        </p:pic>
      </p:grpSp>
      <p:sp>
        <p:nvSpPr>
          <p:cNvPr id="306" name="Google Shape;306;p33"/>
          <p:cNvSpPr txBox="1"/>
          <p:nvPr/>
        </p:nvSpPr>
        <p:spPr>
          <a:xfrm>
            <a:off x="501450" y="1081750"/>
            <a:ext cx="49872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b="1" lang="es" sz="4000">
                <a:solidFill>
                  <a:schemeClr val="dk1"/>
                </a:solidFill>
                <a:latin typeface="DM Sans"/>
                <a:ea typeface="DM Sans"/>
                <a:cs typeface="DM Sans"/>
                <a:sym typeface="DM Sans"/>
              </a:rPr>
              <a:t>Crea tu contexto</a:t>
            </a:r>
            <a:endParaRPr b="1" sz="4000">
              <a:solidFill>
                <a:schemeClr val="dk1"/>
              </a:solidFill>
              <a:latin typeface="DM Sans"/>
              <a:ea typeface="DM Sans"/>
              <a:cs typeface="DM Sans"/>
              <a:sym typeface="DM Sans"/>
            </a:endParaRPr>
          </a:p>
        </p:txBody>
      </p:sp>
      <p:pic>
        <p:nvPicPr>
          <p:cNvPr id="307" name="Google Shape;307;p33"/>
          <p:cNvPicPr preferRelativeResize="0"/>
          <p:nvPr/>
        </p:nvPicPr>
        <p:blipFill>
          <a:blip r:embed="rId4">
            <a:alphaModFix/>
          </a:blip>
          <a:stretch>
            <a:fillRect/>
          </a:stretch>
        </p:blipFill>
        <p:spPr>
          <a:xfrm>
            <a:off x="7811413" y="4692275"/>
            <a:ext cx="1150750" cy="267575"/>
          </a:xfrm>
          <a:prstGeom prst="rect">
            <a:avLst/>
          </a:prstGeom>
          <a:noFill/>
          <a:ln>
            <a:noFill/>
          </a:ln>
        </p:spPr>
      </p:pic>
      <p:sp>
        <p:nvSpPr>
          <p:cNvPr id="308" name="Google Shape;308;p33"/>
          <p:cNvSpPr txBox="1"/>
          <p:nvPr/>
        </p:nvSpPr>
        <p:spPr>
          <a:xfrm>
            <a:off x="501450" y="2003025"/>
            <a:ext cx="7384800" cy="24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350">
                <a:latin typeface="DM Sans"/>
                <a:ea typeface="DM Sans"/>
                <a:cs typeface="DM Sans"/>
                <a:sym typeface="DM Sans"/>
              </a:rPr>
              <a:t>Descripción de la actividad. </a:t>
            </a:r>
            <a:endParaRPr b="1" sz="1350">
              <a:latin typeface="DM Sans"/>
              <a:ea typeface="DM Sans"/>
              <a:cs typeface="DM Sans"/>
              <a:sym typeface="DM Sans"/>
            </a:endParaRPr>
          </a:p>
          <a:p>
            <a:pPr indent="0" lvl="0" marL="0" rtl="0" algn="l">
              <a:spcBef>
                <a:spcPts val="0"/>
              </a:spcBef>
              <a:spcAft>
                <a:spcPts val="0"/>
              </a:spcAft>
              <a:buNone/>
            </a:pPr>
            <a:r>
              <a:t/>
            </a:r>
            <a:endParaRPr sz="13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350">
                <a:solidFill>
                  <a:schemeClr val="dk1"/>
                </a:solidFill>
                <a:latin typeface="DM Sans"/>
                <a:ea typeface="DM Sans"/>
                <a:cs typeface="DM Sans"/>
                <a:sym typeface="DM Sans"/>
              </a:rPr>
              <a:t>En tu proyecto, crea una carpeta en src/context/ y un archivo </a:t>
            </a:r>
            <a:r>
              <a:rPr b="1" lang="es" sz="1350">
                <a:solidFill>
                  <a:schemeClr val="dk1"/>
                </a:solidFill>
                <a:latin typeface="DM Sans"/>
                <a:ea typeface="DM Sans"/>
                <a:cs typeface="DM Sans"/>
                <a:sym typeface="DM Sans"/>
              </a:rPr>
              <a:t>cartContext.js. </a:t>
            </a:r>
            <a:r>
              <a:rPr lang="es" sz="1350">
                <a:solidFill>
                  <a:schemeClr val="dk1"/>
                </a:solidFill>
                <a:latin typeface="DM Sans"/>
                <a:ea typeface="DM Sans"/>
                <a:cs typeface="DM Sans"/>
                <a:sym typeface="DM Sans"/>
              </a:rPr>
              <a:t>En él, crea un nuevo context con un array vacío como valor inicial.</a:t>
            </a:r>
            <a:endParaRPr sz="135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350">
                <a:solidFill>
                  <a:schemeClr val="dk1"/>
                </a:solidFill>
                <a:latin typeface="DM Sans"/>
                <a:ea typeface="DM Sans"/>
                <a:cs typeface="DM Sans"/>
                <a:sym typeface="DM Sans"/>
              </a:rPr>
              <a:t>Impórtalo como provider de tu app con value [] (puedes asignar algún valor de prueba para diferenciarlo del valor por defecto)</a:t>
            </a:r>
            <a:endParaRPr sz="135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35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35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350">
                <a:solidFill>
                  <a:schemeClr val="dk1"/>
                </a:solidFill>
                <a:latin typeface="DM Sans"/>
                <a:ea typeface="DM Sans"/>
                <a:cs typeface="DM Sans"/>
                <a:sym typeface="DM Sans"/>
              </a:rPr>
              <a:t>Pista: los pasos son los mismos que en las slides, pero deberás exportar tu context creado para poder usarlo en App.js.</a:t>
            </a:r>
            <a:endParaRPr sz="135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350"/>
              <a:buFont typeface="Arial"/>
              <a:buNone/>
            </a:pPr>
            <a:r>
              <a:t/>
            </a:r>
            <a:endParaRPr sz="1350">
              <a:solidFill>
                <a:schemeClr val="dk1"/>
              </a:solidFill>
              <a:latin typeface="DM Sans"/>
              <a:ea typeface="DM Sans"/>
              <a:cs typeface="DM Sans"/>
              <a:sym typeface="DM Sans"/>
            </a:endParaRPr>
          </a:p>
        </p:txBody>
      </p:sp>
      <p:sp>
        <p:nvSpPr>
          <p:cNvPr id="309" name="Google Shape;309;p33"/>
          <p:cNvSpPr txBox="1"/>
          <p:nvPr/>
        </p:nvSpPr>
        <p:spPr>
          <a:xfrm>
            <a:off x="930550" y="468275"/>
            <a:ext cx="2461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DM Sans"/>
                <a:ea typeface="DM Sans"/>
                <a:cs typeface="DM Sans"/>
                <a:sym typeface="DM Sans"/>
              </a:rPr>
              <a:t>ACTIVIDAD</a:t>
            </a:r>
            <a:endParaRPr>
              <a:latin typeface="DM Sans"/>
              <a:ea typeface="DM Sans"/>
              <a:cs typeface="DM Sans"/>
              <a:sym typeface="DM Sans"/>
            </a:endParaRPr>
          </a:p>
        </p:txBody>
      </p:sp>
      <p:pic>
        <p:nvPicPr>
          <p:cNvPr id="310" name="Google Shape;310;p33"/>
          <p:cNvPicPr preferRelativeResize="0"/>
          <p:nvPr/>
        </p:nvPicPr>
        <p:blipFill>
          <a:blip r:embed="rId4">
            <a:alphaModFix/>
          </a:blip>
          <a:stretch>
            <a:fillRect/>
          </a:stretch>
        </p:blipFill>
        <p:spPr>
          <a:xfrm>
            <a:off x="7811413" y="4692275"/>
            <a:ext cx="1150750" cy="2675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pic>
        <p:nvPicPr>
          <p:cNvPr id="315" name="Google Shape;315;p34"/>
          <p:cNvPicPr preferRelativeResize="0"/>
          <p:nvPr/>
        </p:nvPicPr>
        <p:blipFill>
          <a:blip r:embed="rId3">
            <a:alphaModFix/>
          </a:blip>
          <a:stretch>
            <a:fillRect/>
          </a:stretch>
        </p:blipFill>
        <p:spPr>
          <a:xfrm>
            <a:off x="7811413" y="4692275"/>
            <a:ext cx="1150750" cy="267575"/>
          </a:xfrm>
          <a:prstGeom prst="rect">
            <a:avLst/>
          </a:prstGeom>
          <a:noFill/>
          <a:ln>
            <a:noFill/>
          </a:ln>
        </p:spPr>
      </p:pic>
      <p:grpSp>
        <p:nvGrpSpPr>
          <p:cNvPr id="316" name="Google Shape;316;p34"/>
          <p:cNvGrpSpPr/>
          <p:nvPr/>
        </p:nvGrpSpPr>
        <p:grpSpPr>
          <a:xfrm>
            <a:off x="4243306" y="1320073"/>
            <a:ext cx="738900" cy="738900"/>
            <a:chOff x="974706" y="2467173"/>
            <a:chExt cx="738900" cy="738900"/>
          </a:xfrm>
        </p:grpSpPr>
        <p:sp>
          <p:nvSpPr>
            <p:cNvPr id="317" name="Google Shape;317;p34"/>
            <p:cNvSpPr/>
            <p:nvPr/>
          </p:nvSpPr>
          <p:spPr>
            <a:xfrm>
              <a:off x="974706" y="246717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8" name="Google Shape;318;p34" title="ícono de actividad en clase"/>
            <p:cNvPicPr preferRelativeResize="0"/>
            <p:nvPr/>
          </p:nvPicPr>
          <p:blipFill>
            <a:blip r:embed="rId4">
              <a:alphaModFix/>
            </a:blip>
            <a:stretch>
              <a:fillRect/>
            </a:stretch>
          </p:blipFill>
          <p:spPr>
            <a:xfrm>
              <a:off x="1109750" y="2610275"/>
              <a:ext cx="452650" cy="452650"/>
            </a:xfrm>
            <a:prstGeom prst="rect">
              <a:avLst/>
            </a:prstGeom>
            <a:noFill/>
            <a:ln>
              <a:noFill/>
            </a:ln>
          </p:spPr>
        </p:pic>
      </p:grpSp>
      <p:sp>
        <p:nvSpPr>
          <p:cNvPr id="319" name="Google Shape;319;p34"/>
          <p:cNvSpPr txBox="1"/>
          <p:nvPr/>
        </p:nvSpPr>
        <p:spPr>
          <a:xfrm>
            <a:off x="1502050" y="2406788"/>
            <a:ext cx="62214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chemeClr val="dk1"/>
                </a:solidFill>
                <a:latin typeface="DM Sans"/>
                <a:ea typeface="DM Sans"/>
                <a:cs typeface="DM Sans"/>
                <a:sym typeface="DM Sans"/>
              </a:rPr>
              <a:t>Puesta en común</a:t>
            </a:r>
            <a:endParaRPr b="1" sz="4000">
              <a:solidFill>
                <a:schemeClr val="dk1"/>
              </a:solidFill>
              <a:highlight>
                <a:srgbClr val="EAFF6A"/>
              </a:highlight>
              <a:latin typeface="DM Sans"/>
              <a:ea typeface="DM Sans"/>
              <a:cs typeface="DM Sans"/>
              <a:sym typeface="DM Sans"/>
            </a:endParaRPr>
          </a:p>
        </p:txBody>
      </p:sp>
      <p:sp>
        <p:nvSpPr>
          <p:cNvPr id="320" name="Google Shape;320;p34"/>
          <p:cNvSpPr txBox="1"/>
          <p:nvPr/>
        </p:nvSpPr>
        <p:spPr>
          <a:xfrm>
            <a:off x="2179625" y="3493500"/>
            <a:ext cx="50619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000">
                <a:solidFill>
                  <a:schemeClr val="dk2"/>
                </a:solidFill>
                <a:latin typeface="DM Sans"/>
                <a:ea typeface="DM Sans"/>
                <a:cs typeface="DM Sans"/>
                <a:sym typeface="DM Sans"/>
              </a:rPr>
              <a:t>Duración: 5 minutos</a:t>
            </a:r>
            <a:endParaRPr b="1" sz="2000">
              <a:solidFill>
                <a:schemeClr val="dk2"/>
              </a:solidFill>
              <a:latin typeface="DM Sans"/>
              <a:ea typeface="DM Sans"/>
              <a:cs typeface="DM Sans"/>
              <a:sym typeface="DM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5"/>
          <p:cNvSpPr txBox="1"/>
          <p:nvPr/>
        </p:nvSpPr>
        <p:spPr>
          <a:xfrm>
            <a:off x="1404863" y="1941375"/>
            <a:ext cx="6221400" cy="18471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t/>
            </a:r>
            <a:endParaRPr b="1" sz="4000">
              <a:solidFill>
                <a:schemeClr val="lt1"/>
              </a:solidFill>
              <a:latin typeface="DM Sans"/>
              <a:ea typeface="DM Sans"/>
              <a:cs typeface="DM Sans"/>
              <a:sym typeface="DM Sans"/>
            </a:endParaRPr>
          </a:p>
          <a:p>
            <a:pPr indent="0" lvl="0" marL="0" rtl="0" algn="ctr">
              <a:lnSpc>
                <a:spcPct val="90000"/>
              </a:lnSpc>
              <a:spcBef>
                <a:spcPts val="0"/>
              </a:spcBef>
              <a:spcAft>
                <a:spcPts val="0"/>
              </a:spcAft>
              <a:buNone/>
            </a:pPr>
            <a:r>
              <a:rPr b="1" lang="es" sz="4000">
                <a:solidFill>
                  <a:srgbClr val="EAFF6A"/>
                </a:solidFill>
                <a:latin typeface="DM Sans"/>
                <a:ea typeface="DM Sans"/>
                <a:cs typeface="DM Sans"/>
                <a:sym typeface="DM Sans"/>
              </a:rPr>
              <a:t>Contexto dinámico</a:t>
            </a:r>
            <a:endParaRPr b="1" sz="4000">
              <a:solidFill>
                <a:srgbClr val="EAFF6A"/>
              </a:solidFill>
              <a:latin typeface="DM Sans"/>
              <a:ea typeface="DM Sans"/>
              <a:cs typeface="DM Sans"/>
              <a:sym typeface="DM Sans"/>
            </a:endParaRPr>
          </a:p>
          <a:p>
            <a:pPr indent="0" lvl="0" marL="0" rtl="0" algn="l">
              <a:lnSpc>
                <a:spcPct val="90000"/>
              </a:lnSpc>
              <a:spcBef>
                <a:spcPts val="0"/>
              </a:spcBef>
              <a:spcAft>
                <a:spcPts val="0"/>
              </a:spcAft>
              <a:buNone/>
            </a:pPr>
            <a:r>
              <a:t/>
            </a:r>
            <a:endParaRPr b="1" sz="4000">
              <a:solidFill>
                <a:srgbClr val="EAFF6A"/>
              </a:solidFill>
              <a:latin typeface="DM Sans"/>
              <a:ea typeface="DM Sans"/>
              <a:cs typeface="DM Sans"/>
              <a:sym typeface="DM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pic>
        <p:nvPicPr>
          <p:cNvPr id="330" name="Google Shape;330;p36"/>
          <p:cNvPicPr preferRelativeResize="0"/>
          <p:nvPr/>
        </p:nvPicPr>
        <p:blipFill>
          <a:blip r:embed="rId3">
            <a:alphaModFix/>
          </a:blip>
          <a:stretch>
            <a:fillRect/>
          </a:stretch>
        </p:blipFill>
        <p:spPr>
          <a:xfrm>
            <a:off x="-32900" y="0"/>
            <a:ext cx="9176899" cy="5143500"/>
          </a:xfrm>
          <a:prstGeom prst="rect">
            <a:avLst/>
          </a:prstGeom>
          <a:noFill/>
          <a:ln>
            <a:noFill/>
          </a:ln>
        </p:spPr>
      </p:pic>
      <p:pic>
        <p:nvPicPr>
          <p:cNvPr id="331" name="Google Shape;331;p36"/>
          <p:cNvPicPr preferRelativeResize="0"/>
          <p:nvPr/>
        </p:nvPicPr>
        <p:blipFill>
          <a:blip r:embed="rId4">
            <a:alphaModFix/>
          </a:blip>
          <a:stretch>
            <a:fillRect/>
          </a:stretch>
        </p:blipFill>
        <p:spPr>
          <a:xfrm>
            <a:off x="7811413" y="4692275"/>
            <a:ext cx="1150750" cy="267575"/>
          </a:xfrm>
          <a:prstGeom prst="rect">
            <a:avLst/>
          </a:prstGeom>
          <a:noFill/>
          <a:ln>
            <a:noFill/>
          </a:ln>
        </p:spPr>
      </p:pic>
      <p:sp>
        <p:nvSpPr>
          <p:cNvPr id="332" name="Google Shape;332;p36"/>
          <p:cNvSpPr txBox="1"/>
          <p:nvPr/>
        </p:nvSpPr>
        <p:spPr>
          <a:xfrm>
            <a:off x="3729456" y="2264828"/>
            <a:ext cx="16851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350">
                <a:solidFill>
                  <a:schemeClr val="dk1"/>
                </a:solidFill>
                <a:latin typeface="DM Sans"/>
                <a:ea typeface="DM Sans"/>
                <a:cs typeface="DM Sans"/>
                <a:sym typeface="DM Sans"/>
              </a:rPr>
              <a:t>REEMPLAZAR </a:t>
            </a:r>
            <a:endParaRPr sz="1350">
              <a:solidFill>
                <a:schemeClr val="dk1"/>
              </a:solidFill>
              <a:latin typeface="DM Sans"/>
              <a:ea typeface="DM Sans"/>
              <a:cs typeface="DM Sans"/>
              <a:sym typeface="DM Sans"/>
            </a:endParaRPr>
          </a:p>
          <a:p>
            <a:pPr indent="0" lvl="0" marL="0" rtl="0" algn="ctr">
              <a:spcBef>
                <a:spcPts val="0"/>
              </a:spcBef>
              <a:spcAft>
                <a:spcPts val="0"/>
              </a:spcAft>
              <a:buNone/>
            </a:pPr>
            <a:r>
              <a:rPr lang="es" sz="1350">
                <a:solidFill>
                  <a:schemeClr val="dk1"/>
                </a:solidFill>
                <a:latin typeface="DM Sans"/>
                <a:ea typeface="DM Sans"/>
                <a:cs typeface="DM Sans"/>
                <a:sym typeface="DM Sans"/>
              </a:rPr>
              <a:t>POR IMAGEN</a:t>
            </a:r>
            <a:endParaRPr sz="1350">
              <a:latin typeface="DM Sans"/>
              <a:ea typeface="DM Sans"/>
              <a:cs typeface="DM Sans"/>
              <a:sym typeface="DM Sans"/>
            </a:endParaRPr>
          </a:p>
        </p:txBody>
      </p:sp>
      <p:pic>
        <p:nvPicPr>
          <p:cNvPr id="333" name="Google Shape;333;p36"/>
          <p:cNvPicPr preferRelativeResize="0"/>
          <p:nvPr/>
        </p:nvPicPr>
        <p:blipFill>
          <a:blip r:embed="rId5">
            <a:alphaModFix/>
          </a:blip>
          <a:stretch>
            <a:fillRect/>
          </a:stretch>
        </p:blipFill>
        <p:spPr>
          <a:xfrm>
            <a:off x="277675" y="613175"/>
            <a:ext cx="8064498" cy="4079099"/>
          </a:xfrm>
          <a:prstGeom prst="rect">
            <a:avLst/>
          </a:prstGeom>
          <a:noFill/>
          <a:ln>
            <a:noFill/>
          </a:ln>
        </p:spPr>
      </p:pic>
      <p:sp>
        <p:nvSpPr>
          <p:cNvPr id="334" name="Google Shape;334;p36"/>
          <p:cNvSpPr txBox="1"/>
          <p:nvPr/>
        </p:nvSpPr>
        <p:spPr>
          <a:xfrm>
            <a:off x="672600" y="142425"/>
            <a:ext cx="60693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2600">
                <a:latin typeface="DM Sans"/>
                <a:ea typeface="DM Sans"/>
                <a:cs typeface="DM Sans"/>
                <a:sym typeface="DM Sans"/>
              </a:rPr>
              <a:t>Contexto Dinámico</a:t>
            </a:r>
            <a:endParaRPr b="1" sz="2600">
              <a:latin typeface="DM Sans"/>
              <a:ea typeface="DM Sans"/>
              <a:cs typeface="DM Sans"/>
              <a:sym typeface="DM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7"/>
          <p:cNvSpPr/>
          <p:nvPr/>
        </p:nvSpPr>
        <p:spPr>
          <a:xfrm>
            <a:off x="0" y="0"/>
            <a:ext cx="2525100" cy="5143500"/>
          </a:xfrm>
          <a:prstGeom prst="rect">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7"/>
          <p:cNvSpPr txBox="1"/>
          <p:nvPr/>
        </p:nvSpPr>
        <p:spPr>
          <a:xfrm>
            <a:off x="3649500" y="1104863"/>
            <a:ext cx="49872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Contexto Dinámico</a:t>
            </a:r>
            <a:endParaRPr b="1" sz="4000">
              <a:solidFill>
                <a:schemeClr val="dk1"/>
              </a:solidFill>
              <a:latin typeface="DM Sans"/>
              <a:ea typeface="DM Sans"/>
              <a:cs typeface="DM Sans"/>
              <a:sym typeface="DM Sans"/>
            </a:endParaRPr>
          </a:p>
        </p:txBody>
      </p:sp>
      <p:pic>
        <p:nvPicPr>
          <p:cNvPr id="341" name="Google Shape;341;p37"/>
          <p:cNvPicPr preferRelativeResize="0"/>
          <p:nvPr/>
        </p:nvPicPr>
        <p:blipFill>
          <a:blip r:embed="rId3">
            <a:alphaModFix/>
          </a:blip>
          <a:stretch>
            <a:fillRect/>
          </a:stretch>
        </p:blipFill>
        <p:spPr>
          <a:xfrm>
            <a:off x="912400" y="1505996"/>
            <a:ext cx="2024825" cy="1812200"/>
          </a:xfrm>
          <a:prstGeom prst="rect">
            <a:avLst/>
          </a:prstGeom>
          <a:noFill/>
          <a:ln>
            <a:noFill/>
          </a:ln>
        </p:spPr>
      </p:pic>
      <p:sp>
        <p:nvSpPr>
          <p:cNvPr id="342" name="Google Shape;342;p37"/>
          <p:cNvSpPr txBox="1"/>
          <p:nvPr/>
        </p:nvSpPr>
        <p:spPr>
          <a:xfrm>
            <a:off x="3379575" y="1761700"/>
            <a:ext cx="5070000" cy="32760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rgbClr val="000000"/>
              </a:buClr>
              <a:buSzPts val="1100"/>
              <a:buFont typeface="Arial"/>
              <a:buNone/>
            </a:pPr>
            <a:r>
              <a:rPr lang="es" sz="1350">
                <a:solidFill>
                  <a:srgbClr val="000000"/>
                </a:solidFill>
                <a:highlight>
                  <a:srgbClr val="FFFFFF"/>
                </a:highlight>
                <a:latin typeface="DM Sans"/>
                <a:ea typeface="DM Sans"/>
                <a:cs typeface="DM Sans"/>
                <a:sym typeface="DM Sans"/>
              </a:rPr>
              <a:t>Flexibilidad de context</a:t>
            </a:r>
            <a:endParaRPr sz="1350">
              <a:solidFill>
                <a:srgbClr val="000000"/>
              </a:solidFill>
              <a:highlight>
                <a:srgbClr val="FFFFFF"/>
              </a:highlight>
              <a:latin typeface="DM Sans"/>
              <a:ea typeface="DM Sans"/>
              <a:cs typeface="DM Sans"/>
              <a:sym typeface="DM Sans"/>
            </a:endParaRPr>
          </a:p>
          <a:p>
            <a:pPr indent="0" lvl="0" marL="457200" rtl="0" algn="ctr">
              <a:lnSpc>
                <a:spcPct val="115000"/>
              </a:lnSpc>
              <a:spcBef>
                <a:spcPts val="0"/>
              </a:spcBef>
              <a:spcAft>
                <a:spcPts val="0"/>
              </a:spcAft>
              <a:buNone/>
            </a:pPr>
            <a:r>
              <a:rPr lang="es" sz="1350">
                <a:solidFill>
                  <a:srgbClr val="000000"/>
                </a:solidFill>
                <a:highlight>
                  <a:srgbClr val="FFFFFF"/>
                </a:highlight>
                <a:latin typeface="DM Sans"/>
                <a:ea typeface="DM Sans"/>
                <a:cs typeface="DM Sans"/>
                <a:sym typeface="DM Sans"/>
              </a:rPr>
              <a:t>+</a:t>
            </a:r>
            <a:endParaRPr sz="1350">
              <a:solidFill>
                <a:srgbClr val="000000"/>
              </a:solidFill>
              <a:highlight>
                <a:srgbClr val="FFFFFF"/>
              </a:highlight>
              <a:latin typeface="DM Sans"/>
              <a:ea typeface="DM Sans"/>
              <a:cs typeface="DM Sans"/>
              <a:sym typeface="DM Sans"/>
            </a:endParaRPr>
          </a:p>
          <a:p>
            <a:pPr indent="0" lvl="0" marL="457200" rtl="0" algn="ctr">
              <a:lnSpc>
                <a:spcPct val="115000"/>
              </a:lnSpc>
              <a:spcBef>
                <a:spcPts val="0"/>
              </a:spcBef>
              <a:spcAft>
                <a:spcPts val="0"/>
              </a:spcAft>
              <a:buNone/>
            </a:pPr>
            <a:r>
              <a:rPr lang="es" sz="1350">
                <a:solidFill>
                  <a:srgbClr val="000000"/>
                </a:solidFill>
                <a:highlight>
                  <a:srgbClr val="FFFFFF"/>
                </a:highlight>
                <a:latin typeface="DM Sans"/>
                <a:ea typeface="DM Sans"/>
                <a:cs typeface="DM Sans"/>
                <a:sym typeface="DM Sans"/>
              </a:rPr>
              <a:t>State</a:t>
            </a:r>
            <a:endParaRPr sz="1350">
              <a:solidFill>
                <a:srgbClr val="000000"/>
              </a:solidFill>
              <a:highlight>
                <a:srgbClr val="FFFFFF"/>
              </a:highlight>
              <a:latin typeface="DM Sans"/>
              <a:ea typeface="DM Sans"/>
              <a:cs typeface="DM Sans"/>
              <a:sym typeface="DM Sans"/>
            </a:endParaRPr>
          </a:p>
          <a:p>
            <a:pPr indent="0" lvl="0" marL="457200" rtl="0" algn="ctr">
              <a:lnSpc>
                <a:spcPct val="115000"/>
              </a:lnSpc>
              <a:spcBef>
                <a:spcPts val="0"/>
              </a:spcBef>
              <a:spcAft>
                <a:spcPts val="0"/>
              </a:spcAft>
              <a:buNone/>
            </a:pPr>
            <a:r>
              <a:rPr lang="es" sz="1350">
                <a:solidFill>
                  <a:srgbClr val="000000"/>
                </a:solidFill>
                <a:highlight>
                  <a:srgbClr val="FFFFFF"/>
                </a:highlight>
                <a:latin typeface="DM Sans"/>
                <a:ea typeface="DM Sans"/>
                <a:cs typeface="DM Sans"/>
                <a:sym typeface="DM Sans"/>
              </a:rPr>
              <a:t>+</a:t>
            </a:r>
            <a:endParaRPr sz="1350">
              <a:solidFill>
                <a:srgbClr val="000000"/>
              </a:solidFill>
              <a:highlight>
                <a:srgbClr val="FFFFFF"/>
              </a:highlight>
              <a:latin typeface="DM Sans"/>
              <a:ea typeface="DM Sans"/>
              <a:cs typeface="DM Sans"/>
              <a:sym typeface="DM Sans"/>
            </a:endParaRPr>
          </a:p>
          <a:p>
            <a:pPr indent="0" lvl="0" marL="457200" rtl="0" algn="ctr">
              <a:lnSpc>
                <a:spcPct val="115000"/>
              </a:lnSpc>
              <a:spcBef>
                <a:spcPts val="0"/>
              </a:spcBef>
              <a:spcAft>
                <a:spcPts val="0"/>
              </a:spcAft>
              <a:buNone/>
            </a:pPr>
            <a:r>
              <a:rPr lang="es" sz="1350">
                <a:solidFill>
                  <a:srgbClr val="000000"/>
                </a:solidFill>
                <a:highlight>
                  <a:srgbClr val="FFFFFF"/>
                </a:highlight>
                <a:latin typeface="DM Sans"/>
                <a:ea typeface="DM Sans"/>
                <a:cs typeface="DM Sans"/>
                <a:sym typeface="DM Sans"/>
              </a:rPr>
              <a:t>Hooks</a:t>
            </a:r>
            <a:endParaRPr sz="1350">
              <a:solidFill>
                <a:srgbClr val="000000"/>
              </a:solidFill>
              <a:highlight>
                <a:srgbClr val="FFFFFF"/>
              </a:highlight>
              <a:latin typeface="DM Sans"/>
              <a:ea typeface="DM Sans"/>
              <a:cs typeface="DM Sans"/>
              <a:sym typeface="DM Sans"/>
            </a:endParaRPr>
          </a:p>
          <a:p>
            <a:pPr indent="0" lvl="0" marL="457200" rtl="0" algn="ctr">
              <a:lnSpc>
                <a:spcPct val="115000"/>
              </a:lnSpc>
              <a:spcBef>
                <a:spcPts val="0"/>
              </a:spcBef>
              <a:spcAft>
                <a:spcPts val="0"/>
              </a:spcAft>
              <a:buNone/>
            </a:pPr>
            <a:r>
              <a:rPr lang="es" sz="1350">
                <a:solidFill>
                  <a:srgbClr val="000000"/>
                </a:solidFill>
                <a:highlight>
                  <a:srgbClr val="FFFFFF"/>
                </a:highlight>
                <a:latin typeface="DM Sans"/>
                <a:ea typeface="DM Sans"/>
                <a:cs typeface="DM Sans"/>
                <a:sym typeface="DM Sans"/>
              </a:rPr>
              <a:t>+ </a:t>
            </a:r>
            <a:endParaRPr sz="1350">
              <a:solidFill>
                <a:srgbClr val="000000"/>
              </a:solidFill>
              <a:highlight>
                <a:srgbClr val="FFFFFF"/>
              </a:highlight>
              <a:latin typeface="DM Sans"/>
              <a:ea typeface="DM Sans"/>
              <a:cs typeface="DM Sans"/>
              <a:sym typeface="DM Sans"/>
            </a:endParaRPr>
          </a:p>
          <a:p>
            <a:pPr indent="0" lvl="0" marL="457200" rtl="0" algn="ctr">
              <a:lnSpc>
                <a:spcPct val="115000"/>
              </a:lnSpc>
              <a:spcBef>
                <a:spcPts val="0"/>
              </a:spcBef>
              <a:spcAft>
                <a:spcPts val="0"/>
              </a:spcAft>
              <a:buNone/>
            </a:pPr>
            <a:r>
              <a:rPr lang="es" sz="1350">
                <a:solidFill>
                  <a:srgbClr val="000000"/>
                </a:solidFill>
                <a:highlight>
                  <a:srgbClr val="FFFFFF"/>
                </a:highlight>
                <a:latin typeface="DM Sans"/>
                <a:ea typeface="DM Sans"/>
                <a:cs typeface="DM Sans"/>
                <a:sym typeface="DM Sans"/>
              </a:rPr>
              <a:t>Higher Order Components</a:t>
            </a:r>
            <a:endParaRPr sz="1350">
              <a:solidFill>
                <a:srgbClr val="000000"/>
              </a:solidFill>
              <a:highlight>
                <a:srgbClr val="FFFFFF"/>
              </a:highlight>
              <a:latin typeface="DM Sans"/>
              <a:ea typeface="DM Sans"/>
              <a:cs typeface="DM Sans"/>
              <a:sym typeface="DM Sans"/>
            </a:endParaRPr>
          </a:p>
          <a:p>
            <a:pPr indent="0" lvl="0" marL="457200" rtl="0" algn="ctr">
              <a:lnSpc>
                <a:spcPct val="115000"/>
              </a:lnSpc>
              <a:spcBef>
                <a:spcPts val="0"/>
              </a:spcBef>
              <a:spcAft>
                <a:spcPts val="0"/>
              </a:spcAft>
              <a:buNone/>
            </a:pPr>
            <a:r>
              <a:rPr lang="es" sz="1350">
                <a:solidFill>
                  <a:srgbClr val="000000"/>
                </a:solidFill>
                <a:highlight>
                  <a:srgbClr val="FFFFFF"/>
                </a:highlight>
                <a:latin typeface="DM Sans"/>
                <a:ea typeface="DM Sans"/>
                <a:cs typeface="DM Sans"/>
                <a:sym typeface="DM Sans"/>
              </a:rPr>
              <a:t>=</a:t>
            </a:r>
            <a:endParaRPr sz="1350">
              <a:solidFill>
                <a:srgbClr val="000000"/>
              </a:solidFill>
              <a:highlight>
                <a:srgbClr val="FFFFFF"/>
              </a:highlight>
              <a:latin typeface="DM Sans"/>
              <a:ea typeface="DM Sans"/>
              <a:cs typeface="DM Sans"/>
              <a:sym typeface="DM Sans"/>
            </a:endParaRPr>
          </a:p>
          <a:p>
            <a:pPr indent="0" lvl="0" marL="457200" rtl="0" algn="ctr">
              <a:lnSpc>
                <a:spcPct val="115000"/>
              </a:lnSpc>
              <a:spcBef>
                <a:spcPts val="0"/>
              </a:spcBef>
              <a:spcAft>
                <a:spcPts val="0"/>
              </a:spcAft>
              <a:buNone/>
            </a:pPr>
            <a:r>
              <a:t/>
            </a:r>
            <a:endParaRPr sz="2400">
              <a:solidFill>
                <a:srgbClr val="000000"/>
              </a:solidFill>
              <a:highlight>
                <a:srgbClr val="FFFFFF"/>
              </a:highlight>
              <a:latin typeface="Helvetica Neue Light"/>
              <a:ea typeface="Helvetica Neue Light"/>
              <a:cs typeface="Helvetica Neue Light"/>
              <a:sym typeface="Helvetica Neue Light"/>
            </a:endParaRPr>
          </a:p>
        </p:txBody>
      </p:sp>
      <p:pic>
        <p:nvPicPr>
          <p:cNvPr id="343" name="Google Shape;343;p37"/>
          <p:cNvPicPr preferRelativeResize="0"/>
          <p:nvPr/>
        </p:nvPicPr>
        <p:blipFill>
          <a:blip r:embed="rId4">
            <a:alphaModFix/>
          </a:blip>
          <a:stretch>
            <a:fillRect/>
          </a:stretch>
        </p:blipFill>
        <p:spPr>
          <a:xfrm>
            <a:off x="5848038" y="4129050"/>
            <a:ext cx="590124" cy="59012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8"/>
          <p:cNvSpPr txBox="1"/>
          <p:nvPr/>
        </p:nvSpPr>
        <p:spPr>
          <a:xfrm>
            <a:off x="1447300" y="537575"/>
            <a:ext cx="7169400" cy="66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500">
                <a:solidFill>
                  <a:schemeClr val="dk1"/>
                </a:solidFill>
                <a:latin typeface="DM Sans"/>
                <a:ea typeface="DM Sans"/>
                <a:cs typeface="DM Sans"/>
                <a:sym typeface="DM Sans"/>
              </a:rPr>
              <a:t>Ejemplo en vivo</a:t>
            </a:r>
            <a:endParaRPr b="1" sz="3500">
              <a:solidFill>
                <a:schemeClr val="dk1"/>
              </a:solidFill>
              <a:latin typeface="DM Sans"/>
              <a:ea typeface="DM Sans"/>
              <a:cs typeface="DM Sans"/>
              <a:sym typeface="DM Sans"/>
            </a:endParaRPr>
          </a:p>
        </p:txBody>
      </p:sp>
      <p:sp>
        <p:nvSpPr>
          <p:cNvPr id="349" name="Google Shape;349;p38"/>
          <p:cNvSpPr txBox="1"/>
          <p:nvPr/>
        </p:nvSpPr>
        <p:spPr>
          <a:xfrm>
            <a:off x="475500" y="1474850"/>
            <a:ext cx="7169400" cy="210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500">
              <a:solidFill>
                <a:srgbClr val="B7B7B7"/>
              </a:solidFill>
              <a:latin typeface="DM Sans"/>
              <a:ea typeface="DM Sans"/>
              <a:cs typeface="DM Sans"/>
              <a:sym typeface="DM Sans"/>
            </a:endParaRPr>
          </a:p>
          <a:p>
            <a:pPr indent="0" lvl="0" marL="0" rtl="0" algn="l">
              <a:spcBef>
                <a:spcPts val="0"/>
              </a:spcBef>
              <a:spcAft>
                <a:spcPts val="0"/>
              </a:spcAft>
              <a:buNone/>
            </a:pPr>
            <a:r>
              <a:rPr lang="es" sz="2500">
                <a:solidFill>
                  <a:schemeClr val="dk2"/>
                </a:solidFill>
                <a:latin typeface="DM Sans"/>
                <a:ea typeface="DM Sans"/>
                <a:cs typeface="DM Sans"/>
                <a:sym typeface="DM Sans"/>
              </a:rPr>
              <a:t>Creamos nuestro CustomProvider: un componente de fachada que administre un estado y renderize el context.Provider con su “value” ya definido. </a:t>
            </a:r>
            <a:endParaRPr b="1" sz="2500">
              <a:solidFill>
                <a:srgbClr val="B7B7B7"/>
              </a:solidFill>
              <a:latin typeface="Helvetica Neue"/>
              <a:ea typeface="Helvetica Neue"/>
              <a:cs typeface="Helvetica Neue"/>
              <a:sym typeface="Helvetica Neue"/>
            </a:endParaRPr>
          </a:p>
        </p:txBody>
      </p:sp>
      <p:grpSp>
        <p:nvGrpSpPr>
          <p:cNvPr id="350" name="Google Shape;350;p38"/>
          <p:cNvGrpSpPr/>
          <p:nvPr/>
        </p:nvGrpSpPr>
        <p:grpSpPr>
          <a:xfrm>
            <a:off x="475501" y="468273"/>
            <a:ext cx="738900" cy="738900"/>
            <a:chOff x="473351" y="619523"/>
            <a:chExt cx="738900" cy="738900"/>
          </a:xfrm>
        </p:grpSpPr>
        <p:sp>
          <p:nvSpPr>
            <p:cNvPr id="351" name="Google Shape;351;p38"/>
            <p:cNvSpPr/>
            <p:nvPr/>
          </p:nvSpPr>
          <p:spPr>
            <a:xfrm>
              <a:off x="473351" y="61952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2" name="Google Shape;352;p38" title="ícono de ejemplo en vivo"/>
            <p:cNvPicPr preferRelativeResize="0"/>
            <p:nvPr/>
          </p:nvPicPr>
          <p:blipFill>
            <a:blip r:embed="rId3">
              <a:alphaModFix/>
            </a:blip>
            <a:stretch>
              <a:fillRect/>
            </a:stretch>
          </p:blipFill>
          <p:spPr>
            <a:xfrm>
              <a:off x="616475" y="762650"/>
              <a:ext cx="452650" cy="452650"/>
            </a:xfrm>
            <a:prstGeom prst="rect">
              <a:avLst/>
            </a:prstGeom>
            <a:noFill/>
            <a:ln>
              <a:noFill/>
            </a:ln>
          </p:spPr>
        </p:pic>
      </p:grpSp>
      <p:sp>
        <p:nvSpPr>
          <p:cNvPr id="353" name="Google Shape;353;p38"/>
          <p:cNvSpPr txBox="1"/>
          <p:nvPr/>
        </p:nvSpPr>
        <p:spPr>
          <a:xfrm>
            <a:off x="475500" y="3829300"/>
            <a:ext cx="7169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2"/>
                </a:solidFill>
                <a:latin typeface="DM Sans"/>
                <a:ea typeface="DM Sans"/>
                <a:cs typeface="DM Sans"/>
                <a:sym typeface="DM Sans"/>
              </a:rPr>
              <a:t>Duración: </a:t>
            </a:r>
            <a:r>
              <a:rPr b="1" lang="es" sz="2000">
                <a:solidFill>
                  <a:schemeClr val="dk2"/>
                </a:solidFill>
                <a:latin typeface="DM Sans"/>
                <a:ea typeface="DM Sans"/>
                <a:cs typeface="DM Sans"/>
                <a:sym typeface="DM Sans"/>
              </a:rPr>
              <a:t>10 minutos</a:t>
            </a:r>
            <a:endParaRPr b="1" sz="2000">
              <a:solidFill>
                <a:schemeClr val="dk2"/>
              </a:solidFill>
              <a:latin typeface="DM Sans"/>
              <a:ea typeface="DM Sans"/>
              <a:cs typeface="DM Sans"/>
              <a:sym typeface="DM Sans"/>
            </a:endParaRPr>
          </a:p>
        </p:txBody>
      </p:sp>
      <p:grpSp>
        <p:nvGrpSpPr>
          <p:cNvPr id="354" name="Google Shape;354;p38"/>
          <p:cNvGrpSpPr/>
          <p:nvPr/>
        </p:nvGrpSpPr>
        <p:grpSpPr>
          <a:xfrm>
            <a:off x="0" y="-7400"/>
            <a:ext cx="9143925" cy="44400"/>
            <a:chOff x="0" y="-7400"/>
            <a:chExt cx="9143925" cy="44400"/>
          </a:xfrm>
        </p:grpSpPr>
        <p:sp>
          <p:nvSpPr>
            <p:cNvPr id="355" name="Google Shape;355;p38"/>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DM Sans"/>
                <a:ea typeface="DM Sans"/>
                <a:cs typeface="DM Sans"/>
                <a:sym typeface="DM Sans"/>
              </a:endParaRPr>
            </a:p>
          </p:txBody>
        </p:sp>
        <p:sp>
          <p:nvSpPr>
            <p:cNvPr id="356" name="Google Shape;356;p38"/>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grpSp>
        <p:nvGrpSpPr>
          <p:cNvPr id="361" name="Google Shape;361;p39"/>
          <p:cNvGrpSpPr/>
          <p:nvPr/>
        </p:nvGrpSpPr>
        <p:grpSpPr>
          <a:xfrm>
            <a:off x="2172088" y="1852650"/>
            <a:ext cx="197100" cy="197100"/>
            <a:chOff x="2172088" y="1852650"/>
            <a:chExt cx="197100" cy="197100"/>
          </a:xfrm>
        </p:grpSpPr>
        <p:sp>
          <p:nvSpPr>
            <p:cNvPr id="362" name="Google Shape;362;p39"/>
            <p:cNvSpPr/>
            <p:nvPr/>
          </p:nvSpPr>
          <p:spPr>
            <a:xfrm>
              <a:off x="2172088" y="1852650"/>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9"/>
            <p:cNvSpPr/>
            <p:nvPr/>
          </p:nvSpPr>
          <p:spPr>
            <a:xfrm>
              <a:off x="2227138" y="1907700"/>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4" name="Google Shape;364;p39"/>
          <p:cNvGrpSpPr/>
          <p:nvPr/>
        </p:nvGrpSpPr>
        <p:grpSpPr>
          <a:xfrm>
            <a:off x="2172088" y="2455775"/>
            <a:ext cx="197100" cy="197100"/>
            <a:chOff x="2172088" y="2455775"/>
            <a:chExt cx="197100" cy="197100"/>
          </a:xfrm>
        </p:grpSpPr>
        <p:sp>
          <p:nvSpPr>
            <p:cNvPr id="365" name="Google Shape;365;p39"/>
            <p:cNvSpPr/>
            <p:nvPr/>
          </p:nvSpPr>
          <p:spPr>
            <a:xfrm>
              <a:off x="2172088" y="2455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39"/>
            <p:cNvSpPr/>
            <p:nvPr/>
          </p:nvSpPr>
          <p:spPr>
            <a:xfrm>
              <a:off x="2227138" y="2510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67" name="Google Shape;367;p39"/>
          <p:cNvCxnSpPr>
            <a:endCxn id="365" idx="0"/>
          </p:cNvCxnSpPr>
          <p:nvPr/>
        </p:nvCxnSpPr>
        <p:spPr>
          <a:xfrm>
            <a:off x="2270638" y="2049875"/>
            <a:ext cx="0" cy="405900"/>
          </a:xfrm>
          <a:prstGeom prst="straightConnector1">
            <a:avLst/>
          </a:prstGeom>
          <a:noFill/>
          <a:ln cap="flat" cmpd="sng" w="9525">
            <a:solidFill>
              <a:srgbClr val="DEFC52"/>
            </a:solidFill>
            <a:prstDash val="solid"/>
            <a:round/>
            <a:headEnd len="med" w="med" type="none"/>
            <a:tailEnd len="med" w="med" type="none"/>
          </a:ln>
        </p:spPr>
      </p:cxnSp>
      <p:sp>
        <p:nvSpPr>
          <p:cNvPr id="368" name="Google Shape;368;p39"/>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Paso a paso</a:t>
            </a:r>
            <a:endParaRPr b="1" sz="4000">
              <a:solidFill>
                <a:schemeClr val="dk1"/>
              </a:solidFill>
              <a:latin typeface="DM Sans"/>
              <a:ea typeface="DM Sans"/>
              <a:cs typeface="DM Sans"/>
              <a:sym typeface="DM Sans"/>
            </a:endParaRPr>
          </a:p>
        </p:txBody>
      </p:sp>
      <p:sp>
        <p:nvSpPr>
          <p:cNvPr id="369" name="Google Shape;369;p39"/>
          <p:cNvSpPr txBox="1"/>
          <p:nvPr/>
        </p:nvSpPr>
        <p:spPr>
          <a:xfrm>
            <a:off x="2690573" y="1731413"/>
            <a:ext cx="42813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Crea el </a:t>
            </a:r>
            <a:r>
              <a:rPr b="1" lang="es" sz="1350">
                <a:solidFill>
                  <a:schemeClr val="dk1"/>
                </a:solidFill>
                <a:latin typeface="DM Sans"/>
                <a:ea typeface="DM Sans"/>
                <a:cs typeface="DM Sans"/>
                <a:sym typeface="DM Sans"/>
              </a:rPr>
              <a:t>componente proveedor</a:t>
            </a:r>
            <a:r>
              <a:rPr lang="es" sz="1350">
                <a:solidFill>
                  <a:schemeClr val="dk1"/>
                </a:solidFill>
                <a:latin typeface="DM Sans"/>
                <a:ea typeface="DM Sans"/>
                <a:cs typeface="DM Sans"/>
                <a:sym typeface="DM Sans"/>
              </a:rPr>
              <a:t> que utilice el contexto y un estado interno con useState.</a:t>
            </a:r>
            <a:endParaRPr sz="1350">
              <a:solidFill>
                <a:schemeClr val="dk1"/>
              </a:solidFill>
              <a:latin typeface="DM Sans"/>
              <a:ea typeface="DM Sans"/>
              <a:cs typeface="DM Sans"/>
              <a:sym typeface="DM Sans"/>
            </a:endParaRPr>
          </a:p>
        </p:txBody>
      </p:sp>
      <p:sp>
        <p:nvSpPr>
          <p:cNvPr id="370" name="Google Shape;370;p39"/>
          <p:cNvSpPr txBox="1"/>
          <p:nvPr/>
        </p:nvSpPr>
        <p:spPr>
          <a:xfrm>
            <a:off x="2690573" y="2334538"/>
            <a:ext cx="42813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Renderiza el context.Provider inicial con todos los </a:t>
            </a:r>
            <a:r>
              <a:rPr b="1" lang="es" sz="1350">
                <a:solidFill>
                  <a:schemeClr val="dk1"/>
                </a:solidFill>
                <a:latin typeface="DM Sans"/>
                <a:ea typeface="DM Sans"/>
                <a:cs typeface="DM Sans"/>
                <a:sym typeface="DM Sans"/>
              </a:rPr>
              <a:t>childrens </a:t>
            </a:r>
            <a:r>
              <a:rPr lang="es" sz="1350">
                <a:solidFill>
                  <a:schemeClr val="dk1"/>
                </a:solidFill>
                <a:latin typeface="DM Sans"/>
                <a:ea typeface="DM Sans"/>
                <a:cs typeface="DM Sans"/>
                <a:sym typeface="DM Sans"/>
              </a:rPr>
              <a:t>recibidos en props</a:t>
            </a:r>
            <a:endParaRPr sz="1350">
              <a:solidFill>
                <a:schemeClr val="dk1"/>
              </a:solidFill>
              <a:latin typeface="DM Sans"/>
              <a:ea typeface="DM Sans"/>
              <a:cs typeface="DM Sans"/>
              <a:sym typeface="DM Sans"/>
            </a:endParaRPr>
          </a:p>
        </p:txBody>
      </p:sp>
      <p:grpSp>
        <p:nvGrpSpPr>
          <p:cNvPr id="371" name="Google Shape;371;p39"/>
          <p:cNvGrpSpPr/>
          <p:nvPr/>
        </p:nvGrpSpPr>
        <p:grpSpPr>
          <a:xfrm>
            <a:off x="2172088" y="3082350"/>
            <a:ext cx="197100" cy="197100"/>
            <a:chOff x="2172088" y="3058775"/>
            <a:chExt cx="197100" cy="197100"/>
          </a:xfrm>
        </p:grpSpPr>
        <p:sp>
          <p:nvSpPr>
            <p:cNvPr id="372" name="Google Shape;372;p39"/>
            <p:cNvSpPr/>
            <p:nvPr/>
          </p:nvSpPr>
          <p:spPr>
            <a:xfrm>
              <a:off x="2172088" y="3058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39"/>
            <p:cNvSpPr/>
            <p:nvPr/>
          </p:nvSpPr>
          <p:spPr>
            <a:xfrm>
              <a:off x="2227138" y="3113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74" name="Google Shape;374;p39"/>
          <p:cNvCxnSpPr>
            <a:endCxn id="372" idx="0"/>
          </p:cNvCxnSpPr>
          <p:nvPr/>
        </p:nvCxnSpPr>
        <p:spPr>
          <a:xfrm>
            <a:off x="2270638" y="2676450"/>
            <a:ext cx="0" cy="405900"/>
          </a:xfrm>
          <a:prstGeom prst="straightConnector1">
            <a:avLst/>
          </a:prstGeom>
          <a:noFill/>
          <a:ln cap="flat" cmpd="sng" w="9525">
            <a:solidFill>
              <a:srgbClr val="DEFC52"/>
            </a:solidFill>
            <a:prstDash val="solid"/>
            <a:round/>
            <a:headEnd len="med" w="med" type="none"/>
            <a:tailEnd len="med" w="med" type="none"/>
          </a:ln>
        </p:spPr>
      </p:cxnSp>
      <p:grpSp>
        <p:nvGrpSpPr>
          <p:cNvPr id="375" name="Google Shape;375;p39"/>
          <p:cNvGrpSpPr/>
          <p:nvPr/>
        </p:nvGrpSpPr>
        <p:grpSpPr>
          <a:xfrm>
            <a:off x="2172088" y="3685475"/>
            <a:ext cx="197100" cy="197100"/>
            <a:chOff x="2172088" y="3661775"/>
            <a:chExt cx="197100" cy="197100"/>
          </a:xfrm>
        </p:grpSpPr>
        <p:sp>
          <p:nvSpPr>
            <p:cNvPr id="376" name="Google Shape;376;p39"/>
            <p:cNvSpPr/>
            <p:nvPr/>
          </p:nvSpPr>
          <p:spPr>
            <a:xfrm>
              <a:off x="2172088" y="3661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9"/>
            <p:cNvSpPr/>
            <p:nvPr/>
          </p:nvSpPr>
          <p:spPr>
            <a:xfrm>
              <a:off x="2227138" y="3716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78" name="Google Shape;378;p39"/>
          <p:cNvCxnSpPr>
            <a:endCxn id="376" idx="0"/>
          </p:cNvCxnSpPr>
          <p:nvPr/>
        </p:nvCxnSpPr>
        <p:spPr>
          <a:xfrm>
            <a:off x="2270638" y="3279575"/>
            <a:ext cx="0" cy="405900"/>
          </a:xfrm>
          <a:prstGeom prst="straightConnector1">
            <a:avLst/>
          </a:prstGeom>
          <a:noFill/>
          <a:ln cap="flat" cmpd="sng" w="9525">
            <a:solidFill>
              <a:srgbClr val="DEFC52"/>
            </a:solidFill>
            <a:prstDash val="solid"/>
            <a:round/>
            <a:headEnd len="med" w="med" type="none"/>
            <a:tailEnd len="med" w="med" type="none"/>
          </a:ln>
        </p:spPr>
      </p:cxnSp>
      <p:sp>
        <p:nvSpPr>
          <p:cNvPr id="379" name="Google Shape;379;p39"/>
          <p:cNvSpPr txBox="1"/>
          <p:nvPr/>
        </p:nvSpPr>
        <p:spPr>
          <a:xfrm>
            <a:off x="2690573" y="2984688"/>
            <a:ext cx="42813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Crea una </a:t>
            </a:r>
            <a:r>
              <a:rPr b="1" lang="es" sz="1350">
                <a:solidFill>
                  <a:schemeClr val="dk1"/>
                </a:solidFill>
                <a:latin typeface="DM Sans"/>
                <a:ea typeface="DM Sans"/>
                <a:cs typeface="DM Sans"/>
                <a:sym typeface="DM Sans"/>
              </a:rPr>
              <a:t>función</a:t>
            </a:r>
            <a:r>
              <a:rPr lang="es" sz="1350">
                <a:solidFill>
                  <a:schemeClr val="dk1"/>
                </a:solidFill>
                <a:latin typeface="DM Sans"/>
                <a:ea typeface="DM Sans"/>
                <a:cs typeface="DM Sans"/>
                <a:sym typeface="DM Sans"/>
              </a:rPr>
              <a:t> que reciba un objeto como parámetro y lo guarde en el estado</a:t>
            </a:r>
            <a:endParaRPr sz="1350">
              <a:solidFill>
                <a:schemeClr val="dk1"/>
              </a:solidFill>
              <a:latin typeface="DM Sans"/>
              <a:ea typeface="DM Sans"/>
              <a:cs typeface="DM Sans"/>
              <a:sym typeface="DM Sans"/>
            </a:endParaRPr>
          </a:p>
        </p:txBody>
      </p:sp>
      <p:sp>
        <p:nvSpPr>
          <p:cNvPr id="380" name="Google Shape;380;p39"/>
          <p:cNvSpPr txBox="1"/>
          <p:nvPr/>
        </p:nvSpPr>
        <p:spPr>
          <a:xfrm>
            <a:off x="2690575" y="3587825"/>
            <a:ext cx="4472400" cy="8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1350">
                <a:solidFill>
                  <a:schemeClr val="dk1"/>
                </a:solidFill>
                <a:latin typeface="DM Sans"/>
                <a:ea typeface="DM Sans"/>
                <a:cs typeface="DM Sans"/>
                <a:sym typeface="DM Sans"/>
              </a:rPr>
              <a:t>Actualiza la </a:t>
            </a:r>
            <a:r>
              <a:rPr b="1" lang="es" sz="1350">
                <a:solidFill>
                  <a:schemeClr val="dk1"/>
                </a:solidFill>
                <a:latin typeface="DM Sans"/>
                <a:ea typeface="DM Sans"/>
                <a:cs typeface="DM Sans"/>
                <a:sym typeface="DM Sans"/>
              </a:rPr>
              <a:t>prop “value”</a:t>
            </a:r>
            <a:r>
              <a:rPr lang="es" sz="1350">
                <a:solidFill>
                  <a:schemeClr val="dk1"/>
                </a:solidFill>
                <a:latin typeface="DM Sans"/>
                <a:ea typeface="DM Sans"/>
                <a:cs typeface="DM Sans"/>
                <a:sym typeface="DM Sans"/>
              </a:rPr>
              <a:t> del context.Provider, con la variable de estado creado y la función </a:t>
            </a:r>
            <a:endParaRPr sz="1350">
              <a:solidFill>
                <a:schemeClr val="dk1"/>
              </a:solidFill>
              <a:latin typeface="DM Sans"/>
              <a:ea typeface="DM Sans"/>
              <a:cs typeface="DM Sans"/>
              <a:sym typeface="DM Sans"/>
            </a:endParaRPr>
          </a:p>
          <a:p>
            <a:pPr indent="0" lvl="0" marL="0" rtl="0" algn="l">
              <a:spcBef>
                <a:spcPts val="0"/>
              </a:spcBef>
              <a:spcAft>
                <a:spcPts val="0"/>
              </a:spcAft>
              <a:buNone/>
            </a:pPr>
            <a:r>
              <a:t/>
            </a:r>
            <a:endParaRPr sz="1350">
              <a:solidFill>
                <a:schemeClr val="dk1"/>
              </a:solidFill>
              <a:latin typeface="DM Sans"/>
              <a:ea typeface="DM Sans"/>
              <a:cs typeface="DM Sans"/>
              <a:sym typeface="DM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0"/>
          <p:cNvSpPr txBox="1"/>
          <p:nvPr/>
        </p:nvSpPr>
        <p:spPr>
          <a:xfrm>
            <a:off x="1461300" y="1598325"/>
            <a:ext cx="6221400" cy="14316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lang="es" sz="5000">
                <a:solidFill>
                  <a:srgbClr val="E8E7E3"/>
                </a:solidFill>
              </a:rPr>
              <a:t>☕</a:t>
            </a:r>
            <a:endParaRPr sz="5000">
              <a:solidFill>
                <a:srgbClr val="E8E7E3"/>
              </a:solidFill>
            </a:endParaRPr>
          </a:p>
          <a:p>
            <a:pPr indent="0" lvl="0" marL="0" rtl="0" algn="ctr">
              <a:lnSpc>
                <a:spcPct val="90000"/>
              </a:lnSpc>
              <a:spcBef>
                <a:spcPts val="0"/>
              </a:spcBef>
              <a:spcAft>
                <a:spcPts val="0"/>
              </a:spcAft>
              <a:buNone/>
            </a:pPr>
            <a:r>
              <a:rPr b="1" lang="es" sz="4000">
                <a:solidFill>
                  <a:srgbClr val="EAFF6A"/>
                </a:solidFill>
                <a:latin typeface="DM Sans"/>
                <a:ea typeface="DM Sans"/>
                <a:cs typeface="DM Sans"/>
                <a:sym typeface="DM Sans"/>
              </a:rPr>
              <a:t>Break</a:t>
            </a:r>
            <a:endParaRPr b="1" sz="4000">
              <a:solidFill>
                <a:schemeClr val="lt1"/>
              </a:solidFill>
              <a:latin typeface="DM Sans"/>
              <a:ea typeface="DM Sans"/>
              <a:cs typeface="DM Sans"/>
              <a:sym typeface="DM Sans"/>
            </a:endParaRPr>
          </a:p>
        </p:txBody>
      </p:sp>
      <p:sp>
        <p:nvSpPr>
          <p:cNvPr id="386" name="Google Shape;386;p40"/>
          <p:cNvSpPr txBox="1"/>
          <p:nvPr/>
        </p:nvSpPr>
        <p:spPr>
          <a:xfrm>
            <a:off x="2809200" y="2971950"/>
            <a:ext cx="3525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000">
                <a:solidFill>
                  <a:schemeClr val="lt1"/>
                </a:solidFill>
                <a:latin typeface="DM Sans"/>
                <a:ea typeface="DM Sans"/>
                <a:cs typeface="DM Sans"/>
                <a:sym typeface="DM Sans"/>
              </a:rPr>
              <a:t>¡En 5 minutos volvemos!</a:t>
            </a:r>
            <a:endParaRPr sz="2000">
              <a:solidFill>
                <a:schemeClr val="lt1"/>
              </a:solidFill>
              <a:latin typeface="DM Sans"/>
              <a:ea typeface="DM Sans"/>
              <a:cs typeface="DM Sans"/>
              <a:sym typeface="DM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1"/>
          <p:cNvSpPr txBox="1"/>
          <p:nvPr/>
        </p:nvSpPr>
        <p:spPr>
          <a:xfrm>
            <a:off x="1404863" y="1941375"/>
            <a:ext cx="62214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rgbClr val="EAFF6A"/>
                </a:solidFill>
                <a:latin typeface="DM Sans"/>
                <a:ea typeface="DM Sans"/>
                <a:cs typeface="DM Sans"/>
                <a:sym typeface="DM Sans"/>
              </a:rPr>
              <a:t>Rendering Condicional</a:t>
            </a:r>
            <a:endParaRPr b="1" sz="4000">
              <a:solidFill>
                <a:srgbClr val="EAFF6A"/>
              </a:solidFill>
              <a:latin typeface="DM Sans"/>
              <a:ea typeface="DM Sans"/>
              <a:cs typeface="DM Sans"/>
              <a:sym typeface="DM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2"/>
          <p:cNvSpPr txBox="1"/>
          <p:nvPr/>
        </p:nvSpPr>
        <p:spPr>
          <a:xfrm>
            <a:off x="1447300" y="537575"/>
            <a:ext cx="7169400" cy="66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500">
                <a:solidFill>
                  <a:schemeClr val="dk1"/>
                </a:solidFill>
                <a:latin typeface="DM Sans"/>
                <a:ea typeface="DM Sans"/>
                <a:cs typeface="DM Sans"/>
                <a:sym typeface="DM Sans"/>
              </a:rPr>
              <a:t>Ejemplo en vivo</a:t>
            </a:r>
            <a:endParaRPr b="1" sz="3500">
              <a:solidFill>
                <a:schemeClr val="dk1"/>
              </a:solidFill>
              <a:latin typeface="DM Sans"/>
              <a:ea typeface="DM Sans"/>
              <a:cs typeface="DM Sans"/>
              <a:sym typeface="DM Sans"/>
            </a:endParaRPr>
          </a:p>
        </p:txBody>
      </p:sp>
      <p:sp>
        <p:nvSpPr>
          <p:cNvPr id="397" name="Google Shape;397;p42"/>
          <p:cNvSpPr txBox="1"/>
          <p:nvPr/>
        </p:nvSpPr>
        <p:spPr>
          <a:xfrm>
            <a:off x="475500" y="1474850"/>
            <a:ext cx="71694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500">
              <a:solidFill>
                <a:srgbClr val="B7B7B7"/>
              </a:solidFill>
              <a:latin typeface="DM Sans"/>
              <a:ea typeface="DM Sans"/>
              <a:cs typeface="DM Sans"/>
              <a:sym typeface="DM Sans"/>
            </a:endParaRPr>
          </a:p>
          <a:p>
            <a:pPr indent="0" lvl="0" marL="0" rtl="0" algn="l">
              <a:spcBef>
                <a:spcPts val="0"/>
              </a:spcBef>
              <a:spcAft>
                <a:spcPts val="0"/>
              </a:spcAft>
              <a:buNone/>
            </a:pPr>
            <a:r>
              <a:rPr lang="es" sz="2500">
                <a:solidFill>
                  <a:schemeClr val="dk2"/>
                </a:solidFill>
                <a:latin typeface="DM Sans"/>
                <a:ea typeface="DM Sans"/>
                <a:cs typeface="DM Sans"/>
                <a:sym typeface="DM Sans"/>
              </a:rPr>
              <a:t>Vemos ejemplos en los que aplicar las técnicas de renderizado condicional aprendidas </a:t>
            </a:r>
            <a:endParaRPr b="1" sz="2500">
              <a:solidFill>
                <a:schemeClr val="dk2"/>
              </a:solidFill>
              <a:latin typeface="Helvetica Neue"/>
              <a:ea typeface="Helvetica Neue"/>
              <a:cs typeface="Helvetica Neue"/>
              <a:sym typeface="Helvetica Neue"/>
            </a:endParaRPr>
          </a:p>
          <a:p>
            <a:pPr indent="0" lvl="0" marL="0" rtl="0" algn="l">
              <a:spcBef>
                <a:spcPts val="0"/>
              </a:spcBef>
              <a:spcAft>
                <a:spcPts val="0"/>
              </a:spcAft>
              <a:buNone/>
            </a:pPr>
            <a:r>
              <a:t/>
            </a:r>
            <a:endParaRPr b="1" sz="2500">
              <a:solidFill>
                <a:srgbClr val="B7B7B7"/>
              </a:solidFill>
              <a:latin typeface="Helvetica Neue"/>
              <a:ea typeface="Helvetica Neue"/>
              <a:cs typeface="Helvetica Neue"/>
              <a:sym typeface="Helvetica Neue"/>
            </a:endParaRPr>
          </a:p>
        </p:txBody>
      </p:sp>
      <p:grpSp>
        <p:nvGrpSpPr>
          <p:cNvPr id="398" name="Google Shape;398;p42"/>
          <p:cNvGrpSpPr/>
          <p:nvPr/>
        </p:nvGrpSpPr>
        <p:grpSpPr>
          <a:xfrm>
            <a:off x="475501" y="468273"/>
            <a:ext cx="738900" cy="738900"/>
            <a:chOff x="473351" y="619523"/>
            <a:chExt cx="738900" cy="738900"/>
          </a:xfrm>
        </p:grpSpPr>
        <p:sp>
          <p:nvSpPr>
            <p:cNvPr id="399" name="Google Shape;399;p42"/>
            <p:cNvSpPr/>
            <p:nvPr/>
          </p:nvSpPr>
          <p:spPr>
            <a:xfrm>
              <a:off x="473351" y="61952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0" name="Google Shape;400;p42" title="ícono de ejemplo en vivo"/>
            <p:cNvPicPr preferRelativeResize="0"/>
            <p:nvPr/>
          </p:nvPicPr>
          <p:blipFill>
            <a:blip r:embed="rId3">
              <a:alphaModFix/>
            </a:blip>
            <a:stretch>
              <a:fillRect/>
            </a:stretch>
          </p:blipFill>
          <p:spPr>
            <a:xfrm>
              <a:off x="616475" y="762650"/>
              <a:ext cx="452650" cy="452650"/>
            </a:xfrm>
            <a:prstGeom prst="rect">
              <a:avLst/>
            </a:prstGeom>
            <a:noFill/>
            <a:ln>
              <a:noFill/>
            </a:ln>
          </p:spPr>
        </p:pic>
      </p:grpSp>
      <p:sp>
        <p:nvSpPr>
          <p:cNvPr id="401" name="Google Shape;401;p42"/>
          <p:cNvSpPr txBox="1"/>
          <p:nvPr/>
        </p:nvSpPr>
        <p:spPr>
          <a:xfrm>
            <a:off x="475500" y="3829300"/>
            <a:ext cx="7169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2"/>
                </a:solidFill>
                <a:latin typeface="DM Sans"/>
                <a:ea typeface="DM Sans"/>
                <a:cs typeface="DM Sans"/>
                <a:sym typeface="DM Sans"/>
              </a:rPr>
              <a:t>Duración:</a:t>
            </a:r>
            <a:r>
              <a:rPr lang="es" sz="2000">
                <a:solidFill>
                  <a:schemeClr val="dk2"/>
                </a:solidFill>
                <a:latin typeface="DM Sans"/>
                <a:ea typeface="DM Sans"/>
                <a:cs typeface="DM Sans"/>
                <a:sym typeface="DM Sans"/>
              </a:rPr>
              <a:t> </a:t>
            </a:r>
            <a:r>
              <a:rPr b="1" lang="es" sz="2000">
                <a:solidFill>
                  <a:schemeClr val="dk2"/>
                </a:solidFill>
                <a:latin typeface="DM Sans"/>
                <a:ea typeface="DM Sans"/>
                <a:cs typeface="DM Sans"/>
                <a:sym typeface="DM Sans"/>
              </a:rPr>
              <a:t>20</a:t>
            </a:r>
            <a:r>
              <a:rPr b="1" lang="es" sz="2000">
                <a:solidFill>
                  <a:schemeClr val="dk2"/>
                </a:solidFill>
                <a:latin typeface="DM Sans"/>
                <a:ea typeface="DM Sans"/>
                <a:cs typeface="DM Sans"/>
                <a:sym typeface="DM Sans"/>
              </a:rPr>
              <a:t> minutos</a:t>
            </a:r>
            <a:endParaRPr b="1" sz="2000">
              <a:solidFill>
                <a:schemeClr val="dk2"/>
              </a:solidFill>
              <a:latin typeface="DM Sans"/>
              <a:ea typeface="DM Sans"/>
              <a:cs typeface="DM Sans"/>
              <a:sym typeface="DM Sans"/>
            </a:endParaRPr>
          </a:p>
        </p:txBody>
      </p:sp>
      <p:grpSp>
        <p:nvGrpSpPr>
          <p:cNvPr id="402" name="Google Shape;402;p42"/>
          <p:cNvGrpSpPr/>
          <p:nvPr/>
        </p:nvGrpSpPr>
        <p:grpSpPr>
          <a:xfrm>
            <a:off x="0" y="-7400"/>
            <a:ext cx="9143925" cy="44400"/>
            <a:chOff x="0" y="-7400"/>
            <a:chExt cx="9143925" cy="44400"/>
          </a:xfrm>
        </p:grpSpPr>
        <p:sp>
          <p:nvSpPr>
            <p:cNvPr id="403" name="Google Shape;403;p42"/>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DM Sans"/>
                <a:ea typeface="DM Sans"/>
                <a:cs typeface="DM Sans"/>
                <a:sym typeface="DM Sans"/>
              </a:endParaRPr>
            </a:p>
          </p:txBody>
        </p:sp>
        <p:sp>
          <p:nvSpPr>
            <p:cNvPr id="404" name="Google Shape;404;p42"/>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grpSp>
        <p:nvGrpSpPr>
          <p:cNvPr id="409" name="Google Shape;409;p43"/>
          <p:cNvGrpSpPr/>
          <p:nvPr/>
        </p:nvGrpSpPr>
        <p:grpSpPr>
          <a:xfrm>
            <a:off x="4202556" y="994173"/>
            <a:ext cx="738900" cy="738900"/>
            <a:chOff x="974706" y="2467173"/>
            <a:chExt cx="738900" cy="738900"/>
          </a:xfrm>
        </p:grpSpPr>
        <p:sp>
          <p:nvSpPr>
            <p:cNvPr id="410" name="Google Shape;410;p43"/>
            <p:cNvSpPr/>
            <p:nvPr/>
          </p:nvSpPr>
          <p:spPr>
            <a:xfrm>
              <a:off x="974706" y="246717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1" name="Google Shape;411;p43" title="ícono de actividad en clase"/>
            <p:cNvPicPr preferRelativeResize="0"/>
            <p:nvPr/>
          </p:nvPicPr>
          <p:blipFill>
            <a:blip r:embed="rId3">
              <a:alphaModFix/>
            </a:blip>
            <a:stretch>
              <a:fillRect/>
            </a:stretch>
          </p:blipFill>
          <p:spPr>
            <a:xfrm>
              <a:off x="1109750" y="2610275"/>
              <a:ext cx="452650" cy="452650"/>
            </a:xfrm>
            <a:prstGeom prst="rect">
              <a:avLst/>
            </a:prstGeom>
            <a:noFill/>
            <a:ln>
              <a:noFill/>
            </a:ln>
          </p:spPr>
        </p:pic>
      </p:grpSp>
      <p:sp>
        <p:nvSpPr>
          <p:cNvPr id="412" name="Google Shape;412;p43"/>
          <p:cNvSpPr txBox="1"/>
          <p:nvPr/>
        </p:nvSpPr>
        <p:spPr>
          <a:xfrm>
            <a:off x="1538900" y="1925250"/>
            <a:ext cx="6221400" cy="12930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chemeClr val="dk1"/>
                </a:solidFill>
                <a:latin typeface="DM Sans"/>
                <a:ea typeface="DM Sans"/>
                <a:cs typeface="DM Sans"/>
                <a:sym typeface="DM Sans"/>
              </a:rPr>
              <a:t>Crea un Loader Component</a:t>
            </a:r>
            <a:endParaRPr b="1" sz="4000">
              <a:solidFill>
                <a:schemeClr val="dk1"/>
              </a:solidFill>
              <a:latin typeface="DM Sans"/>
              <a:ea typeface="DM Sans"/>
              <a:cs typeface="DM Sans"/>
              <a:sym typeface="DM Sans"/>
            </a:endParaRPr>
          </a:p>
        </p:txBody>
      </p:sp>
      <p:sp>
        <p:nvSpPr>
          <p:cNvPr id="413" name="Google Shape;413;p43"/>
          <p:cNvSpPr txBox="1"/>
          <p:nvPr/>
        </p:nvSpPr>
        <p:spPr>
          <a:xfrm>
            <a:off x="987263" y="3818588"/>
            <a:ext cx="7169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000">
                <a:solidFill>
                  <a:schemeClr val="dk2"/>
                </a:solidFill>
                <a:latin typeface="DM Sans"/>
                <a:ea typeface="DM Sans"/>
                <a:cs typeface="DM Sans"/>
                <a:sym typeface="DM Sans"/>
              </a:rPr>
              <a:t>Duración: 10 </a:t>
            </a:r>
            <a:r>
              <a:rPr b="1" lang="es" sz="2000">
                <a:solidFill>
                  <a:schemeClr val="dk2"/>
                </a:solidFill>
                <a:latin typeface="DM Sans"/>
                <a:ea typeface="DM Sans"/>
                <a:cs typeface="DM Sans"/>
                <a:sym typeface="DM Sans"/>
              </a:rPr>
              <a:t>minutos</a:t>
            </a:r>
            <a:endParaRPr b="1" sz="2000">
              <a:solidFill>
                <a:schemeClr val="dk2"/>
              </a:solidFill>
              <a:latin typeface="DM Sans"/>
              <a:ea typeface="DM Sans"/>
              <a:cs typeface="DM Sans"/>
              <a:sym typeface="DM Sans"/>
            </a:endParaRPr>
          </a:p>
        </p:txBody>
      </p:sp>
      <p:sp>
        <p:nvSpPr>
          <p:cNvPr id="414" name="Google Shape;414;p43"/>
          <p:cNvSpPr txBox="1"/>
          <p:nvPr/>
        </p:nvSpPr>
        <p:spPr>
          <a:xfrm>
            <a:off x="1064900" y="3136613"/>
            <a:ext cx="7169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000">
                <a:solidFill>
                  <a:srgbClr val="999999"/>
                </a:solidFill>
                <a:latin typeface="DM Sans"/>
                <a:ea typeface="DM Sans"/>
                <a:cs typeface="DM Sans"/>
                <a:sym typeface="DM Sans"/>
              </a:rPr>
              <a:t>Vamos a practicar lo visto</a:t>
            </a:r>
            <a:endParaRPr sz="2000">
              <a:solidFill>
                <a:srgbClr val="999999"/>
              </a:solidFill>
              <a:latin typeface="DM Sans"/>
              <a:ea typeface="DM Sans"/>
              <a:cs typeface="DM Sans"/>
              <a:sym typeface="DM Sans"/>
            </a:endParaRPr>
          </a:p>
        </p:txBody>
      </p:sp>
      <p:grpSp>
        <p:nvGrpSpPr>
          <p:cNvPr id="415" name="Google Shape;415;p43"/>
          <p:cNvGrpSpPr/>
          <p:nvPr/>
        </p:nvGrpSpPr>
        <p:grpSpPr>
          <a:xfrm>
            <a:off x="0" y="-7400"/>
            <a:ext cx="9143925" cy="44400"/>
            <a:chOff x="0" y="-7400"/>
            <a:chExt cx="9143925" cy="44400"/>
          </a:xfrm>
        </p:grpSpPr>
        <p:sp>
          <p:nvSpPr>
            <p:cNvPr id="416" name="Google Shape;416;p43"/>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DM Sans"/>
                <a:ea typeface="DM Sans"/>
                <a:cs typeface="DM Sans"/>
                <a:sym typeface="DM Sans"/>
              </a:endParaRPr>
            </a:p>
          </p:txBody>
        </p:sp>
        <p:sp>
          <p:nvSpPr>
            <p:cNvPr id="417" name="Google Shape;417;p43"/>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grpSp>
        <p:nvGrpSpPr>
          <p:cNvPr id="422" name="Google Shape;422;p44"/>
          <p:cNvGrpSpPr/>
          <p:nvPr/>
        </p:nvGrpSpPr>
        <p:grpSpPr>
          <a:xfrm>
            <a:off x="457347" y="468297"/>
            <a:ext cx="431074" cy="431074"/>
            <a:chOff x="974706" y="2467173"/>
            <a:chExt cx="738900" cy="738900"/>
          </a:xfrm>
        </p:grpSpPr>
        <p:sp>
          <p:nvSpPr>
            <p:cNvPr id="423" name="Google Shape;423;p44"/>
            <p:cNvSpPr/>
            <p:nvPr/>
          </p:nvSpPr>
          <p:spPr>
            <a:xfrm>
              <a:off x="974706" y="246717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4" name="Google Shape;424;p44" title="ícono de actividad en clase"/>
            <p:cNvPicPr preferRelativeResize="0"/>
            <p:nvPr/>
          </p:nvPicPr>
          <p:blipFill>
            <a:blip r:embed="rId3">
              <a:alphaModFix/>
            </a:blip>
            <a:stretch>
              <a:fillRect/>
            </a:stretch>
          </p:blipFill>
          <p:spPr>
            <a:xfrm>
              <a:off x="1109750" y="2610275"/>
              <a:ext cx="452650" cy="452650"/>
            </a:xfrm>
            <a:prstGeom prst="rect">
              <a:avLst/>
            </a:prstGeom>
            <a:noFill/>
            <a:ln>
              <a:noFill/>
            </a:ln>
          </p:spPr>
        </p:pic>
      </p:grpSp>
      <p:sp>
        <p:nvSpPr>
          <p:cNvPr id="425" name="Google Shape;425;p44"/>
          <p:cNvSpPr txBox="1"/>
          <p:nvPr/>
        </p:nvSpPr>
        <p:spPr>
          <a:xfrm>
            <a:off x="457350" y="971825"/>
            <a:ext cx="5250600" cy="1293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Crea un Loader Component</a:t>
            </a:r>
            <a:endParaRPr b="1" sz="4000">
              <a:solidFill>
                <a:schemeClr val="dk1"/>
              </a:solidFill>
              <a:latin typeface="DM Sans"/>
              <a:ea typeface="DM Sans"/>
              <a:cs typeface="DM Sans"/>
              <a:sym typeface="DM Sans"/>
            </a:endParaRPr>
          </a:p>
        </p:txBody>
      </p:sp>
      <p:pic>
        <p:nvPicPr>
          <p:cNvPr id="426" name="Google Shape;426;p44"/>
          <p:cNvPicPr preferRelativeResize="0"/>
          <p:nvPr/>
        </p:nvPicPr>
        <p:blipFill>
          <a:blip r:embed="rId4">
            <a:alphaModFix/>
          </a:blip>
          <a:stretch>
            <a:fillRect/>
          </a:stretch>
        </p:blipFill>
        <p:spPr>
          <a:xfrm>
            <a:off x="7811413" y="4692275"/>
            <a:ext cx="1150750" cy="267575"/>
          </a:xfrm>
          <a:prstGeom prst="rect">
            <a:avLst/>
          </a:prstGeom>
          <a:noFill/>
          <a:ln>
            <a:noFill/>
          </a:ln>
        </p:spPr>
      </p:pic>
      <p:sp>
        <p:nvSpPr>
          <p:cNvPr id="427" name="Google Shape;427;p44"/>
          <p:cNvSpPr txBox="1"/>
          <p:nvPr/>
        </p:nvSpPr>
        <p:spPr>
          <a:xfrm>
            <a:off x="457350" y="2264825"/>
            <a:ext cx="73986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350">
                <a:latin typeface="DM Sans"/>
                <a:ea typeface="DM Sans"/>
                <a:cs typeface="DM Sans"/>
                <a:sym typeface="DM Sans"/>
              </a:rPr>
              <a:t>Descripción de la actividad. </a:t>
            </a:r>
            <a:endParaRPr b="1" sz="1350">
              <a:latin typeface="DM Sans"/>
              <a:ea typeface="DM Sans"/>
              <a:cs typeface="DM Sans"/>
              <a:sym typeface="DM Sans"/>
            </a:endParaRPr>
          </a:p>
          <a:p>
            <a:pPr indent="0" lvl="0" marL="0" rtl="0" algn="l">
              <a:spcBef>
                <a:spcPts val="0"/>
              </a:spcBef>
              <a:spcAft>
                <a:spcPts val="0"/>
              </a:spcAft>
              <a:buNone/>
            </a:pPr>
            <a:r>
              <a:t/>
            </a:r>
            <a:endParaRPr sz="13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350">
                <a:solidFill>
                  <a:schemeClr val="dk1"/>
                </a:solidFill>
                <a:latin typeface="DM Sans"/>
                <a:ea typeface="DM Sans"/>
                <a:cs typeface="DM Sans"/>
                <a:sym typeface="DM Sans"/>
              </a:rPr>
              <a:t>Crea en </a:t>
            </a:r>
            <a:r>
              <a:rPr lang="es" sz="1350" u="sng">
                <a:solidFill>
                  <a:schemeClr val="accent5"/>
                </a:solidFill>
                <a:latin typeface="DM Sans"/>
                <a:ea typeface="DM Sans"/>
                <a:cs typeface="DM Sans"/>
                <a:sym typeface="DM Sans"/>
                <a:hlinkClick r:id="rId5">
                  <a:extLst>
                    <a:ext uri="{A12FA001-AC4F-418D-AE19-62706E023703}">
                      <ahyp:hlinkClr val="tx"/>
                    </a:ext>
                  </a:extLst>
                </a:hlinkClick>
              </a:rPr>
              <a:t>stackblitz </a:t>
            </a:r>
            <a:r>
              <a:rPr lang="es" sz="1350">
                <a:solidFill>
                  <a:schemeClr val="dk1"/>
                </a:solidFill>
                <a:latin typeface="DM Sans"/>
                <a:ea typeface="DM Sans"/>
                <a:cs typeface="DM Sans"/>
                <a:sym typeface="DM Sans"/>
              </a:rPr>
              <a:t>un componente “Loader” dentro de la app que tenga una prop “loading” (boolean:true|false). Si loading es true, el componente debe mostrar “Loading…” y si es false, nada.</a:t>
            </a:r>
            <a:endParaRPr sz="135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350">
                <a:solidFill>
                  <a:schemeClr val="dk1"/>
                </a:solidFill>
                <a:latin typeface="DM Sans"/>
                <a:ea typeface="DM Sans"/>
                <a:cs typeface="DM Sans"/>
                <a:sym typeface="DM Sans"/>
              </a:rPr>
              <a:t>Extra: si quieres, puedes integrar algún spinner de la librería de UI que estés usando o buscar una alternativa.</a:t>
            </a:r>
            <a:endParaRPr sz="135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350">
              <a:latin typeface="DM Sans"/>
              <a:ea typeface="DM Sans"/>
              <a:cs typeface="DM Sans"/>
              <a:sym typeface="DM Sans"/>
            </a:endParaRPr>
          </a:p>
        </p:txBody>
      </p:sp>
      <p:sp>
        <p:nvSpPr>
          <p:cNvPr id="428" name="Google Shape;428;p44"/>
          <p:cNvSpPr txBox="1"/>
          <p:nvPr/>
        </p:nvSpPr>
        <p:spPr>
          <a:xfrm>
            <a:off x="930550" y="468275"/>
            <a:ext cx="2461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DM Sans"/>
                <a:ea typeface="DM Sans"/>
                <a:cs typeface="DM Sans"/>
                <a:sym typeface="DM Sans"/>
              </a:rPr>
              <a:t>ACTIVIDAD</a:t>
            </a:r>
            <a:endParaRPr>
              <a:latin typeface="DM Sans"/>
              <a:ea typeface="DM Sans"/>
              <a:cs typeface="DM Sans"/>
              <a:sym typeface="DM Sans"/>
            </a:endParaRPr>
          </a:p>
        </p:txBody>
      </p:sp>
      <p:pic>
        <p:nvPicPr>
          <p:cNvPr id="429" name="Google Shape;429;p44"/>
          <p:cNvPicPr preferRelativeResize="0"/>
          <p:nvPr/>
        </p:nvPicPr>
        <p:blipFill>
          <a:blip r:embed="rId4">
            <a:alphaModFix/>
          </a:blip>
          <a:stretch>
            <a:fillRect/>
          </a:stretch>
        </p:blipFill>
        <p:spPr>
          <a:xfrm>
            <a:off x="7811413" y="4692275"/>
            <a:ext cx="1150750" cy="2675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pic>
        <p:nvPicPr>
          <p:cNvPr id="434" name="Google Shape;434;p45"/>
          <p:cNvPicPr preferRelativeResize="0"/>
          <p:nvPr/>
        </p:nvPicPr>
        <p:blipFill>
          <a:blip r:embed="rId3">
            <a:alphaModFix/>
          </a:blip>
          <a:stretch>
            <a:fillRect/>
          </a:stretch>
        </p:blipFill>
        <p:spPr>
          <a:xfrm>
            <a:off x="7811413" y="4692275"/>
            <a:ext cx="1150750" cy="267575"/>
          </a:xfrm>
          <a:prstGeom prst="rect">
            <a:avLst/>
          </a:prstGeom>
          <a:noFill/>
          <a:ln>
            <a:noFill/>
          </a:ln>
        </p:spPr>
      </p:pic>
      <p:grpSp>
        <p:nvGrpSpPr>
          <p:cNvPr id="435" name="Google Shape;435;p45"/>
          <p:cNvGrpSpPr/>
          <p:nvPr/>
        </p:nvGrpSpPr>
        <p:grpSpPr>
          <a:xfrm>
            <a:off x="4243306" y="1320073"/>
            <a:ext cx="738900" cy="738900"/>
            <a:chOff x="974706" y="2467173"/>
            <a:chExt cx="738900" cy="738900"/>
          </a:xfrm>
        </p:grpSpPr>
        <p:sp>
          <p:nvSpPr>
            <p:cNvPr id="436" name="Google Shape;436;p45"/>
            <p:cNvSpPr/>
            <p:nvPr/>
          </p:nvSpPr>
          <p:spPr>
            <a:xfrm>
              <a:off x="974706" y="246717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7" name="Google Shape;437;p45" title="ícono de actividad en clase"/>
            <p:cNvPicPr preferRelativeResize="0"/>
            <p:nvPr/>
          </p:nvPicPr>
          <p:blipFill>
            <a:blip r:embed="rId4">
              <a:alphaModFix/>
            </a:blip>
            <a:stretch>
              <a:fillRect/>
            </a:stretch>
          </p:blipFill>
          <p:spPr>
            <a:xfrm>
              <a:off x="1109750" y="2610275"/>
              <a:ext cx="452650" cy="452650"/>
            </a:xfrm>
            <a:prstGeom prst="rect">
              <a:avLst/>
            </a:prstGeom>
            <a:noFill/>
            <a:ln>
              <a:noFill/>
            </a:ln>
          </p:spPr>
        </p:pic>
      </p:grpSp>
      <p:sp>
        <p:nvSpPr>
          <p:cNvPr id="438" name="Google Shape;438;p45"/>
          <p:cNvSpPr txBox="1"/>
          <p:nvPr/>
        </p:nvSpPr>
        <p:spPr>
          <a:xfrm>
            <a:off x="1502050" y="2406788"/>
            <a:ext cx="62214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chemeClr val="dk1"/>
                </a:solidFill>
                <a:latin typeface="DM Sans"/>
                <a:ea typeface="DM Sans"/>
                <a:cs typeface="DM Sans"/>
                <a:sym typeface="DM Sans"/>
              </a:rPr>
              <a:t>Puesta en común</a:t>
            </a:r>
            <a:endParaRPr b="1" sz="4000">
              <a:solidFill>
                <a:schemeClr val="dk1"/>
              </a:solidFill>
              <a:highlight>
                <a:srgbClr val="EAFF6A"/>
              </a:highlight>
              <a:latin typeface="DM Sans"/>
              <a:ea typeface="DM Sans"/>
              <a:cs typeface="DM Sans"/>
              <a:sym typeface="DM Sans"/>
            </a:endParaRPr>
          </a:p>
        </p:txBody>
      </p:sp>
      <p:sp>
        <p:nvSpPr>
          <p:cNvPr id="439" name="Google Shape;439;p45"/>
          <p:cNvSpPr txBox="1"/>
          <p:nvPr/>
        </p:nvSpPr>
        <p:spPr>
          <a:xfrm>
            <a:off x="2179625" y="3493500"/>
            <a:ext cx="50619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000">
                <a:solidFill>
                  <a:schemeClr val="dk2"/>
                </a:solidFill>
                <a:latin typeface="DM Sans"/>
                <a:ea typeface="DM Sans"/>
                <a:cs typeface="DM Sans"/>
                <a:sym typeface="DM Sans"/>
              </a:rPr>
              <a:t>Duración: 5 minutos </a:t>
            </a:r>
            <a:endParaRPr b="1" sz="2000">
              <a:solidFill>
                <a:schemeClr val="dk2"/>
              </a:solidFill>
              <a:latin typeface="DM Sans"/>
              <a:ea typeface="DM Sans"/>
              <a:cs typeface="DM Sans"/>
              <a:sym typeface="DM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6"/>
          <p:cNvSpPr txBox="1"/>
          <p:nvPr/>
        </p:nvSpPr>
        <p:spPr>
          <a:xfrm>
            <a:off x="1461300" y="1786725"/>
            <a:ext cx="62214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rgbClr val="EAFF6A"/>
                </a:solidFill>
                <a:latin typeface="DM Sans"/>
                <a:ea typeface="DM Sans"/>
                <a:cs typeface="DM Sans"/>
                <a:sym typeface="DM Sans"/>
              </a:rPr>
              <a:t>¿Preguntas?</a:t>
            </a:r>
            <a:endParaRPr b="1" sz="4000">
              <a:solidFill>
                <a:srgbClr val="EAFF6A"/>
              </a:solidFill>
              <a:latin typeface="DM Sans"/>
              <a:ea typeface="DM Sans"/>
              <a:cs typeface="DM Sans"/>
              <a:sym typeface="DM Sans"/>
            </a:endParaRPr>
          </a:p>
        </p:txBody>
      </p:sp>
      <p:sp>
        <p:nvSpPr>
          <p:cNvPr id="445" name="Google Shape;445;p46"/>
          <p:cNvSpPr txBox="1"/>
          <p:nvPr/>
        </p:nvSpPr>
        <p:spPr>
          <a:xfrm>
            <a:off x="2998200" y="2556375"/>
            <a:ext cx="3147600" cy="1108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lang="es" sz="2000">
                <a:solidFill>
                  <a:srgbClr val="FFFFFF"/>
                </a:solidFill>
                <a:latin typeface="DM Sans"/>
                <a:ea typeface="DM Sans"/>
                <a:cs typeface="DM Sans"/>
                <a:sym typeface="DM Sans"/>
              </a:rPr>
              <a:t>Te invitamos a dejar tu pregunta a través del chat</a:t>
            </a:r>
            <a:endParaRPr b="0" i="0" sz="2000" u="sng" cap="none" strike="noStrike">
              <a:solidFill>
                <a:srgbClr val="83AEFB"/>
              </a:solidFill>
              <a:latin typeface="DM Sans"/>
              <a:ea typeface="DM Sans"/>
              <a:cs typeface="DM Sans"/>
              <a:sym typeface="DM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47"/>
          <p:cNvSpPr txBox="1"/>
          <p:nvPr/>
        </p:nvSpPr>
        <p:spPr>
          <a:xfrm>
            <a:off x="1431550" y="688825"/>
            <a:ext cx="7169400" cy="6696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3500"/>
              <a:buFont typeface="Arial"/>
              <a:buNone/>
            </a:pPr>
            <a:r>
              <a:rPr b="1" lang="es" sz="3500">
                <a:solidFill>
                  <a:srgbClr val="EAFF6A"/>
                </a:solidFill>
                <a:latin typeface="DM Sans"/>
                <a:ea typeface="DM Sans"/>
                <a:cs typeface="DM Sans"/>
                <a:sym typeface="DM Sans"/>
              </a:rPr>
              <a:t>#Coderalert</a:t>
            </a:r>
            <a:endParaRPr b="1" i="0" sz="3500" u="none" cap="none" strike="noStrike">
              <a:solidFill>
                <a:srgbClr val="EAFF6A"/>
              </a:solidFill>
              <a:latin typeface="DM Sans"/>
              <a:ea typeface="DM Sans"/>
              <a:cs typeface="DM Sans"/>
              <a:sym typeface="DM Sans"/>
            </a:endParaRPr>
          </a:p>
        </p:txBody>
      </p:sp>
      <p:sp>
        <p:nvSpPr>
          <p:cNvPr id="451" name="Google Shape;451;p47"/>
          <p:cNvSpPr txBox="1"/>
          <p:nvPr/>
        </p:nvSpPr>
        <p:spPr>
          <a:xfrm>
            <a:off x="1212250" y="1490050"/>
            <a:ext cx="7169400" cy="287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2000"/>
              <a:buFont typeface="Arial"/>
              <a:buNone/>
            </a:pPr>
            <a:r>
              <a:rPr lang="es" sz="2500">
                <a:solidFill>
                  <a:srgbClr val="9E9E9E"/>
                </a:solidFill>
                <a:latin typeface="DM Sans"/>
                <a:ea typeface="DM Sans"/>
                <a:cs typeface="DM Sans"/>
                <a:sym typeface="DM Sans"/>
              </a:rPr>
              <a:t>Ingresa a la </a:t>
            </a:r>
            <a:r>
              <a:rPr b="1" lang="es" sz="2500" u="sng">
                <a:solidFill>
                  <a:schemeClr val="hlink"/>
                </a:solidFill>
                <a:latin typeface="DM Sans"/>
                <a:ea typeface="DM Sans"/>
                <a:cs typeface="DM Sans"/>
                <a:sym typeface="DM Sans"/>
                <a:hlinkClick r:id="rId3"/>
              </a:rPr>
              <a:t>Guía de actividades hacia el Proyecto Final</a:t>
            </a:r>
            <a:r>
              <a:rPr b="1" lang="es" sz="2500">
                <a:solidFill>
                  <a:srgbClr val="9E9E9E"/>
                </a:solidFill>
                <a:latin typeface="DM Sans"/>
                <a:ea typeface="DM Sans"/>
                <a:cs typeface="DM Sans"/>
                <a:sym typeface="DM Sans"/>
              </a:rPr>
              <a:t> </a:t>
            </a:r>
            <a:r>
              <a:rPr lang="es" sz="2500">
                <a:solidFill>
                  <a:srgbClr val="9E9E9E"/>
                </a:solidFill>
                <a:latin typeface="DM Sans"/>
                <a:ea typeface="DM Sans"/>
                <a:cs typeface="DM Sans"/>
                <a:sym typeface="DM Sans"/>
              </a:rPr>
              <a:t> y realiza la actividade “Cart Context”. </a:t>
            </a:r>
            <a:endParaRPr sz="2500">
              <a:solidFill>
                <a:srgbClr val="9E9E9E"/>
              </a:solidFill>
              <a:latin typeface="DM Sans"/>
              <a:ea typeface="DM Sans"/>
              <a:cs typeface="DM Sans"/>
              <a:sym typeface="DM Sans"/>
            </a:endParaRPr>
          </a:p>
          <a:p>
            <a:pPr indent="0" lvl="0" marL="0" rtl="0" algn="l">
              <a:spcBef>
                <a:spcPts val="0"/>
              </a:spcBef>
              <a:spcAft>
                <a:spcPts val="0"/>
              </a:spcAft>
              <a:buClr>
                <a:schemeClr val="dk1"/>
              </a:buClr>
              <a:buSzPts val="2000"/>
              <a:buFont typeface="Arial"/>
              <a:buNone/>
            </a:pPr>
            <a:r>
              <a:t/>
            </a:r>
            <a:endParaRPr sz="2500">
              <a:solidFill>
                <a:srgbClr val="9E9E9E"/>
              </a:solidFill>
              <a:latin typeface="DM Sans"/>
              <a:ea typeface="DM Sans"/>
              <a:cs typeface="DM Sans"/>
              <a:sym typeface="DM Sans"/>
            </a:endParaRPr>
          </a:p>
          <a:p>
            <a:pPr indent="0" lvl="0" marL="0" rtl="0" algn="l">
              <a:spcBef>
                <a:spcPts val="0"/>
              </a:spcBef>
              <a:spcAft>
                <a:spcPts val="0"/>
              </a:spcAft>
              <a:buClr>
                <a:schemeClr val="dk1"/>
              </a:buClr>
              <a:buSzPts val="2000"/>
              <a:buFont typeface="Arial"/>
              <a:buNone/>
            </a:pPr>
            <a:r>
              <a:rPr lang="es" sz="2500">
                <a:solidFill>
                  <a:srgbClr val="9E9E9E"/>
                </a:solidFill>
                <a:latin typeface="DM Sans"/>
                <a:ea typeface="DM Sans"/>
                <a:cs typeface="DM Sans"/>
                <a:sym typeface="DM Sans"/>
              </a:rPr>
              <a:t>Ten en cuenta que el desarrollo de la misma será importante para la resolución del Proyecto Final.</a:t>
            </a:r>
            <a:endParaRPr sz="2500">
              <a:solidFill>
                <a:srgbClr val="B7B7B7"/>
              </a:solidFill>
              <a:latin typeface="DM Sans"/>
              <a:ea typeface="DM Sans"/>
              <a:cs typeface="DM Sans"/>
              <a:sym typeface="DM Sans"/>
            </a:endParaRPr>
          </a:p>
        </p:txBody>
      </p:sp>
      <p:grpSp>
        <p:nvGrpSpPr>
          <p:cNvPr id="452" name="Google Shape;452;p47"/>
          <p:cNvGrpSpPr/>
          <p:nvPr/>
        </p:nvGrpSpPr>
        <p:grpSpPr>
          <a:xfrm>
            <a:off x="543106" y="716450"/>
            <a:ext cx="669148" cy="614370"/>
            <a:chOff x="5855025" y="2172613"/>
            <a:chExt cx="1088400" cy="1057800"/>
          </a:xfrm>
        </p:grpSpPr>
        <p:sp>
          <p:nvSpPr>
            <p:cNvPr id="453" name="Google Shape;453;p47"/>
            <p:cNvSpPr/>
            <p:nvPr/>
          </p:nvSpPr>
          <p:spPr>
            <a:xfrm>
              <a:off x="5855025" y="2172613"/>
              <a:ext cx="1088400" cy="1057800"/>
            </a:xfrm>
            <a:prstGeom prst="ellipse">
              <a:avLst/>
            </a:prstGeom>
            <a:solidFill>
              <a:srgbClr val="EEEEEE"/>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4" name="Google Shape;454;p47"/>
            <p:cNvPicPr preferRelativeResize="0"/>
            <p:nvPr/>
          </p:nvPicPr>
          <p:blipFill>
            <a:blip r:embed="rId4">
              <a:alphaModFix/>
            </a:blip>
            <a:stretch>
              <a:fillRect/>
            </a:stretch>
          </p:blipFill>
          <p:spPr>
            <a:xfrm>
              <a:off x="6073225" y="2327338"/>
              <a:ext cx="748350" cy="748350"/>
            </a:xfrm>
            <a:prstGeom prst="rect">
              <a:avLst/>
            </a:prstGeom>
            <a:noFill/>
            <a:ln>
              <a:noFill/>
            </a:ln>
          </p:spPr>
        </p:pic>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8"/>
          <p:cNvSpPr txBox="1"/>
          <p:nvPr/>
        </p:nvSpPr>
        <p:spPr>
          <a:xfrm>
            <a:off x="1339500" y="693075"/>
            <a:ext cx="6465000" cy="1088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s" sz="4000">
                <a:solidFill>
                  <a:srgbClr val="EAFF6A"/>
                </a:solidFill>
                <a:latin typeface="DM Sans"/>
                <a:ea typeface="DM Sans"/>
                <a:cs typeface="DM Sans"/>
                <a:sym typeface="DM Sans"/>
              </a:rPr>
              <a:t>Resumen</a:t>
            </a:r>
            <a:r>
              <a:rPr b="1" lang="es" sz="4000">
                <a:solidFill>
                  <a:srgbClr val="DEFC52"/>
                </a:solidFill>
                <a:latin typeface="DM Sans"/>
                <a:ea typeface="DM Sans"/>
                <a:cs typeface="DM Sans"/>
                <a:sym typeface="DM Sans"/>
              </a:rPr>
              <a:t> </a:t>
            </a:r>
            <a:endParaRPr b="1" sz="4000">
              <a:solidFill>
                <a:srgbClr val="DEFC52"/>
              </a:solidFill>
              <a:latin typeface="DM Sans"/>
              <a:ea typeface="DM Sans"/>
              <a:cs typeface="DM Sans"/>
              <a:sym typeface="DM Sans"/>
            </a:endParaRPr>
          </a:p>
          <a:p>
            <a:pPr indent="0" lvl="0" marL="0" rtl="0" algn="ctr">
              <a:lnSpc>
                <a:spcPct val="100000"/>
              </a:lnSpc>
              <a:spcBef>
                <a:spcPts val="0"/>
              </a:spcBef>
              <a:spcAft>
                <a:spcPts val="0"/>
              </a:spcAft>
              <a:buNone/>
            </a:pPr>
            <a:r>
              <a:rPr b="1" lang="es" sz="4000">
                <a:solidFill>
                  <a:schemeClr val="lt1"/>
                </a:solidFill>
                <a:latin typeface="DM Sans"/>
                <a:ea typeface="DM Sans"/>
                <a:cs typeface="DM Sans"/>
                <a:sym typeface="DM Sans"/>
              </a:rPr>
              <a:t>de la clase hoy</a:t>
            </a:r>
            <a:endParaRPr sz="4000">
              <a:solidFill>
                <a:schemeClr val="lt1"/>
              </a:solidFill>
              <a:latin typeface="DM Sans"/>
              <a:ea typeface="DM Sans"/>
              <a:cs typeface="DM Sans"/>
              <a:sym typeface="DM Sans"/>
            </a:endParaRPr>
          </a:p>
        </p:txBody>
      </p:sp>
      <p:sp>
        <p:nvSpPr>
          <p:cNvPr id="460" name="Google Shape;460;p48"/>
          <p:cNvSpPr txBox="1"/>
          <p:nvPr/>
        </p:nvSpPr>
        <p:spPr>
          <a:xfrm>
            <a:off x="2109143" y="2325013"/>
            <a:ext cx="4925700" cy="1736700"/>
          </a:xfrm>
          <a:prstGeom prst="rect">
            <a:avLst/>
          </a:prstGeom>
          <a:noFill/>
          <a:ln>
            <a:noFill/>
          </a:ln>
        </p:spPr>
        <p:txBody>
          <a:bodyPr anchorCtr="0" anchor="t" bIns="91425" lIns="91425" spcFirstLastPara="1" rIns="91425" wrap="square" tIns="91425">
            <a:spAutoFit/>
          </a:bodyPr>
          <a:lstStyle/>
          <a:p>
            <a:pPr indent="-314325" lvl="0" marL="457200" rtl="0" algn="l">
              <a:spcBef>
                <a:spcPts val="0"/>
              </a:spcBef>
              <a:spcAft>
                <a:spcPts val="0"/>
              </a:spcAft>
              <a:buClr>
                <a:schemeClr val="accent6"/>
              </a:buClr>
              <a:buSzPts val="1350"/>
              <a:buFont typeface="DM Sans"/>
              <a:buChar char="✓"/>
            </a:pPr>
            <a:r>
              <a:rPr lang="es" sz="1350">
                <a:solidFill>
                  <a:schemeClr val="lt1"/>
                </a:solidFill>
                <a:latin typeface="DM Sans"/>
                <a:ea typeface="DM Sans"/>
                <a:cs typeface="DM Sans"/>
                <a:sym typeface="DM Sans"/>
              </a:rPr>
              <a:t>Eventos aplicativos persistentes</a:t>
            </a:r>
            <a:endParaRPr sz="1350">
              <a:solidFill>
                <a:schemeClr val="lt1"/>
              </a:solidFill>
              <a:latin typeface="DM Sans"/>
              <a:ea typeface="DM Sans"/>
              <a:cs typeface="DM Sans"/>
              <a:sym typeface="DM Sans"/>
            </a:endParaRPr>
          </a:p>
          <a:p>
            <a:pPr indent="-314325" lvl="0" marL="457200" rtl="0" algn="l">
              <a:spcBef>
                <a:spcPts val="1000"/>
              </a:spcBef>
              <a:spcAft>
                <a:spcPts val="0"/>
              </a:spcAft>
              <a:buClr>
                <a:schemeClr val="accent6"/>
              </a:buClr>
              <a:buSzPts val="1350"/>
              <a:buFont typeface="DM Sans"/>
              <a:buChar char="✓"/>
            </a:pPr>
            <a:r>
              <a:rPr lang="es" sz="1350">
                <a:solidFill>
                  <a:schemeClr val="lt1"/>
                </a:solidFill>
                <a:latin typeface="DM Sans"/>
                <a:ea typeface="DM Sans"/>
                <a:cs typeface="DM Sans"/>
                <a:sym typeface="DM Sans"/>
              </a:rPr>
              <a:t>Context</a:t>
            </a:r>
            <a:endParaRPr sz="1350">
              <a:solidFill>
                <a:schemeClr val="lt1"/>
              </a:solidFill>
              <a:latin typeface="DM Sans"/>
              <a:ea typeface="DM Sans"/>
              <a:cs typeface="DM Sans"/>
              <a:sym typeface="DM Sans"/>
            </a:endParaRPr>
          </a:p>
          <a:p>
            <a:pPr indent="-314325" lvl="0" marL="457200" rtl="0" algn="l">
              <a:spcBef>
                <a:spcPts val="1000"/>
              </a:spcBef>
              <a:spcAft>
                <a:spcPts val="0"/>
              </a:spcAft>
              <a:buClr>
                <a:schemeClr val="accent6"/>
              </a:buClr>
              <a:buSzPts val="1350"/>
              <a:buFont typeface="DM Sans"/>
              <a:buChar char="✓"/>
            </a:pPr>
            <a:r>
              <a:rPr lang="es" sz="1350">
                <a:solidFill>
                  <a:schemeClr val="lt1"/>
                </a:solidFill>
                <a:latin typeface="DM Sans"/>
                <a:ea typeface="DM Sans"/>
                <a:cs typeface="DM Sans"/>
                <a:sym typeface="DM Sans"/>
              </a:rPr>
              <a:t>CustomProviders</a:t>
            </a:r>
            <a:endParaRPr sz="1350">
              <a:solidFill>
                <a:schemeClr val="lt1"/>
              </a:solidFill>
              <a:latin typeface="DM Sans"/>
              <a:ea typeface="DM Sans"/>
              <a:cs typeface="DM Sans"/>
              <a:sym typeface="DM Sans"/>
            </a:endParaRPr>
          </a:p>
          <a:p>
            <a:pPr indent="-314325" lvl="0" marL="457200" rtl="0" algn="l">
              <a:spcBef>
                <a:spcPts val="1000"/>
              </a:spcBef>
              <a:spcAft>
                <a:spcPts val="0"/>
              </a:spcAft>
              <a:buClr>
                <a:schemeClr val="accent6"/>
              </a:buClr>
              <a:buSzPts val="1350"/>
              <a:buFont typeface="DM Sans"/>
              <a:buChar char="✓"/>
            </a:pPr>
            <a:r>
              <a:rPr lang="es" sz="1350">
                <a:solidFill>
                  <a:schemeClr val="lt1"/>
                </a:solidFill>
                <a:latin typeface="DM Sans"/>
                <a:ea typeface="DM Sans"/>
                <a:cs typeface="DM Sans"/>
                <a:sym typeface="DM Sans"/>
              </a:rPr>
              <a:t>Rendering condicional</a:t>
            </a:r>
            <a:endParaRPr sz="1350">
              <a:solidFill>
                <a:schemeClr val="lt1"/>
              </a:solidFill>
              <a:latin typeface="DM Sans"/>
              <a:ea typeface="DM Sans"/>
              <a:cs typeface="DM Sans"/>
              <a:sym typeface="DM Sans"/>
            </a:endParaRPr>
          </a:p>
          <a:p>
            <a:pPr indent="-314325" lvl="0" marL="457200" rtl="0" algn="l">
              <a:spcBef>
                <a:spcPts val="1000"/>
              </a:spcBef>
              <a:spcAft>
                <a:spcPts val="1000"/>
              </a:spcAft>
              <a:buClr>
                <a:schemeClr val="accent6"/>
              </a:buClr>
              <a:buSzPts val="1350"/>
              <a:buFont typeface="DM Sans"/>
              <a:buChar char="✓"/>
            </a:pPr>
            <a:r>
              <a:rPr lang="es" sz="1350">
                <a:solidFill>
                  <a:schemeClr val="lt1"/>
                </a:solidFill>
                <a:latin typeface="DM Sans"/>
                <a:ea typeface="DM Sans"/>
                <a:cs typeface="DM Sans"/>
                <a:sym typeface="DM Sans"/>
              </a:rPr>
              <a:t>Memoization</a:t>
            </a:r>
            <a:endParaRPr sz="1350">
              <a:solidFill>
                <a:schemeClr val="lt1"/>
              </a:solidFill>
              <a:latin typeface="DM Sans"/>
              <a:ea typeface="DM Sans"/>
              <a:cs typeface="DM Sans"/>
              <a:sym typeface="DM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49"/>
          <p:cNvSpPr txBox="1"/>
          <p:nvPr/>
        </p:nvSpPr>
        <p:spPr>
          <a:xfrm>
            <a:off x="1461300" y="1925250"/>
            <a:ext cx="6221400" cy="12930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rgbClr val="EAFF6A"/>
                </a:solidFill>
                <a:latin typeface="DM Sans"/>
                <a:ea typeface="DM Sans"/>
                <a:cs typeface="DM Sans"/>
                <a:sym typeface="DM Sans"/>
              </a:rPr>
              <a:t>Opina y valora</a:t>
            </a:r>
            <a:r>
              <a:rPr b="1" lang="es" sz="4000">
                <a:solidFill>
                  <a:srgbClr val="DEFC52"/>
                </a:solidFill>
                <a:latin typeface="DM Sans"/>
                <a:ea typeface="DM Sans"/>
                <a:cs typeface="DM Sans"/>
                <a:sym typeface="DM Sans"/>
              </a:rPr>
              <a:t> </a:t>
            </a:r>
            <a:endParaRPr b="1" sz="4000">
              <a:solidFill>
                <a:srgbClr val="DEFC52"/>
              </a:solidFill>
              <a:latin typeface="DM Sans"/>
              <a:ea typeface="DM Sans"/>
              <a:cs typeface="DM Sans"/>
              <a:sym typeface="DM Sans"/>
            </a:endParaRPr>
          </a:p>
          <a:p>
            <a:pPr indent="0" lvl="0" marL="0" rtl="0" algn="ctr">
              <a:lnSpc>
                <a:spcPct val="90000"/>
              </a:lnSpc>
              <a:spcBef>
                <a:spcPts val="0"/>
              </a:spcBef>
              <a:spcAft>
                <a:spcPts val="0"/>
              </a:spcAft>
              <a:buNone/>
            </a:pPr>
            <a:r>
              <a:rPr b="1" lang="es" sz="4000">
                <a:solidFill>
                  <a:schemeClr val="lt1"/>
                </a:solidFill>
                <a:latin typeface="DM Sans"/>
                <a:ea typeface="DM Sans"/>
                <a:cs typeface="DM Sans"/>
                <a:sym typeface="DM Sans"/>
              </a:rPr>
              <a:t>esta clase</a:t>
            </a:r>
            <a:endParaRPr b="1" sz="4000">
              <a:solidFill>
                <a:schemeClr val="lt1"/>
              </a:solidFill>
              <a:latin typeface="DM Sans"/>
              <a:ea typeface="DM Sans"/>
              <a:cs typeface="DM Sans"/>
              <a:sym typeface="DM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0"/>
          <p:cNvSpPr txBox="1"/>
          <p:nvPr/>
        </p:nvSpPr>
        <p:spPr>
          <a:xfrm>
            <a:off x="2382900" y="2171550"/>
            <a:ext cx="43782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4000">
                <a:solidFill>
                  <a:srgbClr val="FFFFFF"/>
                </a:solidFill>
                <a:latin typeface="DM Sans"/>
                <a:ea typeface="DM Sans"/>
                <a:cs typeface="DM Sans"/>
                <a:sym typeface="DM Sans"/>
              </a:rPr>
              <a:t>Muchas gracias</a:t>
            </a:r>
            <a:r>
              <a:rPr b="1" lang="es" sz="4000">
                <a:solidFill>
                  <a:srgbClr val="EAFF6A"/>
                </a:solidFill>
                <a:latin typeface="DM Sans"/>
                <a:ea typeface="DM Sans"/>
                <a:cs typeface="DM Sans"/>
                <a:sym typeface="DM Sans"/>
              </a:rPr>
              <a:t>.</a:t>
            </a:r>
            <a:endParaRPr sz="4000">
              <a:solidFill>
                <a:srgbClr val="EAFF6A"/>
              </a:solidFill>
              <a:latin typeface="DM Sans"/>
              <a:ea typeface="DM Sans"/>
              <a:cs typeface="DM Sans"/>
              <a:sym typeface="DM Sans"/>
            </a:endParaRPr>
          </a:p>
        </p:txBody>
      </p:sp>
    </p:spTree>
  </p:cSld>
  <p:clrMapOvr>
    <a:masterClrMapping/>
  </p:clrMapOvr>
</p:sld>
</file>

<file path=ppt/theme/theme1.xml><?xml version="1.0" encoding="utf-8"?>
<a:theme xmlns:a="http://schemas.openxmlformats.org/drawingml/2006/main" xmlns:r="http://schemas.openxmlformats.org/officeDocument/2006/relationships" name="Coder">
  <a:themeElements>
    <a:clrScheme name="Simple Light">
      <a:dk1>
        <a:srgbClr val="000000"/>
      </a:dk1>
      <a:lt1>
        <a:srgbClr val="FFFFFF"/>
      </a:lt1>
      <a:dk2>
        <a:srgbClr val="595959"/>
      </a:dk2>
      <a:lt2>
        <a:srgbClr val="EEEEEE"/>
      </a:lt2>
      <a:accent1>
        <a:srgbClr val="9DF4E2"/>
      </a:accent1>
      <a:accent2>
        <a:srgbClr val="212121"/>
      </a:accent2>
      <a:accent3>
        <a:srgbClr val="78909C"/>
      </a:accent3>
      <a:accent4>
        <a:srgbClr val="EA90FF"/>
      </a:accent4>
      <a:accent5>
        <a:srgbClr val="83AEFB"/>
      </a:accent5>
      <a:accent6>
        <a:srgbClr val="EAFF6A"/>
      </a:accent6>
      <a:hlink>
        <a:srgbClr val="83AEF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